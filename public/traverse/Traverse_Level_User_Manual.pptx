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EAD7"/>
                </a:solidFill>
              </a:defRPr>
            </a:pPr>
            <a:r>
              <a:t>Install and sign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B"/>
                </a:solidFill>
              </a:defRPr>
            </a:pPr>
            <a:r>
              <a:t>Run the setup file and open the shortcut. Create a user. The program does not open without a sign-in.</a:t>
            </a:r>
          </a:p>
        </p:txBody>
      </p:sp>
      <p:pic>
        <p:nvPicPr>
          <p:cNvPr id="5" name="Picture 4" descr="login-scre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9235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EAD7"/>
                </a:solidFill>
              </a:defRPr>
            </a:pPr>
            <a:r>
              <a:t>Project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B"/>
                </a:solidFill>
              </a:defRPr>
            </a:pPr>
            <a:r>
              <a:t>Enter the project, client, surveyor, instrument and datum. Load sample, open a JSON file, or save the project.</a:t>
            </a:r>
          </a:p>
        </p:txBody>
      </p:sp>
      <p:pic>
        <p:nvPicPr>
          <p:cNvPr id="5" name="Picture 4" descr="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9235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EAD7"/>
                </a:solidFill>
              </a:defRPr>
            </a:pPr>
            <a:r>
              <a:t>Clock and personal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B"/>
                </a:solidFill>
              </a:defRPr>
            </a:pPr>
            <a:r>
              <a:t>The gold clock and calendar stay at the top centre. Personal uses counts once each time this computer opens the program.</a:t>
            </a:r>
          </a:p>
        </p:txBody>
      </p:sp>
      <p:pic>
        <p:nvPicPr>
          <p:cNvPr id="5" name="Picture 4" descr="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9235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EAD7"/>
                </a:solidFill>
              </a:defRPr>
            </a:pPr>
            <a:r>
              <a:t>Traverse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B"/>
                </a:solidFill>
              </a:defRPr>
            </a:pPr>
            <a:r>
              <a:t>Enter the start coordinates and each leg. The location window updates on the right. North is up.</a:t>
            </a:r>
          </a:p>
        </p:txBody>
      </p:sp>
      <p:pic>
        <p:nvPicPr>
          <p:cNvPr id="5" name="Picture 4" descr="tra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9235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EAD7"/>
                </a:solidFill>
              </a:defRPr>
            </a:pPr>
            <a:r>
              <a:t>Level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B"/>
                </a:solidFill>
              </a:defRPr>
            </a:pPr>
            <a:r>
              <a:t>Enter BS, IS, FS and distance. The profile shows rise and fall.</a:t>
            </a:r>
          </a:p>
        </p:txBody>
      </p:sp>
      <p:pic>
        <p:nvPicPr>
          <p:cNvPr id="5" name="Picture 4" descr="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9235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EAD7"/>
                </a:solidFill>
              </a:defRPr>
            </a:pPr>
            <a:r>
              <a:t>Traverse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B"/>
                </a:solidFill>
              </a:defRPr>
            </a:pPr>
            <a:r>
              <a:t>Check azimuth, latitude, departure and raw coordinates before adjustment.</a:t>
            </a:r>
          </a:p>
        </p:txBody>
      </p:sp>
      <p:pic>
        <p:nvPicPr>
          <p:cNvPr id="5" name="Picture 4" descr="tca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9235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EAD7"/>
                </a:solidFill>
              </a:defRPr>
            </a:pPr>
            <a:r>
              <a:t>Traverse adjustment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B"/>
                </a:solidFill>
              </a:defRPr>
            </a:pPr>
            <a:r>
              <a:t>Bowditch, Transit, least squares or none. Corrections and adjusted coordinates are listed by leg.</a:t>
            </a:r>
          </a:p>
        </p:txBody>
      </p:sp>
      <p:pic>
        <p:nvPicPr>
          <p:cNvPr id="5" name="Picture 4" descr="tad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9235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EAD7"/>
                </a:solidFill>
              </a:defRPr>
            </a:pPr>
            <a:r>
              <a:t>Level adjustment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B"/>
                </a:solidFill>
              </a:defRPr>
            </a:pPr>
            <a:r>
              <a:t>Closing error, allowable tolerance, corrections and adjusted reduced levels.</a:t>
            </a:r>
          </a:p>
        </p:txBody>
      </p:sp>
      <p:pic>
        <p:nvPicPr>
          <p:cNvPr id="5" name="Picture 4" descr="lad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9235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EAD7"/>
                </a:solidFill>
              </a:defRPr>
            </a:pPr>
            <a:r>
              <a:t>Registers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B"/>
                </a:solidFill>
              </a:defRPr>
            </a:pPr>
            <a:r>
              <a:t>Raw and adjusted coordinates, and raw and adjusted reduced levels.</a:t>
            </a:r>
          </a:p>
        </p:txBody>
      </p:sp>
      <p:pic>
        <p:nvPicPr>
          <p:cNvPr id="5" name="Picture 4" descr="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9235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EAD7"/>
                </a:solidFill>
              </a:defRPr>
            </a:pPr>
            <a:r>
              <a:t>QA / QC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B"/>
                </a:solidFill>
              </a:defRPr>
            </a:pPr>
            <a:r>
              <a:t>Pass, warning or fail against the limits set in Standards.</a:t>
            </a:r>
          </a:p>
        </p:txBody>
      </p:sp>
      <p:pic>
        <p:nvPicPr>
          <p:cNvPr id="5" name="Picture 4" descr="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9235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EAD7"/>
                </a:solidFill>
              </a:defRPr>
            </a:pPr>
            <a:r>
              <a:t>Traverse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B"/>
                </a:solidFill>
              </a:defRPr>
            </a:pPr>
            <a:r>
              <a:t>Full plan with north, station names, and drag and zoom.</a:t>
            </a:r>
          </a:p>
        </p:txBody>
      </p:sp>
      <p:pic>
        <p:nvPicPr>
          <p:cNvPr id="5" name="Picture 4" descr="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9235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EAD7"/>
                </a:solidFill>
              </a:defRPr>
            </a:pPr>
            <a: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B"/>
                </a:solidFill>
              </a:defRPr>
            </a:pPr>
            <a:r>
              <a:t>Review and print the professional report.</a:t>
            </a:r>
          </a:p>
        </p:txBody>
      </p:sp>
      <p:pic>
        <p:nvPicPr>
          <p:cNvPr id="5" name="Picture 4" descr="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9235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EAD7"/>
                </a:solidFill>
              </a:defRPr>
            </a:pPr>
            <a:r>
              <a:t>Import /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B"/>
                </a:solidFill>
              </a:defRPr>
            </a:pPr>
            <a:r>
              <a:t>Import a CSV traverse or level book, and export the workbook.</a:t>
            </a:r>
          </a:p>
        </p:txBody>
      </p:sp>
      <p:pic>
        <p:nvPicPr>
          <p:cNvPr id="5" name="Picture 4" descr="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9235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EAD7"/>
                </a:solidFill>
              </a:defRPr>
            </a:pPr>
            <a:r>
              <a:t>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B"/>
                </a:solidFill>
              </a:defRPr>
            </a:pPr>
            <a:r>
              <a:t>Units, tolerances, add user and sign out.</a:t>
            </a:r>
          </a:p>
        </p:txBody>
      </p:sp>
      <p:pic>
        <p:nvPicPr>
          <p:cNvPr id="5" name="Picture 4" descr="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923544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EAD7"/>
                </a:solidFill>
              </a:defRPr>
            </a:pPr>
            <a:r>
              <a:t>Reference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7202B"/>
                </a:solidFill>
              </a:defRPr>
            </a:pPr>
            <a:r>
              <a:t>Built-in arithmetic checks. A pass confirms the engine, not the field work.</a:t>
            </a:r>
          </a:p>
        </p:txBody>
      </p:sp>
      <p:pic>
        <p:nvPicPr>
          <p:cNvPr id="5" name="Picture 4" descr="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63040"/>
            <a:ext cx="923544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