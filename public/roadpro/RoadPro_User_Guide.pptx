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371cdb4-5678-0bea-5718-33060aeacc3b}">
          <p14:sldIdLst>
            <p14:sldId id="256"/>
            <p14:sldId id="257"/>
          </p14:sldIdLst>
        </p14:section>
        <p14:section name="A  Getting started" id="{14f8125f-3e85-0f23-b921-494617675433}">
          <p14:sldIdLst>
            <p14:sldId id="258"/>
            <p14:sldId id="259"/>
            <p14:sldId id="260"/>
            <p14:sldId id="261"/>
            <p14:sldId id="262"/>
            <p14:sldId id="263"/>
          </p14:sldIdLst>
        </p14:section>
        <p14:section name="B  Build the road" id="{4fe903bb-3f2c-f675-9917-bd6e95288144}">
          <p14:sldIdLst>
            <p14:sldId id="264"/>
            <p14:sldId id="265"/>
            <p14:sldId id="266"/>
            <p14:sldId id="267"/>
            <p14:sldId id="268"/>
            <p14:sldId id="269"/>
            <p14:sldId id="270"/>
            <p14:sldId id="271"/>
            <p14:sldId id="272"/>
            <p14:sldId id="273"/>
          </p14:sldIdLst>
        </p14:section>
        <p14:section name="C  Curves, signs, markings, sections" id="{0e3aa974-a2de-c197-b468-01c7625eaa1f}">
          <p14:sldIdLst>
            <p14:sldId id="274"/>
            <p14:sldId id="275"/>
            <p14:sldId id="276"/>
            <p14:sldId id="277"/>
          </p14:sldIdLst>
        </p14:section>
        <p14:section name="D  Widen and taper" id="{f2113420-0b77-1671-6b0d-efbc0f75327f}">
          <p14:sldIdLst>
            <p14:sldId id="278"/>
            <p14:sldId id="279"/>
            <p14:sldId id="280"/>
          </p14:sldIdLst>
        </p14:section>
        <p14:section name="E  Junctions" id="{18f0ff68-bbab-4bbe-efa1-2a711230f4cc}">
          <p14:sldIdLst>
            <p14:sldId id="281"/>
            <p14:sldId id="282"/>
            <p14:sldId id="283"/>
            <p14:sldId id="284"/>
          </p14:sldIdLst>
        </p14:section>
        <p14:section name="F  Single line" id="{c140924e-bf58-f1d5-f0c4-fb2451d7ba02}">
          <p14:sldIdLst>
            <p14:sldId id="285"/>
            <p14:sldId id="286"/>
          </p14:sldIdLst>
        </p14:section>
        <p14:section name="G  Report" id="{a511ed4e-5dc7-d071-6560-7642c9125787}">
          <p14:sldIdLst>
            <p14:sldId id="287"/>
            <p14:sldId id="288"/>
          </p14:sldIdLst>
        </p14:section>
        <p14:section name="H  Reference" id="{a76d4c32-e386-4c3c-bb0f-54e522653397}">
          <p14:sldIdLst>
            <p14:sldId id="289"/>
            <p14:sldId id="290"/>
            <p14:sldId id="291"/>
            <p14:sldId id="292"/>
          </p14:sldIdLst>
        </p14:section>
        <p14:section name="I  New in 3.4" id="{eaeb583f-5ed1-cc8e-64ad-26185e968c33}">
          <p14:sldIdLst>
            <p14:sldId id="293"/>
            <p14:sldId id="294"/>
            <p14:sldId id="295"/>
            <p14:sldId id="296"/>
            <p14:sldId id="297"/>
            <p14:sldId id="298"/>
            <p14:sldId id="299"/>
            <p14:sldId id="300"/>
            <p14:sldId id="301"/>
          </p14:sldIdLst>
        </p14:section>
        <p14:section name="Closing" id="{db50b2d7-faf5-346a-84e7-bd29054413c8}">
          <p14:sldIdLst>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8229600" cy="256032"/>
          </a:xfrm>
          <a:prstGeom prst="rect">
            <a:avLst/>
          </a:prstGeom>
          <a:noFill/>
          <a:ln/>
        </p:spPr>
        <p:txBody>
          <a:bodyPr wrap="square" rtlCol="0" anchor="ctr"/>
          <a:lstStyle/>
          <a:p>
            <a:pPr indent="0" marL="0">
              <a:buNone/>
            </a:pPr>
            <a:r>
              <a:rPr lang="en-US" sz="800" dirty="0">
                <a:solidFill>
                  <a:srgbClr val="8A9099"/>
                </a:solidFill>
                <a:latin typeface="Calibri" pitchFamily="34" charset="0"/>
                <a:ea typeface="Calibri" pitchFamily="34" charset="-122"/>
                <a:cs typeface="Calibri" pitchFamily="34" charset="-120"/>
              </a:rPr>
              <a:t>RoadPro v3.4  |  Complete User Manual  |  Developed by https://www.exceltokml.com/</a:t>
            </a:r>
            <a:endParaRPr lang="en-US" sz="800" dirty="0"/>
          </a:p>
        </p:txBody>
      </p:sp>
      <p:sp>
        <p:nvSpPr>
          <p:cNvPr id="3" name="Text 1"/>
          <p:cNvSpPr/>
          <p:nvPr>
            <p:ph idx="101" type="body" hasCustomPrompt="1"/>
          </p:nvPr>
        </p:nvSpPr>
        <p:spPr>
          <a:xfrm>
            <a:off x="502920" y="237744"/>
            <a:ext cx="9144000" cy="274320"/>
          </a:xfrm>
          <a:prstGeom prst="rect">
            <a:avLst/>
          </a:prstGeom>
          <a:noFill/>
          <a:ln/>
        </p:spPr>
        <p:txBody>
          <a:bodyPr wrap="square" rtlCol="0"/>
          <a:lstStyle>
            <a:lvl1pPr algn="l" indent="0" marL="0">
              <a:buNone/>
              <a:defRPr lang="en-US" sz="1050" b="1" spc="100" kern="0" dirty="0">
                <a:solidFill>
                  <a:schemeClr val="accent1"/>
                </a:solidFill>
                <a:latin typeface="Calibri" pitchFamily="34" charset="0"/>
                <a:ea typeface="Calibri" pitchFamily="34" charset="-122"/>
                <a:cs typeface="Calibri" pitchFamily="34" charset="-120"/>
              </a:defRPr>
            </a:lvl1pPr>
          </a:lstStyle>
          <a:p>
            <a:pPr algn="l" indent="0" marL="0">
              <a:buNone/>
            </a:pPr>
            <a:endParaRPr lang="en-US" sz="1050" dirty="0"/>
          </a:p>
        </p:txBody>
      </p:sp>
      <p:sp>
        <p:nvSpPr>
          <p:cNvPr id="4" name="Text 1"/>
          <p:cNvSpPr/>
          <p:nvPr>
            <p:ph idx="102" type="title" hasCustomPrompt="1"/>
          </p:nvPr>
        </p:nvSpPr>
        <p:spPr>
          <a:xfrm>
            <a:off x="502920" y="512064"/>
            <a:ext cx="11155680" cy="640080"/>
          </a:xfrm>
          <a:prstGeom prst="rect">
            <a:avLst/>
          </a:prstGeom>
          <a:noFill/>
          <a:ln/>
        </p:spPr>
        <p:txBody>
          <a:bodyPr wrap="square" rtlCol="0"/>
          <a:lstStyle>
            <a:lvl1pPr algn="l" indent="0" marL="0">
              <a:buNone/>
              <a:defRPr lang="en-US" sz="2600" b="1" dirty="0">
                <a:solidFill>
                  <a:schemeClr val="tx1"/>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3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25880"/>
            <a:ext cx="6035040" cy="1005840"/>
          </a:xfrm>
          <a:prstGeom prst="rect">
            <a:avLst/>
          </a:prstGeom>
          <a:noFill/>
          <a:ln/>
        </p:spPr>
        <p:txBody>
          <a:bodyPr wrap="square" rtlCol="0"/>
          <a:lstStyle>
            <a:lvl1pPr algn="l" indent="0" marL="0">
              <a:buNone/>
              <a:defRPr lang="en-US" sz="5600" b="1" dirty="0">
                <a:solidFill>
                  <a:schemeClr val="bg1"/>
                </a:solidFill>
                <a:latin typeface="Arial" pitchFamily="34" charset="0"/>
                <a:ea typeface="Arial" pitchFamily="34" charset="-122"/>
                <a:cs typeface="Arial" pitchFamily="34" charset="-120"/>
              </a:defRPr>
            </a:lvl1pPr>
          </a:lstStyle>
          <a:p>
            <a:pPr algn="l" indent="0" marL="0">
              <a:buNone/>
            </a:pPr>
            <a:endParaRPr lang="en-US" sz="5600" dirty="0"/>
          </a:p>
        </p:txBody>
      </p:sp>
      <p:sp>
        <p:nvSpPr>
          <p:cNvPr id="3" name="Text 0"/>
          <p:cNvSpPr/>
          <p:nvPr>
            <p:ph idx="101" type="body" hasCustomPrompt="1"/>
          </p:nvPr>
        </p:nvSpPr>
        <p:spPr>
          <a:xfrm>
            <a:off x="548640" y="2377440"/>
            <a:ext cx="5852160" cy="1188720"/>
          </a:xfrm>
          <a:prstGeom prst="rect">
            <a:avLst/>
          </a:prstGeom>
          <a:noFill/>
          <a:ln/>
        </p:spPr>
        <p:txBody>
          <a:bodyPr wrap="square" rtlCol="0"/>
          <a:lstStyle>
            <a:lvl1pPr algn="l" indent="0" marL="0">
              <a:buNone/>
              <a:defRPr lang="en-US" sz="1900" dirty="0">
                <a:solidFill>
                  <a:srgbClr val="C9CDD2"/>
                </a:solidFill>
                <a:latin typeface="Calibri" pitchFamily="34" charset="0"/>
                <a:ea typeface="Calibri" pitchFamily="34" charset="-122"/>
                <a:cs typeface="Calibri" pitchFamily="34" charset="-120"/>
              </a:defRPr>
            </a:lvl1pPr>
          </a:lstStyle>
          <a:p>
            <a:pPr algn="l" indent="0" marL="0">
              <a:buNone/>
            </a:pPr>
            <a:endParaRPr lang="en-US" sz="1900" dirty="0"/>
          </a:p>
        </p:txBody>
      </p:sp>
      <p:sp>
        <p:nvSpPr>
          <p:cNvPr id="4" name="Text 0"/>
          <p:cNvSpPr/>
          <p:nvPr/>
        </p:nvSpPr>
        <p:spPr>
          <a:xfrm>
            <a:off x="548640" y="6126480"/>
            <a:ext cx="5943600" cy="320040"/>
          </a:xfrm>
          <a:prstGeom prst="rect">
            <a:avLst/>
          </a:prstGeom>
          <a:noFill/>
          <a:ln/>
        </p:spPr>
        <p:txBody>
          <a:bodyPr wrap="square" rtlCol="0" anchor="ctr"/>
          <a:lstStyle/>
          <a:p>
            <a:pPr indent="0" marL="0">
              <a:buNone/>
            </a:pPr>
            <a:r>
              <a:rPr lang="en-US" sz="1100" dirty="0">
                <a:solidFill>
                  <a:srgbClr val="C9CDD2"/>
                </a:solidFill>
                <a:latin typeface="Calibri" pitchFamily="34" charset="0"/>
                <a:ea typeface="Calibri" pitchFamily="34" charset="-122"/>
                <a:cs typeface="Calibri" pitchFamily="34" charset="-120"/>
              </a:rPr>
              <a:t>Developed by https://www.exceltokml.com/</a:t>
            </a:r>
            <a:endParaRPr lang="en-US" sz="11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3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972800" cy="822960"/>
          </a:xfrm>
          <a:prstGeom prst="rect">
            <a:avLst/>
          </a:prstGeom>
          <a:noFill/>
          <a:ln/>
        </p:spPr>
        <p:txBody>
          <a:bodyPr wrap="square" rtlCol="0"/>
          <a:lstStyle>
            <a:lvl1pPr algn="l" indent="0" marL="0">
              <a:buNone/>
              <a:defRPr lang="en-US" sz="4000" b="1" dirty="0">
                <a:solidFill>
                  <a:schemeClr val="bg1"/>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3" name="Text 0"/>
          <p:cNvSpPr/>
          <p:nvPr>
            <p:ph idx="101" type="body" hasCustomPrompt="1"/>
          </p:nvPr>
        </p:nvSpPr>
        <p:spPr>
          <a:xfrm>
            <a:off x="548640" y="1965960"/>
            <a:ext cx="10972800" cy="548640"/>
          </a:xfrm>
          <a:prstGeom prst="rect">
            <a:avLst/>
          </a:prstGeom>
          <a:noFill/>
          <a:ln/>
        </p:spPr>
        <p:txBody>
          <a:bodyPr wrap="square" rtlCol="0"/>
          <a:lstStyle>
            <a:lvl1pPr algn="l" indent="0" marL="0">
              <a:buNone/>
              <a:defRPr lang="en-US" sz="1800" dirty="0">
                <a:solidFill>
                  <a:srgbClr val="C9CDD2"/>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2.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hyperlink" Target="https://www.exceltokml.com/" TargetMode="External"/><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25880"/>
            <a:ext cx="6035040" cy="1005840"/>
          </a:xfrm>
          <a:prstGeom prst="rect">
            <a:avLst/>
          </a:prstGeom>
          <a:noFill/>
          <a:ln/>
        </p:spPr>
        <p:txBody>
          <a:bodyPr wrap="square" lIns="0" tIns="0" rIns="0" bIns="0" rtlCol="0" anchor="t"/>
          <a:lstStyle/>
          <a:p>
            <a:pPr algn="l" indent="0" marL="0">
              <a:buNone/>
            </a:pPr>
            <a:r>
              <a:rPr lang="en-US" sz="5600" b="1" dirty="0">
                <a:solidFill>
                  <a:schemeClr val="bg1"/>
                </a:solidFill>
                <a:latin typeface="Arial" pitchFamily="34" charset="0"/>
                <a:ea typeface="Arial" pitchFamily="34" charset="-122"/>
                <a:cs typeface="Arial" pitchFamily="34" charset="-120"/>
              </a:rPr>
              <a:t>RoadPro</a:t>
            </a:r>
            <a:endParaRPr lang="en-US" sz="5600" dirty="0"/>
          </a:p>
        </p:txBody>
      </p:sp>
      <p:sp>
        <p:nvSpPr>
          <p:cNvPr id="3" name="Text 0"/>
          <p:cNvSpPr/>
          <p:nvPr>
            <p:ph idx="101" type="body" hasCustomPrompt="1"/>
          </p:nvPr>
        </p:nvSpPr>
        <p:spPr>
          <a:xfrm>
            <a:off x="548640" y="2377440"/>
            <a:ext cx="5852160" cy="1188720"/>
          </a:xfrm>
          <a:prstGeom prst="rect">
            <a:avLst/>
          </a:prstGeom>
          <a:noFill/>
          <a:ln/>
        </p:spPr>
        <p:txBody>
          <a:bodyPr wrap="square" lIns="0" tIns="0" rIns="0" bIns="0" rtlCol="0" anchor="t"/>
          <a:lstStyle/>
          <a:p>
            <a:pPr algn="l" indent="0" marL="0">
              <a:buNone/>
            </a:pPr>
            <a:r>
              <a:rPr lang="en-US" sz="1900" dirty="0">
                <a:solidFill>
                  <a:srgbClr val="C9CDD2"/>
                </a:solidFill>
                <a:latin typeface="Calibri" pitchFamily="34" charset="0"/>
                <a:ea typeface="Calibri" pitchFamily="34" charset="-122"/>
                <a:cs typeface="Calibri" pitchFamily="34" charset="-120"/>
              </a:rPr>
              <a:t>Complete User Manual</a:t>
            </a:r>
            <a:endParaRPr lang="en-US" sz="1900" dirty="0"/>
          </a:p>
          <a:p>
            <a:pPr algn="l" indent="0" marL="0">
              <a:buNone/>
            </a:pPr>
            <a:r>
              <a:rPr lang="en-US" sz="1900" dirty="0">
                <a:solidFill>
                  <a:srgbClr val="C9CDD2"/>
                </a:solidFill>
                <a:latin typeface="Calibri" pitchFamily="34" charset="0"/>
                <a:ea typeface="Calibri" pitchFamily="34" charset="-122"/>
                <a:cs typeface="Calibri" pitchFamily="34" charset="-120"/>
              </a:rPr>
              <a:t>Every command and every setting, step by step from start to finish</a:t>
            </a:r>
            <a:endParaRPr lang="en-US" sz="1900" dirty="0"/>
          </a:p>
        </p:txBody>
      </p:sp>
      <p:sp>
        <p:nvSpPr>
          <p:cNvPr id="4" name="text-1"/>
          <p:cNvSpPr txBox="1"/>
          <p:nvPr/>
        </p:nvSpPr>
        <p:spPr>
          <a:xfrm>
            <a:off x="548640" y="3840480"/>
            <a:ext cx="5486400" cy="320040"/>
          </a:xfrm>
          <a:prstGeom prst="rect">
            <a:avLst/>
          </a:prstGeom>
          <a:noFill/>
          <a:ln/>
        </p:spPr>
        <p:txBody>
          <a:bodyPr wrap="square" lIns="0" tIns="0" rIns="0" bIns="0" rtlCol="0" anchor="t"/>
          <a:lstStyle/>
          <a:p>
            <a:pPr indent="0" marL="0">
              <a:buNone/>
            </a:pPr>
            <a:r>
              <a:rPr lang="en-US" sz="1300" b="1" dirty="0">
                <a:solidFill>
                  <a:schemeClr val="accent2"/>
                </a:solidFill>
                <a:latin typeface="Calibri" pitchFamily="34" charset="0"/>
                <a:ea typeface="Calibri" pitchFamily="34" charset="-122"/>
                <a:cs typeface="Calibri" pitchFamily="34" charset="-120"/>
              </a:rPr>
              <a:t>Version 3.4  ·  23 October 2026</a:t>
            </a:r>
            <a:endParaRPr lang="en-US" sz="1300" dirty="0"/>
          </a:p>
        </p:txBody>
      </p:sp>
      <p:sp>
        <p:nvSpPr>
          <p:cNvPr id="5" name="text-2"/>
          <p:cNvSpPr txBox="1"/>
          <p:nvPr/>
        </p:nvSpPr>
        <p:spPr>
          <a:xfrm>
            <a:off x="548640" y="4681728"/>
            <a:ext cx="640080" cy="411480"/>
          </a:xfrm>
          <a:prstGeom prst="rect">
            <a:avLst/>
          </a:prstGeom>
          <a:noFill/>
          <a:ln/>
        </p:spPr>
        <p:txBody>
          <a:bodyPr wrap="square" lIns="0" tIns="0" rIns="0" bIns="0" rtlCol="0" anchor="ctr"/>
          <a:lstStyle/>
          <a:p>
            <a:pPr indent="0" marL="0">
              <a:buNone/>
            </a:pPr>
            <a:r>
              <a:rPr lang="en-US" sz="1500" dirty="0">
                <a:solidFill>
                  <a:srgbClr val="C9CDD2"/>
                </a:solidFill>
                <a:latin typeface="Calibri" pitchFamily="34" charset="0"/>
                <a:ea typeface="Calibri" pitchFamily="34" charset="-122"/>
                <a:cs typeface="Calibri" pitchFamily="34" charset="-120"/>
              </a:rPr>
              <a:t>Type</a:t>
            </a:r>
            <a:endParaRPr lang="en-US" sz="1500" dirty="0"/>
          </a:p>
        </p:txBody>
      </p:sp>
      <p:sp>
        <p:nvSpPr>
          <p:cNvPr id="6" name="shape-3"/>
          <p:cNvSpPr/>
          <p:nvPr/>
        </p:nvSpPr>
        <p:spPr>
          <a:xfrm>
            <a:off x="1188720" y="4663440"/>
            <a:ext cx="960120" cy="457200"/>
          </a:xfrm>
          <a:prstGeom prst="roundRect">
            <a:avLst>
              <a:gd name="adj" fmla="val 12000"/>
            </a:avLst>
          </a:prstGeom>
          <a:solidFill>
            <a:schemeClr val="accent1"/>
          </a:solidFill>
          <a:ln/>
        </p:spPr>
      </p:sp>
      <p:sp>
        <p:nvSpPr>
          <p:cNvPr id="7" name="text-4"/>
          <p:cNvSpPr txBox="1"/>
          <p:nvPr/>
        </p:nvSpPr>
        <p:spPr>
          <a:xfrm>
            <a:off x="1188720" y="4663440"/>
            <a:ext cx="9601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RDP</a:t>
            </a:r>
            <a:endParaRPr lang="en-US" sz="1600" dirty="0"/>
          </a:p>
        </p:txBody>
      </p:sp>
      <p:sp>
        <p:nvSpPr>
          <p:cNvPr id="8" name="text-5"/>
          <p:cNvSpPr txBox="1"/>
          <p:nvPr/>
        </p:nvSpPr>
        <p:spPr>
          <a:xfrm>
            <a:off x="2286000" y="4681728"/>
            <a:ext cx="2743200" cy="411480"/>
          </a:xfrm>
          <a:prstGeom prst="rect">
            <a:avLst/>
          </a:prstGeom>
          <a:noFill/>
          <a:ln/>
        </p:spPr>
        <p:txBody>
          <a:bodyPr wrap="square" lIns="0" tIns="0" rIns="0" bIns="0" rtlCol="0" anchor="ctr"/>
          <a:lstStyle/>
          <a:p>
            <a:pPr indent="0" marL="0">
              <a:buNone/>
            </a:pPr>
            <a:r>
              <a:rPr lang="en-US" sz="1500" dirty="0">
                <a:solidFill>
                  <a:srgbClr val="C9CDD2"/>
                </a:solidFill>
                <a:latin typeface="Calibri" pitchFamily="34" charset="0"/>
                <a:ea typeface="Calibri" pitchFamily="34" charset="-122"/>
                <a:cs typeface="Calibri" pitchFamily="34" charset="-120"/>
              </a:rPr>
              <a:t>to build a road</a:t>
            </a:r>
            <a:endParaRPr lang="en-US" sz="1500" dirty="0"/>
          </a:p>
        </p:txBody>
      </p:sp>
      <p:sp>
        <p:nvSpPr>
          <p:cNvPr id="9" name="shape-6"/>
          <p:cNvSpPr/>
          <p:nvPr/>
        </p:nvSpPr>
        <p:spPr>
          <a:xfrm>
            <a:off x="6903720" y="777240"/>
            <a:ext cx="4754880" cy="5349240"/>
          </a:xfrm>
          <a:prstGeom prst="roundRect">
            <a:avLst>
              <a:gd name="adj" fmla="val 1923"/>
            </a:avLst>
          </a:prstGeom>
          <a:solidFill>
            <a:srgbClr val="3A3F45"/>
          </a:solidFill>
          <a:ln/>
        </p:spPr>
      </p:sp>
      <p:sp>
        <p:nvSpPr>
          <p:cNvPr id="10" name="text-7"/>
          <p:cNvSpPr txBox="1"/>
          <p:nvPr/>
        </p:nvSpPr>
        <p:spPr>
          <a:xfrm>
            <a:off x="7178040" y="960120"/>
            <a:ext cx="4206240" cy="274320"/>
          </a:xfrm>
          <a:prstGeom prst="rect">
            <a:avLst/>
          </a:prstGeom>
          <a:noFill/>
          <a:ln/>
        </p:spPr>
        <p:txBody>
          <a:bodyPr wrap="square" lIns="0" tIns="0" rIns="0" bIns="0" rtlCol="0" anchor="t"/>
          <a:lstStyle/>
          <a:p>
            <a:pPr indent="0" marL="0">
              <a:buNone/>
            </a:pPr>
            <a:r>
              <a:rPr lang="en-US" sz="1100" dirty="0">
                <a:solidFill>
                  <a:srgbClr val="C9CDD2"/>
                </a:solidFill>
                <a:latin typeface="Calibri" pitchFamily="34" charset="0"/>
                <a:ea typeface="Calibri" pitchFamily="34" charset="-122"/>
                <a:cs typeface="Calibri" pitchFamily="34" charset="-120"/>
              </a:rPr>
              <a:t>One road, three edge treatments</a:t>
            </a:r>
            <a:endParaRPr lang="en-US" sz="1100" dirty="0"/>
          </a:p>
        </p:txBody>
      </p:sp>
      <p:sp>
        <p:nvSpPr>
          <p:cNvPr id="11" name="shape-8"/>
          <p:cNvSpPr/>
          <p:nvPr/>
        </p:nvSpPr>
        <p:spPr>
          <a:xfrm>
            <a:off x="7223760" y="1417320"/>
            <a:ext cx="342900" cy="146304"/>
          </a:xfrm>
          <a:prstGeom prst="rect">
            <a:avLst/>
          </a:prstGeom>
          <a:solidFill>
            <a:schemeClr val="accent1"/>
          </a:solidFill>
          <a:ln w="7620">
            <a:solidFill>
              <a:srgbClr val="1F2326"/>
            </a:solidFill>
            <a:prstDash val="solid"/>
          </a:ln>
        </p:spPr>
      </p:sp>
      <p:sp>
        <p:nvSpPr>
          <p:cNvPr id="12" name="shape-9"/>
          <p:cNvSpPr/>
          <p:nvPr/>
        </p:nvSpPr>
        <p:spPr>
          <a:xfrm>
            <a:off x="7566660" y="1417320"/>
            <a:ext cx="342900" cy="146304"/>
          </a:xfrm>
          <a:prstGeom prst="rect">
            <a:avLst/>
          </a:prstGeom>
          <a:solidFill>
            <a:srgbClr val="FFFFFF"/>
          </a:solidFill>
          <a:ln w="7620">
            <a:solidFill>
              <a:srgbClr val="1F2326"/>
            </a:solidFill>
            <a:prstDash val="solid"/>
          </a:ln>
        </p:spPr>
      </p:sp>
      <p:sp>
        <p:nvSpPr>
          <p:cNvPr id="13" name="shape-10"/>
          <p:cNvSpPr/>
          <p:nvPr/>
        </p:nvSpPr>
        <p:spPr>
          <a:xfrm>
            <a:off x="7909560" y="1417320"/>
            <a:ext cx="342900" cy="146304"/>
          </a:xfrm>
          <a:prstGeom prst="rect">
            <a:avLst/>
          </a:prstGeom>
          <a:solidFill>
            <a:schemeClr val="accent1"/>
          </a:solidFill>
          <a:ln w="7620">
            <a:solidFill>
              <a:srgbClr val="1F2326"/>
            </a:solidFill>
            <a:prstDash val="solid"/>
          </a:ln>
        </p:spPr>
      </p:sp>
      <p:sp>
        <p:nvSpPr>
          <p:cNvPr id="14" name="shape-11"/>
          <p:cNvSpPr/>
          <p:nvPr/>
        </p:nvSpPr>
        <p:spPr>
          <a:xfrm>
            <a:off x="8252460" y="1417320"/>
            <a:ext cx="342900" cy="146304"/>
          </a:xfrm>
          <a:prstGeom prst="rect">
            <a:avLst/>
          </a:prstGeom>
          <a:solidFill>
            <a:srgbClr val="FFFFFF"/>
          </a:solidFill>
          <a:ln w="7620">
            <a:solidFill>
              <a:srgbClr val="1F2326"/>
            </a:solidFill>
            <a:prstDash val="solid"/>
          </a:ln>
        </p:spPr>
      </p:sp>
      <p:sp>
        <p:nvSpPr>
          <p:cNvPr id="15" name="shape-12"/>
          <p:cNvSpPr/>
          <p:nvPr/>
        </p:nvSpPr>
        <p:spPr>
          <a:xfrm>
            <a:off x="8595360" y="1417320"/>
            <a:ext cx="342900" cy="146304"/>
          </a:xfrm>
          <a:prstGeom prst="rect">
            <a:avLst/>
          </a:prstGeom>
          <a:solidFill>
            <a:schemeClr val="accent1"/>
          </a:solidFill>
          <a:ln w="7620">
            <a:solidFill>
              <a:srgbClr val="1F2326"/>
            </a:solidFill>
            <a:prstDash val="solid"/>
          </a:ln>
        </p:spPr>
      </p:sp>
      <p:sp>
        <p:nvSpPr>
          <p:cNvPr id="16" name="shape-13"/>
          <p:cNvSpPr/>
          <p:nvPr/>
        </p:nvSpPr>
        <p:spPr>
          <a:xfrm>
            <a:off x="8938260" y="1417320"/>
            <a:ext cx="342900" cy="146304"/>
          </a:xfrm>
          <a:prstGeom prst="rect">
            <a:avLst/>
          </a:prstGeom>
          <a:solidFill>
            <a:srgbClr val="FFFFFF"/>
          </a:solidFill>
          <a:ln w="7620">
            <a:solidFill>
              <a:srgbClr val="1F2326"/>
            </a:solidFill>
            <a:prstDash val="solid"/>
          </a:ln>
        </p:spPr>
      </p:sp>
      <p:sp>
        <p:nvSpPr>
          <p:cNvPr id="17" name="shape-14"/>
          <p:cNvSpPr/>
          <p:nvPr/>
        </p:nvSpPr>
        <p:spPr>
          <a:xfrm>
            <a:off x="9281160" y="1417320"/>
            <a:ext cx="342900" cy="146304"/>
          </a:xfrm>
          <a:prstGeom prst="rect">
            <a:avLst/>
          </a:prstGeom>
          <a:solidFill>
            <a:schemeClr val="accent1"/>
          </a:solidFill>
          <a:ln w="7620">
            <a:solidFill>
              <a:srgbClr val="1F2326"/>
            </a:solidFill>
            <a:prstDash val="solid"/>
          </a:ln>
        </p:spPr>
      </p:sp>
      <p:sp>
        <p:nvSpPr>
          <p:cNvPr id="18" name="shape-15"/>
          <p:cNvSpPr/>
          <p:nvPr/>
        </p:nvSpPr>
        <p:spPr>
          <a:xfrm>
            <a:off x="9624060" y="1417320"/>
            <a:ext cx="342900" cy="146304"/>
          </a:xfrm>
          <a:prstGeom prst="rect">
            <a:avLst/>
          </a:prstGeom>
          <a:solidFill>
            <a:srgbClr val="FFFFFF"/>
          </a:solidFill>
          <a:ln w="7620">
            <a:solidFill>
              <a:srgbClr val="1F2326"/>
            </a:solidFill>
            <a:prstDash val="solid"/>
          </a:ln>
        </p:spPr>
      </p:sp>
      <p:sp>
        <p:nvSpPr>
          <p:cNvPr id="19" name="shape-16"/>
          <p:cNvSpPr/>
          <p:nvPr/>
        </p:nvSpPr>
        <p:spPr>
          <a:xfrm>
            <a:off x="9966960" y="1417320"/>
            <a:ext cx="342900" cy="146304"/>
          </a:xfrm>
          <a:prstGeom prst="rect">
            <a:avLst/>
          </a:prstGeom>
          <a:solidFill>
            <a:schemeClr val="accent1"/>
          </a:solidFill>
          <a:ln w="7620">
            <a:solidFill>
              <a:srgbClr val="1F2326"/>
            </a:solidFill>
            <a:prstDash val="solid"/>
          </a:ln>
        </p:spPr>
      </p:sp>
      <p:sp>
        <p:nvSpPr>
          <p:cNvPr id="20" name="shape-17"/>
          <p:cNvSpPr/>
          <p:nvPr/>
        </p:nvSpPr>
        <p:spPr>
          <a:xfrm>
            <a:off x="10309860" y="1417320"/>
            <a:ext cx="342900" cy="146304"/>
          </a:xfrm>
          <a:prstGeom prst="rect">
            <a:avLst/>
          </a:prstGeom>
          <a:solidFill>
            <a:srgbClr val="FFFFFF"/>
          </a:solidFill>
          <a:ln w="7620">
            <a:solidFill>
              <a:srgbClr val="1F2326"/>
            </a:solidFill>
            <a:prstDash val="solid"/>
          </a:ln>
        </p:spPr>
      </p:sp>
      <p:sp>
        <p:nvSpPr>
          <p:cNvPr id="21" name="shape-18"/>
          <p:cNvSpPr/>
          <p:nvPr/>
        </p:nvSpPr>
        <p:spPr>
          <a:xfrm>
            <a:off x="10652760" y="1417320"/>
            <a:ext cx="342900" cy="146304"/>
          </a:xfrm>
          <a:prstGeom prst="rect">
            <a:avLst/>
          </a:prstGeom>
          <a:solidFill>
            <a:schemeClr val="accent1"/>
          </a:solidFill>
          <a:ln w="7620">
            <a:solidFill>
              <a:srgbClr val="1F2326"/>
            </a:solidFill>
            <a:prstDash val="solid"/>
          </a:ln>
        </p:spPr>
      </p:sp>
      <p:sp>
        <p:nvSpPr>
          <p:cNvPr id="22" name="shape-19"/>
          <p:cNvSpPr/>
          <p:nvPr/>
        </p:nvSpPr>
        <p:spPr>
          <a:xfrm>
            <a:off x="10995660" y="1417320"/>
            <a:ext cx="342900" cy="146304"/>
          </a:xfrm>
          <a:prstGeom prst="rect">
            <a:avLst/>
          </a:prstGeom>
          <a:solidFill>
            <a:srgbClr val="FFFFFF"/>
          </a:solidFill>
          <a:ln w="7620">
            <a:solidFill>
              <a:srgbClr val="1F2326"/>
            </a:solidFill>
            <a:prstDash val="solid"/>
          </a:ln>
        </p:spPr>
      </p:sp>
      <p:sp>
        <p:nvSpPr>
          <p:cNvPr id="23" name="shape-20"/>
          <p:cNvSpPr/>
          <p:nvPr/>
        </p:nvSpPr>
        <p:spPr>
          <a:xfrm>
            <a:off x="7223760" y="1691640"/>
            <a:ext cx="4114800" cy="1143000"/>
          </a:xfrm>
          <a:prstGeom prst="rect">
            <a:avLst/>
          </a:prstGeom>
          <a:solidFill>
            <a:schemeClr val="accent5"/>
          </a:solidFill>
          <a:ln/>
        </p:spPr>
      </p:sp>
      <p:sp>
        <p:nvSpPr>
          <p:cNvPr id="24" name="shape-21"/>
          <p:cNvSpPr/>
          <p:nvPr/>
        </p:nvSpPr>
        <p:spPr>
          <a:xfrm>
            <a:off x="7223760" y="1737360"/>
            <a:ext cx="4114800" cy="0"/>
          </a:xfrm>
          <a:prstGeom prst="line">
            <a:avLst/>
          </a:prstGeom>
          <a:noFill/>
          <a:ln w="15875">
            <a:solidFill>
              <a:schemeClr val="accent2"/>
            </a:solidFill>
            <a:prstDash val="solid"/>
          </a:ln>
        </p:spPr>
      </p:sp>
      <p:sp>
        <p:nvSpPr>
          <p:cNvPr id="25" name="shape-22"/>
          <p:cNvSpPr/>
          <p:nvPr/>
        </p:nvSpPr>
        <p:spPr>
          <a:xfrm>
            <a:off x="7223760" y="2788920"/>
            <a:ext cx="4114800" cy="0"/>
          </a:xfrm>
          <a:prstGeom prst="line">
            <a:avLst/>
          </a:prstGeom>
          <a:noFill/>
          <a:ln w="15875">
            <a:solidFill>
              <a:schemeClr val="accent2"/>
            </a:solidFill>
            <a:prstDash val="solid"/>
          </a:ln>
        </p:spPr>
      </p:sp>
      <p:sp>
        <p:nvSpPr>
          <p:cNvPr id="26" name="shape-23"/>
          <p:cNvSpPr/>
          <p:nvPr/>
        </p:nvSpPr>
        <p:spPr>
          <a:xfrm>
            <a:off x="7223760" y="2263140"/>
            <a:ext cx="4114800" cy="0"/>
          </a:xfrm>
          <a:prstGeom prst="line">
            <a:avLst/>
          </a:prstGeom>
          <a:noFill/>
          <a:ln w="19050">
            <a:solidFill>
              <a:srgbClr val="FFFFFF"/>
            </a:solidFill>
            <a:prstDash val="dash"/>
          </a:ln>
        </p:spPr>
      </p:sp>
      <p:sp>
        <p:nvSpPr>
          <p:cNvPr id="27" name="shape-24"/>
          <p:cNvSpPr/>
          <p:nvPr/>
        </p:nvSpPr>
        <p:spPr>
          <a:xfrm>
            <a:off x="7246620" y="2967228"/>
            <a:ext cx="137160" cy="137160"/>
          </a:xfrm>
          <a:prstGeom prst="ellipse">
            <a:avLst/>
          </a:prstGeom>
          <a:solidFill>
            <a:schemeClr val="accent1"/>
          </a:solidFill>
          <a:ln w="5080">
            <a:solidFill>
              <a:srgbClr val="1F2326"/>
            </a:solidFill>
            <a:prstDash val="solid"/>
          </a:ln>
        </p:spPr>
      </p:sp>
      <p:sp>
        <p:nvSpPr>
          <p:cNvPr id="28" name="shape-25"/>
          <p:cNvSpPr/>
          <p:nvPr/>
        </p:nvSpPr>
        <p:spPr>
          <a:xfrm>
            <a:off x="7274052" y="2994660"/>
            <a:ext cx="82296" cy="82296"/>
          </a:xfrm>
          <a:prstGeom prst="ellipse">
            <a:avLst/>
          </a:prstGeom>
          <a:solidFill>
            <a:srgbClr val="FFFFFF"/>
          </a:solidFill>
          <a:ln/>
        </p:spPr>
      </p:sp>
      <p:sp>
        <p:nvSpPr>
          <p:cNvPr id="29" name="shape-26"/>
          <p:cNvSpPr/>
          <p:nvPr/>
        </p:nvSpPr>
        <p:spPr>
          <a:xfrm>
            <a:off x="7293254" y="3013862"/>
            <a:ext cx="43891" cy="43891"/>
          </a:xfrm>
          <a:prstGeom prst="ellipse">
            <a:avLst/>
          </a:prstGeom>
          <a:solidFill>
            <a:schemeClr val="accent1"/>
          </a:solidFill>
          <a:ln/>
        </p:spPr>
      </p:sp>
      <p:sp>
        <p:nvSpPr>
          <p:cNvPr id="30" name="shape-27"/>
          <p:cNvSpPr/>
          <p:nvPr/>
        </p:nvSpPr>
        <p:spPr>
          <a:xfrm>
            <a:off x="7549075" y="2967228"/>
            <a:ext cx="137160" cy="137160"/>
          </a:xfrm>
          <a:prstGeom prst="ellipse">
            <a:avLst/>
          </a:prstGeom>
          <a:solidFill>
            <a:schemeClr val="accent1"/>
          </a:solidFill>
          <a:ln w="5080">
            <a:solidFill>
              <a:srgbClr val="1F2326"/>
            </a:solidFill>
            <a:prstDash val="solid"/>
          </a:ln>
        </p:spPr>
      </p:sp>
      <p:sp>
        <p:nvSpPr>
          <p:cNvPr id="31" name="shape-28"/>
          <p:cNvSpPr/>
          <p:nvPr/>
        </p:nvSpPr>
        <p:spPr>
          <a:xfrm>
            <a:off x="7576507" y="2994660"/>
            <a:ext cx="82296" cy="82296"/>
          </a:xfrm>
          <a:prstGeom prst="ellipse">
            <a:avLst/>
          </a:prstGeom>
          <a:solidFill>
            <a:srgbClr val="FFFFFF"/>
          </a:solidFill>
          <a:ln/>
        </p:spPr>
      </p:sp>
      <p:sp>
        <p:nvSpPr>
          <p:cNvPr id="32" name="shape-29"/>
          <p:cNvSpPr/>
          <p:nvPr/>
        </p:nvSpPr>
        <p:spPr>
          <a:xfrm>
            <a:off x="7595710" y="3013862"/>
            <a:ext cx="43891" cy="43891"/>
          </a:xfrm>
          <a:prstGeom prst="ellipse">
            <a:avLst/>
          </a:prstGeom>
          <a:solidFill>
            <a:schemeClr val="accent1"/>
          </a:solidFill>
          <a:ln/>
        </p:spPr>
      </p:sp>
      <p:sp>
        <p:nvSpPr>
          <p:cNvPr id="33" name="shape-30"/>
          <p:cNvSpPr/>
          <p:nvPr/>
        </p:nvSpPr>
        <p:spPr>
          <a:xfrm>
            <a:off x="7851531" y="2967228"/>
            <a:ext cx="137160" cy="137160"/>
          </a:xfrm>
          <a:prstGeom prst="ellipse">
            <a:avLst/>
          </a:prstGeom>
          <a:solidFill>
            <a:schemeClr val="accent1"/>
          </a:solidFill>
          <a:ln w="5080">
            <a:solidFill>
              <a:srgbClr val="1F2326"/>
            </a:solidFill>
            <a:prstDash val="solid"/>
          </a:ln>
        </p:spPr>
      </p:sp>
      <p:sp>
        <p:nvSpPr>
          <p:cNvPr id="34" name="shape-31"/>
          <p:cNvSpPr/>
          <p:nvPr/>
        </p:nvSpPr>
        <p:spPr>
          <a:xfrm>
            <a:off x="7878963" y="2994660"/>
            <a:ext cx="82296" cy="82296"/>
          </a:xfrm>
          <a:prstGeom prst="ellipse">
            <a:avLst/>
          </a:prstGeom>
          <a:solidFill>
            <a:srgbClr val="FFFFFF"/>
          </a:solidFill>
          <a:ln/>
        </p:spPr>
      </p:sp>
      <p:sp>
        <p:nvSpPr>
          <p:cNvPr id="35" name="shape-32"/>
          <p:cNvSpPr/>
          <p:nvPr/>
        </p:nvSpPr>
        <p:spPr>
          <a:xfrm>
            <a:off x="7898165" y="3013862"/>
            <a:ext cx="43891" cy="43891"/>
          </a:xfrm>
          <a:prstGeom prst="ellipse">
            <a:avLst/>
          </a:prstGeom>
          <a:solidFill>
            <a:schemeClr val="accent1"/>
          </a:solidFill>
          <a:ln/>
        </p:spPr>
      </p:sp>
      <p:sp>
        <p:nvSpPr>
          <p:cNvPr id="36" name="shape-33"/>
          <p:cNvSpPr/>
          <p:nvPr/>
        </p:nvSpPr>
        <p:spPr>
          <a:xfrm>
            <a:off x="8153986" y="2967228"/>
            <a:ext cx="137160" cy="137160"/>
          </a:xfrm>
          <a:prstGeom prst="ellipse">
            <a:avLst/>
          </a:prstGeom>
          <a:solidFill>
            <a:schemeClr val="accent1"/>
          </a:solidFill>
          <a:ln w="5080">
            <a:solidFill>
              <a:srgbClr val="1F2326"/>
            </a:solidFill>
            <a:prstDash val="solid"/>
          </a:ln>
        </p:spPr>
      </p:sp>
      <p:sp>
        <p:nvSpPr>
          <p:cNvPr id="37" name="shape-34"/>
          <p:cNvSpPr/>
          <p:nvPr/>
        </p:nvSpPr>
        <p:spPr>
          <a:xfrm>
            <a:off x="8181418" y="2994660"/>
            <a:ext cx="82296" cy="82296"/>
          </a:xfrm>
          <a:prstGeom prst="ellipse">
            <a:avLst/>
          </a:prstGeom>
          <a:solidFill>
            <a:srgbClr val="FFFFFF"/>
          </a:solidFill>
          <a:ln/>
        </p:spPr>
      </p:sp>
      <p:sp>
        <p:nvSpPr>
          <p:cNvPr id="38" name="shape-35"/>
          <p:cNvSpPr/>
          <p:nvPr/>
        </p:nvSpPr>
        <p:spPr>
          <a:xfrm>
            <a:off x="8200621" y="3013862"/>
            <a:ext cx="43891" cy="43891"/>
          </a:xfrm>
          <a:prstGeom prst="ellipse">
            <a:avLst/>
          </a:prstGeom>
          <a:solidFill>
            <a:schemeClr val="accent1"/>
          </a:solidFill>
          <a:ln/>
        </p:spPr>
      </p:sp>
      <p:sp>
        <p:nvSpPr>
          <p:cNvPr id="39" name="shape-36"/>
          <p:cNvSpPr/>
          <p:nvPr/>
        </p:nvSpPr>
        <p:spPr>
          <a:xfrm>
            <a:off x="8456442" y="2967228"/>
            <a:ext cx="137160" cy="137160"/>
          </a:xfrm>
          <a:prstGeom prst="ellipse">
            <a:avLst/>
          </a:prstGeom>
          <a:solidFill>
            <a:schemeClr val="accent1"/>
          </a:solidFill>
          <a:ln w="5080">
            <a:solidFill>
              <a:srgbClr val="1F2326"/>
            </a:solidFill>
            <a:prstDash val="solid"/>
          </a:ln>
        </p:spPr>
      </p:sp>
      <p:sp>
        <p:nvSpPr>
          <p:cNvPr id="40" name="shape-37"/>
          <p:cNvSpPr/>
          <p:nvPr/>
        </p:nvSpPr>
        <p:spPr>
          <a:xfrm>
            <a:off x="8483874" y="2994660"/>
            <a:ext cx="82296" cy="82296"/>
          </a:xfrm>
          <a:prstGeom prst="ellipse">
            <a:avLst/>
          </a:prstGeom>
          <a:solidFill>
            <a:srgbClr val="FFFFFF"/>
          </a:solidFill>
          <a:ln/>
        </p:spPr>
      </p:sp>
      <p:sp>
        <p:nvSpPr>
          <p:cNvPr id="41" name="shape-38"/>
          <p:cNvSpPr/>
          <p:nvPr/>
        </p:nvSpPr>
        <p:spPr>
          <a:xfrm>
            <a:off x="8503076" y="3013862"/>
            <a:ext cx="43891" cy="43891"/>
          </a:xfrm>
          <a:prstGeom prst="ellipse">
            <a:avLst/>
          </a:prstGeom>
          <a:solidFill>
            <a:schemeClr val="accent1"/>
          </a:solidFill>
          <a:ln/>
        </p:spPr>
      </p:sp>
      <p:sp>
        <p:nvSpPr>
          <p:cNvPr id="42" name="shape-39"/>
          <p:cNvSpPr/>
          <p:nvPr/>
        </p:nvSpPr>
        <p:spPr>
          <a:xfrm>
            <a:off x="8758897" y="2967228"/>
            <a:ext cx="137160" cy="137160"/>
          </a:xfrm>
          <a:prstGeom prst="ellipse">
            <a:avLst/>
          </a:prstGeom>
          <a:solidFill>
            <a:schemeClr val="accent1"/>
          </a:solidFill>
          <a:ln w="5080">
            <a:solidFill>
              <a:srgbClr val="1F2326"/>
            </a:solidFill>
            <a:prstDash val="solid"/>
          </a:ln>
        </p:spPr>
      </p:sp>
      <p:sp>
        <p:nvSpPr>
          <p:cNvPr id="43" name="shape-40"/>
          <p:cNvSpPr/>
          <p:nvPr/>
        </p:nvSpPr>
        <p:spPr>
          <a:xfrm>
            <a:off x="8786329" y="2994660"/>
            <a:ext cx="82296" cy="82296"/>
          </a:xfrm>
          <a:prstGeom prst="ellipse">
            <a:avLst/>
          </a:prstGeom>
          <a:solidFill>
            <a:srgbClr val="FFFFFF"/>
          </a:solidFill>
          <a:ln/>
        </p:spPr>
      </p:sp>
      <p:sp>
        <p:nvSpPr>
          <p:cNvPr id="44" name="shape-41"/>
          <p:cNvSpPr/>
          <p:nvPr/>
        </p:nvSpPr>
        <p:spPr>
          <a:xfrm>
            <a:off x="8805531" y="3013862"/>
            <a:ext cx="43891" cy="43891"/>
          </a:xfrm>
          <a:prstGeom prst="ellipse">
            <a:avLst/>
          </a:prstGeom>
          <a:solidFill>
            <a:schemeClr val="accent1"/>
          </a:solidFill>
          <a:ln/>
        </p:spPr>
      </p:sp>
      <p:sp>
        <p:nvSpPr>
          <p:cNvPr id="45" name="shape-42"/>
          <p:cNvSpPr/>
          <p:nvPr/>
        </p:nvSpPr>
        <p:spPr>
          <a:xfrm>
            <a:off x="9061352" y="2967228"/>
            <a:ext cx="137160" cy="137160"/>
          </a:xfrm>
          <a:prstGeom prst="ellipse">
            <a:avLst/>
          </a:prstGeom>
          <a:solidFill>
            <a:schemeClr val="accent1"/>
          </a:solidFill>
          <a:ln w="5080">
            <a:solidFill>
              <a:srgbClr val="1F2326"/>
            </a:solidFill>
            <a:prstDash val="solid"/>
          </a:ln>
        </p:spPr>
      </p:sp>
      <p:sp>
        <p:nvSpPr>
          <p:cNvPr id="46" name="shape-43"/>
          <p:cNvSpPr/>
          <p:nvPr/>
        </p:nvSpPr>
        <p:spPr>
          <a:xfrm>
            <a:off x="9088784" y="2994660"/>
            <a:ext cx="82296" cy="82296"/>
          </a:xfrm>
          <a:prstGeom prst="ellipse">
            <a:avLst/>
          </a:prstGeom>
          <a:solidFill>
            <a:srgbClr val="FFFFFF"/>
          </a:solidFill>
          <a:ln/>
        </p:spPr>
      </p:sp>
      <p:sp>
        <p:nvSpPr>
          <p:cNvPr id="47" name="shape-44"/>
          <p:cNvSpPr/>
          <p:nvPr/>
        </p:nvSpPr>
        <p:spPr>
          <a:xfrm>
            <a:off x="9107987" y="3013862"/>
            <a:ext cx="43891" cy="43891"/>
          </a:xfrm>
          <a:prstGeom prst="ellipse">
            <a:avLst/>
          </a:prstGeom>
          <a:solidFill>
            <a:schemeClr val="accent1"/>
          </a:solidFill>
          <a:ln/>
        </p:spPr>
      </p:sp>
      <p:sp>
        <p:nvSpPr>
          <p:cNvPr id="48" name="shape-45"/>
          <p:cNvSpPr/>
          <p:nvPr/>
        </p:nvSpPr>
        <p:spPr>
          <a:xfrm>
            <a:off x="9363808" y="2967228"/>
            <a:ext cx="137160" cy="137160"/>
          </a:xfrm>
          <a:prstGeom prst="ellipse">
            <a:avLst/>
          </a:prstGeom>
          <a:solidFill>
            <a:schemeClr val="accent1"/>
          </a:solidFill>
          <a:ln w="5080">
            <a:solidFill>
              <a:srgbClr val="1F2326"/>
            </a:solidFill>
            <a:prstDash val="solid"/>
          </a:ln>
        </p:spPr>
      </p:sp>
      <p:sp>
        <p:nvSpPr>
          <p:cNvPr id="49" name="shape-46"/>
          <p:cNvSpPr/>
          <p:nvPr/>
        </p:nvSpPr>
        <p:spPr>
          <a:xfrm>
            <a:off x="9391240" y="2994660"/>
            <a:ext cx="82296" cy="82296"/>
          </a:xfrm>
          <a:prstGeom prst="ellipse">
            <a:avLst/>
          </a:prstGeom>
          <a:solidFill>
            <a:srgbClr val="FFFFFF"/>
          </a:solidFill>
          <a:ln/>
        </p:spPr>
      </p:sp>
      <p:sp>
        <p:nvSpPr>
          <p:cNvPr id="50" name="shape-47"/>
          <p:cNvSpPr/>
          <p:nvPr/>
        </p:nvSpPr>
        <p:spPr>
          <a:xfrm>
            <a:off x="9410442" y="3013862"/>
            <a:ext cx="43891" cy="43891"/>
          </a:xfrm>
          <a:prstGeom prst="ellipse">
            <a:avLst/>
          </a:prstGeom>
          <a:solidFill>
            <a:schemeClr val="accent1"/>
          </a:solidFill>
          <a:ln/>
        </p:spPr>
      </p:sp>
      <p:sp>
        <p:nvSpPr>
          <p:cNvPr id="51" name="shape-48"/>
          <p:cNvSpPr/>
          <p:nvPr/>
        </p:nvSpPr>
        <p:spPr>
          <a:xfrm>
            <a:off x="9666263" y="2967228"/>
            <a:ext cx="137160" cy="137160"/>
          </a:xfrm>
          <a:prstGeom prst="ellipse">
            <a:avLst/>
          </a:prstGeom>
          <a:solidFill>
            <a:schemeClr val="accent1"/>
          </a:solidFill>
          <a:ln w="5080">
            <a:solidFill>
              <a:srgbClr val="1F2326"/>
            </a:solidFill>
            <a:prstDash val="solid"/>
          </a:ln>
        </p:spPr>
      </p:sp>
      <p:sp>
        <p:nvSpPr>
          <p:cNvPr id="52" name="shape-49"/>
          <p:cNvSpPr/>
          <p:nvPr/>
        </p:nvSpPr>
        <p:spPr>
          <a:xfrm>
            <a:off x="9693695" y="2994660"/>
            <a:ext cx="82296" cy="82296"/>
          </a:xfrm>
          <a:prstGeom prst="ellipse">
            <a:avLst/>
          </a:prstGeom>
          <a:solidFill>
            <a:srgbClr val="FFFFFF"/>
          </a:solidFill>
          <a:ln/>
        </p:spPr>
      </p:sp>
      <p:sp>
        <p:nvSpPr>
          <p:cNvPr id="53" name="shape-50"/>
          <p:cNvSpPr/>
          <p:nvPr/>
        </p:nvSpPr>
        <p:spPr>
          <a:xfrm>
            <a:off x="9712897" y="3013862"/>
            <a:ext cx="43891" cy="43891"/>
          </a:xfrm>
          <a:prstGeom prst="ellipse">
            <a:avLst/>
          </a:prstGeom>
          <a:solidFill>
            <a:schemeClr val="accent1"/>
          </a:solidFill>
          <a:ln/>
        </p:spPr>
      </p:sp>
      <p:sp>
        <p:nvSpPr>
          <p:cNvPr id="54" name="shape-51"/>
          <p:cNvSpPr/>
          <p:nvPr/>
        </p:nvSpPr>
        <p:spPr>
          <a:xfrm>
            <a:off x="9968718" y="2967228"/>
            <a:ext cx="137160" cy="137160"/>
          </a:xfrm>
          <a:prstGeom prst="ellipse">
            <a:avLst/>
          </a:prstGeom>
          <a:solidFill>
            <a:schemeClr val="accent1"/>
          </a:solidFill>
          <a:ln w="5080">
            <a:solidFill>
              <a:srgbClr val="1F2326"/>
            </a:solidFill>
            <a:prstDash val="solid"/>
          </a:ln>
        </p:spPr>
      </p:sp>
      <p:sp>
        <p:nvSpPr>
          <p:cNvPr id="55" name="shape-52"/>
          <p:cNvSpPr/>
          <p:nvPr/>
        </p:nvSpPr>
        <p:spPr>
          <a:xfrm>
            <a:off x="9996150" y="2994660"/>
            <a:ext cx="82296" cy="82296"/>
          </a:xfrm>
          <a:prstGeom prst="ellipse">
            <a:avLst/>
          </a:prstGeom>
          <a:solidFill>
            <a:srgbClr val="FFFFFF"/>
          </a:solidFill>
          <a:ln/>
        </p:spPr>
      </p:sp>
      <p:sp>
        <p:nvSpPr>
          <p:cNvPr id="56" name="shape-53"/>
          <p:cNvSpPr/>
          <p:nvPr/>
        </p:nvSpPr>
        <p:spPr>
          <a:xfrm>
            <a:off x="10015353" y="3013862"/>
            <a:ext cx="43891" cy="43891"/>
          </a:xfrm>
          <a:prstGeom prst="ellipse">
            <a:avLst/>
          </a:prstGeom>
          <a:solidFill>
            <a:schemeClr val="accent1"/>
          </a:solidFill>
          <a:ln/>
        </p:spPr>
      </p:sp>
      <p:sp>
        <p:nvSpPr>
          <p:cNvPr id="57" name="shape-54"/>
          <p:cNvSpPr/>
          <p:nvPr/>
        </p:nvSpPr>
        <p:spPr>
          <a:xfrm>
            <a:off x="10271174" y="2967228"/>
            <a:ext cx="137160" cy="137160"/>
          </a:xfrm>
          <a:prstGeom prst="ellipse">
            <a:avLst/>
          </a:prstGeom>
          <a:solidFill>
            <a:schemeClr val="accent1"/>
          </a:solidFill>
          <a:ln w="5080">
            <a:solidFill>
              <a:srgbClr val="1F2326"/>
            </a:solidFill>
            <a:prstDash val="solid"/>
          </a:ln>
        </p:spPr>
      </p:sp>
      <p:sp>
        <p:nvSpPr>
          <p:cNvPr id="58" name="shape-55"/>
          <p:cNvSpPr/>
          <p:nvPr/>
        </p:nvSpPr>
        <p:spPr>
          <a:xfrm>
            <a:off x="10298606" y="2994660"/>
            <a:ext cx="82296" cy="82296"/>
          </a:xfrm>
          <a:prstGeom prst="ellipse">
            <a:avLst/>
          </a:prstGeom>
          <a:solidFill>
            <a:srgbClr val="FFFFFF"/>
          </a:solidFill>
          <a:ln/>
        </p:spPr>
      </p:sp>
      <p:sp>
        <p:nvSpPr>
          <p:cNvPr id="59" name="shape-56"/>
          <p:cNvSpPr/>
          <p:nvPr/>
        </p:nvSpPr>
        <p:spPr>
          <a:xfrm>
            <a:off x="10317808" y="3013862"/>
            <a:ext cx="43891" cy="43891"/>
          </a:xfrm>
          <a:prstGeom prst="ellipse">
            <a:avLst/>
          </a:prstGeom>
          <a:solidFill>
            <a:schemeClr val="accent1"/>
          </a:solidFill>
          <a:ln/>
        </p:spPr>
      </p:sp>
      <p:sp>
        <p:nvSpPr>
          <p:cNvPr id="60" name="shape-57"/>
          <p:cNvSpPr/>
          <p:nvPr/>
        </p:nvSpPr>
        <p:spPr>
          <a:xfrm>
            <a:off x="10573629" y="2967228"/>
            <a:ext cx="137160" cy="137160"/>
          </a:xfrm>
          <a:prstGeom prst="ellipse">
            <a:avLst/>
          </a:prstGeom>
          <a:solidFill>
            <a:schemeClr val="accent1"/>
          </a:solidFill>
          <a:ln w="5080">
            <a:solidFill>
              <a:srgbClr val="1F2326"/>
            </a:solidFill>
            <a:prstDash val="solid"/>
          </a:ln>
        </p:spPr>
      </p:sp>
      <p:sp>
        <p:nvSpPr>
          <p:cNvPr id="61" name="shape-58"/>
          <p:cNvSpPr/>
          <p:nvPr/>
        </p:nvSpPr>
        <p:spPr>
          <a:xfrm>
            <a:off x="10601061" y="2994660"/>
            <a:ext cx="82296" cy="82296"/>
          </a:xfrm>
          <a:prstGeom prst="ellipse">
            <a:avLst/>
          </a:prstGeom>
          <a:solidFill>
            <a:srgbClr val="FFFFFF"/>
          </a:solidFill>
          <a:ln/>
        </p:spPr>
      </p:sp>
      <p:sp>
        <p:nvSpPr>
          <p:cNvPr id="62" name="shape-59"/>
          <p:cNvSpPr/>
          <p:nvPr/>
        </p:nvSpPr>
        <p:spPr>
          <a:xfrm>
            <a:off x="10620264" y="3013862"/>
            <a:ext cx="43891" cy="43891"/>
          </a:xfrm>
          <a:prstGeom prst="ellipse">
            <a:avLst/>
          </a:prstGeom>
          <a:solidFill>
            <a:schemeClr val="accent1"/>
          </a:solidFill>
          <a:ln/>
        </p:spPr>
      </p:sp>
      <p:sp>
        <p:nvSpPr>
          <p:cNvPr id="63" name="shape-60"/>
          <p:cNvSpPr/>
          <p:nvPr/>
        </p:nvSpPr>
        <p:spPr>
          <a:xfrm>
            <a:off x="10876085" y="2967228"/>
            <a:ext cx="137160" cy="137160"/>
          </a:xfrm>
          <a:prstGeom prst="ellipse">
            <a:avLst/>
          </a:prstGeom>
          <a:solidFill>
            <a:schemeClr val="accent1"/>
          </a:solidFill>
          <a:ln w="5080">
            <a:solidFill>
              <a:srgbClr val="1F2326"/>
            </a:solidFill>
            <a:prstDash val="solid"/>
          </a:ln>
        </p:spPr>
      </p:sp>
      <p:sp>
        <p:nvSpPr>
          <p:cNvPr id="64" name="shape-61"/>
          <p:cNvSpPr/>
          <p:nvPr/>
        </p:nvSpPr>
        <p:spPr>
          <a:xfrm>
            <a:off x="10903517" y="2994660"/>
            <a:ext cx="82296" cy="82296"/>
          </a:xfrm>
          <a:prstGeom prst="ellipse">
            <a:avLst/>
          </a:prstGeom>
          <a:solidFill>
            <a:srgbClr val="FFFFFF"/>
          </a:solidFill>
          <a:ln/>
        </p:spPr>
      </p:sp>
      <p:sp>
        <p:nvSpPr>
          <p:cNvPr id="65" name="shape-62"/>
          <p:cNvSpPr/>
          <p:nvPr/>
        </p:nvSpPr>
        <p:spPr>
          <a:xfrm>
            <a:off x="10922719" y="3013862"/>
            <a:ext cx="43891" cy="43891"/>
          </a:xfrm>
          <a:prstGeom prst="ellipse">
            <a:avLst/>
          </a:prstGeom>
          <a:solidFill>
            <a:schemeClr val="accent1"/>
          </a:solidFill>
          <a:ln/>
        </p:spPr>
      </p:sp>
      <p:sp>
        <p:nvSpPr>
          <p:cNvPr id="66" name="shape-63"/>
          <p:cNvSpPr/>
          <p:nvPr/>
        </p:nvSpPr>
        <p:spPr>
          <a:xfrm>
            <a:off x="11178540" y="2967228"/>
            <a:ext cx="137160" cy="137160"/>
          </a:xfrm>
          <a:prstGeom prst="ellipse">
            <a:avLst/>
          </a:prstGeom>
          <a:solidFill>
            <a:schemeClr val="accent1"/>
          </a:solidFill>
          <a:ln w="5080">
            <a:solidFill>
              <a:srgbClr val="1F2326"/>
            </a:solidFill>
            <a:prstDash val="solid"/>
          </a:ln>
        </p:spPr>
      </p:sp>
      <p:sp>
        <p:nvSpPr>
          <p:cNvPr id="67" name="shape-64"/>
          <p:cNvSpPr/>
          <p:nvPr/>
        </p:nvSpPr>
        <p:spPr>
          <a:xfrm>
            <a:off x="11205972" y="2994660"/>
            <a:ext cx="82296" cy="82296"/>
          </a:xfrm>
          <a:prstGeom prst="ellipse">
            <a:avLst/>
          </a:prstGeom>
          <a:solidFill>
            <a:srgbClr val="FFFFFF"/>
          </a:solidFill>
          <a:ln/>
        </p:spPr>
      </p:sp>
      <p:sp>
        <p:nvSpPr>
          <p:cNvPr id="68" name="shape-65"/>
          <p:cNvSpPr/>
          <p:nvPr/>
        </p:nvSpPr>
        <p:spPr>
          <a:xfrm>
            <a:off x="11225174" y="3013862"/>
            <a:ext cx="43891" cy="43891"/>
          </a:xfrm>
          <a:prstGeom prst="ellipse">
            <a:avLst/>
          </a:prstGeom>
          <a:solidFill>
            <a:schemeClr val="accent1"/>
          </a:solidFill>
          <a:ln/>
        </p:spPr>
      </p:sp>
      <p:sp>
        <p:nvSpPr>
          <p:cNvPr id="69" name="text-66"/>
          <p:cNvSpPr txBox="1"/>
          <p:nvPr/>
        </p:nvSpPr>
        <p:spPr>
          <a:xfrm>
            <a:off x="7223760" y="1207008"/>
            <a:ext cx="1828800" cy="182880"/>
          </a:xfrm>
          <a:prstGeom prst="rect">
            <a:avLst/>
          </a:prstGeom>
          <a:noFill/>
          <a:ln/>
        </p:spPr>
        <p:txBody>
          <a:bodyPr wrap="square" lIns="0" tIns="0" rIns="0" bIns="0" rtlCol="0" anchor="t"/>
          <a:lstStyle/>
          <a:p>
            <a:pPr indent="0" marL="0">
              <a:buNone/>
            </a:pPr>
            <a:r>
              <a:rPr lang="en-US" sz="800" b="1" dirty="0">
                <a:solidFill>
                  <a:srgbClr val="C9CDD2"/>
                </a:solidFill>
                <a:latin typeface="Calibri" pitchFamily="34" charset="0"/>
                <a:ea typeface="Calibri" pitchFamily="34" charset="-122"/>
                <a:cs typeface="Calibri" pitchFamily="34" charset="-120"/>
              </a:rPr>
              <a:t>BARRICADES</a:t>
            </a:r>
            <a:endParaRPr lang="en-US" sz="800" dirty="0"/>
          </a:p>
        </p:txBody>
      </p:sp>
      <p:sp>
        <p:nvSpPr>
          <p:cNvPr id="70" name="text-67"/>
          <p:cNvSpPr txBox="1"/>
          <p:nvPr/>
        </p:nvSpPr>
        <p:spPr>
          <a:xfrm>
            <a:off x="7223760" y="3172968"/>
            <a:ext cx="1828800" cy="182880"/>
          </a:xfrm>
          <a:prstGeom prst="rect">
            <a:avLst/>
          </a:prstGeom>
          <a:noFill/>
          <a:ln/>
        </p:spPr>
        <p:txBody>
          <a:bodyPr wrap="square" lIns="0" tIns="0" rIns="0" bIns="0" rtlCol="0" anchor="t"/>
          <a:lstStyle/>
          <a:p>
            <a:pPr indent="0" marL="0">
              <a:buNone/>
            </a:pPr>
            <a:r>
              <a:rPr lang="en-US" sz="800" b="1" dirty="0">
                <a:solidFill>
                  <a:srgbClr val="C9CDD2"/>
                </a:solidFill>
                <a:latin typeface="Calibri" pitchFamily="34" charset="0"/>
                <a:ea typeface="Calibri" pitchFamily="34" charset="-122"/>
                <a:cs typeface="Calibri" pitchFamily="34" charset="-120"/>
              </a:rPr>
              <a:t>TRAFFIC CONES</a:t>
            </a:r>
            <a:endParaRPr lang="en-US" sz="800" dirty="0"/>
          </a:p>
        </p:txBody>
      </p:sp>
      <p:sp>
        <p:nvSpPr>
          <p:cNvPr id="71" name="shape-68"/>
          <p:cNvSpPr/>
          <p:nvPr/>
        </p:nvSpPr>
        <p:spPr>
          <a:xfrm>
            <a:off x="7223760" y="3566160"/>
            <a:ext cx="4114800" cy="822960"/>
          </a:xfrm>
          <a:prstGeom prst="rect">
            <a:avLst/>
          </a:prstGeom>
          <a:solidFill>
            <a:schemeClr val="accent5"/>
          </a:solidFill>
          <a:ln/>
        </p:spPr>
      </p:sp>
      <p:sp>
        <p:nvSpPr>
          <p:cNvPr id="72" name="shape-69"/>
          <p:cNvSpPr/>
          <p:nvPr/>
        </p:nvSpPr>
        <p:spPr>
          <a:xfrm>
            <a:off x="7223760" y="3611880"/>
            <a:ext cx="4114800" cy="0"/>
          </a:xfrm>
          <a:prstGeom prst="line">
            <a:avLst/>
          </a:prstGeom>
          <a:noFill/>
          <a:ln w="15875">
            <a:solidFill>
              <a:schemeClr val="accent2"/>
            </a:solidFill>
            <a:prstDash val="solid"/>
          </a:ln>
        </p:spPr>
      </p:sp>
      <p:sp>
        <p:nvSpPr>
          <p:cNvPr id="73" name="shape-70"/>
          <p:cNvSpPr/>
          <p:nvPr/>
        </p:nvSpPr>
        <p:spPr>
          <a:xfrm>
            <a:off x="7223760" y="4343400"/>
            <a:ext cx="4114800" cy="0"/>
          </a:xfrm>
          <a:prstGeom prst="line">
            <a:avLst/>
          </a:prstGeom>
          <a:noFill/>
          <a:ln w="15875">
            <a:solidFill>
              <a:schemeClr val="accent2"/>
            </a:solidFill>
            <a:prstDash val="solid"/>
          </a:ln>
        </p:spPr>
      </p:sp>
      <p:sp>
        <p:nvSpPr>
          <p:cNvPr id="74" name="shape-71"/>
          <p:cNvSpPr/>
          <p:nvPr/>
        </p:nvSpPr>
        <p:spPr>
          <a:xfrm>
            <a:off x="7223760" y="3977640"/>
            <a:ext cx="4114800" cy="0"/>
          </a:xfrm>
          <a:prstGeom prst="line">
            <a:avLst/>
          </a:prstGeom>
          <a:noFill/>
          <a:ln w="19050">
            <a:solidFill>
              <a:srgbClr val="FFFFFF"/>
            </a:solidFill>
            <a:prstDash val="dash"/>
          </a:ln>
        </p:spPr>
      </p:sp>
      <p:sp>
        <p:nvSpPr>
          <p:cNvPr id="75" name="shape-72"/>
          <p:cNvSpPr/>
          <p:nvPr/>
        </p:nvSpPr>
        <p:spPr>
          <a:xfrm>
            <a:off x="7223760" y="4434840"/>
            <a:ext cx="293914" cy="118872"/>
          </a:xfrm>
          <a:prstGeom prst="rect">
            <a:avLst/>
          </a:prstGeom>
          <a:solidFill>
            <a:srgbClr val="B9BDC3"/>
          </a:solidFill>
          <a:ln w="7620">
            <a:solidFill>
              <a:srgbClr val="1F2326"/>
            </a:solidFill>
            <a:prstDash val="solid"/>
          </a:ln>
        </p:spPr>
      </p:sp>
      <p:sp>
        <p:nvSpPr>
          <p:cNvPr id="76" name="shape-73"/>
          <p:cNvSpPr/>
          <p:nvPr/>
        </p:nvSpPr>
        <p:spPr>
          <a:xfrm>
            <a:off x="7517674" y="4434840"/>
            <a:ext cx="293914" cy="118872"/>
          </a:xfrm>
          <a:prstGeom prst="rect">
            <a:avLst/>
          </a:prstGeom>
          <a:solidFill>
            <a:srgbClr val="B9BDC3"/>
          </a:solidFill>
          <a:ln w="7620">
            <a:solidFill>
              <a:srgbClr val="1F2326"/>
            </a:solidFill>
            <a:prstDash val="solid"/>
          </a:ln>
        </p:spPr>
      </p:sp>
      <p:sp>
        <p:nvSpPr>
          <p:cNvPr id="77" name="shape-74"/>
          <p:cNvSpPr/>
          <p:nvPr/>
        </p:nvSpPr>
        <p:spPr>
          <a:xfrm>
            <a:off x="7811589" y="4434840"/>
            <a:ext cx="293914" cy="118872"/>
          </a:xfrm>
          <a:prstGeom prst="rect">
            <a:avLst/>
          </a:prstGeom>
          <a:solidFill>
            <a:srgbClr val="B9BDC3"/>
          </a:solidFill>
          <a:ln w="7620">
            <a:solidFill>
              <a:srgbClr val="1F2326"/>
            </a:solidFill>
            <a:prstDash val="solid"/>
          </a:ln>
        </p:spPr>
      </p:sp>
      <p:sp>
        <p:nvSpPr>
          <p:cNvPr id="78" name="shape-75"/>
          <p:cNvSpPr/>
          <p:nvPr/>
        </p:nvSpPr>
        <p:spPr>
          <a:xfrm>
            <a:off x="8105503" y="4434840"/>
            <a:ext cx="293914" cy="118872"/>
          </a:xfrm>
          <a:prstGeom prst="rect">
            <a:avLst/>
          </a:prstGeom>
          <a:solidFill>
            <a:srgbClr val="B9BDC3"/>
          </a:solidFill>
          <a:ln w="7620">
            <a:solidFill>
              <a:srgbClr val="1F2326"/>
            </a:solidFill>
            <a:prstDash val="solid"/>
          </a:ln>
        </p:spPr>
      </p:sp>
      <p:sp>
        <p:nvSpPr>
          <p:cNvPr id="79" name="shape-76"/>
          <p:cNvSpPr/>
          <p:nvPr/>
        </p:nvSpPr>
        <p:spPr>
          <a:xfrm>
            <a:off x="8399417" y="4434840"/>
            <a:ext cx="293914" cy="118872"/>
          </a:xfrm>
          <a:prstGeom prst="rect">
            <a:avLst/>
          </a:prstGeom>
          <a:solidFill>
            <a:srgbClr val="B9BDC3"/>
          </a:solidFill>
          <a:ln w="7620">
            <a:solidFill>
              <a:srgbClr val="1F2326"/>
            </a:solidFill>
            <a:prstDash val="solid"/>
          </a:ln>
        </p:spPr>
      </p:sp>
      <p:sp>
        <p:nvSpPr>
          <p:cNvPr id="80" name="shape-77"/>
          <p:cNvSpPr/>
          <p:nvPr/>
        </p:nvSpPr>
        <p:spPr>
          <a:xfrm>
            <a:off x="8693331" y="4434840"/>
            <a:ext cx="293914" cy="118872"/>
          </a:xfrm>
          <a:prstGeom prst="rect">
            <a:avLst/>
          </a:prstGeom>
          <a:solidFill>
            <a:srgbClr val="B9BDC3"/>
          </a:solidFill>
          <a:ln w="7620">
            <a:solidFill>
              <a:srgbClr val="1F2326"/>
            </a:solidFill>
            <a:prstDash val="solid"/>
          </a:ln>
        </p:spPr>
      </p:sp>
      <p:sp>
        <p:nvSpPr>
          <p:cNvPr id="81" name="shape-78"/>
          <p:cNvSpPr/>
          <p:nvPr/>
        </p:nvSpPr>
        <p:spPr>
          <a:xfrm>
            <a:off x="8987246" y="4434840"/>
            <a:ext cx="293914" cy="118872"/>
          </a:xfrm>
          <a:prstGeom prst="rect">
            <a:avLst/>
          </a:prstGeom>
          <a:solidFill>
            <a:srgbClr val="B9BDC3"/>
          </a:solidFill>
          <a:ln w="7620">
            <a:solidFill>
              <a:srgbClr val="1F2326"/>
            </a:solidFill>
            <a:prstDash val="solid"/>
          </a:ln>
        </p:spPr>
      </p:sp>
      <p:sp>
        <p:nvSpPr>
          <p:cNvPr id="82" name="shape-79"/>
          <p:cNvSpPr/>
          <p:nvPr/>
        </p:nvSpPr>
        <p:spPr>
          <a:xfrm>
            <a:off x="9281160" y="4434840"/>
            <a:ext cx="293914" cy="118872"/>
          </a:xfrm>
          <a:prstGeom prst="rect">
            <a:avLst/>
          </a:prstGeom>
          <a:solidFill>
            <a:srgbClr val="B9BDC3"/>
          </a:solidFill>
          <a:ln w="7620">
            <a:solidFill>
              <a:srgbClr val="1F2326"/>
            </a:solidFill>
            <a:prstDash val="solid"/>
          </a:ln>
        </p:spPr>
      </p:sp>
      <p:sp>
        <p:nvSpPr>
          <p:cNvPr id="83" name="shape-80"/>
          <p:cNvSpPr/>
          <p:nvPr/>
        </p:nvSpPr>
        <p:spPr>
          <a:xfrm>
            <a:off x="9575074" y="4434840"/>
            <a:ext cx="293914" cy="118872"/>
          </a:xfrm>
          <a:prstGeom prst="rect">
            <a:avLst/>
          </a:prstGeom>
          <a:solidFill>
            <a:srgbClr val="B9BDC3"/>
          </a:solidFill>
          <a:ln w="7620">
            <a:solidFill>
              <a:srgbClr val="1F2326"/>
            </a:solidFill>
            <a:prstDash val="solid"/>
          </a:ln>
        </p:spPr>
      </p:sp>
      <p:sp>
        <p:nvSpPr>
          <p:cNvPr id="84" name="shape-81"/>
          <p:cNvSpPr/>
          <p:nvPr/>
        </p:nvSpPr>
        <p:spPr>
          <a:xfrm>
            <a:off x="9868989" y="4434840"/>
            <a:ext cx="293914" cy="118872"/>
          </a:xfrm>
          <a:prstGeom prst="rect">
            <a:avLst/>
          </a:prstGeom>
          <a:solidFill>
            <a:srgbClr val="B9BDC3"/>
          </a:solidFill>
          <a:ln w="7620">
            <a:solidFill>
              <a:srgbClr val="1F2326"/>
            </a:solidFill>
            <a:prstDash val="solid"/>
          </a:ln>
        </p:spPr>
      </p:sp>
      <p:sp>
        <p:nvSpPr>
          <p:cNvPr id="85" name="shape-82"/>
          <p:cNvSpPr/>
          <p:nvPr/>
        </p:nvSpPr>
        <p:spPr>
          <a:xfrm>
            <a:off x="10162903" y="4434840"/>
            <a:ext cx="293914" cy="118872"/>
          </a:xfrm>
          <a:prstGeom prst="rect">
            <a:avLst/>
          </a:prstGeom>
          <a:solidFill>
            <a:srgbClr val="B9BDC3"/>
          </a:solidFill>
          <a:ln w="7620">
            <a:solidFill>
              <a:srgbClr val="1F2326"/>
            </a:solidFill>
            <a:prstDash val="solid"/>
          </a:ln>
        </p:spPr>
      </p:sp>
      <p:sp>
        <p:nvSpPr>
          <p:cNvPr id="86" name="shape-83"/>
          <p:cNvSpPr/>
          <p:nvPr/>
        </p:nvSpPr>
        <p:spPr>
          <a:xfrm>
            <a:off x="10456817" y="4434840"/>
            <a:ext cx="293914" cy="118872"/>
          </a:xfrm>
          <a:prstGeom prst="rect">
            <a:avLst/>
          </a:prstGeom>
          <a:solidFill>
            <a:srgbClr val="B9BDC3"/>
          </a:solidFill>
          <a:ln w="7620">
            <a:solidFill>
              <a:srgbClr val="1F2326"/>
            </a:solidFill>
            <a:prstDash val="solid"/>
          </a:ln>
        </p:spPr>
      </p:sp>
      <p:sp>
        <p:nvSpPr>
          <p:cNvPr id="87" name="shape-84"/>
          <p:cNvSpPr/>
          <p:nvPr/>
        </p:nvSpPr>
        <p:spPr>
          <a:xfrm>
            <a:off x="10750731" y="4434840"/>
            <a:ext cx="293914" cy="118872"/>
          </a:xfrm>
          <a:prstGeom prst="rect">
            <a:avLst/>
          </a:prstGeom>
          <a:solidFill>
            <a:srgbClr val="B9BDC3"/>
          </a:solidFill>
          <a:ln w="7620">
            <a:solidFill>
              <a:srgbClr val="1F2326"/>
            </a:solidFill>
            <a:prstDash val="solid"/>
          </a:ln>
        </p:spPr>
      </p:sp>
      <p:sp>
        <p:nvSpPr>
          <p:cNvPr id="88" name="shape-85"/>
          <p:cNvSpPr/>
          <p:nvPr/>
        </p:nvSpPr>
        <p:spPr>
          <a:xfrm>
            <a:off x="11044646" y="4434840"/>
            <a:ext cx="293914" cy="118872"/>
          </a:xfrm>
          <a:prstGeom prst="rect">
            <a:avLst/>
          </a:prstGeom>
          <a:solidFill>
            <a:srgbClr val="B9BDC3"/>
          </a:solidFill>
          <a:ln w="7620">
            <a:solidFill>
              <a:srgbClr val="1F2326"/>
            </a:solidFill>
            <a:prstDash val="solid"/>
          </a:ln>
        </p:spPr>
      </p:sp>
      <p:sp>
        <p:nvSpPr>
          <p:cNvPr id="89" name="text-86"/>
          <p:cNvSpPr txBox="1"/>
          <p:nvPr/>
        </p:nvSpPr>
        <p:spPr>
          <a:xfrm>
            <a:off x="7223760" y="4590288"/>
            <a:ext cx="1828800" cy="182880"/>
          </a:xfrm>
          <a:prstGeom prst="rect">
            <a:avLst/>
          </a:prstGeom>
          <a:noFill/>
          <a:ln/>
        </p:spPr>
        <p:txBody>
          <a:bodyPr wrap="square" lIns="0" tIns="0" rIns="0" bIns="0" rtlCol="0" anchor="t"/>
          <a:lstStyle/>
          <a:p>
            <a:pPr indent="0" marL="0">
              <a:buNone/>
            </a:pPr>
            <a:r>
              <a:rPr lang="en-US" sz="800" b="1" dirty="0">
                <a:solidFill>
                  <a:srgbClr val="C9CDD2"/>
                </a:solidFill>
                <a:latin typeface="Calibri" pitchFamily="34" charset="0"/>
                <a:ea typeface="Calibri" pitchFamily="34" charset="-122"/>
                <a:cs typeface="Calibri" pitchFamily="34" charset="-120"/>
              </a:rPr>
              <a:t>KERB STONE</a:t>
            </a:r>
            <a:endParaRPr lang="en-US" sz="800" dirty="0"/>
          </a:p>
        </p:txBody>
      </p:sp>
      <p:sp>
        <p:nvSpPr>
          <p:cNvPr id="90" name="shape-87"/>
          <p:cNvSpPr/>
          <p:nvPr/>
        </p:nvSpPr>
        <p:spPr>
          <a:xfrm>
            <a:off x="7315200" y="4983480"/>
            <a:ext cx="731520" cy="731520"/>
          </a:xfrm>
          <a:prstGeom prst="ellipse">
            <a:avLst/>
          </a:prstGeom>
          <a:solidFill>
            <a:schemeClr val="accent1"/>
          </a:solidFill>
          <a:ln w="6350">
            <a:solidFill>
              <a:srgbClr val="1F2326"/>
            </a:solidFill>
            <a:prstDash val="solid"/>
          </a:ln>
        </p:spPr>
      </p:sp>
      <p:sp>
        <p:nvSpPr>
          <p:cNvPr id="91" name="shape-88"/>
          <p:cNvSpPr/>
          <p:nvPr/>
        </p:nvSpPr>
        <p:spPr>
          <a:xfrm>
            <a:off x="7424928" y="5093208"/>
            <a:ext cx="512064" cy="512064"/>
          </a:xfrm>
          <a:prstGeom prst="ellipse">
            <a:avLst/>
          </a:prstGeom>
          <a:solidFill>
            <a:srgbClr val="FFFFFF"/>
          </a:solidFill>
          <a:ln/>
        </p:spPr>
      </p:sp>
      <p:sp>
        <p:nvSpPr>
          <p:cNvPr id="92" name="text-89"/>
          <p:cNvSpPr txBox="1"/>
          <p:nvPr/>
        </p:nvSpPr>
        <p:spPr>
          <a:xfrm>
            <a:off x="7315200" y="4983480"/>
            <a:ext cx="731520" cy="731520"/>
          </a:xfrm>
          <a:prstGeom prst="rect">
            <a:avLst/>
          </a:prstGeom>
          <a:noFill/>
          <a:ln/>
        </p:spPr>
        <p:txBody>
          <a:bodyPr wrap="square" lIns="0" tIns="0" rIns="0" bIns="0" rtlCol="0" anchor="ctr"/>
          <a:lstStyle/>
          <a:p>
            <a:pPr algn="ctr" indent="0" marL="0">
              <a:buNone/>
            </a:pPr>
            <a:r>
              <a:rPr lang="en-US" sz="1900" b="1" dirty="0">
                <a:solidFill>
                  <a:srgbClr val="1F2326"/>
                </a:solidFill>
                <a:latin typeface="Arial" pitchFamily="34" charset="0"/>
                <a:ea typeface="Arial" pitchFamily="34" charset="-122"/>
                <a:cs typeface="Arial" pitchFamily="34" charset="-120"/>
              </a:rPr>
              <a:t>50</a:t>
            </a:r>
            <a:endParaRPr lang="en-US" sz="1900" dirty="0"/>
          </a:p>
        </p:txBody>
      </p:sp>
      <p:sp>
        <p:nvSpPr>
          <p:cNvPr id="93" name="shape-90"/>
          <p:cNvSpPr/>
          <p:nvPr/>
        </p:nvSpPr>
        <p:spPr>
          <a:xfrm>
            <a:off x="8275320" y="4983480"/>
            <a:ext cx="822960" cy="724205"/>
          </a:xfrm>
          <a:prstGeom prst="triangle">
            <a:avLst/>
          </a:prstGeom>
          <a:solidFill>
            <a:schemeClr val="accent1"/>
          </a:solidFill>
          <a:ln w="6350">
            <a:solidFill>
              <a:srgbClr val="1F2326"/>
            </a:solidFill>
            <a:prstDash val="solid"/>
          </a:ln>
        </p:spPr>
      </p:sp>
      <p:sp>
        <p:nvSpPr>
          <p:cNvPr id="94" name="shape-91"/>
          <p:cNvSpPr/>
          <p:nvPr/>
        </p:nvSpPr>
        <p:spPr>
          <a:xfrm>
            <a:off x="8415223" y="5179015"/>
            <a:ext cx="543154" cy="449007"/>
          </a:xfrm>
          <a:prstGeom prst="triangle">
            <a:avLst/>
          </a:prstGeom>
          <a:solidFill>
            <a:schemeClr val="accent2"/>
          </a:solidFill>
          <a:ln/>
        </p:spPr>
      </p:sp>
      <p:sp>
        <p:nvSpPr>
          <p:cNvPr id="95" name="text-92"/>
          <p:cNvSpPr txBox="1"/>
          <p:nvPr/>
        </p:nvSpPr>
        <p:spPr>
          <a:xfrm>
            <a:off x="8275320" y="5287646"/>
            <a:ext cx="822960" cy="362102"/>
          </a:xfrm>
          <a:prstGeom prst="rect">
            <a:avLst/>
          </a:prstGeom>
          <a:noFill/>
          <a:ln/>
        </p:spPr>
        <p:txBody>
          <a:bodyPr wrap="square" lIns="0" tIns="0" rIns="0" bIns="0" rtlCol="0" anchor="ctr"/>
          <a:lstStyle/>
          <a:p>
            <a:pPr algn="ctr" indent="0" marL="0">
              <a:buNone/>
            </a:pPr>
            <a:r>
              <a:rPr lang="en-US" sz="2000" b="1" dirty="0">
                <a:solidFill>
                  <a:srgbClr val="1F2326"/>
                </a:solidFill>
                <a:latin typeface="Arial" pitchFamily="34" charset="0"/>
                <a:ea typeface="Arial" pitchFamily="34" charset="-122"/>
                <a:cs typeface="Arial" pitchFamily="34" charset="-120"/>
              </a:rPr>
              <a:t>!</a:t>
            </a:r>
            <a:endParaRPr lang="en-US" sz="2000" dirty="0"/>
          </a:p>
        </p:txBody>
      </p:sp>
      <p:sp>
        <p:nvSpPr>
          <p:cNvPr id="96" name="shape-93"/>
          <p:cNvSpPr/>
          <p:nvPr/>
        </p:nvSpPr>
        <p:spPr>
          <a:xfrm>
            <a:off x="9326880" y="4983480"/>
            <a:ext cx="731520" cy="731520"/>
          </a:xfrm>
          <a:prstGeom prst="octagon">
            <a:avLst/>
          </a:prstGeom>
          <a:solidFill>
            <a:schemeClr val="accent1"/>
          </a:solidFill>
          <a:ln w="19050">
            <a:solidFill>
              <a:srgbClr val="FFFFFF"/>
            </a:solidFill>
            <a:prstDash val="solid"/>
          </a:ln>
        </p:spPr>
      </p:sp>
      <p:sp>
        <p:nvSpPr>
          <p:cNvPr id="97" name="text-94"/>
          <p:cNvSpPr txBox="1"/>
          <p:nvPr/>
        </p:nvSpPr>
        <p:spPr>
          <a:xfrm>
            <a:off x="9326880" y="4983480"/>
            <a:ext cx="731520" cy="7315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STOP</a:t>
            </a:r>
            <a:endParaRPr lang="en-US" sz="1200" dirty="0"/>
          </a:p>
        </p:txBody>
      </p:sp>
      <p:sp>
        <p:nvSpPr>
          <p:cNvPr id="98" name="shape-95"/>
          <p:cNvSpPr/>
          <p:nvPr/>
        </p:nvSpPr>
        <p:spPr>
          <a:xfrm flipV="1">
            <a:off x="10287000" y="5029200"/>
            <a:ext cx="777240" cy="683971"/>
          </a:xfrm>
          <a:prstGeom prst="triangle">
            <a:avLst/>
          </a:prstGeom>
          <a:solidFill>
            <a:schemeClr val="accent1"/>
          </a:solidFill>
          <a:ln w="6350">
            <a:solidFill>
              <a:srgbClr val="1F2326"/>
            </a:solidFill>
            <a:prstDash val="solid"/>
          </a:ln>
        </p:spPr>
      </p:sp>
      <p:sp>
        <p:nvSpPr>
          <p:cNvPr id="99" name="shape-96"/>
          <p:cNvSpPr/>
          <p:nvPr/>
        </p:nvSpPr>
        <p:spPr>
          <a:xfrm flipV="1">
            <a:off x="10442448" y="5118116"/>
            <a:ext cx="466344" cy="376184"/>
          </a:xfrm>
          <a:prstGeom prst="triangle">
            <a:avLst/>
          </a:prstGeom>
          <a:solidFill>
            <a:srgbClr val="FFFFF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CONTENTS</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What is inside this manual</a:t>
            </a:r>
            <a:endParaRPr lang="en-US" sz="2600" dirty="0"/>
          </a:p>
        </p:txBody>
      </p:sp>
      <p:sp>
        <p:nvSpPr>
          <p:cNvPr id="4" name="shape-97"/>
          <p:cNvSpPr/>
          <p:nvPr/>
        </p:nvSpPr>
        <p:spPr>
          <a:xfrm>
            <a:off x="502920" y="1298448"/>
            <a:ext cx="5486400" cy="896112"/>
          </a:xfrm>
          <a:prstGeom prst="roundRect">
            <a:avLst>
              <a:gd name="adj" fmla="val 8163"/>
            </a:avLst>
          </a:prstGeom>
          <a:solidFill>
            <a:srgbClr val="F4F5F7"/>
          </a:solidFill>
          <a:ln w="9525">
            <a:solidFill>
              <a:srgbClr val="E3E5E8"/>
            </a:solidFill>
            <a:prstDash val="solid"/>
          </a:ln>
        </p:spPr>
      </p:sp>
      <p:sp>
        <p:nvSpPr>
          <p:cNvPr id="5" name="shape-98"/>
          <p:cNvSpPr/>
          <p:nvPr/>
        </p:nvSpPr>
        <p:spPr>
          <a:xfrm>
            <a:off x="685800" y="1481328"/>
            <a:ext cx="512064" cy="512064"/>
          </a:xfrm>
          <a:prstGeom prst="ellipse">
            <a:avLst/>
          </a:prstGeom>
          <a:solidFill>
            <a:schemeClr val="accent1"/>
          </a:solidFill>
          <a:ln/>
        </p:spPr>
      </p:sp>
      <p:sp>
        <p:nvSpPr>
          <p:cNvPr id="6" name="text-99"/>
          <p:cNvSpPr txBox="1"/>
          <p:nvPr/>
        </p:nvSpPr>
        <p:spPr>
          <a:xfrm>
            <a:off x="685800" y="1481328"/>
            <a:ext cx="512064" cy="51206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A</a:t>
            </a:r>
            <a:endParaRPr lang="en-US" sz="1900" dirty="0"/>
          </a:p>
        </p:txBody>
      </p:sp>
      <p:sp>
        <p:nvSpPr>
          <p:cNvPr id="7" name="text-100"/>
          <p:cNvSpPr txBox="1"/>
          <p:nvPr/>
        </p:nvSpPr>
        <p:spPr>
          <a:xfrm>
            <a:off x="1371600" y="1408176"/>
            <a:ext cx="329184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Getting started</a:t>
            </a:r>
            <a:endParaRPr lang="en-US" sz="1350" dirty="0"/>
          </a:p>
        </p:txBody>
      </p:sp>
      <p:sp>
        <p:nvSpPr>
          <p:cNvPr id="8" name="text-101"/>
          <p:cNvSpPr txBox="1"/>
          <p:nvPr/>
        </p:nvSpPr>
        <p:spPr>
          <a:xfrm>
            <a:off x="4663440" y="1426464"/>
            <a:ext cx="1143000" cy="274320"/>
          </a:xfrm>
          <a:prstGeom prst="rect">
            <a:avLst/>
          </a:prstGeom>
          <a:noFill/>
          <a:ln/>
        </p:spPr>
        <p:txBody>
          <a:bodyPr wrap="square" lIns="0" tIns="0" rIns="0" bIns="0" rtlCol="0" anchor="t"/>
          <a:lstStyle/>
          <a:p>
            <a:pPr algn="r" indent="0" marL="0">
              <a:buNone/>
            </a:pPr>
            <a:r>
              <a:rPr lang="en-US" sz="1050" dirty="0">
                <a:solidFill>
                  <a:srgbClr val="5B6169"/>
                </a:solidFill>
                <a:latin typeface="Calibri" pitchFamily="34" charset="0"/>
                <a:ea typeface="Calibri" pitchFamily="34" charset="-122"/>
                <a:cs typeface="Calibri" pitchFamily="34" charset="-120"/>
              </a:rPr>
              <a:t>Slides 3 – 8</a:t>
            </a:r>
            <a:endParaRPr lang="en-US" sz="1050" dirty="0"/>
          </a:p>
        </p:txBody>
      </p:sp>
      <p:sp>
        <p:nvSpPr>
          <p:cNvPr id="9" name="text-102"/>
          <p:cNvSpPr txBox="1"/>
          <p:nvPr/>
        </p:nvSpPr>
        <p:spPr>
          <a:xfrm>
            <a:off x="1371600" y="1728216"/>
            <a:ext cx="4434840" cy="420624"/>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What RoadPro draws, new in 3.4, install, commands, workflow, drawing setup</a:t>
            </a:r>
            <a:endParaRPr lang="en-US" sz="1050" dirty="0"/>
          </a:p>
        </p:txBody>
      </p:sp>
      <p:sp>
        <p:nvSpPr>
          <p:cNvPr id="10" name="shape-103"/>
          <p:cNvSpPr/>
          <p:nvPr/>
        </p:nvSpPr>
        <p:spPr>
          <a:xfrm>
            <a:off x="6144768" y="1298448"/>
            <a:ext cx="5486400" cy="896112"/>
          </a:xfrm>
          <a:prstGeom prst="roundRect">
            <a:avLst>
              <a:gd name="adj" fmla="val 8163"/>
            </a:avLst>
          </a:prstGeom>
          <a:solidFill>
            <a:srgbClr val="F4F5F7"/>
          </a:solidFill>
          <a:ln w="9525">
            <a:solidFill>
              <a:srgbClr val="E3E5E8"/>
            </a:solidFill>
            <a:prstDash val="solid"/>
          </a:ln>
        </p:spPr>
      </p:sp>
      <p:sp>
        <p:nvSpPr>
          <p:cNvPr id="11" name="shape-104"/>
          <p:cNvSpPr/>
          <p:nvPr/>
        </p:nvSpPr>
        <p:spPr>
          <a:xfrm>
            <a:off x="6327648" y="1481328"/>
            <a:ext cx="512064" cy="512064"/>
          </a:xfrm>
          <a:prstGeom prst="ellipse">
            <a:avLst/>
          </a:prstGeom>
          <a:solidFill>
            <a:schemeClr val="accent1"/>
          </a:solidFill>
          <a:ln/>
        </p:spPr>
      </p:sp>
      <p:sp>
        <p:nvSpPr>
          <p:cNvPr id="12" name="text-105"/>
          <p:cNvSpPr txBox="1"/>
          <p:nvPr/>
        </p:nvSpPr>
        <p:spPr>
          <a:xfrm>
            <a:off x="6327648" y="1481328"/>
            <a:ext cx="512064" cy="51206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B</a:t>
            </a:r>
            <a:endParaRPr lang="en-US" sz="1900" dirty="0"/>
          </a:p>
        </p:txBody>
      </p:sp>
      <p:sp>
        <p:nvSpPr>
          <p:cNvPr id="13" name="text-106"/>
          <p:cNvSpPr txBox="1"/>
          <p:nvPr/>
        </p:nvSpPr>
        <p:spPr>
          <a:xfrm>
            <a:off x="7013448" y="1408176"/>
            <a:ext cx="329184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Build the road  ·  RDP</a:t>
            </a:r>
            <a:endParaRPr lang="en-US" sz="1350" dirty="0"/>
          </a:p>
        </p:txBody>
      </p:sp>
      <p:sp>
        <p:nvSpPr>
          <p:cNvPr id="14" name="text-107"/>
          <p:cNvSpPr txBox="1"/>
          <p:nvPr/>
        </p:nvSpPr>
        <p:spPr>
          <a:xfrm>
            <a:off x="10305288" y="1426464"/>
            <a:ext cx="1143000" cy="274320"/>
          </a:xfrm>
          <a:prstGeom prst="rect">
            <a:avLst/>
          </a:prstGeom>
          <a:noFill/>
          <a:ln/>
        </p:spPr>
        <p:txBody>
          <a:bodyPr wrap="square" lIns="0" tIns="0" rIns="0" bIns="0" rtlCol="0" anchor="t"/>
          <a:lstStyle/>
          <a:p>
            <a:pPr algn="r" indent="0" marL="0">
              <a:buNone/>
            </a:pPr>
            <a:r>
              <a:rPr lang="en-US" sz="1050" dirty="0">
                <a:solidFill>
                  <a:srgbClr val="5B6169"/>
                </a:solidFill>
                <a:latin typeface="Calibri" pitchFamily="34" charset="0"/>
                <a:ea typeface="Calibri" pitchFamily="34" charset="-122"/>
                <a:cs typeface="Calibri" pitchFamily="34" charset="-120"/>
              </a:rPr>
              <a:t>Slides 9 – 18</a:t>
            </a:r>
            <a:endParaRPr lang="en-US" sz="1050" dirty="0"/>
          </a:p>
        </p:txBody>
      </p:sp>
      <p:sp>
        <p:nvSpPr>
          <p:cNvPr id="15" name="text-108"/>
          <p:cNvSpPr txBox="1"/>
          <p:nvPr/>
        </p:nvSpPr>
        <p:spPr>
          <a:xfrm>
            <a:off x="7013448" y="1728216"/>
            <a:ext cx="4434840" cy="420624"/>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Step by step, the dialog, every setting, barricades / cones / kerb, layers</a:t>
            </a:r>
            <a:endParaRPr lang="en-US" sz="1050" dirty="0"/>
          </a:p>
        </p:txBody>
      </p:sp>
      <p:sp>
        <p:nvSpPr>
          <p:cNvPr id="16" name="shape-109"/>
          <p:cNvSpPr/>
          <p:nvPr/>
        </p:nvSpPr>
        <p:spPr>
          <a:xfrm>
            <a:off x="502920" y="2286000"/>
            <a:ext cx="5486400" cy="896112"/>
          </a:xfrm>
          <a:prstGeom prst="roundRect">
            <a:avLst>
              <a:gd name="adj" fmla="val 8163"/>
            </a:avLst>
          </a:prstGeom>
          <a:solidFill>
            <a:srgbClr val="F4F5F7"/>
          </a:solidFill>
          <a:ln w="9525">
            <a:solidFill>
              <a:srgbClr val="E3E5E8"/>
            </a:solidFill>
            <a:prstDash val="solid"/>
          </a:ln>
        </p:spPr>
      </p:sp>
      <p:sp>
        <p:nvSpPr>
          <p:cNvPr id="17" name="shape-110"/>
          <p:cNvSpPr/>
          <p:nvPr/>
        </p:nvSpPr>
        <p:spPr>
          <a:xfrm>
            <a:off x="685800" y="2468880"/>
            <a:ext cx="512064" cy="512064"/>
          </a:xfrm>
          <a:prstGeom prst="ellipse">
            <a:avLst/>
          </a:prstGeom>
          <a:solidFill>
            <a:schemeClr val="accent1"/>
          </a:solidFill>
          <a:ln/>
        </p:spPr>
      </p:sp>
      <p:sp>
        <p:nvSpPr>
          <p:cNvPr id="18" name="text-111"/>
          <p:cNvSpPr txBox="1"/>
          <p:nvPr/>
        </p:nvSpPr>
        <p:spPr>
          <a:xfrm>
            <a:off x="685800" y="2468880"/>
            <a:ext cx="512064" cy="51206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C</a:t>
            </a:r>
            <a:endParaRPr lang="en-US" sz="1900" dirty="0"/>
          </a:p>
        </p:txBody>
      </p:sp>
      <p:sp>
        <p:nvSpPr>
          <p:cNvPr id="19" name="text-112"/>
          <p:cNvSpPr txBox="1"/>
          <p:nvPr/>
        </p:nvSpPr>
        <p:spPr>
          <a:xfrm>
            <a:off x="1371600" y="2395728"/>
            <a:ext cx="329184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Curves, signs, markings, sections</a:t>
            </a:r>
            <a:endParaRPr lang="en-US" sz="1350" dirty="0"/>
          </a:p>
        </p:txBody>
      </p:sp>
      <p:sp>
        <p:nvSpPr>
          <p:cNvPr id="20" name="text-113"/>
          <p:cNvSpPr txBox="1"/>
          <p:nvPr/>
        </p:nvSpPr>
        <p:spPr>
          <a:xfrm>
            <a:off x="4663440" y="2414016"/>
            <a:ext cx="1143000" cy="274320"/>
          </a:xfrm>
          <a:prstGeom prst="rect">
            <a:avLst/>
          </a:prstGeom>
          <a:noFill/>
          <a:ln/>
        </p:spPr>
        <p:txBody>
          <a:bodyPr wrap="square" lIns="0" tIns="0" rIns="0" bIns="0" rtlCol="0" anchor="t"/>
          <a:lstStyle/>
          <a:p>
            <a:pPr algn="r" indent="0" marL="0">
              <a:buNone/>
            </a:pPr>
            <a:r>
              <a:rPr lang="en-US" sz="1050" dirty="0">
                <a:solidFill>
                  <a:srgbClr val="5B6169"/>
                </a:solidFill>
                <a:latin typeface="Calibri" pitchFamily="34" charset="0"/>
                <a:ea typeface="Calibri" pitchFamily="34" charset="-122"/>
                <a:cs typeface="Calibri" pitchFamily="34" charset="-120"/>
              </a:rPr>
              <a:t>Slides 19 – 22</a:t>
            </a:r>
            <a:endParaRPr lang="en-US" sz="1050" dirty="0"/>
          </a:p>
        </p:txBody>
      </p:sp>
      <p:sp>
        <p:nvSpPr>
          <p:cNvPr id="21" name="text-114"/>
          <p:cNvSpPr txBox="1"/>
          <p:nvPr/>
        </p:nvSpPr>
        <p:spPr>
          <a:xfrm>
            <a:off x="1371600" y="2715768"/>
            <a:ext cx="4434840" cy="420624"/>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RDRAD, RDSEC, signage, RDM road markings, RDX cross sections</a:t>
            </a:r>
            <a:endParaRPr lang="en-US" sz="1050" dirty="0"/>
          </a:p>
        </p:txBody>
      </p:sp>
      <p:sp>
        <p:nvSpPr>
          <p:cNvPr id="22" name="shape-115"/>
          <p:cNvSpPr/>
          <p:nvPr/>
        </p:nvSpPr>
        <p:spPr>
          <a:xfrm>
            <a:off x="6144768" y="2286000"/>
            <a:ext cx="5486400" cy="896112"/>
          </a:xfrm>
          <a:prstGeom prst="roundRect">
            <a:avLst>
              <a:gd name="adj" fmla="val 8163"/>
            </a:avLst>
          </a:prstGeom>
          <a:solidFill>
            <a:srgbClr val="F4F5F7"/>
          </a:solidFill>
          <a:ln w="9525">
            <a:solidFill>
              <a:srgbClr val="E3E5E8"/>
            </a:solidFill>
            <a:prstDash val="solid"/>
          </a:ln>
        </p:spPr>
      </p:sp>
      <p:sp>
        <p:nvSpPr>
          <p:cNvPr id="23" name="shape-116"/>
          <p:cNvSpPr/>
          <p:nvPr/>
        </p:nvSpPr>
        <p:spPr>
          <a:xfrm>
            <a:off x="6327648" y="2468880"/>
            <a:ext cx="512064" cy="512064"/>
          </a:xfrm>
          <a:prstGeom prst="ellipse">
            <a:avLst/>
          </a:prstGeom>
          <a:solidFill>
            <a:schemeClr val="accent1"/>
          </a:solidFill>
          <a:ln/>
        </p:spPr>
      </p:sp>
      <p:sp>
        <p:nvSpPr>
          <p:cNvPr id="24" name="text-117"/>
          <p:cNvSpPr txBox="1"/>
          <p:nvPr/>
        </p:nvSpPr>
        <p:spPr>
          <a:xfrm>
            <a:off x="6327648" y="2468880"/>
            <a:ext cx="512064" cy="51206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D</a:t>
            </a:r>
            <a:endParaRPr lang="en-US" sz="1900" dirty="0"/>
          </a:p>
        </p:txBody>
      </p:sp>
      <p:sp>
        <p:nvSpPr>
          <p:cNvPr id="25" name="text-118"/>
          <p:cNvSpPr txBox="1"/>
          <p:nvPr/>
        </p:nvSpPr>
        <p:spPr>
          <a:xfrm>
            <a:off x="7013448" y="2395728"/>
            <a:ext cx="329184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Widen and taper</a:t>
            </a:r>
            <a:endParaRPr lang="en-US" sz="1350" dirty="0"/>
          </a:p>
        </p:txBody>
      </p:sp>
      <p:sp>
        <p:nvSpPr>
          <p:cNvPr id="26" name="text-119"/>
          <p:cNvSpPr txBox="1"/>
          <p:nvPr/>
        </p:nvSpPr>
        <p:spPr>
          <a:xfrm>
            <a:off x="10305288" y="2414016"/>
            <a:ext cx="1143000" cy="274320"/>
          </a:xfrm>
          <a:prstGeom prst="rect">
            <a:avLst/>
          </a:prstGeom>
          <a:noFill/>
          <a:ln/>
        </p:spPr>
        <p:txBody>
          <a:bodyPr wrap="square" lIns="0" tIns="0" rIns="0" bIns="0" rtlCol="0" anchor="t"/>
          <a:lstStyle/>
          <a:p>
            <a:pPr algn="r" indent="0" marL="0">
              <a:buNone/>
            </a:pPr>
            <a:r>
              <a:rPr lang="en-US" sz="1050" dirty="0">
                <a:solidFill>
                  <a:srgbClr val="5B6169"/>
                </a:solidFill>
                <a:latin typeface="Calibri" pitchFamily="34" charset="0"/>
                <a:ea typeface="Calibri" pitchFamily="34" charset="-122"/>
                <a:cs typeface="Calibri" pitchFamily="34" charset="-120"/>
              </a:rPr>
              <a:t>Slides 23 – 25</a:t>
            </a:r>
            <a:endParaRPr lang="en-US" sz="1050" dirty="0"/>
          </a:p>
        </p:txBody>
      </p:sp>
      <p:sp>
        <p:nvSpPr>
          <p:cNvPr id="27" name="text-120"/>
          <p:cNvSpPr txBox="1"/>
          <p:nvPr/>
        </p:nvSpPr>
        <p:spPr>
          <a:xfrm>
            <a:off x="7013448" y="2715768"/>
            <a:ext cx="4434840" cy="420624"/>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RDW lane widening, both sides, chainage input, RDT road taper</a:t>
            </a:r>
            <a:endParaRPr lang="en-US" sz="1050" dirty="0"/>
          </a:p>
        </p:txBody>
      </p:sp>
      <p:sp>
        <p:nvSpPr>
          <p:cNvPr id="28" name="shape-121"/>
          <p:cNvSpPr/>
          <p:nvPr/>
        </p:nvSpPr>
        <p:spPr>
          <a:xfrm>
            <a:off x="502920" y="3273552"/>
            <a:ext cx="5486400" cy="896112"/>
          </a:xfrm>
          <a:prstGeom prst="roundRect">
            <a:avLst>
              <a:gd name="adj" fmla="val 8163"/>
            </a:avLst>
          </a:prstGeom>
          <a:solidFill>
            <a:srgbClr val="F4F5F7"/>
          </a:solidFill>
          <a:ln w="9525">
            <a:solidFill>
              <a:srgbClr val="E3E5E8"/>
            </a:solidFill>
            <a:prstDash val="solid"/>
          </a:ln>
        </p:spPr>
      </p:sp>
      <p:sp>
        <p:nvSpPr>
          <p:cNvPr id="29" name="shape-122"/>
          <p:cNvSpPr/>
          <p:nvPr/>
        </p:nvSpPr>
        <p:spPr>
          <a:xfrm>
            <a:off x="685800" y="3456432"/>
            <a:ext cx="512064" cy="512064"/>
          </a:xfrm>
          <a:prstGeom prst="ellipse">
            <a:avLst/>
          </a:prstGeom>
          <a:solidFill>
            <a:schemeClr val="accent1"/>
          </a:solidFill>
          <a:ln/>
        </p:spPr>
      </p:sp>
      <p:sp>
        <p:nvSpPr>
          <p:cNvPr id="30" name="text-123"/>
          <p:cNvSpPr txBox="1"/>
          <p:nvPr/>
        </p:nvSpPr>
        <p:spPr>
          <a:xfrm>
            <a:off x="685800" y="3456432"/>
            <a:ext cx="512064" cy="51206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E</a:t>
            </a:r>
            <a:endParaRPr lang="en-US" sz="1900" dirty="0"/>
          </a:p>
        </p:txBody>
      </p:sp>
      <p:sp>
        <p:nvSpPr>
          <p:cNvPr id="31" name="text-124"/>
          <p:cNvSpPr txBox="1"/>
          <p:nvPr/>
        </p:nvSpPr>
        <p:spPr>
          <a:xfrm>
            <a:off x="1371600" y="3383280"/>
            <a:ext cx="329184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Junctions  ·  RDJ</a:t>
            </a:r>
            <a:endParaRPr lang="en-US" sz="1350" dirty="0"/>
          </a:p>
        </p:txBody>
      </p:sp>
      <p:sp>
        <p:nvSpPr>
          <p:cNvPr id="32" name="text-125"/>
          <p:cNvSpPr txBox="1"/>
          <p:nvPr/>
        </p:nvSpPr>
        <p:spPr>
          <a:xfrm>
            <a:off x="4663440" y="3401568"/>
            <a:ext cx="1143000" cy="274320"/>
          </a:xfrm>
          <a:prstGeom prst="rect">
            <a:avLst/>
          </a:prstGeom>
          <a:noFill/>
          <a:ln/>
        </p:spPr>
        <p:txBody>
          <a:bodyPr wrap="square" lIns="0" tIns="0" rIns="0" bIns="0" rtlCol="0" anchor="t"/>
          <a:lstStyle/>
          <a:p>
            <a:pPr algn="r" indent="0" marL="0">
              <a:buNone/>
            </a:pPr>
            <a:r>
              <a:rPr lang="en-US" sz="1050" dirty="0">
                <a:solidFill>
                  <a:srgbClr val="5B6169"/>
                </a:solidFill>
                <a:latin typeface="Calibri" pitchFamily="34" charset="0"/>
                <a:ea typeface="Calibri" pitchFamily="34" charset="-122"/>
                <a:cs typeface="Calibri" pitchFamily="34" charset="-120"/>
              </a:rPr>
              <a:t>Slides 26 – 29</a:t>
            </a:r>
            <a:endParaRPr lang="en-US" sz="1050" dirty="0"/>
          </a:p>
        </p:txBody>
      </p:sp>
      <p:sp>
        <p:nvSpPr>
          <p:cNvPr id="33" name="text-126"/>
          <p:cNvSpPr txBox="1"/>
          <p:nvPr/>
        </p:nvSpPr>
        <p:spPr>
          <a:xfrm>
            <a:off x="1371600" y="3703320"/>
            <a:ext cx="4434840" cy="420624"/>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Step by step, settings, corner barricades / cones / kerb, aux lane, island</a:t>
            </a:r>
            <a:endParaRPr lang="en-US" sz="1050" dirty="0"/>
          </a:p>
        </p:txBody>
      </p:sp>
      <p:sp>
        <p:nvSpPr>
          <p:cNvPr id="34" name="shape-127"/>
          <p:cNvSpPr/>
          <p:nvPr/>
        </p:nvSpPr>
        <p:spPr>
          <a:xfrm>
            <a:off x="6144768" y="3273552"/>
            <a:ext cx="5486400" cy="896112"/>
          </a:xfrm>
          <a:prstGeom prst="roundRect">
            <a:avLst>
              <a:gd name="adj" fmla="val 8163"/>
            </a:avLst>
          </a:prstGeom>
          <a:solidFill>
            <a:srgbClr val="F4F5F7"/>
          </a:solidFill>
          <a:ln w="9525">
            <a:solidFill>
              <a:srgbClr val="E3E5E8"/>
            </a:solidFill>
            <a:prstDash val="solid"/>
          </a:ln>
        </p:spPr>
      </p:sp>
      <p:sp>
        <p:nvSpPr>
          <p:cNvPr id="35" name="shape-128"/>
          <p:cNvSpPr/>
          <p:nvPr/>
        </p:nvSpPr>
        <p:spPr>
          <a:xfrm>
            <a:off x="6327648" y="3456432"/>
            <a:ext cx="512064" cy="512064"/>
          </a:xfrm>
          <a:prstGeom prst="ellipse">
            <a:avLst/>
          </a:prstGeom>
          <a:solidFill>
            <a:schemeClr val="accent1"/>
          </a:solidFill>
          <a:ln/>
        </p:spPr>
      </p:sp>
      <p:sp>
        <p:nvSpPr>
          <p:cNvPr id="36" name="text-129"/>
          <p:cNvSpPr txBox="1"/>
          <p:nvPr/>
        </p:nvSpPr>
        <p:spPr>
          <a:xfrm>
            <a:off x="6327648" y="3456432"/>
            <a:ext cx="512064" cy="51206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F</a:t>
            </a:r>
            <a:endParaRPr lang="en-US" sz="1900" dirty="0"/>
          </a:p>
        </p:txBody>
      </p:sp>
      <p:sp>
        <p:nvSpPr>
          <p:cNvPr id="37" name="text-130"/>
          <p:cNvSpPr txBox="1"/>
          <p:nvPr/>
        </p:nvSpPr>
        <p:spPr>
          <a:xfrm>
            <a:off x="7013448" y="3383280"/>
            <a:ext cx="329184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Single line  ·  RDL</a:t>
            </a:r>
            <a:endParaRPr lang="en-US" sz="1350" dirty="0"/>
          </a:p>
        </p:txBody>
      </p:sp>
      <p:sp>
        <p:nvSpPr>
          <p:cNvPr id="38" name="text-131"/>
          <p:cNvSpPr txBox="1"/>
          <p:nvPr/>
        </p:nvSpPr>
        <p:spPr>
          <a:xfrm>
            <a:off x="10305288" y="3401568"/>
            <a:ext cx="1143000" cy="274320"/>
          </a:xfrm>
          <a:prstGeom prst="rect">
            <a:avLst/>
          </a:prstGeom>
          <a:noFill/>
          <a:ln/>
        </p:spPr>
        <p:txBody>
          <a:bodyPr wrap="square" lIns="0" tIns="0" rIns="0" bIns="0" rtlCol="0" anchor="t"/>
          <a:lstStyle/>
          <a:p>
            <a:pPr algn="r" indent="0" marL="0">
              <a:buNone/>
            </a:pPr>
            <a:r>
              <a:rPr lang="en-US" sz="1050" dirty="0">
                <a:solidFill>
                  <a:srgbClr val="5B6169"/>
                </a:solidFill>
                <a:latin typeface="Calibri" pitchFamily="34" charset="0"/>
                <a:ea typeface="Calibri" pitchFamily="34" charset="-122"/>
                <a:cs typeface="Calibri" pitchFamily="34" charset="-120"/>
              </a:rPr>
              <a:t>Slides 30 – 31</a:t>
            </a:r>
            <a:endParaRPr lang="en-US" sz="1050" dirty="0"/>
          </a:p>
        </p:txBody>
      </p:sp>
      <p:sp>
        <p:nvSpPr>
          <p:cNvPr id="39" name="text-132"/>
          <p:cNvSpPr txBox="1"/>
          <p:nvPr/>
        </p:nvSpPr>
        <p:spPr>
          <a:xfrm>
            <a:off x="7013448" y="3703320"/>
            <a:ext cx="4434840" cy="420624"/>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One run of barricades, cones or kerb stone on any line</a:t>
            </a:r>
            <a:endParaRPr lang="en-US" sz="1050" dirty="0"/>
          </a:p>
        </p:txBody>
      </p:sp>
      <p:sp>
        <p:nvSpPr>
          <p:cNvPr id="40" name="shape-133"/>
          <p:cNvSpPr/>
          <p:nvPr/>
        </p:nvSpPr>
        <p:spPr>
          <a:xfrm>
            <a:off x="502920" y="4261104"/>
            <a:ext cx="5486400" cy="896112"/>
          </a:xfrm>
          <a:prstGeom prst="roundRect">
            <a:avLst>
              <a:gd name="adj" fmla="val 8163"/>
            </a:avLst>
          </a:prstGeom>
          <a:solidFill>
            <a:srgbClr val="F4F5F7"/>
          </a:solidFill>
          <a:ln w="9525">
            <a:solidFill>
              <a:srgbClr val="E3E5E8"/>
            </a:solidFill>
            <a:prstDash val="solid"/>
          </a:ln>
        </p:spPr>
      </p:sp>
      <p:sp>
        <p:nvSpPr>
          <p:cNvPr id="41" name="shape-134"/>
          <p:cNvSpPr/>
          <p:nvPr/>
        </p:nvSpPr>
        <p:spPr>
          <a:xfrm>
            <a:off x="685800" y="4443984"/>
            <a:ext cx="512064" cy="512064"/>
          </a:xfrm>
          <a:prstGeom prst="ellipse">
            <a:avLst/>
          </a:prstGeom>
          <a:solidFill>
            <a:schemeClr val="accent1"/>
          </a:solidFill>
          <a:ln/>
        </p:spPr>
      </p:sp>
      <p:sp>
        <p:nvSpPr>
          <p:cNvPr id="42" name="text-135"/>
          <p:cNvSpPr txBox="1"/>
          <p:nvPr/>
        </p:nvSpPr>
        <p:spPr>
          <a:xfrm>
            <a:off x="685800" y="4443984"/>
            <a:ext cx="512064" cy="51206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G</a:t>
            </a:r>
            <a:endParaRPr lang="en-US" sz="1900" dirty="0"/>
          </a:p>
        </p:txBody>
      </p:sp>
      <p:sp>
        <p:nvSpPr>
          <p:cNvPr id="43" name="text-136"/>
          <p:cNvSpPr txBox="1"/>
          <p:nvPr/>
        </p:nvSpPr>
        <p:spPr>
          <a:xfrm>
            <a:off x="1371600" y="4370832"/>
            <a:ext cx="329184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Report  ·  RDR</a:t>
            </a:r>
            <a:endParaRPr lang="en-US" sz="1350" dirty="0"/>
          </a:p>
        </p:txBody>
      </p:sp>
      <p:sp>
        <p:nvSpPr>
          <p:cNvPr id="44" name="text-137"/>
          <p:cNvSpPr txBox="1"/>
          <p:nvPr/>
        </p:nvSpPr>
        <p:spPr>
          <a:xfrm>
            <a:off x="4663440" y="4389120"/>
            <a:ext cx="1143000" cy="274320"/>
          </a:xfrm>
          <a:prstGeom prst="rect">
            <a:avLst/>
          </a:prstGeom>
          <a:noFill/>
          <a:ln/>
        </p:spPr>
        <p:txBody>
          <a:bodyPr wrap="square" lIns="0" tIns="0" rIns="0" bIns="0" rtlCol="0" anchor="t"/>
          <a:lstStyle/>
          <a:p>
            <a:pPr algn="r" indent="0" marL="0">
              <a:buNone/>
            </a:pPr>
            <a:r>
              <a:rPr lang="en-US" sz="1050" dirty="0">
                <a:solidFill>
                  <a:srgbClr val="5B6169"/>
                </a:solidFill>
                <a:latin typeface="Calibri" pitchFamily="34" charset="0"/>
                <a:ea typeface="Calibri" pitchFamily="34" charset="-122"/>
                <a:cs typeface="Calibri" pitchFamily="34" charset="-120"/>
              </a:rPr>
              <a:t>Slides 32 – 33</a:t>
            </a:r>
            <a:endParaRPr lang="en-US" sz="1050" dirty="0"/>
          </a:p>
        </p:txBody>
      </p:sp>
      <p:sp>
        <p:nvSpPr>
          <p:cNvPr id="45" name="text-138"/>
          <p:cNvSpPr txBox="1"/>
          <p:nvPr/>
        </p:nvSpPr>
        <p:spPr>
          <a:xfrm>
            <a:off x="1371600" y="4690872"/>
            <a:ext cx="4434840" cy="420624"/>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Command line summary, Excel (CSV) file and drawing tables</a:t>
            </a:r>
            <a:endParaRPr lang="en-US" sz="1050" dirty="0"/>
          </a:p>
        </p:txBody>
      </p:sp>
      <p:sp>
        <p:nvSpPr>
          <p:cNvPr id="46" name="shape-139"/>
          <p:cNvSpPr/>
          <p:nvPr/>
        </p:nvSpPr>
        <p:spPr>
          <a:xfrm>
            <a:off x="6144768" y="4261104"/>
            <a:ext cx="5486400" cy="896112"/>
          </a:xfrm>
          <a:prstGeom prst="roundRect">
            <a:avLst>
              <a:gd name="adj" fmla="val 8163"/>
            </a:avLst>
          </a:prstGeom>
          <a:solidFill>
            <a:srgbClr val="F4F5F7"/>
          </a:solidFill>
          <a:ln w="9525">
            <a:solidFill>
              <a:srgbClr val="E3E5E8"/>
            </a:solidFill>
            <a:prstDash val="solid"/>
          </a:ln>
        </p:spPr>
      </p:sp>
      <p:sp>
        <p:nvSpPr>
          <p:cNvPr id="47" name="shape-140"/>
          <p:cNvSpPr/>
          <p:nvPr/>
        </p:nvSpPr>
        <p:spPr>
          <a:xfrm>
            <a:off x="6327648" y="4443984"/>
            <a:ext cx="512064" cy="512064"/>
          </a:xfrm>
          <a:prstGeom prst="ellipse">
            <a:avLst/>
          </a:prstGeom>
          <a:solidFill>
            <a:schemeClr val="accent1"/>
          </a:solidFill>
          <a:ln/>
        </p:spPr>
      </p:sp>
      <p:sp>
        <p:nvSpPr>
          <p:cNvPr id="48" name="text-141"/>
          <p:cNvSpPr txBox="1"/>
          <p:nvPr/>
        </p:nvSpPr>
        <p:spPr>
          <a:xfrm>
            <a:off x="6327648" y="4443984"/>
            <a:ext cx="512064" cy="51206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H</a:t>
            </a:r>
            <a:endParaRPr lang="en-US" sz="1900" dirty="0"/>
          </a:p>
        </p:txBody>
      </p:sp>
      <p:sp>
        <p:nvSpPr>
          <p:cNvPr id="49" name="text-142"/>
          <p:cNvSpPr txBox="1"/>
          <p:nvPr/>
        </p:nvSpPr>
        <p:spPr>
          <a:xfrm>
            <a:off x="7013448" y="4370832"/>
            <a:ext cx="329184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Reference</a:t>
            </a:r>
            <a:endParaRPr lang="en-US" sz="1350" dirty="0"/>
          </a:p>
        </p:txBody>
      </p:sp>
      <p:sp>
        <p:nvSpPr>
          <p:cNvPr id="50" name="text-143"/>
          <p:cNvSpPr txBox="1"/>
          <p:nvPr/>
        </p:nvSpPr>
        <p:spPr>
          <a:xfrm>
            <a:off x="10305288" y="4389120"/>
            <a:ext cx="1143000" cy="274320"/>
          </a:xfrm>
          <a:prstGeom prst="rect">
            <a:avLst/>
          </a:prstGeom>
          <a:noFill/>
          <a:ln/>
        </p:spPr>
        <p:txBody>
          <a:bodyPr wrap="square" lIns="0" tIns="0" rIns="0" bIns="0" rtlCol="0" anchor="t"/>
          <a:lstStyle/>
          <a:p>
            <a:pPr algn="r" indent="0" marL="0">
              <a:buNone/>
            </a:pPr>
            <a:r>
              <a:rPr lang="en-US" sz="1050" dirty="0">
                <a:solidFill>
                  <a:srgbClr val="5B6169"/>
                </a:solidFill>
                <a:latin typeface="Calibri" pitchFamily="34" charset="0"/>
                <a:ea typeface="Calibri" pitchFamily="34" charset="-122"/>
                <a:cs typeface="Calibri" pitchFamily="34" charset="-120"/>
              </a:rPr>
              <a:t>Slides 34 – 37</a:t>
            </a:r>
            <a:endParaRPr lang="en-US" sz="1050" dirty="0"/>
          </a:p>
        </p:txBody>
      </p:sp>
      <p:sp>
        <p:nvSpPr>
          <p:cNvPr id="51" name="text-144"/>
          <p:cNvSpPr txBox="1"/>
          <p:nvPr/>
        </p:nvSpPr>
        <p:spPr>
          <a:xfrm>
            <a:off x="7013448" y="4690872"/>
            <a:ext cx="4434840" cy="420624"/>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Worked example, standard values, troubleshooting, quick reference</a:t>
            </a:r>
            <a:endParaRPr lang="en-US" sz="1050" dirty="0"/>
          </a:p>
        </p:txBody>
      </p:sp>
      <p:sp>
        <p:nvSpPr>
          <p:cNvPr id="52" name="shape-145"/>
          <p:cNvSpPr/>
          <p:nvPr/>
        </p:nvSpPr>
        <p:spPr>
          <a:xfrm>
            <a:off x="502920" y="5248656"/>
            <a:ext cx="11128248" cy="896112"/>
          </a:xfrm>
          <a:prstGeom prst="roundRect">
            <a:avLst>
              <a:gd name="adj" fmla="val 8163"/>
            </a:avLst>
          </a:prstGeom>
          <a:solidFill>
            <a:srgbClr val="FFF6D6"/>
          </a:solidFill>
          <a:ln w="9525">
            <a:solidFill>
              <a:srgbClr val="F2D27A"/>
            </a:solidFill>
            <a:prstDash val="solid"/>
          </a:ln>
        </p:spPr>
      </p:sp>
      <p:sp>
        <p:nvSpPr>
          <p:cNvPr id="53" name="shape-146"/>
          <p:cNvSpPr/>
          <p:nvPr/>
        </p:nvSpPr>
        <p:spPr>
          <a:xfrm>
            <a:off x="685800" y="5431536"/>
            <a:ext cx="512064" cy="512064"/>
          </a:xfrm>
          <a:prstGeom prst="ellipse">
            <a:avLst/>
          </a:prstGeom>
          <a:solidFill>
            <a:schemeClr val="accent2"/>
          </a:solidFill>
          <a:ln/>
        </p:spPr>
      </p:sp>
      <p:sp>
        <p:nvSpPr>
          <p:cNvPr id="54" name="text-147"/>
          <p:cNvSpPr txBox="1"/>
          <p:nvPr/>
        </p:nvSpPr>
        <p:spPr>
          <a:xfrm>
            <a:off x="685800" y="5431536"/>
            <a:ext cx="512064" cy="512064"/>
          </a:xfrm>
          <a:prstGeom prst="rect">
            <a:avLst/>
          </a:prstGeom>
          <a:noFill/>
          <a:ln/>
        </p:spPr>
        <p:txBody>
          <a:bodyPr wrap="square" lIns="0" tIns="0" rIns="0" bIns="0" rtlCol="0" anchor="ctr"/>
          <a:lstStyle/>
          <a:p>
            <a:pPr algn="ctr" indent="0" marL="0">
              <a:buNone/>
            </a:pPr>
            <a:r>
              <a:rPr lang="en-US" sz="1900" b="1" dirty="0">
                <a:solidFill>
                  <a:srgbClr val="1F2326"/>
                </a:solidFill>
                <a:latin typeface="Arial" pitchFamily="34" charset="0"/>
                <a:ea typeface="Arial" pitchFamily="34" charset="-122"/>
                <a:cs typeface="Arial" pitchFamily="34" charset="-120"/>
              </a:rPr>
              <a:t>I</a:t>
            </a:r>
            <a:endParaRPr lang="en-US" sz="1900" dirty="0"/>
          </a:p>
        </p:txBody>
      </p:sp>
      <p:sp>
        <p:nvSpPr>
          <p:cNvPr id="55" name="text-148"/>
          <p:cNvSpPr txBox="1"/>
          <p:nvPr/>
        </p:nvSpPr>
        <p:spPr>
          <a:xfrm>
            <a:off x="1371600" y="5358384"/>
            <a:ext cx="8933688"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New in 3.4  ·  RDC  RDER  RDLX</a:t>
            </a:r>
            <a:endParaRPr lang="en-US" sz="1350" dirty="0"/>
          </a:p>
        </p:txBody>
      </p:sp>
      <p:sp>
        <p:nvSpPr>
          <p:cNvPr id="56" name="text-149"/>
          <p:cNvSpPr txBox="1"/>
          <p:nvPr/>
        </p:nvSpPr>
        <p:spPr>
          <a:xfrm>
            <a:off x="10305288" y="5376672"/>
            <a:ext cx="1143000" cy="274320"/>
          </a:xfrm>
          <a:prstGeom prst="rect">
            <a:avLst/>
          </a:prstGeom>
          <a:noFill/>
          <a:ln/>
        </p:spPr>
        <p:txBody>
          <a:bodyPr wrap="square" lIns="0" tIns="0" rIns="0" bIns="0" rtlCol="0" anchor="t"/>
          <a:lstStyle/>
          <a:p>
            <a:pPr algn="r" indent="0" marL="0">
              <a:buNone/>
            </a:pPr>
            <a:r>
              <a:rPr lang="en-US" sz="1050" dirty="0">
                <a:solidFill>
                  <a:srgbClr val="5B6169"/>
                </a:solidFill>
                <a:latin typeface="Calibri" pitchFamily="34" charset="0"/>
                <a:ea typeface="Calibri" pitchFamily="34" charset="-122"/>
                <a:cs typeface="Calibri" pitchFamily="34" charset="-120"/>
              </a:rPr>
              <a:t>Slides 38 – 46</a:t>
            </a:r>
            <a:endParaRPr lang="en-US" sz="1050" dirty="0"/>
          </a:p>
        </p:txBody>
      </p:sp>
      <p:sp>
        <p:nvSpPr>
          <p:cNvPr id="57" name="text-150"/>
          <p:cNvSpPr txBox="1"/>
          <p:nvPr/>
        </p:nvSpPr>
        <p:spPr>
          <a:xfrm>
            <a:off x="1371600" y="5678424"/>
            <a:ext cx="10076688" cy="420624"/>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Lanes, median, sidewalks, walkways, drains, utilities, paver hatch, radius edit, Civil 3D / LandXML, testing</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A  ·  GETTING STARTED</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One centre line in, a complete road drawing out</a:t>
            </a:r>
            <a:endParaRPr lang="en-US" sz="2600" dirty="0"/>
          </a:p>
        </p:txBody>
      </p:sp>
      <p:sp>
        <p:nvSpPr>
          <p:cNvPr id="4" name="shape-151"/>
          <p:cNvSpPr/>
          <p:nvPr/>
        </p:nvSpPr>
        <p:spPr>
          <a:xfrm>
            <a:off x="502920" y="1325880"/>
            <a:ext cx="7040880" cy="4892040"/>
          </a:xfrm>
          <a:prstGeom prst="roundRect">
            <a:avLst>
              <a:gd name="adj" fmla="val 1495"/>
            </a:avLst>
          </a:prstGeom>
          <a:solidFill>
            <a:srgbClr val="F4F5F7"/>
          </a:solidFill>
          <a:ln w="9525">
            <a:solidFill>
              <a:srgbClr val="E3E5E8"/>
            </a:solidFill>
            <a:prstDash val="solid"/>
          </a:ln>
        </p:spPr>
      </p:sp>
      <p:sp>
        <p:nvSpPr>
          <p:cNvPr id="5" name="shape-152"/>
          <p:cNvSpPr/>
          <p:nvPr/>
        </p:nvSpPr>
        <p:spPr>
          <a:xfrm>
            <a:off x="4572000" y="1600200"/>
            <a:ext cx="868680" cy="1874520"/>
          </a:xfrm>
          <a:prstGeom prst="rect">
            <a:avLst/>
          </a:prstGeom>
          <a:solidFill>
            <a:schemeClr val="accent5"/>
          </a:solidFill>
          <a:ln/>
        </p:spPr>
      </p:sp>
      <p:sp>
        <p:nvSpPr>
          <p:cNvPr id="6" name="shape-153"/>
          <p:cNvSpPr/>
          <p:nvPr/>
        </p:nvSpPr>
        <p:spPr>
          <a:xfrm>
            <a:off x="5006340" y="1645920"/>
            <a:ext cx="0" cy="1737360"/>
          </a:xfrm>
          <a:prstGeom prst="line">
            <a:avLst/>
          </a:prstGeom>
          <a:noFill/>
          <a:ln w="19050">
            <a:solidFill>
              <a:schemeClr val="accent2"/>
            </a:solidFill>
            <a:prstDash val="dash"/>
          </a:ln>
        </p:spPr>
      </p:sp>
      <p:sp>
        <p:nvSpPr>
          <p:cNvPr id="7" name="shape-154"/>
          <p:cNvSpPr/>
          <p:nvPr/>
        </p:nvSpPr>
        <p:spPr>
          <a:xfrm>
            <a:off x="4389120" y="1600200"/>
            <a:ext cx="118872" cy="228600"/>
          </a:xfrm>
          <a:prstGeom prst="rect">
            <a:avLst/>
          </a:prstGeom>
          <a:solidFill>
            <a:srgbClr val="B9BDC3"/>
          </a:solidFill>
          <a:ln w="7620">
            <a:solidFill>
              <a:srgbClr val="1F2326"/>
            </a:solidFill>
            <a:prstDash val="solid"/>
          </a:ln>
        </p:spPr>
      </p:sp>
      <p:sp>
        <p:nvSpPr>
          <p:cNvPr id="8" name="shape-155"/>
          <p:cNvSpPr/>
          <p:nvPr/>
        </p:nvSpPr>
        <p:spPr>
          <a:xfrm>
            <a:off x="4389120" y="1828800"/>
            <a:ext cx="118872" cy="228600"/>
          </a:xfrm>
          <a:prstGeom prst="rect">
            <a:avLst/>
          </a:prstGeom>
          <a:solidFill>
            <a:srgbClr val="B9BDC3"/>
          </a:solidFill>
          <a:ln w="7620">
            <a:solidFill>
              <a:srgbClr val="1F2326"/>
            </a:solidFill>
            <a:prstDash val="solid"/>
          </a:ln>
        </p:spPr>
      </p:sp>
      <p:sp>
        <p:nvSpPr>
          <p:cNvPr id="9" name="shape-156"/>
          <p:cNvSpPr/>
          <p:nvPr/>
        </p:nvSpPr>
        <p:spPr>
          <a:xfrm>
            <a:off x="4389120" y="2057400"/>
            <a:ext cx="118872" cy="228600"/>
          </a:xfrm>
          <a:prstGeom prst="rect">
            <a:avLst/>
          </a:prstGeom>
          <a:solidFill>
            <a:srgbClr val="B9BDC3"/>
          </a:solidFill>
          <a:ln w="7620">
            <a:solidFill>
              <a:srgbClr val="1F2326"/>
            </a:solidFill>
            <a:prstDash val="solid"/>
          </a:ln>
        </p:spPr>
      </p:sp>
      <p:sp>
        <p:nvSpPr>
          <p:cNvPr id="10" name="shape-157"/>
          <p:cNvSpPr/>
          <p:nvPr/>
        </p:nvSpPr>
        <p:spPr>
          <a:xfrm>
            <a:off x="4389120" y="2286000"/>
            <a:ext cx="118872" cy="228600"/>
          </a:xfrm>
          <a:prstGeom prst="rect">
            <a:avLst/>
          </a:prstGeom>
          <a:solidFill>
            <a:srgbClr val="B9BDC3"/>
          </a:solidFill>
          <a:ln w="7620">
            <a:solidFill>
              <a:srgbClr val="1F2326"/>
            </a:solidFill>
            <a:prstDash val="solid"/>
          </a:ln>
        </p:spPr>
      </p:sp>
      <p:sp>
        <p:nvSpPr>
          <p:cNvPr id="11" name="shape-158"/>
          <p:cNvSpPr/>
          <p:nvPr/>
        </p:nvSpPr>
        <p:spPr>
          <a:xfrm>
            <a:off x="4389120" y="2514600"/>
            <a:ext cx="118872" cy="228600"/>
          </a:xfrm>
          <a:prstGeom prst="rect">
            <a:avLst/>
          </a:prstGeom>
          <a:solidFill>
            <a:srgbClr val="B9BDC3"/>
          </a:solidFill>
          <a:ln w="7620">
            <a:solidFill>
              <a:srgbClr val="1F2326"/>
            </a:solidFill>
            <a:prstDash val="solid"/>
          </a:ln>
        </p:spPr>
      </p:sp>
      <p:sp>
        <p:nvSpPr>
          <p:cNvPr id="12" name="shape-159"/>
          <p:cNvSpPr/>
          <p:nvPr/>
        </p:nvSpPr>
        <p:spPr>
          <a:xfrm>
            <a:off x="4389120" y="2743200"/>
            <a:ext cx="118872" cy="228600"/>
          </a:xfrm>
          <a:prstGeom prst="rect">
            <a:avLst/>
          </a:prstGeom>
          <a:solidFill>
            <a:srgbClr val="B9BDC3"/>
          </a:solidFill>
          <a:ln w="7620">
            <a:solidFill>
              <a:srgbClr val="1F2326"/>
            </a:solidFill>
            <a:prstDash val="solid"/>
          </a:ln>
        </p:spPr>
      </p:sp>
      <p:sp>
        <p:nvSpPr>
          <p:cNvPr id="13" name="shape-160"/>
          <p:cNvSpPr/>
          <p:nvPr/>
        </p:nvSpPr>
        <p:spPr>
          <a:xfrm>
            <a:off x="4389120" y="2971800"/>
            <a:ext cx="118872" cy="228600"/>
          </a:xfrm>
          <a:prstGeom prst="rect">
            <a:avLst/>
          </a:prstGeom>
          <a:solidFill>
            <a:srgbClr val="B9BDC3"/>
          </a:solidFill>
          <a:ln w="7620">
            <a:solidFill>
              <a:srgbClr val="1F2326"/>
            </a:solidFill>
            <a:prstDash val="solid"/>
          </a:ln>
        </p:spPr>
      </p:sp>
      <p:sp>
        <p:nvSpPr>
          <p:cNvPr id="14" name="shape-161"/>
          <p:cNvSpPr/>
          <p:nvPr/>
        </p:nvSpPr>
        <p:spPr>
          <a:xfrm>
            <a:off x="5504688" y="1600200"/>
            <a:ext cx="118872" cy="228600"/>
          </a:xfrm>
          <a:prstGeom prst="rect">
            <a:avLst/>
          </a:prstGeom>
          <a:solidFill>
            <a:srgbClr val="B9BDC3"/>
          </a:solidFill>
          <a:ln w="7620">
            <a:solidFill>
              <a:srgbClr val="1F2326"/>
            </a:solidFill>
            <a:prstDash val="solid"/>
          </a:ln>
        </p:spPr>
      </p:sp>
      <p:sp>
        <p:nvSpPr>
          <p:cNvPr id="15" name="shape-162"/>
          <p:cNvSpPr/>
          <p:nvPr/>
        </p:nvSpPr>
        <p:spPr>
          <a:xfrm>
            <a:off x="5504688" y="1828800"/>
            <a:ext cx="118872" cy="228600"/>
          </a:xfrm>
          <a:prstGeom prst="rect">
            <a:avLst/>
          </a:prstGeom>
          <a:solidFill>
            <a:srgbClr val="B9BDC3"/>
          </a:solidFill>
          <a:ln w="7620">
            <a:solidFill>
              <a:srgbClr val="1F2326"/>
            </a:solidFill>
            <a:prstDash val="solid"/>
          </a:ln>
        </p:spPr>
      </p:sp>
      <p:sp>
        <p:nvSpPr>
          <p:cNvPr id="16" name="shape-163"/>
          <p:cNvSpPr/>
          <p:nvPr/>
        </p:nvSpPr>
        <p:spPr>
          <a:xfrm>
            <a:off x="5504688" y="2057400"/>
            <a:ext cx="118872" cy="228600"/>
          </a:xfrm>
          <a:prstGeom prst="rect">
            <a:avLst/>
          </a:prstGeom>
          <a:solidFill>
            <a:srgbClr val="B9BDC3"/>
          </a:solidFill>
          <a:ln w="7620">
            <a:solidFill>
              <a:srgbClr val="1F2326"/>
            </a:solidFill>
            <a:prstDash val="solid"/>
          </a:ln>
        </p:spPr>
      </p:sp>
      <p:sp>
        <p:nvSpPr>
          <p:cNvPr id="17" name="shape-164"/>
          <p:cNvSpPr/>
          <p:nvPr/>
        </p:nvSpPr>
        <p:spPr>
          <a:xfrm>
            <a:off x="5504688" y="2286000"/>
            <a:ext cx="118872" cy="228600"/>
          </a:xfrm>
          <a:prstGeom prst="rect">
            <a:avLst/>
          </a:prstGeom>
          <a:solidFill>
            <a:srgbClr val="B9BDC3"/>
          </a:solidFill>
          <a:ln w="7620">
            <a:solidFill>
              <a:srgbClr val="1F2326"/>
            </a:solidFill>
            <a:prstDash val="solid"/>
          </a:ln>
        </p:spPr>
      </p:sp>
      <p:sp>
        <p:nvSpPr>
          <p:cNvPr id="18" name="shape-165"/>
          <p:cNvSpPr/>
          <p:nvPr/>
        </p:nvSpPr>
        <p:spPr>
          <a:xfrm>
            <a:off x="5504688" y="2514600"/>
            <a:ext cx="118872" cy="228600"/>
          </a:xfrm>
          <a:prstGeom prst="rect">
            <a:avLst/>
          </a:prstGeom>
          <a:solidFill>
            <a:srgbClr val="B9BDC3"/>
          </a:solidFill>
          <a:ln w="7620">
            <a:solidFill>
              <a:srgbClr val="1F2326"/>
            </a:solidFill>
            <a:prstDash val="solid"/>
          </a:ln>
        </p:spPr>
      </p:sp>
      <p:sp>
        <p:nvSpPr>
          <p:cNvPr id="19" name="shape-166"/>
          <p:cNvSpPr/>
          <p:nvPr/>
        </p:nvSpPr>
        <p:spPr>
          <a:xfrm>
            <a:off x="5504688" y="2743200"/>
            <a:ext cx="118872" cy="228600"/>
          </a:xfrm>
          <a:prstGeom prst="rect">
            <a:avLst/>
          </a:prstGeom>
          <a:solidFill>
            <a:srgbClr val="B9BDC3"/>
          </a:solidFill>
          <a:ln w="7620">
            <a:solidFill>
              <a:srgbClr val="1F2326"/>
            </a:solidFill>
            <a:prstDash val="solid"/>
          </a:ln>
        </p:spPr>
      </p:sp>
      <p:sp>
        <p:nvSpPr>
          <p:cNvPr id="20" name="shape-167"/>
          <p:cNvSpPr/>
          <p:nvPr/>
        </p:nvSpPr>
        <p:spPr>
          <a:xfrm>
            <a:off x="5504688" y="2971800"/>
            <a:ext cx="118872" cy="228600"/>
          </a:xfrm>
          <a:prstGeom prst="rect">
            <a:avLst/>
          </a:prstGeom>
          <a:solidFill>
            <a:srgbClr val="B9BDC3"/>
          </a:solidFill>
          <a:ln w="7620">
            <a:solidFill>
              <a:srgbClr val="1F2326"/>
            </a:solidFill>
            <a:prstDash val="solid"/>
          </a:ln>
        </p:spPr>
      </p:sp>
      <p:sp>
        <p:nvSpPr>
          <p:cNvPr id="21" name="shape-168"/>
          <p:cNvSpPr/>
          <p:nvPr/>
        </p:nvSpPr>
        <p:spPr>
          <a:xfrm>
            <a:off x="914400" y="3429000"/>
            <a:ext cx="6263640" cy="1051560"/>
          </a:xfrm>
          <a:prstGeom prst="rect">
            <a:avLst/>
          </a:prstGeom>
          <a:solidFill>
            <a:schemeClr val="accent5"/>
          </a:solidFill>
          <a:ln/>
        </p:spPr>
      </p:sp>
      <p:sp>
        <p:nvSpPr>
          <p:cNvPr id="22" name="shape-169"/>
          <p:cNvSpPr/>
          <p:nvPr/>
        </p:nvSpPr>
        <p:spPr>
          <a:xfrm>
            <a:off x="914400" y="3474720"/>
            <a:ext cx="6263640" cy="0"/>
          </a:xfrm>
          <a:prstGeom prst="line">
            <a:avLst/>
          </a:prstGeom>
          <a:noFill/>
          <a:ln w="15875">
            <a:solidFill>
              <a:schemeClr val="accent2"/>
            </a:solidFill>
            <a:prstDash val="solid"/>
          </a:ln>
        </p:spPr>
      </p:sp>
      <p:sp>
        <p:nvSpPr>
          <p:cNvPr id="23" name="shape-170"/>
          <p:cNvSpPr/>
          <p:nvPr/>
        </p:nvSpPr>
        <p:spPr>
          <a:xfrm>
            <a:off x="914400" y="4434840"/>
            <a:ext cx="6263640" cy="0"/>
          </a:xfrm>
          <a:prstGeom prst="line">
            <a:avLst/>
          </a:prstGeom>
          <a:noFill/>
          <a:ln w="15875">
            <a:solidFill>
              <a:schemeClr val="accent2"/>
            </a:solidFill>
            <a:prstDash val="solid"/>
          </a:ln>
        </p:spPr>
      </p:sp>
      <p:sp>
        <p:nvSpPr>
          <p:cNvPr id="24" name="shape-171"/>
          <p:cNvSpPr/>
          <p:nvPr/>
        </p:nvSpPr>
        <p:spPr>
          <a:xfrm>
            <a:off x="914400" y="3954780"/>
            <a:ext cx="6263640" cy="0"/>
          </a:xfrm>
          <a:prstGeom prst="line">
            <a:avLst/>
          </a:prstGeom>
          <a:noFill/>
          <a:ln w="19050">
            <a:solidFill>
              <a:srgbClr val="FFFFFF"/>
            </a:solidFill>
            <a:prstDash val="dash"/>
          </a:ln>
        </p:spPr>
      </p:sp>
      <p:sp>
        <p:nvSpPr>
          <p:cNvPr id="25" name="shape-172"/>
          <p:cNvSpPr/>
          <p:nvPr/>
        </p:nvSpPr>
        <p:spPr>
          <a:xfrm>
            <a:off x="914400" y="3200400"/>
            <a:ext cx="278130" cy="128016"/>
          </a:xfrm>
          <a:prstGeom prst="rect">
            <a:avLst/>
          </a:prstGeom>
          <a:solidFill>
            <a:schemeClr val="accent1"/>
          </a:solidFill>
          <a:ln w="7620">
            <a:solidFill>
              <a:srgbClr val="1F2326"/>
            </a:solidFill>
            <a:prstDash val="solid"/>
          </a:ln>
        </p:spPr>
      </p:sp>
      <p:sp>
        <p:nvSpPr>
          <p:cNvPr id="26" name="shape-173"/>
          <p:cNvSpPr/>
          <p:nvPr/>
        </p:nvSpPr>
        <p:spPr>
          <a:xfrm>
            <a:off x="1192530" y="3200400"/>
            <a:ext cx="278130" cy="128016"/>
          </a:xfrm>
          <a:prstGeom prst="rect">
            <a:avLst/>
          </a:prstGeom>
          <a:solidFill>
            <a:srgbClr val="FFFFFF"/>
          </a:solidFill>
          <a:ln w="7620">
            <a:solidFill>
              <a:srgbClr val="1F2326"/>
            </a:solidFill>
            <a:prstDash val="solid"/>
          </a:ln>
        </p:spPr>
      </p:sp>
      <p:sp>
        <p:nvSpPr>
          <p:cNvPr id="27" name="shape-174"/>
          <p:cNvSpPr/>
          <p:nvPr/>
        </p:nvSpPr>
        <p:spPr>
          <a:xfrm>
            <a:off x="1470660" y="3200400"/>
            <a:ext cx="278130" cy="128016"/>
          </a:xfrm>
          <a:prstGeom prst="rect">
            <a:avLst/>
          </a:prstGeom>
          <a:solidFill>
            <a:schemeClr val="accent1"/>
          </a:solidFill>
          <a:ln w="7620">
            <a:solidFill>
              <a:srgbClr val="1F2326"/>
            </a:solidFill>
            <a:prstDash val="solid"/>
          </a:ln>
        </p:spPr>
      </p:sp>
      <p:sp>
        <p:nvSpPr>
          <p:cNvPr id="28" name="shape-175"/>
          <p:cNvSpPr/>
          <p:nvPr/>
        </p:nvSpPr>
        <p:spPr>
          <a:xfrm>
            <a:off x="1748790" y="3200400"/>
            <a:ext cx="278130" cy="128016"/>
          </a:xfrm>
          <a:prstGeom prst="rect">
            <a:avLst/>
          </a:prstGeom>
          <a:solidFill>
            <a:srgbClr val="FFFFFF"/>
          </a:solidFill>
          <a:ln w="7620">
            <a:solidFill>
              <a:srgbClr val="1F2326"/>
            </a:solidFill>
            <a:prstDash val="solid"/>
          </a:ln>
        </p:spPr>
      </p:sp>
      <p:sp>
        <p:nvSpPr>
          <p:cNvPr id="29" name="shape-176"/>
          <p:cNvSpPr/>
          <p:nvPr/>
        </p:nvSpPr>
        <p:spPr>
          <a:xfrm>
            <a:off x="2026920" y="3200400"/>
            <a:ext cx="278130" cy="128016"/>
          </a:xfrm>
          <a:prstGeom prst="rect">
            <a:avLst/>
          </a:prstGeom>
          <a:solidFill>
            <a:schemeClr val="accent1"/>
          </a:solidFill>
          <a:ln w="7620">
            <a:solidFill>
              <a:srgbClr val="1F2326"/>
            </a:solidFill>
            <a:prstDash val="solid"/>
          </a:ln>
        </p:spPr>
      </p:sp>
      <p:sp>
        <p:nvSpPr>
          <p:cNvPr id="30" name="shape-177"/>
          <p:cNvSpPr/>
          <p:nvPr/>
        </p:nvSpPr>
        <p:spPr>
          <a:xfrm>
            <a:off x="2305050" y="3200400"/>
            <a:ext cx="278130" cy="128016"/>
          </a:xfrm>
          <a:prstGeom prst="rect">
            <a:avLst/>
          </a:prstGeom>
          <a:solidFill>
            <a:srgbClr val="FFFFFF"/>
          </a:solidFill>
          <a:ln w="7620">
            <a:solidFill>
              <a:srgbClr val="1F2326"/>
            </a:solidFill>
            <a:prstDash val="solid"/>
          </a:ln>
        </p:spPr>
      </p:sp>
      <p:sp>
        <p:nvSpPr>
          <p:cNvPr id="31" name="shape-178"/>
          <p:cNvSpPr/>
          <p:nvPr/>
        </p:nvSpPr>
        <p:spPr>
          <a:xfrm>
            <a:off x="2583180" y="3200400"/>
            <a:ext cx="278130" cy="128016"/>
          </a:xfrm>
          <a:prstGeom prst="rect">
            <a:avLst/>
          </a:prstGeom>
          <a:solidFill>
            <a:schemeClr val="accent1"/>
          </a:solidFill>
          <a:ln w="7620">
            <a:solidFill>
              <a:srgbClr val="1F2326"/>
            </a:solidFill>
            <a:prstDash val="solid"/>
          </a:ln>
        </p:spPr>
      </p:sp>
      <p:sp>
        <p:nvSpPr>
          <p:cNvPr id="32" name="shape-179"/>
          <p:cNvSpPr/>
          <p:nvPr/>
        </p:nvSpPr>
        <p:spPr>
          <a:xfrm>
            <a:off x="2861310" y="3200400"/>
            <a:ext cx="278130" cy="128016"/>
          </a:xfrm>
          <a:prstGeom prst="rect">
            <a:avLst/>
          </a:prstGeom>
          <a:solidFill>
            <a:srgbClr val="FFFFFF"/>
          </a:solidFill>
          <a:ln w="7620">
            <a:solidFill>
              <a:srgbClr val="1F2326"/>
            </a:solidFill>
            <a:prstDash val="solid"/>
          </a:ln>
        </p:spPr>
      </p:sp>
      <p:sp>
        <p:nvSpPr>
          <p:cNvPr id="33" name="shape-180"/>
          <p:cNvSpPr/>
          <p:nvPr/>
        </p:nvSpPr>
        <p:spPr>
          <a:xfrm>
            <a:off x="3139440" y="3200400"/>
            <a:ext cx="278130" cy="128016"/>
          </a:xfrm>
          <a:prstGeom prst="rect">
            <a:avLst/>
          </a:prstGeom>
          <a:solidFill>
            <a:schemeClr val="accent1"/>
          </a:solidFill>
          <a:ln w="7620">
            <a:solidFill>
              <a:srgbClr val="1F2326"/>
            </a:solidFill>
            <a:prstDash val="solid"/>
          </a:ln>
        </p:spPr>
      </p:sp>
      <p:sp>
        <p:nvSpPr>
          <p:cNvPr id="34" name="shape-181"/>
          <p:cNvSpPr/>
          <p:nvPr/>
        </p:nvSpPr>
        <p:spPr>
          <a:xfrm>
            <a:off x="3417570" y="3200400"/>
            <a:ext cx="278130" cy="128016"/>
          </a:xfrm>
          <a:prstGeom prst="rect">
            <a:avLst/>
          </a:prstGeom>
          <a:solidFill>
            <a:srgbClr val="FFFFFF"/>
          </a:solidFill>
          <a:ln w="7620">
            <a:solidFill>
              <a:srgbClr val="1F2326"/>
            </a:solidFill>
            <a:prstDash val="solid"/>
          </a:ln>
        </p:spPr>
      </p:sp>
      <p:sp>
        <p:nvSpPr>
          <p:cNvPr id="35" name="shape-182"/>
          <p:cNvSpPr/>
          <p:nvPr/>
        </p:nvSpPr>
        <p:spPr>
          <a:xfrm>
            <a:off x="3695700" y="3200400"/>
            <a:ext cx="278130" cy="128016"/>
          </a:xfrm>
          <a:prstGeom prst="rect">
            <a:avLst/>
          </a:prstGeom>
          <a:solidFill>
            <a:schemeClr val="accent1"/>
          </a:solidFill>
          <a:ln w="7620">
            <a:solidFill>
              <a:srgbClr val="1F2326"/>
            </a:solidFill>
            <a:prstDash val="solid"/>
          </a:ln>
        </p:spPr>
      </p:sp>
      <p:sp>
        <p:nvSpPr>
          <p:cNvPr id="36" name="shape-183"/>
          <p:cNvSpPr/>
          <p:nvPr/>
        </p:nvSpPr>
        <p:spPr>
          <a:xfrm>
            <a:off x="3973830" y="3200400"/>
            <a:ext cx="278130" cy="128016"/>
          </a:xfrm>
          <a:prstGeom prst="rect">
            <a:avLst/>
          </a:prstGeom>
          <a:solidFill>
            <a:srgbClr val="FFFFFF"/>
          </a:solidFill>
          <a:ln w="7620">
            <a:solidFill>
              <a:srgbClr val="1F2326"/>
            </a:solidFill>
            <a:prstDash val="solid"/>
          </a:ln>
        </p:spPr>
      </p:sp>
      <p:sp>
        <p:nvSpPr>
          <p:cNvPr id="37" name="shape-184"/>
          <p:cNvSpPr/>
          <p:nvPr/>
        </p:nvSpPr>
        <p:spPr>
          <a:xfrm>
            <a:off x="5806440" y="3200400"/>
            <a:ext cx="274320" cy="128016"/>
          </a:xfrm>
          <a:prstGeom prst="rect">
            <a:avLst/>
          </a:prstGeom>
          <a:solidFill>
            <a:schemeClr val="accent1"/>
          </a:solidFill>
          <a:ln w="7620">
            <a:solidFill>
              <a:srgbClr val="1F2326"/>
            </a:solidFill>
            <a:prstDash val="solid"/>
          </a:ln>
        </p:spPr>
      </p:sp>
      <p:sp>
        <p:nvSpPr>
          <p:cNvPr id="38" name="shape-185"/>
          <p:cNvSpPr/>
          <p:nvPr/>
        </p:nvSpPr>
        <p:spPr>
          <a:xfrm>
            <a:off x="6080760" y="3200400"/>
            <a:ext cx="274320" cy="128016"/>
          </a:xfrm>
          <a:prstGeom prst="rect">
            <a:avLst/>
          </a:prstGeom>
          <a:solidFill>
            <a:srgbClr val="FFFFFF"/>
          </a:solidFill>
          <a:ln w="7620">
            <a:solidFill>
              <a:srgbClr val="1F2326"/>
            </a:solidFill>
            <a:prstDash val="solid"/>
          </a:ln>
        </p:spPr>
      </p:sp>
      <p:sp>
        <p:nvSpPr>
          <p:cNvPr id="39" name="shape-186"/>
          <p:cNvSpPr/>
          <p:nvPr/>
        </p:nvSpPr>
        <p:spPr>
          <a:xfrm>
            <a:off x="6355080" y="3200400"/>
            <a:ext cx="274320" cy="128016"/>
          </a:xfrm>
          <a:prstGeom prst="rect">
            <a:avLst/>
          </a:prstGeom>
          <a:solidFill>
            <a:schemeClr val="accent1"/>
          </a:solidFill>
          <a:ln w="7620">
            <a:solidFill>
              <a:srgbClr val="1F2326"/>
            </a:solidFill>
            <a:prstDash val="solid"/>
          </a:ln>
        </p:spPr>
      </p:sp>
      <p:sp>
        <p:nvSpPr>
          <p:cNvPr id="40" name="shape-187"/>
          <p:cNvSpPr/>
          <p:nvPr/>
        </p:nvSpPr>
        <p:spPr>
          <a:xfrm>
            <a:off x="6629400" y="3200400"/>
            <a:ext cx="274320" cy="128016"/>
          </a:xfrm>
          <a:prstGeom prst="rect">
            <a:avLst/>
          </a:prstGeom>
          <a:solidFill>
            <a:srgbClr val="FFFFFF"/>
          </a:solidFill>
          <a:ln w="7620">
            <a:solidFill>
              <a:srgbClr val="1F2326"/>
            </a:solidFill>
            <a:prstDash val="solid"/>
          </a:ln>
        </p:spPr>
      </p:sp>
      <p:sp>
        <p:nvSpPr>
          <p:cNvPr id="41" name="shape-188"/>
          <p:cNvSpPr/>
          <p:nvPr/>
        </p:nvSpPr>
        <p:spPr>
          <a:xfrm>
            <a:off x="6903720" y="3200400"/>
            <a:ext cx="274320" cy="128016"/>
          </a:xfrm>
          <a:prstGeom prst="rect">
            <a:avLst/>
          </a:prstGeom>
          <a:solidFill>
            <a:schemeClr val="accent1"/>
          </a:solidFill>
          <a:ln w="7620">
            <a:solidFill>
              <a:srgbClr val="1F2326"/>
            </a:solidFill>
            <a:prstDash val="solid"/>
          </a:ln>
        </p:spPr>
      </p:sp>
      <p:sp>
        <p:nvSpPr>
          <p:cNvPr id="42" name="shape-189"/>
          <p:cNvSpPr/>
          <p:nvPr/>
        </p:nvSpPr>
        <p:spPr>
          <a:xfrm>
            <a:off x="946404" y="4622292"/>
            <a:ext cx="118872" cy="118872"/>
          </a:xfrm>
          <a:prstGeom prst="ellipse">
            <a:avLst/>
          </a:prstGeom>
          <a:solidFill>
            <a:schemeClr val="accent1"/>
          </a:solidFill>
          <a:ln w="5080">
            <a:solidFill>
              <a:srgbClr val="1F2326"/>
            </a:solidFill>
            <a:prstDash val="solid"/>
          </a:ln>
        </p:spPr>
      </p:sp>
      <p:sp>
        <p:nvSpPr>
          <p:cNvPr id="43" name="shape-190"/>
          <p:cNvSpPr/>
          <p:nvPr/>
        </p:nvSpPr>
        <p:spPr>
          <a:xfrm>
            <a:off x="970178" y="4646066"/>
            <a:ext cx="71323" cy="71323"/>
          </a:xfrm>
          <a:prstGeom prst="ellipse">
            <a:avLst/>
          </a:prstGeom>
          <a:solidFill>
            <a:srgbClr val="FFFFFF"/>
          </a:solidFill>
          <a:ln/>
        </p:spPr>
      </p:sp>
      <p:sp>
        <p:nvSpPr>
          <p:cNvPr id="44" name="shape-191"/>
          <p:cNvSpPr/>
          <p:nvPr/>
        </p:nvSpPr>
        <p:spPr>
          <a:xfrm>
            <a:off x="986820" y="4662708"/>
            <a:ext cx="38039" cy="38039"/>
          </a:xfrm>
          <a:prstGeom prst="ellipse">
            <a:avLst/>
          </a:prstGeom>
          <a:solidFill>
            <a:schemeClr val="accent1"/>
          </a:solidFill>
          <a:ln/>
        </p:spPr>
      </p:sp>
      <p:sp>
        <p:nvSpPr>
          <p:cNvPr id="45" name="shape-192"/>
          <p:cNvSpPr/>
          <p:nvPr/>
        </p:nvSpPr>
        <p:spPr>
          <a:xfrm>
            <a:off x="1233787" y="4622292"/>
            <a:ext cx="118872" cy="118872"/>
          </a:xfrm>
          <a:prstGeom prst="ellipse">
            <a:avLst/>
          </a:prstGeom>
          <a:solidFill>
            <a:schemeClr val="accent1"/>
          </a:solidFill>
          <a:ln w="5080">
            <a:solidFill>
              <a:srgbClr val="1F2326"/>
            </a:solidFill>
            <a:prstDash val="solid"/>
          </a:ln>
        </p:spPr>
      </p:sp>
      <p:sp>
        <p:nvSpPr>
          <p:cNvPr id="46" name="shape-193"/>
          <p:cNvSpPr/>
          <p:nvPr/>
        </p:nvSpPr>
        <p:spPr>
          <a:xfrm>
            <a:off x="1257561" y="4646066"/>
            <a:ext cx="71323" cy="71323"/>
          </a:xfrm>
          <a:prstGeom prst="ellipse">
            <a:avLst/>
          </a:prstGeom>
          <a:solidFill>
            <a:srgbClr val="FFFFFF"/>
          </a:solidFill>
          <a:ln/>
        </p:spPr>
      </p:sp>
      <p:sp>
        <p:nvSpPr>
          <p:cNvPr id="47" name="shape-194"/>
          <p:cNvSpPr/>
          <p:nvPr/>
        </p:nvSpPr>
        <p:spPr>
          <a:xfrm>
            <a:off x="1274203" y="4662708"/>
            <a:ext cx="38039" cy="38039"/>
          </a:xfrm>
          <a:prstGeom prst="ellipse">
            <a:avLst/>
          </a:prstGeom>
          <a:solidFill>
            <a:schemeClr val="accent1"/>
          </a:solidFill>
          <a:ln/>
        </p:spPr>
      </p:sp>
      <p:sp>
        <p:nvSpPr>
          <p:cNvPr id="48" name="shape-195"/>
          <p:cNvSpPr/>
          <p:nvPr/>
        </p:nvSpPr>
        <p:spPr>
          <a:xfrm>
            <a:off x="1521170" y="4622292"/>
            <a:ext cx="118872" cy="118872"/>
          </a:xfrm>
          <a:prstGeom prst="ellipse">
            <a:avLst/>
          </a:prstGeom>
          <a:solidFill>
            <a:schemeClr val="accent1"/>
          </a:solidFill>
          <a:ln w="5080">
            <a:solidFill>
              <a:srgbClr val="1F2326"/>
            </a:solidFill>
            <a:prstDash val="solid"/>
          </a:ln>
        </p:spPr>
      </p:sp>
      <p:sp>
        <p:nvSpPr>
          <p:cNvPr id="49" name="shape-196"/>
          <p:cNvSpPr/>
          <p:nvPr/>
        </p:nvSpPr>
        <p:spPr>
          <a:xfrm>
            <a:off x="1544944" y="4646066"/>
            <a:ext cx="71323" cy="71323"/>
          </a:xfrm>
          <a:prstGeom prst="ellipse">
            <a:avLst/>
          </a:prstGeom>
          <a:solidFill>
            <a:srgbClr val="FFFFFF"/>
          </a:solidFill>
          <a:ln/>
        </p:spPr>
      </p:sp>
      <p:sp>
        <p:nvSpPr>
          <p:cNvPr id="50" name="shape-197"/>
          <p:cNvSpPr/>
          <p:nvPr/>
        </p:nvSpPr>
        <p:spPr>
          <a:xfrm>
            <a:off x="1561586" y="4662708"/>
            <a:ext cx="38039" cy="38039"/>
          </a:xfrm>
          <a:prstGeom prst="ellipse">
            <a:avLst/>
          </a:prstGeom>
          <a:solidFill>
            <a:schemeClr val="accent1"/>
          </a:solidFill>
          <a:ln/>
        </p:spPr>
      </p:sp>
      <p:sp>
        <p:nvSpPr>
          <p:cNvPr id="51" name="shape-198"/>
          <p:cNvSpPr/>
          <p:nvPr/>
        </p:nvSpPr>
        <p:spPr>
          <a:xfrm>
            <a:off x="1808553" y="4622292"/>
            <a:ext cx="118872" cy="118872"/>
          </a:xfrm>
          <a:prstGeom prst="ellipse">
            <a:avLst/>
          </a:prstGeom>
          <a:solidFill>
            <a:schemeClr val="accent1"/>
          </a:solidFill>
          <a:ln w="5080">
            <a:solidFill>
              <a:srgbClr val="1F2326"/>
            </a:solidFill>
            <a:prstDash val="solid"/>
          </a:ln>
        </p:spPr>
      </p:sp>
      <p:sp>
        <p:nvSpPr>
          <p:cNvPr id="52" name="shape-199"/>
          <p:cNvSpPr/>
          <p:nvPr/>
        </p:nvSpPr>
        <p:spPr>
          <a:xfrm>
            <a:off x="1832327" y="4646066"/>
            <a:ext cx="71323" cy="71323"/>
          </a:xfrm>
          <a:prstGeom prst="ellipse">
            <a:avLst/>
          </a:prstGeom>
          <a:solidFill>
            <a:srgbClr val="FFFFFF"/>
          </a:solidFill>
          <a:ln/>
        </p:spPr>
      </p:sp>
      <p:sp>
        <p:nvSpPr>
          <p:cNvPr id="53" name="shape-200"/>
          <p:cNvSpPr/>
          <p:nvPr/>
        </p:nvSpPr>
        <p:spPr>
          <a:xfrm>
            <a:off x="1848969" y="4662708"/>
            <a:ext cx="38039" cy="38039"/>
          </a:xfrm>
          <a:prstGeom prst="ellipse">
            <a:avLst/>
          </a:prstGeom>
          <a:solidFill>
            <a:schemeClr val="accent1"/>
          </a:solidFill>
          <a:ln/>
        </p:spPr>
      </p:sp>
      <p:sp>
        <p:nvSpPr>
          <p:cNvPr id="54" name="shape-201"/>
          <p:cNvSpPr/>
          <p:nvPr/>
        </p:nvSpPr>
        <p:spPr>
          <a:xfrm>
            <a:off x="2095935" y="4622292"/>
            <a:ext cx="118872" cy="118872"/>
          </a:xfrm>
          <a:prstGeom prst="ellipse">
            <a:avLst/>
          </a:prstGeom>
          <a:solidFill>
            <a:schemeClr val="accent1"/>
          </a:solidFill>
          <a:ln w="5080">
            <a:solidFill>
              <a:srgbClr val="1F2326"/>
            </a:solidFill>
            <a:prstDash val="solid"/>
          </a:ln>
        </p:spPr>
      </p:sp>
      <p:sp>
        <p:nvSpPr>
          <p:cNvPr id="55" name="shape-202"/>
          <p:cNvSpPr/>
          <p:nvPr/>
        </p:nvSpPr>
        <p:spPr>
          <a:xfrm>
            <a:off x="2119710" y="4646066"/>
            <a:ext cx="71323" cy="71323"/>
          </a:xfrm>
          <a:prstGeom prst="ellipse">
            <a:avLst/>
          </a:prstGeom>
          <a:solidFill>
            <a:srgbClr val="FFFFFF"/>
          </a:solidFill>
          <a:ln/>
        </p:spPr>
      </p:sp>
      <p:sp>
        <p:nvSpPr>
          <p:cNvPr id="56" name="shape-203"/>
          <p:cNvSpPr/>
          <p:nvPr/>
        </p:nvSpPr>
        <p:spPr>
          <a:xfrm>
            <a:off x="2136352" y="4662708"/>
            <a:ext cx="38039" cy="38039"/>
          </a:xfrm>
          <a:prstGeom prst="ellipse">
            <a:avLst/>
          </a:prstGeom>
          <a:solidFill>
            <a:schemeClr val="accent1"/>
          </a:solidFill>
          <a:ln/>
        </p:spPr>
      </p:sp>
      <p:sp>
        <p:nvSpPr>
          <p:cNvPr id="57" name="shape-204"/>
          <p:cNvSpPr/>
          <p:nvPr/>
        </p:nvSpPr>
        <p:spPr>
          <a:xfrm>
            <a:off x="2383318" y="4622292"/>
            <a:ext cx="118872" cy="118872"/>
          </a:xfrm>
          <a:prstGeom prst="ellipse">
            <a:avLst/>
          </a:prstGeom>
          <a:solidFill>
            <a:schemeClr val="accent1"/>
          </a:solidFill>
          <a:ln w="5080">
            <a:solidFill>
              <a:srgbClr val="1F2326"/>
            </a:solidFill>
            <a:prstDash val="solid"/>
          </a:ln>
        </p:spPr>
      </p:sp>
      <p:sp>
        <p:nvSpPr>
          <p:cNvPr id="58" name="shape-205"/>
          <p:cNvSpPr/>
          <p:nvPr/>
        </p:nvSpPr>
        <p:spPr>
          <a:xfrm>
            <a:off x="2407093" y="4646066"/>
            <a:ext cx="71323" cy="71323"/>
          </a:xfrm>
          <a:prstGeom prst="ellipse">
            <a:avLst/>
          </a:prstGeom>
          <a:solidFill>
            <a:srgbClr val="FFFFFF"/>
          </a:solidFill>
          <a:ln/>
        </p:spPr>
      </p:sp>
      <p:sp>
        <p:nvSpPr>
          <p:cNvPr id="59" name="shape-206"/>
          <p:cNvSpPr/>
          <p:nvPr/>
        </p:nvSpPr>
        <p:spPr>
          <a:xfrm>
            <a:off x="2423735" y="4662708"/>
            <a:ext cx="38039" cy="38039"/>
          </a:xfrm>
          <a:prstGeom prst="ellipse">
            <a:avLst/>
          </a:prstGeom>
          <a:solidFill>
            <a:schemeClr val="accent1"/>
          </a:solidFill>
          <a:ln/>
        </p:spPr>
      </p:sp>
      <p:sp>
        <p:nvSpPr>
          <p:cNvPr id="60" name="shape-207"/>
          <p:cNvSpPr/>
          <p:nvPr/>
        </p:nvSpPr>
        <p:spPr>
          <a:xfrm>
            <a:off x="2670701" y="4622292"/>
            <a:ext cx="118872" cy="118872"/>
          </a:xfrm>
          <a:prstGeom prst="ellipse">
            <a:avLst/>
          </a:prstGeom>
          <a:solidFill>
            <a:schemeClr val="accent1"/>
          </a:solidFill>
          <a:ln w="5080">
            <a:solidFill>
              <a:srgbClr val="1F2326"/>
            </a:solidFill>
            <a:prstDash val="solid"/>
          </a:ln>
        </p:spPr>
      </p:sp>
      <p:sp>
        <p:nvSpPr>
          <p:cNvPr id="61" name="shape-208"/>
          <p:cNvSpPr/>
          <p:nvPr/>
        </p:nvSpPr>
        <p:spPr>
          <a:xfrm>
            <a:off x="2694476" y="4646066"/>
            <a:ext cx="71323" cy="71323"/>
          </a:xfrm>
          <a:prstGeom prst="ellipse">
            <a:avLst/>
          </a:prstGeom>
          <a:solidFill>
            <a:srgbClr val="FFFFFF"/>
          </a:solidFill>
          <a:ln/>
        </p:spPr>
      </p:sp>
      <p:sp>
        <p:nvSpPr>
          <p:cNvPr id="62" name="shape-209"/>
          <p:cNvSpPr/>
          <p:nvPr/>
        </p:nvSpPr>
        <p:spPr>
          <a:xfrm>
            <a:off x="2711118" y="4662708"/>
            <a:ext cx="38039" cy="38039"/>
          </a:xfrm>
          <a:prstGeom prst="ellipse">
            <a:avLst/>
          </a:prstGeom>
          <a:solidFill>
            <a:schemeClr val="accent1"/>
          </a:solidFill>
          <a:ln/>
        </p:spPr>
      </p:sp>
      <p:sp>
        <p:nvSpPr>
          <p:cNvPr id="63" name="shape-210"/>
          <p:cNvSpPr/>
          <p:nvPr/>
        </p:nvSpPr>
        <p:spPr>
          <a:xfrm>
            <a:off x="2958084" y="4622292"/>
            <a:ext cx="118872" cy="118872"/>
          </a:xfrm>
          <a:prstGeom prst="ellipse">
            <a:avLst/>
          </a:prstGeom>
          <a:solidFill>
            <a:schemeClr val="accent1"/>
          </a:solidFill>
          <a:ln w="5080">
            <a:solidFill>
              <a:srgbClr val="1F2326"/>
            </a:solidFill>
            <a:prstDash val="solid"/>
          </a:ln>
        </p:spPr>
      </p:sp>
      <p:sp>
        <p:nvSpPr>
          <p:cNvPr id="64" name="shape-211"/>
          <p:cNvSpPr/>
          <p:nvPr/>
        </p:nvSpPr>
        <p:spPr>
          <a:xfrm>
            <a:off x="2981858" y="4646066"/>
            <a:ext cx="71323" cy="71323"/>
          </a:xfrm>
          <a:prstGeom prst="ellipse">
            <a:avLst/>
          </a:prstGeom>
          <a:solidFill>
            <a:srgbClr val="FFFFFF"/>
          </a:solidFill>
          <a:ln/>
        </p:spPr>
      </p:sp>
      <p:sp>
        <p:nvSpPr>
          <p:cNvPr id="65" name="shape-212"/>
          <p:cNvSpPr/>
          <p:nvPr/>
        </p:nvSpPr>
        <p:spPr>
          <a:xfrm>
            <a:off x="2998500" y="4662708"/>
            <a:ext cx="38039" cy="38039"/>
          </a:xfrm>
          <a:prstGeom prst="ellipse">
            <a:avLst/>
          </a:prstGeom>
          <a:solidFill>
            <a:schemeClr val="accent1"/>
          </a:solidFill>
          <a:ln/>
        </p:spPr>
      </p:sp>
      <p:sp>
        <p:nvSpPr>
          <p:cNvPr id="66" name="shape-213"/>
          <p:cNvSpPr/>
          <p:nvPr/>
        </p:nvSpPr>
        <p:spPr>
          <a:xfrm>
            <a:off x="3245467" y="4622292"/>
            <a:ext cx="118872" cy="118872"/>
          </a:xfrm>
          <a:prstGeom prst="ellipse">
            <a:avLst/>
          </a:prstGeom>
          <a:solidFill>
            <a:schemeClr val="accent1"/>
          </a:solidFill>
          <a:ln w="5080">
            <a:solidFill>
              <a:srgbClr val="1F2326"/>
            </a:solidFill>
            <a:prstDash val="solid"/>
          </a:ln>
        </p:spPr>
      </p:sp>
      <p:sp>
        <p:nvSpPr>
          <p:cNvPr id="67" name="shape-214"/>
          <p:cNvSpPr/>
          <p:nvPr/>
        </p:nvSpPr>
        <p:spPr>
          <a:xfrm>
            <a:off x="3269241" y="4646066"/>
            <a:ext cx="71323" cy="71323"/>
          </a:xfrm>
          <a:prstGeom prst="ellipse">
            <a:avLst/>
          </a:prstGeom>
          <a:solidFill>
            <a:srgbClr val="FFFFFF"/>
          </a:solidFill>
          <a:ln/>
        </p:spPr>
      </p:sp>
      <p:sp>
        <p:nvSpPr>
          <p:cNvPr id="68" name="shape-215"/>
          <p:cNvSpPr/>
          <p:nvPr/>
        </p:nvSpPr>
        <p:spPr>
          <a:xfrm>
            <a:off x="3285883" y="4662708"/>
            <a:ext cx="38039" cy="38039"/>
          </a:xfrm>
          <a:prstGeom prst="ellipse">
            <a:avLst/>
          </a:prstGeom>
          <a:solidFill>
            <a:schemeClr val="accent1"/>
          </a:solidFill>
          <a:ln/>
        </p:spPr>
      </p:sp>
      <p:sp>
        <p:nvSpPr>
          <p:cNvPr id="69" name="shape-216"/>
          <p:cNvSpPr/>
          <p:nvPr/>
        </p:nvSpPr>
        <p:spPr>
          <a:xfrm>
            <a:off x="3532850" y="4622292"/>
            <a:ext cx="118872" cy="118872"/>
          </a:xfrm>
          <a:prstGeom prst="ellipse">
            <a:avLst/>
          </a:prstGeom>
          <a:solidFill>
            <a:schemeClr val="accent1"/>
          </a:solidFill>
          <a:ln w="5080">
            <a:solidFill>
              <a:srgbClr val="1F2326"/>
            </a:solidFill>
            <a:prstDash val="solid"/>
          </a:ln>
        </p:spPr>
      </p:sp>
      <p:sp>
        <p:nvSpPr>
          <p:cNvPr id="70" name="shape-217"/>
          <p:cNvSpPr/>
          <p:nvPr/>
        </p:nvSpPr>
        <p:spPr>
          <a:xfrm>
            <a:off x="3556624" y="4646066"/>
            <a:ext cx="71323" cy="71323"/>
          </a:xfrm>
          <a:prstGeom prst="ellipse">
            <a:avLst/>
          </a:prstGeom>
          <a:solidFill>
            <a:srgbClr val="FFFFFF"/>
          </a:solidFill>
          <a:ln/>
        </p:spPr>
      </p:sp>
      <p:sp>
        <p:nvSpPr>
          <p:cNvPr id="71" name="shape-218"/>
          <p:cNvSpPr/>
          <p:nvPr/>
        </p:nvSpPr>
        <p:spPr>
          <a:xfrm>
            <a:off x="3573266" y="4662708"/>
            <a:ext cx="38039" cy="38039"/>
          </a:xfrm>
          <a:prstGeom prst="ellipse">
            <a:avLst/>
          </a:prstGeom>
          <a:solidFill>
            <a:schemeClr val="accent1"/>
          </a:solidFill>
          <a:ln/>
        </p:spPr>
      </p:sp>
      <p:sp>
        <p:nvSpPr>
          <p:cNvPr id="72" name="shape-219"/>
          <p:cNvSpPr/>
          <p:nvPr/>
        </p:nvSpPr>
        <p:spPr>
          <a:xfrm>
            <a:off x="3820233" y="4622292"/>
            <a:ext cx="118872" cy="118872"/>
          </a:xfrm>
          <a:prstGeom prst="ellipse">
            <a:avLst/>
          </a:prstGeom>
          <a:solidFill>
            <a:schemeClr val="accent1"/>
          </a:solidFill>
          <a:ln w="5080">
            <a:solidFill>
              <a:srgbClr val="1F2326"/>
            </a:solidFill>
            <a:prstDash val="solid"/>
          </a:ln>
        </p:spPr>
      </p:sp>
      <p:sp>
        <p:nvSpPr>
          <p:cNvPr id="73" name="shape-220"/>
          <p:cNvSpPr/>
          <p:nvPr/>
        </p:nvSpPr>
        <p:spPr>
          <a:xfrm>
            <a:off x="3844007" y="4646066"/>
            <a:ext cx="71323" cy="71323"/>
          </a:xfrm>
          <a:prstGeom prst="ellipse">
            <a:avLst/>
          </a:prstGeom>
          <a:solidFill>
            <a:srgbClr val="FFFFFF"/>
          </a:solidFill>
          <a:ln/>
        </p:spPr>
      </p:sp>
      <p:sp>
        <p:nvSpPr>
          <p:cNvPr id="74" name="shape-221"/>
          <p:cNvSpPr/>
          <p:nvPr/>
        </p:nvSpPr>
        <p:spPr>
          <a:xfrm>
            <a:off x="3860649" y="4662708"/>
            <a:ext cx="38039" cy="38039"/>
          </a:xfrm>
          <a:prstGeom prst="ellipse">
            <a:avLst/>
          </a:prstGeom>
          <a:solidFill>
            <a:schemeClr val="accent1"/>
          </a:solidFill>
          <a:ln/>
        </p:spPr>
      </p:sp>
      <p:sp>
        <p:nvSpPr>
          <p:cNvPr id="75" name="shape-222"/>
          <p:cNvSpPr/>
          <p:nvPr/>
        </p:nvSpPr>
        <p:spPr>
          <a:xfrm>
            <a:off x="4107615" y="4622292"/>
            <a:ext cx="118872" cy="118872"/>
          </a:xfrm>
          <a:prstGeom prst="ellipse">
            <a:avLst/>
          </a:prstGeom>
          <a:solidFill>
            <a:schemeClr val="accent1"/>
          </a:solidFill>
          <a:ln w="5080">
            <a:solidFill>
              <a:srgbClr val="1F2326"/>
            </a:solidFill>
            <a:prstDash val="solid"/>
          </a:ln>
        </p:spPr>
      </p:sp>
      <p:sp>
        <p:nvSpPr>
          <p:cNvPr id="76" name="shape-223"/>
          <p:cNvSpPr/>
          <p:nvPr/>
        </p:nvSpPr>
        <p:spPr>
          <a:xfrm>
            <a:off x="4131390" y="4646066"/>
            <a:ext cx="71323" cy="71323"/>
          </a:xfrm>
          <a:prstGeom prst="ellipse">
            <a:avLst/>
          </a:prstGeom>
          <a:solidFill>
            <a:srgbClr val="FFFFFF"/>
          </a:solidFill>
          <a:ln/>
        </p:spPr>
      </p:sp>
      <p:sp>
        <p:nvSpPr>
          <p:cNvPr id="77" name="shape-224"/>
          <p:cNvSpPr/>
          <p:nvPr/>
        </p:nvSpPr>
        <p:spPr>
          <a:xfrm>
            <a:off x="4148032" y="4662708"/>
            <a:ext cx="38039" cy="38039"/>
          </a:xfrm>
          <a:prstGeom prst="ellipse">
            <a:avLst/>
          </a:prstGeom>
          <a:solidFill>
            <a:schemeClr val="accent1"/>
          </a:solidFill>
          <a:ln/>
        </p:spPr>
      </p:sp>
      <p:sp>
        <p:nvSpPr>
          <p:cNvPr id="78" name="shape-225"/>
          <p:cNvSpPr/>
          <p:nvPr/>
        </p:nvSpPr>
        <p:spPr>
          <a:xfrm>
            <a:off x="4394998" y="4622292"/>
            <a:ext cx="118872" cy="118872"/>
          </a:xfrm>
          <a:prstGeom prst="ellipse">
            <a:avLst/>
          </a:prstGeom>
          <a:solidFill>
            <a:schemeClr val="accent1"/>
          </a:solidFill>
          <a:ln w="5080">
            <a:solidFill>
              <a:srgbClr val="1F2326"/>
            </a:solidFill>
            <a:prstDash val="solid"/>
          </a:ln>
        </p:spPr>
      </p:sp>
      <p:sp>
        <p:nvSpPr>
          <p:cNvPr id="79" name="shape-226"/>
          <p:cNvSpPr/>
          <p:nvPr/>
        </p:nvSpPr>
        <p:spPr>
          <a:xfrm>
            <a:off x="4418773" y="4646066"/>
            <a:ext cx="71323" cy="71323"/>
          </a:xfrm>
          <a:prstGeom prst="ellipse">
            <a:avLst/>
          </a:prstGeom>
          <a:solidFill>
            <a:srgbClr val="FFFFFF"/>
          </a:solidFill>
          <a:ln/>
        </p:spPr>
      </p:sp>
      <p:sp>
        <p:nvSpPr>
          <p:cNvPr id="80" name="shape-227"/>
          <p:cNvSpPr/>
          <p:nvPr/>
        </p:nvSpPr>
        <p:spPr>
          <a:xfrm>
            <a:off x="4435415" y="4662708"/>
            <a:ext cx="38039" cy="38039"/>
          </a:xfrm>
          <a:prstGeom prst="ellipse">
            <a:avLst/>
          </a:prstGeom>
          <a:solidFill>
            <a:schemeClr val="accent1"/>
          </a:solidFill>
          <a:ln/>
        </p:spPr>
      </p:sp>
      <p:sp>
        <p:nvSpPr>
          <p:cNvPr id="81" name="shape-228"/>
          <p:cNvSpPr/>
          <p:nvPr/>
        </p:nvSpPr>
        <p:spPr>
          <a:xfrm>
            <a:off x="4682381" y="4622292"/>
            <a:ext cx="118872" cy="118872"/>
          </a:xfrm>
          <a:prstGeom prst="ellipse">
            <a:avLst/>
          </a:prstGeom>
          <a:solidFill>
            <a:schemeClr val="accent1"/>
          </a:solidFill>
          <a:ln w="5080">
            <a:solidFill>
              <a:srgbClr val="1F2326"/>
            </a:solidFill>
            <a:prstDash val="solid"/>
          </a:ln>
        </p:spPr>
      </p:sp>
      <p:sp>
        <p:nvSpPr>
          <p:cNvPr id="82" name="shape-229"/>
          <p:cNvSpPr/>
          <p:nvPr/>
        </p:nvSpPr>
        <p:spPr>
          <a:xfrm>
            <a:off x="4706156" y="4646066"/>
            <a:ext cx="71323" cy="71323"/>
          </a:xfrm>
          <a:prstGeom prst="ellipse">
            <a:avLst/>
          </a:prstGeom>
          <a:solidFill>
            <a:srgbClr val="FFFFFF"/>
          </a:solidFill>
          <a:ln/>
        </p:spPr>
      </p:sp>
      <p:sp>
        <p:nvSpPr>
          <p:cNvPr id="83" name="shape-230"/>
          <p:cNvSpPr/>
          <p:nvPr/>
        </p:nvSpPr>
        <p:spPr>
          <a:xfrm>
            <a:off x="4722798" y="4662708"/>
            <a:ext cx="38039" cy="38039"/>
          </a:xfrm>
          <a:prstGeom prst="ellipse">
            <a:avLst/>
          </a:prstGeom>
          <a:solidFill>
            <a:schemeClr val="accent1"/>
          </a:solidFill>
          <a:ln/>
        </p:spPr>
      </p:sp>
      <p:sp>
        <p:nvSpPr>
          <p:cNvPr id="84" name="shape-231"/>
          <p:cNvSpPr/>
          <p:nvPr/>
        </p:nvSpPr>
        <p:spPr>
          <a:xfrm>
            <a:off x="4969764" y="4622292"/>
            <a:ext cx="118872" cy="118872"/>
          </a:xfrm>
          <a:prstGeom prst="ellipse">
            <a:avLst/>
          </a:prstGeom>
          <a:solidFill>
            <a:schemeClr val="accent1"/>
          </a:solidFill>
          <a:ln w="5080">
            <a:solidFill>
              <a:srgbClr val="1F2326"/>
            </a:solidFill>
            <a:prstDash val="solid"/>
          </a:ln>
        </p:spPr>
      </p:sp>
      <p:sp>
        <p:nvSpPr>
          <p:cNvPr id="85" name="shape-232"/>
          <p:cNvSpPr/>
          <p:nvPr/>
        </p:nvSpPr>
        <p:spPr>
          <a:xfrm>
            <a:off x="4993538" y="4646066"/>
            <a:ext cx="71323" cy="71323"/>
          </a:xfrm>
          <a:prstGeom prst="ellipse">
            <a:avLst/>
          </a:prstGeom>
          <a:solidFill>
            <a:srgbClr val="FFFFFF"/>
          </a:solidFill>
          <a:ln/>
        </p:spPr>
      </p:sp>
      <p:sp>
        <p:nvSpPr>
          <p:cNvPr id="86" name="shape-233"/>
          <p:cNvSpPr/>
          <p:nvPr/>
        </p:nvSpPr>
        <p:spPr>
          <a:xfrm>
            <a:off x="5010180" y="4662708"/>
            <a:ext cx="38039" cy="38039"/>
          </a:xfrm>
          <a:prstGeom prst="ellipse">
            <a:avLst/>
          </a:prstGeom>
          <a:solidFill>
            <a:schemeClr val="accent1"/>
          </a:solidFill>
          <a:ln/>
        </p:spPr>
      </p:sp>
      <p:sp>
        <p:nvSpPr>
          <p:cNvPr id="87" name="shape-234"/>
          <p:cNvSpPr/>
          <p:nvPr/>
        </p:nvSpPr>
        <p:spPr>
          <a:xfrm>
            <a:off x="5257147" y="4622292"/>
            <a:ext cx="118872" cy="118872"/>
          </a:xfrm>
          <a:prstGeom prst="ellipse">
            <a:avLst/>
          </a:prstGeom>
          <a:solidFill>
            <a:schemeClr val="accent1"/>
          </a:solidFill>
          <a:ln w="5080">
            <a:solidFill>
              <a:srgbClr val="1F2326"/>
            </a:solidFill>
            <a:prstDash val="solid"/>
          </a:ln>
        </p:spPr>
      </p:sp>
      <p:sp>
        <p:nvSpPr>
          <p:cNvPr id="88" name="shape-235"/>
          <p:cNvSpPr/>
          <p:nvPr/>
        </p:nvSpPr>
        <p:spPr>
          <a:xfrm>
            <a:off x="5280921" y="4646066"/>
            <a:ext cx="71323" cy="71323"/>
          </a:xfrm>
          <a:prstGeom prst="ellipse">
            <a:avLst/>
          </a:prstGeom>
          <a:solidFill>
            <a:srgbClr val="FFFFFF"/>
          </a:solidFill>
          <a:ln/>
        </p:spPr>
      </p:sp>
      <p:sp>
        <p:nvSpPr>
          <p:cNvPr id="89" name="shape-236"/>
          <p:cNvSpPr/>
          <p:nvPr/>
        </p:nvSpPr>
        <p:spPr>
          <a:xfrm>
            <a:off x="5297563" y="4662708"/>
            <a:ext cx="38039" cy="38039"/>
          </a:xfrm>
          <a:prstGeom prst="ellipse">
            <a:avLst/>
          </a:prstGeom>
          <a:solidFill>
            <a:schemeClr val="accent1"/>
          </a:solidFill>
          <a:ln/>
        </p:spPr>
      </p:sp>
      <p:sp>
        <p:nvSpPr>
          <p:cNvPr id="90" name="shape-237"/>
          <p:cNvSpPr/>
          <p:nvPr/>
        </p:nvSpPr>
        <p:spPr>
          <a:xfrm>
            <a:off x="5544530" y="4622292"/>
            <a:ext cx="118872" cy="118872"/>
          </a:xfrm>
          <a:prstGeom prst="ellipse">
            <a:avLst/>
          </a:prstGeom>
          <a:solidFill>
            <a:schemeClr val="accent1"/>
          </a:solidFill>
          <a:ln w="5080">
            <a:solidFill>
              <a:srgbClr val="1F2326"/>
            </a:solidFill>
            <a:prstDash val="solid"/>
          </a:ln>
        </p:spPr>
      </p:sp>
      <p:sp>
        <p:nvSpPr>
          <p:cNvPr id="91" name="shape-238"/>
          <p:cNvSpPr/>
          <p:nvPr/>
        </p:nvSpPr>
        <p:spPr>
          <a:xfrm>
            <a:off x="5568304" y="4646066"/>
            <a:ext cx="71323" cy="71323"/>
          </a:xfrm>
          <a:prstGeom prst="ellipse">
            <a:avLst/>
          </a:prstGeom>
          <a:solidFill>
            <a:srgbClr val="FFFFFF"/>
          </a:solidFill>
          <a:ln/>
        </p:spPr>
      </p:sp>
      <p:sp>
        <p:nvSpPr>
          <p:cNvPr id="92" name="shape-239"/>
          <p:cNvSpPr/>
          <p:nvPr/>
        </p:nvSpPr>
        <p:spPr>
          <a:xfrm>
            <a:off x="5584946" y="4662708"/>
            <a:ext cx="38039" cy="38039"/>
          </a:xfrm>
          <a:prstGeom prst="ellipse">
            <a:avLst/>
          </a:prstGeom>
          <a:solidFill>
            <a:schemeClr val="accent1"/>
          </a:solidFill>
          <a:ln/>
        </p:spPr>
      </p:sp>
      <p:sp>
        <p:nvSpPr>
          <p:cNvPr id="93" name="shape-240"/>
          <p:cNvSpPr/>
          <p:nvPr/>
        </p:nvSpPr>
        <p:spPr>
          <a:xfrm>
            <a:off x="5831913" y="4622292"/>
            <a:ext cx="118872" cy="118872"/>
          </a:xfrm>
          <a:prstGeom prst="ellipse">
            <a:avLst/>
          </a:prstGeom>
          <a:solidFill>
            <a:schemeClr val="accent1"/>
          </a:solidFill>
          <a:ln w="5080">
            <a:solidFill>
              <a:srgbClr val="1F2326"/>
            </a:solidFill>
            <a:prstDash val="solid"/>
          </a:ln>
        </p:spPr>
      </p:sp>
      <p:sp>
        <p:nvSpPr>
          <p:cNvPr id="94" name="shape-241"/>
          <p:cNvSpPr/>
          <p:nvPr/>
        </p:nvSpPr>
        <p:spPr>
          <a:xfrm>
            <a:off x="5855687" y="4646066"/>
            <a:ext cx="71323" cy="71323"/>
          </a:xfrm>
          <a:prstGeom prst="ellipse">
            <a:avLst/>
          </a:prstGeom>
          <a:solidFill>
            <a:srgbClr val="FFFFFF"/>
          </a:solidFill>
          <a:ln/>
        </p:spPr>
      </p:sp>
      <p:sp>
        <p:nvSpPr>
          <p:cNvPr id="95" name="shape-242"/>
          <p:cNvSpPr/>
          <p:nvPr/>
        </p:nvSpPr>
        <p:spPr>
          <a:xfrm>
            <a:off x="5872329" y="4662708"/>
            <a:ext cx="38039" cy="38039"/>
          </a:xfrm>
          <a:prstGeom prst="ellipse">
            <a:avLst/>
          </a:prstGeom>
          <a:solidFill>
            <a:schemeClr val="accent1"/>
          </a:solidFill>
          <a:ln/>
        </p:spPr>
      </p:sp>
      <p:sp>
        <p:nvSpPr>
          <p:cNvPr id="96" name="shape-243"/>
          <p:cNvSpPr/>
          <p:nvPr/>
        </p:nvSpPr>
        <p:spPr>
          <a:xfrm>
            <a:off x="6119295" y="4622292"/>
            <a:ext cx="118872" cy="118872"/>
          </a:xfrm>
          <a:prstGeom prst="ellipse">
            <a:avLst/>
          </a:prstGeom>
          <a:solidFill>
            <a:schemeClr val="accent1"/>
          </a:solidFill>
          <a:ln w="5080">
            <a:solidFill>
              <a:srgbClr val="1F2326"/>
            </a:solidFill>
            <a:prstDash val="solid"/>
          </a:ln>
        </p:spPr>
      </p:sp>
      <p:sp>
        <p:nvSpPr>
          <p:cNvPr id="97" name="shape-244"/>
          <p:cNvSpPr/>
          <p:nvPr/>
        </p:nvSpPr>
        <p:spPr>
          <a:xfrm>
            <a:off x="6143070" y="4646066"/>
            <a:ext cx="71323" cy="71323"/>
          </a:xfrm>
          <a:prstGeom prst="ellipse">
            <a:avLst/>
          </a:prstGeom>
          <a:solidFill>
            <a:srgbClr val="FFFFFF"/>
          </a:solidFill>
          <a:ln/>
        </p:spPr>
      </p:sp>
      <p:sp>
        <p:nvSpPr>
          <p:cNvPr id="98" name="shape-245"/>
          <p:cNvSpPr/>
          <p:nvPr/>
        </p:nvSpPr>
        <p:spPr>
          <a:xfrm>
            <a:off x="6159712" y="4662708"/>
            <a:ext cx="38039" cy="38039"/>
          </a:xfrm>
          <a:prstGeom prst="ellipse">
            <a:avLst/>
          </a:prstGeom>
          <a:solidFill>
            <a:schemeClr val="accent1"/>
          </a:solidFill>
          <a:ln/>
        </p:spPr>
      </p:sp>
      <p:sp>
        <p:nvSpPr>
          <p:cNvPr id="99" name="shape-246"/>
          <p:cNvSpPr/>
          <p:nvPr/>
        </p:nvSpPr>
        <p:spPr>
          <a:xfrm>
            <a:off x="6406678" y="4622292"/>
            <a:ext cx="118872" cy="118872"/>
          </a:xfrm>
          <a:prstGeom prst="ellipse">
            <a:avLst/>
          </a:prstGeom>
          <a:solidFill>
            <a:schemeClr val="accent1"/>
          </a:solidFill>
          <a:ln w="5080">
            <a:solidFill>
              <a:srgbClr val="1F2326"/>
            </a:solidFill>
            <a:prstDash val="solid"/>
          </a:ln>
        </p:spPr>
      </p:sp>
      <p:sp>
        <p:nvSpPr>
          <p:cNvPr id="100" name="shape-247"/>
          <p:cNvSpPr/>
          <p:nvPr/>
        </p:nvSpPr>
        <p:spPr>
          <a:xfrm>
            <a:off x="6430453" y="4646066"/>
            <a:ext cx="71323" cy="71323"/>
          </a:xfrm>
          <a:prstGeom prst="ellipse">
            <a:avLst/>
          </a:prstGeom>
          <a:solidFill>
            <a:srgbClr val="FFFFFF"/>
          </a:solidFill>
          <a:ln/>
        </p:spPr>
      </p:sp>
      <p:sp>
        <p:nvSpPr>
          <p:cNvPr id="101" name="shape-248"/>
          <p:cNvSpPr/>
          <p:nvPr/>
        </p:nvSpPr>
        <p:spPr>
          <a:xfrm>
            <a:off x="6447095" y="4662708"/>
            <a:ext cx="38039" cy="38039"/>
          </a:xfrm>
          <a:prstGeom prst="ellipse">
            <a:avLst/>
          </a:prstGeom>
          <a:solidFill>
            <a:schemeClr val="accent1"/>
          </a:solidFill>
          <a:ln/>
        </p:spPr>
      </p:sp>
      <p:sp>
        <p:nvSpPr>
          <p:cNvPr id="102" name="shape-249"/>
          <p:cNvSpPr/>
          <p:nvPr/>
        </p:nvSpPr>
        <p:spPr>
          <a:xfrm>
            <a:off x="6694061" y="4622292"/>
            <a:ext cx="118872" cy="118872"/>
          </a:xfrm>
          <a:prstGeom prst="ellipse">
            <a:avLst/>
          </a:prstGeom>
          <a:solidFill>
            <a:schemeClr val="accent1"/>
          </a:solidFill>
          <a:ln w="5080">
            <a:solidFill>
              <a:srgbClr val="1F2326"/>
            </a:solidFill>
            <a:prstDash val="solid"/>
          </a:ln>
        </p:spPr>
      </p:sp>
      <p:sp>
        <p:nvSpPr>
          <p:cNvPr id="103" name="shape-250"/>
          <p:cNvSpPr/>
          <p:nvPr/>
        </p:nvSpPr>
        <p:spPr>
          <a:xfrm>
            <a:off x="6717836" y="4646066"/>
            <a:ext cx="71323" cy="71323"/>
          </a:xfrm>
          <a:prstGeom prst="ellipse">
            <a:avLst/>
          </a:prstGeom>
          <a:solidFill>
            <a:srgbClr val="FFFFFF"/>
          </a:solidFill>
          <a:ln/>
        </p:spPr>
      </p:sp>
      <p:sp>
        <p:nvSpPr>
          <p:cNvPr id="104" name="shape-251"/>
          <p:cNvSpPr/>
          <p:nvPr/>
        </p:nvSpPr>
        <p:spPr>
          <a:xfrm>
            <a:off x="6734478" y="4662708"/>
            <a:ext cx="38039" cy="38039"/>
          </a:xfrm>
          <a:prstGeom prst="ellipse">
            <a:avLst/>
          </a:prstGeom>
          <a:solidFill>
            <a:schemeClr val="accent1"/>
          </a:solidFill>
          <a:ln/>
        </p:spPr>
      </p:sp>
      <p:sp>
        <p:nvSpPr>
          <p:cNvPr id="105" name="shape-252"/>
          <p:cNvSpPr/>
          <p:nvPr/>
        </p:nvSpPr>
        <p:spPr>
          <a:xfrm>
            <a:off x="6981444" y="4622292"/>
            <a:ext cx="118872" cy="118872"/>
          </a:xfrm>
          <a:prstGeom prst="ellipse">
            <a:avLst/>
          </a:prstGeom>
          <a:solidFill>
            <a:schemeClr val="accent1"/>
          </a:solidFill>
          <a:ln w="5080">
            <a:solidFill>
              <a:srgbClr val="1F2326"/>
            </a:solidFill>
            <a:prstDash val="solid"/>
          </a:ln>
        </p:spPr>
      </p:sp>
      <p:sp>
        <p:nvSpPr>
          <p:cNvPr id="106" name="shape-253"/>
          <p:cNvSpPr/>
          <p:nvPr/>
        </p:nvSpPr>
        <p:spPr>
          <a:xfrm>
            <a:off x="7005218" y="4646066"/>
            <a:ext cx="71323" cy="71323"/>
          </a:xfrm>
          <a:prstGeom prst="ellipse">
            <a:avLst/>
          </a:prstGeom>
          <a:solidFill>
            <a:srgbClr val="FFFFFF"/>
          </a:solidFill>
          <a:ln/>
        </p:spPr>
      </p:sp>
      <p:sp>
        <p:nvSpPr>
          <p:cNvPr id="107" name="shape-254"/>
          <p:cNvSpPr/>
          <p:nvPr/>
        </p:nvSpPr>
        <p:spPr>
          <a:xfrm>
            <a:off x="7021860" y="4662708"/>
            <a:ext cx="38039" cy="38039"/>
          </a:xfrm>
          <a:prstGeom prst="ellipse">
            <a:avLst/>
          </a:prstGeom>
          <a:solidFill>
            <a:schemeClr val="accent1"/>
          </a:solidFill>
          <a:ln/>
        </p:spPr>
      </p:sp>
      <p:sp>
        <p:nvSpPr>
          <p:cNvPr id="108" name="shape-255"/>
          <p:cNvSpPr/>
          <p:nvPr/>
        </p:nvSpPr>
        <p:spPr>
          <a:xfrm>
            <a:off x="914400" y="3154680"/>
            <a:ext cx="0" cy="1645920"/>
          </a:xfrm>
          <a:prstGeom prst="line">
            <a:avLst/>
          </a:prstGeom>
          <a:noFill/>
          <a:ln w="19050">
            <a:solidFill>
              <a:schemeClr val="accent1"/>
            </a:solidFill>
            <a:prstDash val="dash"/>
          </a:ln>
        </p:spPr>
      </p:sp>
      <p:sp>
        <p:nvSpPr>
          <p:cNvPr id="109" name="text-256"/>
          <p:cNvSpPr txBox="1"/>
          <p:nvPr/>
        </p:nvSpPr>
        <p:spPr>
          <a:xfrm>
            <a:off x="566928" y="4864608"/>
            <a:ext cx="822960" cy="201168"/>
          </a:xfrm>
          <a:prstGeom prst="rect">
            <a:avLst/>
          </a:prstGeom>
          <a:noFill/>
          <a:ln/>
        </p:spPr>
        <p:txBody>
          <a:bodyPr wrap="square" lIns="0" tIns="0" rIns="0" bIns="0" rtlCol="0" anchor="t"/>
          <a:lstStyle/>
          <a:p>
            <a:pPr algn="ctr" indent="0" marL="0">
              <a:buNone/>
            </a:pPr>
            <a:r>
              <a:rPr lang="en-US" sz="800" b="1" dirty="0">
                <a:solidFill>
                  <a:schemeClr val="accent1"/>
                </a:solidFill>
                <a:latin typeface="Calibri" pitchFamily="34" charset="0"/>
                <a:ea typeface="Calibri" pitchFamily="34" charset="-122"/>
                <a:cs typeface="Calibri" pitchFamily="34" charset="-120"/>
              </a:rPr>
              <a:t>TIE-IN</a:t>
            </a:r>
            <a:endParaRPr lang="en-US" sz="800" dirty="0"/>
          </a:p>
        </p:txBody>
      </p:sp>
      <p:sp>
        <p:nvSpPr>
          <p:cNvPr id="110" name="shape-257"/>
          <p:cNvSpPr/>
          <p:nvPr/>
        </p:nvSpPr>
        <p:spPr>
          <a:xfrm>
            <a:off x="7205472" y="3310128"/>
            <a:ext cx="128016" cy="259690"/>
          </a:xfrm>
          <a:prstGeom prst="rect">
            <a:avLst/>
          </a:prstGeom>
          <a:solidFill>
            <a:schemeClr val="accent1"/>
          </a:solidFill>
          <a:ln w="7620">
            <a:solidFill>
              <a:srgbClr val="1F2326"/>
            </a:solidFill>
            <a:prstDash val="solid"/>
          </a:ln>
        </p:spPr>
      </p:sp>
      <p:sp>
        <p:nvSpPr>
          <p:cNvPr id="111" name="shape-258"/>
          <p:cNvSpPr/>
          <p:nvPr/>
        </p:nvSpPr>
        <p:spPr>
          <a:xfrm>
            <a:off x="7205472" y="3569818"/>
            <a:ext cx="128016" cy="259690"/>
          </a:xfrm>
          <a:prstGeom prst="rect">
            <a:avLst/>
          </a:prstGeom>
          <a:solidFill>
            <a:srgbClr val="FFFFFF"/>
          </a:solidFill>
          <a:ln w="7620">
            <a:solidFill>
              <a:srgbClr val="1F2326"/>
            </a:solidFill>
            <a:prstDash val="solid"/>
          </a:ln>
        </p:spPr>
      </p:sp>
      <p:sp>
        <p:nvSpPr>
          <p:cNvPr id="112" name="shape-259"/>
          <p:cNvSpPr/>
          <p:nvPr/>
        </p:nvSpPr>
        <p:spPr>
          <a:xfrm>
            <a:off x="7205472" y="3829507"/>
            <a:ext cx="128016" cy="259690"/>
          </a:xfrm>
          <a:prstGeom prst="rect">
            <a:avLst/>
          </a:prstGeom>
          <a:solidFill>
            <a:schemeClr val="accent1"/>
          </a:solidFill>
          <a:ln w="7620">
            <a:solidFill>
              <a:srgbClr val="1F2326"/>
            </a:solidFill>
            <a:prstDash val="solid"/>
          </a:ln>
        </p:spPr>
      </p:sp>
      <p:sp>
        <p:nvSpPr>
          <p:cNvPr id="113" name="shape-260"/>
          <p:cNvSpPr/>
          <p:nvPr/>
        </p:nvSpPr>
        <p:spPr>
          <a:xfrm>
            <a:off x="7205472" y="4089197"/>
            <a:ext cx="128016" cy="259690"/>
          </a:xfrm>
          <a:prstGeom prst="rect">
            <a:avLst/>
          </a:prstGeom>
          <a:solidFill>
            <a:srgbClr val="FFFFFF"/>
          </a:solidFill>
          <a:ln w="7620">
            <a:solidFill>
              <a:srgbClr val="1F2326"/>
            </a:solidFill>
            <a:prstDash val="solid"/>
          </a:ln>
        </p:spPr>
      </p:sp>
      <p:sp>
        <p:nvSpPr>
          <p:cNvPr id="114" name="shape-261"/>
          <p:cNvSpPr/>
          <p:nvPr/>
        </p:nvSpPr>
        <p:spPr>
          <a:xfrm>
            <a:off x="7205472" y="4348886"/>
            <a:ext cx="128016" cy="259690"/>
          </a:xfrm>
          <a:prstGeom prst="rect">
            <a:avLst/>
          </a:prstGeom>
          <a:solidFill>
            <a:schemeClr val="accent1"/>
          </a:solidFill>
          <a:ln w="7620">
            <a:solidFill>
              <a:srgbClr val="1F2326"/>
            </a:solidFill>
            <a:prstDash val="solid"/>
          </a:ln>
        </p:spPr>
      </p:sp>
      <p:sp>
        <p:nvSpPr>
          <p:cNvPr id="115" name="shape-262"/>
          <p:cNvSpPr/>
          <p:nvPr/>
        </p:nvSpPr>
        <p:spPr>
          <a:xfrm>
            <a:off x="914400" y="4864608"/>
            <a:ext cx="0" cy="146304"/>
          </a:xfrm>
          <a:prstGeom prst="line">
            <a:avLst/>
          </a:prstGeom>
          <a:noFill/>
          <a:ln w="9525">
            <a:solidFill>
              <a:srgbClr val="1F2326"/>
            </a:solidFill>
            <a:prstDash val="solid"/>
          </a:ln>
        </p:spPr>
      </p:sp>
      <p:sp>
        <p:nvSpPr>
          <p:cNvPr id="116" name="text-263"/>
          <p:cNvSpPr txBox="1"/>
          <p:nvPr/>
        </p:nvSpPr>
        <p:spPr>
          <a:xfrm>
            <a:off x="594360" y="5029200"/>
            <a:ext cx="640080" cy="182880"/>
          </a:xfrm>
          <a:prstGeom prst="rect">
            <a:avLst/>
          </a:prstGeom>
          <a:noFill/>
          <a:ln/>
        </p:spPr>
        <p:txBody>
          <a:bodyPr wrap="square" lIns="0" tIns="0" rIns="0" bIns="0" rtlCol="0" anchor="t"/>
          <a:lstStyle/>
          <a:p>
            <a:pPr algn="ctr" indent="0" marL="0">
              <a:buNone/>
            </a:pPr>
            <a:r>
              <a:rPr lang="en-US" sz="750" dirty="0">
                <a:solidFill>
                  <a:srgbClr val="5B6169"/>
                </a:solidFill>
                <a:latin typeface="Calibri" pitchFamily="34" charset="0"/>
                <a:ea typeface="Calibri" pitchFamily="34" charset="-122"/>
                <a:cs typeface="Calibri" pitchFamily="34" charset="-120"/>
              </a:rPr>
              <a:t>0+000</a:t>
            </a:r>
            <a:endParaRPr lang="en-US" sz="750" dirty="0"/>
          </a:p>
        </p:txBody>
      </p:sp>
      <p:sp>
        <p:nvSpPr>
          <p:cNvPr id="117" name="shape-264"/>
          <p:cNvSpPr/>
          <p:nvPr/>
        </p:nvSpPr>
        <p:spPr>
          <a:xfrm>
            <a:off x="2167128" y="4864608"/>
            <a:ext cx="0" cy="146304"/>
          </a:xfrm>
          <a:prstGeom prst="line">
            <a:avLst/>
          </a:prstGeom>
          <a:noFill/>
          <a:ln w="9525">
            <a:solidFill>
              <a:srgbClr val="1F2326"/>
            </a:solidFill>
            <a:prstDash val="solid"/>
          </a:ln>
        </p:spPr>
      </p:sp>
      <p:sp>
        <p:nvSpPr>
          <p:cNvPr id="118" name="text-265"/>
          <p:cNvSpPr txBox="1"/>
          <p:nvPr/>
        </p:nvSpPr>
        <p:spPr>
          <a:xfrm>
            <a:off x="1847088" y="5029200"/>
            <a:ext cx="640080" cy="182880"/>
          </a:xfrm>
          <a:prstGeom prst="rect">
            <a:avLst/>
          </a:prstGeom>
          <a:noFill/>
          <a:ln/>
        </p:spPr>
        <p:txBody>
          <a:bodyPr wrap="square" lIns="0" tIns="0" rIns="0" bIns="0" rtlCol="0" anchor="t"/>
          <a:lstStyle/>
          <a:p>
            <a:pPr algn="ctr" indent="0" marL="0">
              <a:buNone/>
            </a:pPr>
            <a:r>
              <a:rPr lang="en-US" sz="750" dirty="0">
                <a:solidFill>
                  <a:srgbClr val="5B6169"/>
                </a:solidFill>
                <a:latin typeface="Calibri" pitchFamily="34" charset="0"/>
                <a:ea typeface="Calibri" pitchFamily="34" charset="-122"/>
                <a:cs typeface="Calibri" pitchFamily="34" charset="-120"/>
              </a:rPr>
              <a:t>0+020</a:t>
            </a:r>
            <a:endParaRPr lang="en-US" sz="750" dirty="0"/>
          </a:p>
        </p:txBody>
      </p:sp>
      <p:sp>
        <p:nvSpPr>
          <p:cNvPr id="119" name="shape-266"/>
          <p:cNvSpPr/>
          <p:nvPr/>
        </p:nvSpPr>
        <p:spPr>
          <a:xfrm>
            <a:off x="3419856" y="4864608"/>
            <a:ext cx="0" cy="146304"/>
          </a:xfrm>
          <a:prstGeom prst="line">
            <a:avLst/>
          </a:prstGeom>
          <a:noFill/>
          <a:ln w="9525">
            <a:solidFill>
              <a:srgbClr val="1F2326"/>
            </a:solidFill>
            <a:prstDash val="solid"/>
          </a:ln>
        </p:spPr>
      </p:sp>
      <p:sp>
        <p:nvSpPr>
          <p:cNvPr id="120" name="text-267"/>
          <p:cNvSpPr txBox="1"/>
          <p:nvPr/>
        </p:nvSpPr>
        <p:spPr>
          <a:xfrm>
            <a:off x="3099816" y="5029200"/>
            <a:ext cx="640080" cy="182880"/>
          </a:xfrm>
          <a:prstGeom prst="rect">
            <a:avLst/>
          </a:prstGeom>
          <a:noFill/>
          <a:ln/>
        </p:spPr>
        <p:txBody>
          <a:bodyPr wrap="square" lIns="0" tIns="0" rIns="0" bIns="0" rtlCol="0" anchor="t"/>
          <a:lstStyle/>
          <a:p>
            <a:pPr algn="ctr" indent="0" marL="0">
              <a:buNone/>
            </a:pPr>
            <a:r>
              <a:rPr lang="en-US" sz="750" dirty="0">
                <a:solidFill>
                  <a:srgbClr val="5B6169"/>
                </a:solidFill>
                <a:latin typeface="Calibri" pitchFamily="34" charset="0"/>
                <a:ea typeface="Calibri" pitchFamily="34" charset="-122"/>
                <a:cs typeface="Calibri" pitchFamily="34" charset="-120"/>
              </a:rPr>
              <a:t>0+040</a:t>
            </a:r>
            <a:endParaRPr lang="en-US" sz="750" dirty="0"/>
          </a:p>
        </p:txBody>
      </p:sp>
      <p:sp>
        <p:nvSpPr>
          <p:cNvPr id="121" name="shape-268"/>
          <p:cNvSpPr/>
          <p:nvPr/>
        </p:nvSpPr>
        <p:spPr>
          <a:xfrm>
            <a:off x="4672584" y="4864608"/>
            <a:ext cx="0" cy="146304"/>
          </a:xfrm>
          <a:prstGeom prst="line">
            <a:avLst/>
          </a:prstGeom>
          <a:noFill/>
          <a:ln w="9525">
            <a:solidFill>
              <a:srgbClr val="1F2326"/>
            </a:solidFill>
            <a:prstDash val="solid"/>
          </a:ln>
        </p:spPr>
      </p:sp>
      <p:sp>
        <p:nvSpPr>
          <p:cNvPr id="122" name="text-269"/>
          <p:cNvSpPr txBox="1"/>
          <p:nvPr/>
        </p:nvSpPr>
        <p:spPr>
          <a:xfrm>
            <a:off x="4352544" y="5029200"/>
            <a:ext cx="640080" cy="182880"/>
          </a:xfrm>
          <a:prstGeom prst="rect">
            <a:avLst/>
          </a:prstGeom>
          <a:noFill/>
          <a:ln/>
        </p:spPr>
        <p:txBody>
          <a:bodyPr wrap="square" lIns="0" tIns="0" rIns="0" bIns="0" rtlCol="0" anchor="t"/>
          <a:lstStyle/>
          <a:p>
            <a:pPr algn="ctr" indent="0" marL="0">
              <a:buNone/>
            </a:pPr>
            <a:r>
              <a:rPr lang="en-US" sz="750" dirty="0">
                <a:solidFill>
                  <a:srgbClr val="5B6169"/>
                </a:solidFill>
                <a:latin typeface="Calibri" pitchFamily="34" charset="0"/>
                <a:ea typeface="Calibri" pitchFamily="34" charset="-122"/>
                <a:cs typeface="Calibri" pitchFamily="34" charset="-120"/>
              </a:rPr>
              <a:t>0+060</a:t>
            </a:r>
            <a:endParaRPr lang="en-US" sz="750" dirty="0"/>
          </a:p>
        </p:txBody>
      </p:sp>
      <p:sp>
        <p:nvSpPr>
          <p:cNvPr id="123" name="shape-270"/>
          <p:cNvSpPr/>
          <p:nvPr/>
        </p:nvSpPr>
        <p:spPr>
          <a:xfrm>
            <a:off x="5925312" y="4864608"/>
            <a:ext cx="0" cy="146304"/>
          </a:xfrm>
          <a:prstGeom prst="line">
            <a:avLst/>
          </a:prstGeom>
          <a:noFill/>
          <a:ln w="9525">
            <a:solidFill>
              <a:srgbClr val="1F2326"/>
            </a:solidFill>
            <a:prstDash val="solid"/>
          </a:ln>
        </p:spPr>
      </p:sp>
      <p:sp>
        <p:nvSpPr>
          <p:cNvPr id="124" name="text-271"/>
          <p:cNvSpPr txBox="1"/>
          <p:nvPr/>
        </p:nvSpPr>
        <p:spPr>
          <a:xfrm>
            <a:off x="5605272" y="5029200"/>
            <a:ext cx="640080" cy="182880"/>
          </a:xfrm>
          <a:prstGeom prst="rect">
            <a:avLst/>
          </a:prstGeom>
          <a:noFill/>
          <a:ln/>
        </p:spPr>
        <p:txBody>
          <a:bodyPr wrap="square" lIns="0" tIns="0" rIns="0" bIns="0" rtlCol="0" anchor="t"/>
          <a:lstStyle/>
          <a:p>
            <a:pPr algn="ctr" indent="0" marL="0">
              <a:buNone/>
            </a:pPr>
            <a:r>
              <a:rPr lang="en-US" sz="750" dirty="0">
                <a:solidFill>
                  <a:srgbClr val="5B6169"/>
                </a:solidFill>
                <a:latin typeface="Calibri" pitchFamily="34" charset="0"/>
                <a:ea typeface="Calibri" pitchFamily="34" charset="-122"/>
                <a:cs typeface="Calibri" pitchFamily="34" charset="-120"/>
              </a:rPr>
              <a:t>0+080</a:t>
            </a:r>
            <a:endParaRPr lang="en-US" sz="750" dirty="0"/>
          </a:p>
        </p:txBody>
      </p:sp>
      <p:sp>
        <p:nvSpPr>
          <p:cNvPr id="125" name="shape-272"/>
          <p:cNvSpPr/>
          <p:nvPr/>
        </p:nvSpPr>
        <p:spPr>
          <a:xfrm>
            <a:off x="7178040" y="4864608"/>
            <a:ext cx="0" cy="146304"/>
          </a:xfrm>
          <a:prstGeom prst="line">
            <a:avLst/>
          </a:prstGeom>
          <a:noFill/>
          <a:ln w="9525">
            <a:solidFill>
              <a:srgbClr val="1F2326"/>
            </a:solidFill>
            <a:prstDash val="solid"/>
          </a:ln>
        </p:spPr>
      </p:sp>
      <p:sp>
        <p:nvSpPr>
          <p:cNvPr id="126" name="text-273"/>
          <p:cNvSpPr txBox="1"/>
          <p:nvPr/>
        </p:nvSpPr>
        <p:spPr>
          <a:xfrm>
            <a:off x="6858000" y="5029200"/>
            <a:ext cx="640080" cy="182880"/>
          </a:xfrm>
          <a:prstGeom prst="rect">
            <a:avLst/>
          </a:prstGeom>
          <a:noFill/>
          <a:ln/>
        </p:spPr>
        <p:txBody>
          <a:bodyPr wrap="square" lIns="0" tIns="0" rIns="0" bIns="0" rtlCol="0" anchor="t"/>
          <a:lstStyle/>
          <a:p>
            <a:pPr algn="ctr" indent="0" marL="0">
              <a:buNone/>
            </a:pPr>
            <a:r>
              <a:rPr lang="en-US" sz="750" dirty="0">
                <a:solidFill>
                  <a:srgbClr val="5B6169"/>
                </a:solidFill>
                <a:latin typeface="Calibri" pitchFamily="34" charset="0"/>
                <a:ea typeface="Calibri" pitchFamily="34" charset="-122"/>
                <a:cs typeface="Calibri" pitchFamily="34" charset="-120"/>
              </a:rPr>
              <a:t>0+100</a:t>
            </a:r>
            <a:endParaRPr lang="en-US" sz="750" dirty="0"/>
          </a:p>
        </p:txBody>
      </p:sp>
      <p:sp>
        <p:nvSpPr>
          <p:cNvPr id="127" name="shape-274"/>
          <p:cNvSpPr/>
          <p:nvPr/>
        </p:nvSpPr>
        <p:spPr>
          <a:xfrm>
            <a:off x="1325880" y="2331720"/>
            <a:ext cx="502920" cy="502920"/>
          </a:xfrm>
          <a:prstGeom prst="ellipse">
            <a:avLst/>
          </a:prstGeom>
          <a:solidFill>
            <a:schemeClr val="accent1"/>
          </a:solidFill>
          <a:ln w="6350">
            <a:solidFill>
              <a:srgbClr val="1F2326"/>
            </a:solidFill>
            <a:prstDash val="solid"/>
          </a:ln>
        </p:spPr>
      </p:sp>
      <p:sp>
        <p:nvSpPr>
          <p:cNvPr id="128" name="shape-275"/>
          <p:cNvSpPr/>
          <p:nvPr/>
        </p:nvSpPr>
        <p:spPr>
          <a:xfrm>
            <a:off x="1401318" y="2407158"/>
            <a:ext cx="352044" cy="352044"/>
          </a:xfrm>
          <a:prstGeom prst="ellipse">
            <a:avLst/>
          </a:prstGeom>
          <a:solidFill>
            <a:srgbClr val="FFFFFF"/>
          </a:solidFill>
          <a:ln/>
        </p:spPr>
      </p:sp>
      <p:sp>
        <p:nvSpPr>
          <p:cNvPr id="129" name="text-276"/>
          <p:cNvSpPr txBox="1"/>
          <p:nvPr/>
        </p:nvSpPr>
        <p:spPr>
          <a:xfrm>
            <a:off x="1325880" y="2331720"/>
            <a:ext cx="502920" cy="502920"/>
          </a:xfrm>
          <a:prstGeom prst="rect">
            <a:avLst/>
          </a:prstGeom>
          <a:noFill/>
          <a:ln/>
        </p:spPr>
        <p:txBody>
          <a:bodyPr wrap="square" lIns="0" tIns="0" rIns="0" bIns="0" rtlCol="0" anchor="ctr"/>
          <a:lstStyle/>
          <a:p>
            <a:pPr algn="ctr" indent="0" marL="0">
              <a:buNone/>
            </a:pPr>
            <a:r>
              <a:rPr lang="en-US" sz="1300" b="1" dirty="0">
                <a:solidFill>
                  <a:srgbClr val="1F2326"/>
                </a:solidFill>
                <a:latin typeface="Arial" pitchFamily="34" charset="0"/>
                <a:ea typeface="Arial" pitchFamily="34" charset="-122"/>
                <a:cs typeface="Arial" pitchFamily="34" charset="-120"/>
              </a:rPr>
              <a:t>30</a:t>
            </a:r>
            <a:endParaRPr lang="en-US" sz="1300" dirty="0"/>
          </a:p>
        </p:txBody>
      </p:sp>
      <p:sp>
        <p:nvSpPr>
          <p:cNvPr id="130" name="shape-277"/>
          <p:cNvSpPr/>
          <p:nvPr/>
        </p:nvSpPr>
        <p:spPr>
          <a:xfrm>
            <a:off x="5806440" y="2331720"/>
            <a:ext cx="457200" cy="457200"/>
          </a:xfrm>
          <a:prstGeom prst="octagon">
            <a:avLst/>
          </a:prstGeom>
          <a:solidFill>
            <a:schemeClr val="accent1"/>
          </a:solidFill>
          <a:ln w="19050">
            <a:solidFill>
              <a:srgbClr val="FFFFFF"/>
            </a:solidFill>
            <a:prstDash val="solid"/>
          </a:ln>
        </p:spPr>
      </p:sp>
      <p:sp>
        <p:nvSpPr>
          <p:cNvPr id="131" name="text-278"/>
          <p:cNvSpPr txBox="1"/>
          <p:nvPr/>
        </p:nvSpPr>
        <p:spPr>
          <a:xfrm>
            <a:off x="5806440" y="2331720"/>
            <a:ext cx="45720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STOP</a:t>
            </a:r>
            <a:endParaRPr lang="en-US" sz="800" dirty="0"/>
          </a:p>
        </p:txBody>
      </p:sp>
      <p:sp>
        <p:nvSpPr>
          <p:cNvPr id="132" name="shape-279"/>
          <p:cNvSpPr/>
          <p:nvPr/>
        </p:nvSpPr>
        <p:spPr>
          <a:xfrm>
            <a:off x="2148840" y="2331720"/>
            <a:ext cx="548640" cy="482803"/>
          </a:xfrm>
          <a:prstGeom prst="triangle">
            <a:avLst/>
          </a:prstGeom>
          <a:solidFill>
            <a:schemeClr val="accent1"/>
          </a:solidFill>
          <a:ln w="6350">
            <a:solidFill>
              <a:srgbClr val="1F2326"/>
            </a:solidFill>
            <a:prstDash val="solid"/>
          </a:ln>
        </p:spPr>
      </p:sp>
      <p:sp>
        <p:nvSpPr>
          <p:cNvPr id="133" name="shape-280"/>
          <p:cNvSpPr/>
          <p:nvPr/>
        </p:nvSpPr>
        <p:spPr>
          <a:xfrm>
            <a:off x="2242109" y="2462077"/>
            <a:ext cx="362102" cy="299338"/>
          </a:xfrm>
          <a:prstGeom prst="triangle">
            <a:avLst/>
          </a:prstGeom>
          <a:solidFill>
            <a:schemeClr val="accent2"/>
          </a:solidFill>
          <a:ln/>
        </p:spPr>
      </p:sp>
      <p:sp>
        <p:nvSpPr>
          <p:cNvPr id="134" name="text-281"/>
          <p:cNvSpPr txBox="1"/>
          <p:nvPr/>
        </p:nvSpPr>
        <p:spPr>
          <a:xfrm>
            <a:off x="2148840" y="2534497"/>
            <a:ext cx="548640" cy="241402"/>
          </a:xfrm>
          <a:prstGeom prst="rect">
            <a:avLst/>
          </a:prstGeom>
          <a:noFill/>
          <a:ln/>
        </p:spPr>
        <p:txBody>
          <a:bodyPr wrap="square" lIns="0" tIns="0" rIns="0" bIns="0" rtlCol="0" anchor="ctr"/>
          <a:lstStyle/>
          <a:p>
            <a:pPr algn="ctr" indent="0" marL="0">
              <a:buNone/>
            </a:pPr>
            <a:r>
              <a:rPr lang="en-US" sz="1300" b="1" dirty="0">
                <a:solidFill>
                  <a:srgbClr val="1F2326"/>
                </a:solidFill>
                <a:latin typeface="Arial" pitchFamily="34" charset="0"/>
                <a:ea typeface="Arial" pitchFamily="34" charset="-122"/>
                <a:cs typeface="Arial" pitchFamily="34" charset="-120"/>
              </a:rPr>
              <a:t>!</a:t>
            </a:r>
            <a:endParaRPr lang="en-US" sz="1300" dirty="0"/>
          </a:p>
        </p:txBody>
      </p:sp>
      <p:sp>
        <p:nvSpPr>
          <p:cNvPr id="135" name="text-282"/>
          <p:cNvSpPr txBox="1"/>
          <p:nvPr/>
        </p:nvSpPr>
        <p:spPr>
          <a:xfrm>
            <a:off x="1188720" y="2852928"/>
            <a:ext cx="777240" cy="182880"/>
          </a:xfrm>
          <a:prstGeom prst="rect">
            <a:avLst/>
          </a:prstGeom>
          <a:noFill/>
          <a:ln/>
        </p:spPr>
        <p:txBody>
          <a:bodyPr wrap="square" lIns="0" tIns="0" rIns="0" bIns="0" rtlCol="0" anchor="t"/>
          <a:lstStyle/>
          <a:p>
            <a:pPr algn="ctr" indent="0" marL="0">
              <a:buNone/>
            </a:pPr>
            <a:r>
              <a:rPr lang="en-US" sz="700" b="1" dirty="0">
                <a:solidFill>
                  <a:schemeClr val="tx1"/>
                </a:solidFill>
                <a:latin typeface="Calibri" pitchFamily="34" charset="0"/>
                <a:ea typeface="Calibri" pitchFamily="34" charset="-122"/>
                <a:cs typeface="Calibri" pitchFamily="34" charset="-120"/>
              </a:rPr>
              <a:t>SG-01</a:t>
            </a:r>
            <a:endParaRPr lang="en-US" sz="700" dirty="0"/>
          </a:p>
        </p:txBody>
      </p:sp>
      <p:sp>
        <p:nvSpPr>
          <p:cNvPr id="136" name="text-283"/>
          <p:cNvSpPr txBox="1"/>
          <p:nvPr/>
        </p:nvSpPr>
        <p:spPr>
          <a:xfrm>
            <a:off x="3886200" y="2907792"/>
            <a:ext cx="502920" cy="182880"/>
          </a:xfrm>
          <a:prstGeom prst="rect">
            <a:avLst/>
          </a:prstGeom>
          <a:noFill/>
          <a:ln/>
        </p:spPr>
        <p:txBody>
          <a:bodyPr wrap="square" lIns="0" tIns="0" rIns="0" bIns="0" rtlCol="0" anchor="t"/>
          <a:lstStyle/>
          <a:p>
            <a:pPr indent="0" marL="0">
              <a:buNone/>
            </a:pPr>
            <a:r>
              <a:rPr lang="en-US" sz="800" b="1" dirty="0">
                <a:solidFill>
                  <a:schemeClr val="accent6"/>
                </a:solidFill>
                <a:latin typeface="Calibri" pitchFamily="34" charset="0"/>
                <a:ea typeface="Calibri" pitchFamily="34" charset="-122"/>
                <a:cs typeface="Calibri" pitchFamily="34" charset="-120"/>
              </a:rPr>
              <a:t>R=10</a:t>
            </a:r>
            <a:endParaRPr lang="en-US" sz="800" dirty="0"/>
          </a:p>
        </p:txBody>
      </p:sp>
      <p:sp>
        <p:nvSpPr>
          <p:cNvPr id="137" name="text-284"/>
          <p:cNvSpPr txBox="1"/>
          <p:nvPr/>
        </p:nvSpPr>
        <p:spPr>
          <a:xfrm>
            <a:off x="5623560" y="2907792"/>
            <a:ext cx="502920" cy="182880"/>
          </a:xfrm>
          <a:prstGeom prst="rect">
            <a:avLst/>
          </a:prstGeom>
          <a:noFill/>
          <a:ln/>
        </p:spPr>
        <p:txBody>
          <a:bodyPr wrap="square" lIns="0" tIns="0" rIns="0" bIns="0" rtlCol="0" anchor="t"/>
          <a:lstStyle/>
          <a:p>
            <a:pPr indent="0" marL="0">
              <a:buNone/>
            </a:pPr>
            <a:r>
              <a:rPr lang="en-US" sz="800" b="1" dirty="0">
                <a:solidFill>
                  <a:schemeClr val="accent6"/>
                </a:solidFill>
                <a:latin typeface="Calibri" pitchFamily="34" charset="0"/>
                <a:ea typeface="Calibri" pitchFamily="34" charset="-122"/>
                <a:cs typeface="Calibri" pitchFamily="34" charset="-120"/>
              </a:rPr>
              <a:t>R=10</a:t>
            </a:r>
            <a:endParaRPr lang="en-US" sz="800" dirty="0"/>
          </a:p>
        </p:txBody>
      </p:sp>
      <p:sp>
        <p:nvSpPr>
          <p:cNvPr id="138" name="text-285"/>
          <p:cNvSpPr txBox="1"/>
          <p:nvPr/>
        </p:nvSpPr>
        <p:spPr>
          <a:xfrm>
            <a:off x="4572000" y="1371600"/>
            <a:ext cx="868680" cy="201168"/>
          </a:xfrm>
          <a:prstGeom prst="rect">
            <a:avLst/>
          </a:prstGeom>
          <a:noFill/>
          <a:ln/>
        </p:spPr>
        <p:txBody>
          <a:bodyPr wrap="square" lIns="0" tIns="0" rIns="0" bIns="0" rtlCol="0" anchor="t"/>
          <a:lstStyle/>
          <a:p>
            <a:pPr algn="ctr" indent="0" marL="0">
              <a:buNone/>
            </a:pPr>
            <a:r>
              <a:rPr lang="en-US" sz="800" b="1" dirty="0">
                <a:solidFill>
                  <a:schemeClr val="tx1"/>
                </a:solidFill>
                <a:latin typeface="Calibri" pitchFamily="34" charset="0"/>
                <a:ea typeface="Calibri" pitchFamily="34" charset="-122"/>
                <a:cs typeface="Calibri" pitchFamily="34" charset="-120"/>
              </a:rPr>
              <a:t>ROAD-02</a:t>
            </a:r>
            <a:endParaRPr lang="en-US" sz="800" dirty="0"/>
          </a:p>
        </p:txBody>
      </p:sp>
      <p:sp>
        <p:nvSpPr>
          <p:cNvPr id="139" name="text-286"/>
          <p:cNvSpPr txBox="1"/>
          <p:nvPr/>
        </p:nvSpPr>
        <p:spPr>
          <a:xfrm>
            <a:off x="3108960" y="3657600"/>
            <a:ext cx="914400" cy="201168"/>
          </a:xfrm>
          <a:prstGeom prst="rect">
            <a:avLst/>
          </a:prstGeom>
          <a:noFill/>
          <a:ln/>
        </p:spPr>
        <p:txBody>
          <a:bodyPr wrap="square" lIns="0" tIns="0" rIns="0" bIns="0" rtlCol="0" anchor="t"/>
          <a:lstStyle/>
          <a:p>
            <a:pPr indent="0" marL="0">
              <a:buNone/>
            </a:pPr>
            <a:r>
              <a:rPr lang="en-US" sz="800" b="1" dirty="0">
                <a:solidFill>
                  <a:srgbClr val="FFFFFF"/>
                </a:solidFill>
                <a:latin typeface="Calibri" pitchFamily="34" charset="0"/>
                <a:ea typeface="Calibri" pitchFamily="34" charset="-122"/>
                <a:cs typeface="Calibri" pitchFamily="34" charset="-120"/>
              </a:rPr>
              <a:t>ROAD-01</a:t>
            </a:r>
            <a:endParaRPr lang="en-US" sz="800" dirty="0"/>
          </a:p>
        </p:txBody>
      </p:sp>
      <p:sp>
        <p:nvSpPr>
          <p:cNvPr id="140" name="shape-287"/>
          <p:cNvSpPr/>
          <p:nvPr/>
        </p:nvSpPr>
        <p:spPr>
          <a:xfrm>
            <a:off x="914400" y="5440680"/>
            <a:ext cx="2377440" cy="640080"/>
          </a:xfrm>
          <a:prstGeom prst="rect">
            <a:avLst/>
          </a:prstGeom>
          <a:solidFill>
            <a:srgbClr val="FFFFFF"/>
          </a:solidFill>
          <a:ln w="9525">
            <a:solidFill>
              <a:srgbClr val="DDE0E4"/>
            </a:solidFill>
            <a:prstDash val="solid"/>
          </a:ln>
        </p:spPr>
      </p:sp>
      <p:sp>
        <p:nvSpPr>
          <p:cNvPr id="141" name="shape-288"/>
          <p:cNvSpPr/>
          <p:nvPr/>
        </p:nvSpPr>
        <p:spPr>
          <a:xfrm>
            <a:off x="914400" y="5650992"/>
            <a:ext cx="2377440" cy="0"/>
          </a:xfrm>
          <a:prstGeom prst="line">
            <a:avLst/>
          </a:prstGeom>
          <a:noFill/>
          <a:ln w="6350">
            <a:solidFill>
              <a:srgbClr val="DDE0E4"/>
            </a:solidFill>
            <a:prstDash val="solid"/>
          </a:ln>
        </p:spPr>
      </p:sp>
      <p:sp>
        <p:nvSpPr>
          <p:cNvPr id="142" name="shape-289"/>
          <p:cNvSpPr/>
          <p:nvPr/>
        </p:nvSpPr>
        <p:spPr>
          <a:xfrm>
            <a:off x="914400" y="5797296"/>
            <a:ext cx="2377440" cy="0"/>
          </a:xfrm>
          <a:prstGeom prst="line">
            <a:avLst/>
          </a:prstGeom>
          <a:noFill/>
          <a:ln w="6350">
            <a:solidFill>
              <a:srgbClr val="DDE0E4"/>
            </a:solidFill>
            <a:prstDash val="solid"/>
          </a:ln>
        </p:spPr>
      </p:sp>
      <p:sp>
        <p:nvSpPr>
          <p:cNvPr id="143" name="shape-290"/>
          <p:cNvSpPr/>
          <p:nvPr/>
        </p:nvSpPr>
        <p:spPr>
          <a:xfrm>
            <a:off x="914400" y="5943600"/>
            <a:ext cx="2377440" cy="0"/>
          </a:xfrm>
          <a:prstGeom prst="line">
            <a:avLst/>
          </a:prstGeom>
          <a:noFill/>
          <a:ln w="6350">
            <a:solidFill>
              <a:srgbClr val="DDE0E4"/>
            </a:solidFill>
            <a:prstDash val="solid"/>
          </a:ln>
        </p:spPr>
      </p:sp>
      <p:sp>
        <p:nvSpPr>
          <p:cNvPr id="144" name="shape-291"/>
          <p:cNvSpPr/>
          <p:nvPr/>
        </p:nvSpPr>
        <p:spPr>
          <a:xfrm>
            <a:off x="914400" y="5440680"/>
            <a:ext cx="2377440" cy="201168"/>
          </a:xfrm>
          <a:prstGeom prst="rect">
            <a:avLst/>
          </a:prstGeom>
          <a:solidFill>
            <a:srgbClr val="1F2326"/>
          </a:solidFill>
          <a:ln/>
        </p:spPr>
      </p:sp>
      <p:sp>
        <p:nvSpPr>
          <p:cNvPr id="145" name="text-292"/>
          <p:cNvSpPr txBox="1"/>
          <p:nvPr/>
        </p:nvSpPr>
        <p:spPr>
          <a:xfrm>
            <a:off x="960120" y="5449824"/>
            <a:ext cx="2286000" cy="182880"/>
          </a:xfrm>
          <a:prstGeom prst="rect">
            <a:avLst/>
          </a:prstGeom>
          <a:noFill/>
          <a:ln/>
        </p:spPr>
        <p:txBody>
          <a:bodyPr wrap="square" lIns="0" tIns="0" rIns="0" bIns="0" rtlCol="0" anchor="t"/>
          <a:lstStyle/>
          <a:p>
            <a:pPr indent="0" marL="0">
              <a:buNone/>
            </a:pPr>
            <a:r>
              <a:rPr lang="en-US" sz="750" b="1" dirty="0">
                <a:solidFill>
                  <a:srgbClr val="FFFFFF"/>
                </a:solidFill>
                <a:latin typeface="Calibri" pitchFamily="34" charset="0"/>
                <a:ea typeface="Calibri" pitchFamily="34" charset="-122"/>
                <a:cs typeface="Calibri" pitchFamily="34" charset="-120"/>
              </a:rPr>
              <a:t>REPORT + EXCEL</a:t>
            </a:r>
            <a:endParaRPr lang="en-US" sz="750" dirty="0"/>
          </a:p>
        </p:txBody>
      </p:sp>
      <p:sp>
        <p:nvSpPr>
          <p:cNvPr id="146" name="shape-293"/>
          <p:cNvSpPr/>
          <p:nvPr/>
        </p:nvSpPr>
        <p:spPr>
          <a:xfrm>
            <a:off x="685800" y="3794760"/>
            <a:ext cx="256032" cy="256032"/>
          </a:xfrm>
          <a:prstGeom prst="ellipse">
            <a:avLst/>
          </a:prstGeom>
          <a:solidFill>
            <a:schemeClr val="tx1"/>
          </a:solidFill>
          <a:ln w="12700">
            <a:solidFill>
              <a:srgbClr val="FFFFFF"/>
            </a:solidFill>
            <a:prstDash val="solid"/>
          </a:ln>
        </p:spPr>
      </p:sp>
      <p:sp>
        <p:nvSpPr>
          <p:cNvPr id="147" name="text-294"/>
          <p:cNvSpPr txBox="1"/>
          <p:nvPr/>
        </p:nvSpPr>
        <p:spPr>
          <a:xfrm>
            <a:off x="685800" y="379476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48" name="shape-295"/>
          <p:cNvSpPr/>
          <p:nvPr/>
        </p:nvSpPr>
        <p:spPr>
          <a:xfrm>
            <a:off x="1097280" y="2971800"/>
            <a:ext cx="256032" cy="256032"/>
          </a:xfrm>
          <a:prstGeom prst="ellipse">
            <a:avLst/>
          </a:prstGeom>
          <a:solidFill>
            <a:schemeClr val="tx1"/>
          </a:solidFill>
          <a:ln w="12700">
            <a:solidFill>
              <a:srgbClr val="FFFFFF"/>
            </a:solidFill>
            <a:prstDash val="solid"/>
          </a:ln>
        </p:spPr>
      </p:sp>
      <p:sp>
        <p:nvSpPr>
          <p:cNvPr id="149" name="text-296"/>
          <p:cNvSpPr txBox="1"/>
          <p:nvPr/>
        </p:nvSpPr>
        <p:spPr>
          <a:xfrm>
            <a:off x="1097280" y="29718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50" name="shape-297"/>
          <p:cNvSpPr/>
          <p:nvPr/>
        </p:nvSpPr>
        <p:spPr>
          <a:xfrm>
            <a:off x="3657600" y="4160520"/>
            <a:ext cx="256032" cy="256032"/>
          </a:xfrm>
          <a:prstGeom prst="ellipse">
            <a:avLst/>
          </a:prstGeom>
          <a:solidFill>
            <a:schemeClr val="tx1"/>
          </a:solidFill>
          <a:ln w="12700">
            <a:solidFill>
              <a:srgbClr val="FFFFFF"/>
            </a:solidFill>
            <a:prstDash val="solid"/>
          </a:ln>
        </p:spPr>
      </p:sp>
      <p:sp>
        <p:nvSpPr>
          <p:cNvPr id="151" name="text-298"/>
          <p:cNvSpPr txBox="1"/>
          <p:nvPr/>
        </p:nvSpPr>
        <p:spPr>
          <a:xfrm>
            <a:off x="3657600" y="416052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52" name="shape-299"/>
          <p:cNvSpPr/>
          <p:nvPr/>
        </p:nvSpPr>
        <p:spPr>
          <a:xfrm>
            <a:off x="6675120" y="4526280"/>
            <a:ext cx="256032" cy="256032"/>
          </a:xfrm>
          <a:prstGeom prst="ellipse">
            <a:avLst/>
          </a:prstGeom>
          <a:solidFill>
            <a:schemeClr val="tx1"/>
          </a:solidFill>
          <a:ln w="12700">
            <a:solidFill>
              <a:srgbClr val="FFFFFF"/>
            </a:solidFill>
            <a:prstDash val="solid"/>
          </a:ln>
        </p:spPr>
      </p:sp>
      <p:sp>
        <p:nvSpPr>
          <p:cNvPr id="153" name="text-300"/>
          <p:cNvSpPr txBox="1"/>
          <p:nvPr/>
        </p:nvSpPr>
        <p:spPr>
          <a:xfrm>
            <a:off x="6675120" y="45262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54" name="shape-301"/>
          <p:cNvSpPr/>
          <p:nvPr/>
        </p:nvSpPr>
        <p:spPr>
          <a:xfrm>
            <a:off x="2697480" y="2194560"/>
            <a:ext cx="256032" cy="256032"/>
          </a:xfrm>
          <a:prstGeom prst="ellipse">
            <a:avLst/>
          </a:prstGeom>
          <a:solidFill>
            <a:schemeClr val="tx1"/>
          </a:solidFill>
          <a:ln w="12700">
            <a:solidFill>
              <a:srgbClr val="FFFFFF"/>
            </a:solidFill>
            <a:prstDash val="solid"/>
          </a:ln>
        </p:spPr>
      </p:sp>
      <p:sp>
        <p:nvSpPr>
          <p:cNvPr id="155" name="text-302"/>
          <p:cNvSpPr txBox="1"/>
          <p:nvPr/>
        </p:nvSpPr>
        <p:spPr>
          <a:xfrm>
            <a:off x="2697480" y="219456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156" name="shape-303"/>
          <p:cNvSpPr/>
          <p:nvPr/>
        </p:nvSpPr>
        <p:spPr>
          <a:xfrm>
            <a:off x="4800600" y="4206240"/>
            <a:ext cx="256032" cy="256032"/>
          </a:xfrm>
          <a:prstGeom prst="ellipse">
            <a:avLst/>
          </a:prstGeom>
          <a:solidFill>
            <a:schemeClr val="tx1"/>
          </a:solidFill>
          <a:ln w="12700">
            <a:solidFill>
              <a:srgbClr val="FFFFFF"/>
            </a:solidFill>
            <a:prstDash val="solid"/>
          </a:ln>
        </p:spPr>
      </p:sp>
      <p:sp>
        <p:nvSpPr>
          <p:cNvPr id="157" name="text-304"/>
          <p:cNvSpPr txBox="1"/>
          <p:nvPr/>
        </p:nvSpPr>
        <p:spPr>
          <a:xfrm>
            <a:off x="4800600" y="420624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158" name="shape-305"/>
          <p:cNvSpPr/>
          <p:nvPr/>
        </p:nvSpPr>
        <p:spPr>
          <a:xfrm>
            <a:off x="5001768" y="1874520"/>
            <a:ext cx="256032" cy="256032"/>
          </a:xfrm>
          <a:prstGeom prst="ellipse">
            <a:avLst/>
          </a:prstGeom>
          <a:solidFill>
            <a:schemeClr val="tx1"/>
          </a:solidFill>
          <a:ln w="12700">
            <a:solidFill>
              <a:srgbClr val="FFFFFF"/>
            </a:solidFill>
            <a:prstDash val="solid"/>
          </a:ln>
        </p:spPr>
      </p:sp>
      <p:sp>
        <p:nvSpPr>
          <p:cNvPr id="159" name="text-306"/>
          <p:cNvSpPr txBox="1"/>
          <p:nvPr/>
        </p:nvSpPr>
        <p:spPr>
          <a:xfrm>
            <a:off x="5001768" y="187452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160" name="shape-307"/>
          <p:cNvSpPr/>
          <p:nvPr/>
        </p:nvSpPr>
        <p:spPr>
          <a:xfrm>
            <a:off x="1965960" y="4983480"/>
            <a:ext cx="256032" cy="256032"/>
          </a:xfrm>
          <a:prstGeom prst="ellipse">
            <a:avLst/>
          </a:prstGeom>
          <a:solidFill>
            <a:schemeClr val="tx1"/>
          </a:solidFill>
          <a:ln w="12700">
            <a:solidFill>
              <a:srgbClr val="FFFFFF"/>
            </a:solidFill>
            <a:prstDash val="solid"/>
          </a:ln>
        </p:spPr>
      </p:sp>
      <p:sp>
        <p:nvSpPr>
          <p:cNvPr id="161" name="text-308"/>
          <p:cNvSpPr txBox="1"/>
          <p:nvPr/>
        </p:nvSpPr>
        <p:spPr>
          <a:xfrm>
            <a:off x="1965960" y="49834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162" name="shape-309"/>
          <p:cNvSpPr/>
          <p:nvPr/>
        </p:nvSpPr>
        <p:spPr>
          <a:xfrm>
            <a:off x="7315200" y="3063240"/>
            <a:ext cx="256032" cy="256032"/>
          </a:xfrm>
          <a:prstGeom prst="ellipse">
            <a:avLst/>
          </a:prstGeom>
          <a:solidFill>
            <a:schemeClr val="tx1"/>
          </a:solidFill>
          <a:ln w="12700">
            <a:solidFill>
              <a:srgbClr val="FFFFFF"/>
            </a:solidFill>
            <a:prstDash val="solid"/>
          </a:ln>
        </p:spPr>
      </p:sp>
      <p:sp>
        <p:nvSpPr>
          <p:cNvPr id="163" name="text-310"/>
          <p:cNvSpPr txBox="1"/>
          <p:nvPr/>
        </p:nvSpPr>
        <p:spPr>
          <a:xfrm>
            <a:off x="7315200" y="306324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164" name="shape-311"/>
          <p:cNvSpPr/>
          <p:nvPr/>
        </p:nvSpPr>
        <p:spPr>
          <a:xfrm>
            <a:off x="3383280" y="5440680"/>
            <a:ext cx="256032" cy="256032"/>
          </a:xfrm>
          <a:prstGeom prst="ellipse">
            <a:avLst/>
          </a:prstGeom>
          <a:solidFill>
            <a:schemeClr val="tx1"/>
          </a:solidFill>
          <a:ln w="12700">
            <a:solidFill>
              <a:srgbClr val="FFFFFF"/>
            </a:solidFill>
            <a:prstDash val="solid"/>
          </a:ln>
        </p:spPr>
      </p:sp>
      <p:sp>
        <p:nvSpPr>
          <p:cNvPr id="165" name="text-312"/>
          <p:cNvSpPr txBox="1"/>
          <p:nvPr/>
        </p:nvSpPr>
        <p:spPr>
          <a:xfrm>
            <a:off x="3383280" y="54406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166" name="shape-313"/>
          <p:cNvSpPr/>
          <p:nvPr/>
        </p:nvSpPr>
        <p:spPr>
          <a:xfrm>
            <a:off x="7818120" y="1408176"/>
            <a:ext cx="256032" cy="256032"/>
          </a:xfrm>
          <a:prstGeom prst="ellipse">
            <a:avLst/>
          </a:prstGeom>
          <a:solidFill>
            <a:schemeClr val="tx1"/>
          </a:solidFill>
          <a:ln/>
        </p:spPr>
      </p:sp>
      <p:sp>
        <p:nvSpPr>
          <p:cNvPr id="167" name="text-314"/>
          <p:cNvSpPr txBox="1"/>
          <p:nvPr/>
        </p:nvSpPr>
        <p:spPr>
          <a:xfrm>
            <a:off x="7818120" y="14081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68" name="text-315"/>
          <p:cNvSpPr txBox="1"/>
          <p:nvPr/>
        </p:nvSpPr>
        <p:spPr>
          <a:xfrm>
            <a:off x="8229600" y="1371600"/>
            <a:ext cx="3474720" cy="457200"/>
          </a:xfrm>
          <a:prstGeom prst="rect">
            <a:avLst/>
          </a:prstGeom>
          <a:noFill/>
          <a:ln/>
        </p:spPr>
        <p:txBody>
          <a:bodyPr wrap="square" lIns="0" tIns="0" rIns="0" bIns="0" rtlCol="0" anchor="t"/>
          <a:lstStyle/>
          <a:p>
            <a:pPr indent="0" marL="0">
              <a:buNone/>
            </a:pPr>
            <a:r>
              <a:rPr lang="en-US" sz="1150" b="1" dirty="0">
                <a:solidFill>
                  <a:schemeClr val="tx1"/>
                </a:solidFill>
                <a:latin typeface="Calibri" pitchFamily="34" charset="0"/>
                <a:ea typeface="Calibri" pitchFamily="34" charset="-122"/>
                <a:cs typeface="Calibri" pitchFamily="34" charset="-120"/>
              </a:rPr>
              <a:t>Tie-in or road closed end</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E / N on the tie-in line, or barricade + ROAD CLOSED board</a:t>
            </a:r>
            <a:endParaRPr lang="en-US" sz="1200" dirty="0"/>
          </a:p>
        </p:txBody>
      </p:sp>
      <p:sp>
        <p:nvSpPr>
          <p:cNvPr id="169" name="shape-316"/>
          <p:cNvSpPr/>
          <p:nvPr/>
        </p:nvSpPr>
        <p:spPr>
          <a:xfrm>
            <a:off x="7818120" y="1892808"/>
            <a:ext cx="256032" cy="256032"/>
          </a:xfrm>
          <a:prstGeom prst="ellipse">
            <a:avLst/>
          </a:prstGeom>
          <a:solidFill>
            <a:schemeClr val="tx1"/>
          </a:solidFill>
          <a:ln/>
        </p:spPr>
      </p:sp>
      <p:sp>
        <p:nvSpPr>
          <p:cNvPr id="170" name="text-317"/>
          <p:cNvSpPr txBox="1"/>
          <p:nvPr/>
        </p:nvSpPr>
        <p:spPr>
          <a:xfrm>
            <a:off x="7818120" y="189280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71" name="text-318"/>
          <p:cNvSpPr txBox="1"/>
          <p:nvPr/>
        </p:nvSpPr>
        <p:spPr>
          <a:xfrm>
            <a:off x="8229600" y="1856232"/>
            <a:ext cx="3474720" cy="457200"/>
          </a:xfrm>
          <a:prstGeom prst="rect">
            <a:avLst/>
          </a:prstGeom>
          <a:noFill/>
          <a:ln/>
        </p:spPr>
        <p:txBody>
          <a:bodyPr wrap="square" lIns="0" tIns="0" rIns="0" bIns="0" rtlCol="0" anchor="t"/>
          <a:lstStyle/>
          <a:p>
            <a:pPr indent="0" marL="0">
              <a:buNone/>
            </a:pPr>
            <a:r>
              <a:rPr lang="en-US" sz="1150" b="1" dirty="0">
                <a:solidFill>
                  <a:schemeClr val="tx1"/>
                </a:solidFill>
                <a:latin typeface="Calibri" pitchFamily="34" charset="0"/>
                <a:ea typeface="Calibri" pitchFamily="34" charset="-122"/>
                <a:cs typeface="Calibri" pitchFamily="34" charset="-120"/>
              </a:rPr>
              <a:t>Edge treatment</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Barricades, traffic cones or kerb stone, per side</a:t>
            </a:r>
            <a:endParaRPr lang="en-US" sz="1200" dirty="0"/>
          </a:p>
        </p:txBody>
      </p:sp>
      <p:sp>
        <p:nvSpPr>
          <p:cNvPr id="172" name="shape-319"/>
          <p:cNvSpPr/>
          <p:nvPr/>
        </p:nvSpPr>
        <p:spPr>
          <a:xfrm>
            <a:off x="7818120" y="2377440"/>
            <a:ext cx="256032" cy="256032"/>
          </a:xfrm>
          <a:prstGeom prst="ellipse">
            <a:avLst/>
          </a:prstGeom>
          <a:solidFill>
            <a:schemeClr val="tx1"/>
          </a:solidFill>
          <a:ln/>
        </p:spPr>
      </p:sp>
      <p:sp>
        <p:nvSpPr>
          <p:cNvPr id="173" name="text-320"/>
          <p:cNvSpPr txBox="1"/>
          <p:nvPr/>
        </p:nvSpPr>
        <p:spPr>
          <a:xfrm>
            <a:off x="7818120" y="237744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74" name="text-321"/>
          <p:cNvSpPr txBox="1"/>
          <p:nvPr/>
        </p:nvSpPr>
        <p:spPr>
          <a:xfrm>
            <a:off x="8229600" y="2340864"/>
            <a:ext cx="3474720" cy="457200"/>
          </a:xfrm>
          <a:prstGeom prst="rect">
            <a:avLst/>
          </a:prstGeom>
          <a:noFill/>
          <a:ln/>
        </p:spPr>
        <p:txBody>
          <a:bodyPr wrap="square" lIns="0" tIns="0" rIns="0" bIns="0" rtlCol="0" anchor="t"/>
          <a:lstStyle/>
          <a:p>
            <a:pPr indent="0" marL="0">
              <a:buNone/>
            </a:pPr>
            <a:r>
              <a:rPr lang="en-US" sz="1150" b="1" dirty="0">
                <a:solidFill>
                  <a:schemeClr val="tx1"/>
                </a:solidFill>
                <a:latin typeface="Calibri" pitchFamily="34" charset="0"/>
                <a:ea typeface="Calibri" pitchFamily="34" charset="-122"/>
                <a:cs typeface="Calibri" pitchFamily="34" charset="-120"/>
              </a:rPr>
              <a:t>Road surface and markings</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Hatch, white centre line, yellow L4 edge lines, arrows</a:t>
            </a:r>
            <a:endParaRPr lang="en-US" sz="1200" dirty="0"/>
          </a:p>
        </p:txBody>
      </p:sp>
      <p:sp>
        <p:nvSpPr>
          <p:cNvPr id="175" name="shape-322"/>
          <p:cNvSpPr/>
          <p:nvPr/>
        </p:nvSpPr>
        <p:spPr>
          <a:xfrm>
            <a:off x="7818120" y="2862072"/>
            <a:ext cx="256032" cy="256032"/>
          </a:xfrm>
          <a:prstGeom prst="ellipse">
            <a:avLst/>
          </a:prstGeom>
          <a:solidFill>
            <a:schemeClr val="tx1"/>
          </a:solidFill>
          <a:ln/>
        </p:spPr>
      </p:sp>
      <p:sp>
        <p:nvSpPr>
          <p:cNvPr id="176" name="text-323"/>
          <p:cNvSpPr txBox="1"/>
          <p:nvPr/>
        </p:nvSpPr>
        <p:spPr>
          <a:xfrm>
            <a:off x="781812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77" name="text-324"/>
          <p:cNvSpPr txBox="1"/>
          <p:nvPr/>
        </p:nvSpPr>
        <p:spPr>
          <a:xfrm>
            <a:off x="8229600" y="2825496"/>
            <a:ext cx="3474720" cy="457200"/>
          </a:xfrm>
          <a:prstGeom prst="rect">
            <a:avLst/>
          </a:prstGeom>
          <a:noFill/>
          <a:ln/>
        </p:spPr>
        <p:txBody>
          <a:bodyPr wrap="square" lIns="0" tIns="0" rIns="0" bIns="0" rtlCol="0" anchor="t"/>
          <a:lstStyle/>
          <a:p>
            <a:pPr indent="0" marL="0">
              <a:buNone/>
            </a:pPr>
            <a:r>
              <a:rPr lang="en-US" sz="1150" b="1" dirty="0">
                <a:solidFill>
                  <a:schemeClr val="tx1"/>
                </a:solidFill>
                <a:latin typeface="Calibri" pitchFamily="34" charset="0"/>
                <a:ea typeface="Calibri" pitchFamily="34" charset="-122"/>
                <a:cs typeface="Calibri" pitchFamily="34" charset="-120"/>
              </a:rPr>
              <a:t>Cones / kerb anywhere</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Same units, also in junction corners and RDL single lines</a:t>
            </a:r>
            <a:endParaRPr lang="en-US" sz="1200" dirty="0"/>
          </a:p>
        </p:txBody>
      </p:sp>
      <p:sp>
        <p:nvSpPr>
          <p:cNvPr id="178" name="shape-325"/>
          <p:cNvSpPr/>
          <p:nvPr/>
        </p:nvSpPr>
        <p:spPr>
          <a:xfrm>
            <a:off x="7818120" y="3346704"/>
            <a:ext cx="256032" cy="256032"/>
          </a:xfrm>
          <a:prstGeom prst="ellipse">
            <a:avLst/>
          </a:prstGeom>
          <a:solidFill>
            <a:schemeClr val="tx1"/>
          </a:solidFill>
          <a:ln/>
        </p:spPr>
      </p:sp>
      <p:sp>
        <p:nvSpPr>
          <p:cNvPr id="179" name="text-326"/>
          <p:cNvSpPr txBox="1"/>
          <p:nvPr/>
        </p:nvSpPr>
        <p:spPr>
          <a:xfrm>
            <a:off x="7818120" y="334670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180" name="text-327"/>
          <p:cNvSpPr txBox="1"/>
          <p:nvPr/>
        </p:nvSpPr>
        <p:spPr>
          <a:xfrm>
            <a:off x="8229600" y="3310128"/>
            <a:ext cx="3474720" cy="457200"/>
          </a:xfrm>
          <a:prstGeom prst="rect">
            <a:avLst/>
          </a:prstGeom>
          <a:noFill/>
          <a:ln/>
        </p:spPr>
        <p:txBody>
          <a:bodyPr wrap="square" lIns="0" tIns="0" rIns="0" bIns="0" rtlCol="0" anchor="t"/>
          <a:lstStyle/>
          <a:p>
            <a:pPr indent="0" marL="0">
              <a:buNone/>
            </a:pPr>
            <a:r>
              <a:rPr lang="en-US" sz="1150" b="1" dirty="0">
                <a:solidFill>
                  <a:schemeClr val="tx1"/>
                </a:solidFill>
                <a:latin typeface="Calibri" pitchFamily="34" charset="0"/>
                <a:ea typeface="Calibri" pitchFamily="34" charset="-122"/>
                <a:cs typeface="Calibri" pitchFamily="34" charset="-120"/>
              </a:rPr>
              <a:t>Signs with IDs</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Speed, warning, road works, STOP / GIVE WAY, sign schedule</a:t>
            </a:r>
            <a:endParaRPr lang="en-US" sz="1200" dirty="0"/>
          </a:p>
        </p:txBody>
      </p:sp>
      <p:sp>
        <p:nvSpPr>
          <p:cNvPr id="181" name="shape-328"/>
          <p:cNvSpPr/>
          <p:nvPr/>
        </p:nvSpPr>
        <p:spPr>
          <a:xfrm>
            <a:off x="7818120" y="3831336"/>
            <a:ext cx="256032" cy="256032"/>
          </a:xfrm>
          <a:prstGeom prst="ellipse">
            <a:avLst/>
          </a:prstGeom>
          <a:solidFill>
            <a:schemeClr val="tx1"/>
          </a:solidFill>
          <a:ln/>
        </p:spPr>
      </p:sp>
      <p:sp>
        <p:nvSpPr>
          <p:cNvPr id="182" name="text-329"/>
          <p:cNvSpPr txBox="1"/>
          <p:nvPr/>
        </p:nvSpPr>
        <p:spPr>
          <a:xfrm>
            <a:off x="7818120" y="38313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183" name="text-330"/>
          <p:cNvSpPr txBox="1"/>
          <p:nvPr/>
        </p:nvSpPr>
        <p:spPr>
          <a:xfrm>
            <a:off x="8229600" y="3794760"/>
            <a:ext cx="3474720" cy="457200"/>
          </a:xfrm>
          <a:prstGeom prst="rect">
            <a:avLst/>
          </a:prstGeom>
          <a:noFill/>
          <a:ln/>
        </p:spPr>
        <p:txBody>
          <a:bodyPr wrap="square" lIns="0" tIns="0" rIns="0" bIns="0" rtlCol="0" anchor="t"/>
          <a:lstStyle/>
          <a:p>
            <a:pPr indent="0" marL="0">
              <a:buNone/>
            </a:pPr>
            <a:r>
              <a:rPr lang="en-US" sz="1150" b="1" dirty="0">
                <a:solidFill>
                  <a:schemeClr val="tx1"/>
                </a:solidFill>
                <a:latin typeface="Calibri" pitchFamily="34" charset="0"/>
                <a:ea typeface="Calibri" pitchFamily="34" charset="-122"/>
                <a:cs typeface="Calibri" pitchFamily="34" charset="-120"/>
              </a:rPr>
              <a:t>Centre line + radius</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CL linetype, R, TC / CT, curve data, straights S1, S2</a:t>
            </a:r>
            <a:endParaRPr lang="en-US" sz="1200" dirty="0"/>
          </a:p>
        </p:txBody>
      </p:sp>
      <p:sp>
        <p:nvSpPr>
          <p:cNvPr id="184" name="shape-331"/>
          <p:cNvSpPr/>
          <p:nvPr/>
        </p:nvSpPr>
        <p:spPr>
          <a:xfrm>
            <a:off x="7818120" y="4315968"/>
            <a:ext cx="256032" cy="256032"/>
          </a:xfrm>
          <a:prstGeom prst="ellipse">
            <a:avLst/>
          </a:prstGeom>
          <a:solidFill>
            <a:schemeClr val="tx1"/>
          </a:solidFill>
          <a:ln/>
        </p:spPr>
      </p:sp>
      <p:sp>
        <p:nvSpPr>
          <p:cNvPr id="185" name="text-332"/>
          <p:cNvSpPr txBox="1"/>
          <p:nvPr/>
        </p:nvSpPr>
        <p:spPr>
          <a:xfrm>
            <a:off x="7818120" y="431596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186" name="text-333"/>
          <p:cNvSpPr txBox="1"/>
          <p:nvPr/>
        </p:nvSpPr>
        <p:spPr>
          <a:xfrm>
            <a:off x="8229600" y="4279392"/>
            <a:ext cx="3474720" cy="457200"/>
          </a:xfrm>
          <a:prstGeom prst="rect">
            <a:avLst/>
          </a:prstGeom>
          <a:noFill/>
          <a:ln/>
        </p:spPr>
        <p:txBody>
          <a:bodyPr wrap="square" lIns="0" tIns="0" rIns="0" bIns="0" rtlCol="0" anchor="t"/>
          <a:lstStyle/>
          <a:p>
            <a:pPr indent="0" marL="0">
              <a:buNone/>
            </a:pPr>
            <a:r>
              <a:rPr lang="en-US" sz="1150" b="1" dirty="0">
                <a:solidFill>
                  <a:schemeClr val="tx1"/>
                </a:solidFill>
                <a:latin typeface="Calibri" pitchFamily="34" charset="0"/>
                <a:ea typeface="Calibri" pitchFamily="34" charset="-122"/>
                <a:cs typeface="Calibri" pitchFamily="34" charset="-120"/>
              </a:rPr>
              <a:t>Junction (RDJ)</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Branch road, kerb returns, corner treatment, aux lane, island</a:t>
            </a:r>
            <a:endParaRPr lang="en-US" sz="1200" dirty="0"/>
          </a:p>
        </p:txBody>
      </p:sp>
      <p:sp>
        <p:nvSpPr>
          <p:cNvPr id="187" name="shape-334"/>
          <p:cNvSpPr/>
          <p:nvPr/>
        </p:nvSpPr>
        <p:spPr>
          <a:xfrm>
            <a:off x="7818120" y="4800600"/>
            <a:ext cx="256032" cy="256032"/>
          </a:xfrm>
          <a:prstGeom prst="ellipse">
            <a:avLst/>
          </a:prstGeom>
          <a:solidFill>
            <a:schemeClr val="tx1"/>
          </a:solidFill>
          <a:ln/>
        </p:spPr>
      </p:sp>
      <p:sp>
        <p:nvSpPr>
          <p:cNvPr id="188" name="text-335"/>
          <p:cNvSpPr txBox="1"/>
          <p:nvPr/>
        </p:nvSpPr>
        <p:spPr>
          <a:xfrm>
            <a:off x="7818120" y="48006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189" name="text-336"/>
          <p:cNvSpPr txBox="1"/>
          <p:nvPr/>
        </p:nvSpPr>
        <p:spPr>
          <a:xfrm>
            <a:off x="8229600" y="4764024"/>
            <a:ext cx="3474720" cy="457200"/>
          </a:xfrm>
          <a:prstGeom prst="rect">
            <a:avLst/>
          </a:prstGeom>
          <a:noFill/>
          <a:ln/>
        </p:spPr>
        <p:txBody>
          <a:bodyPr wrap="square" lIns="0" tIns="0" rIns="0" bIns="0" rtlCol="0" anchor="t"/>
          <a:lstStyle/>
          <a:p>
            <a:pPr indent="0" marL="0">
              <a:buNone/>
            </a:pPr>
            <a:r>
              <a:rPr lang="en-US" sz="1150" b="1" dirty="0">
                <a:solidFill>
                  <a:schemeClr val="tx1"/>
                </a:solidFill>
                <a:latin typeface="Calibri" pitchFamily="34" charset="0"/>
                <a:ea typeface="Calibri" pitchFamily="34" charset="-122"/>
                <a:cs typeface="Calibri" pitchFamily="34" charset="-120"/>
              </a:rPr>
              <a:t>Chainage</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Ticks and labels at your interval from your start chainage</a:t>
            </a:r>
            <a:endParaRPr lang="en-US" sz="1200" dirty="0"/>
          </a:p>
        </p:txBody>
      </p:sp>
      <p:sp>
        <p:nvSpPr>
          <p:cNvPr id="190" name="shape-337"/>
          <p:cNvSpPr/>
          <p:nvPr/>
        </p:nvSpPr>
        <p:spPr>
          <a:xfrm>
            <a:off x="7818120" y="5285232"/>
            <a:ext cx="256032" cy="256032"/>
          </a:xfrm>
          <a:prstGeom prst="ellipse">
            <a:avLst/>
          </a:prstGeom>
          <a:solidFill>
            <a:schemeClr val="tx1"/>
          </a:solidFill>
          <a:ln/>
        </p:spPr>
      </p:sp>
      <p:sp>
        <p:nvSpPr>
          <p:cNvPr id="191" name="text-338"/>
          <p:cNvSpPr txBox="1"/>
          <p:nvPr/>
        </p:nvSpPr>
        <p:spPr>
          <a:xfrm>
            <a:off x="7818120" y="52852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192" name="text-339"/>
          <p:cNvSpPr txBox="1"/>
          <p:nvPr/>
        </p:nvSpPr>
        <p:spPr>
          <a:xfrm>
            <a:off x="8229600" y="5248656"/>
            <a:ext cx="3474720" cy="457200"/>
          </a:xfrm>
          <a:prstGeom prst="rect">
            <a:avLst/>
          </a:prstGeom>
          <a:noFill/>
          <a:ln/>
        </p:spPr>
        <p:txBody>
          <a:bodyPr wrap="square" lIns="0" tIns="0" rIns="0" bIns="0" rtlCol="0" anchor="t"/>
          <a:lstStyle/>
          <a:p>
            <a:pPr indent="0" marL="0">
              <a:buNone/>
            </a:pPr>
            <a:r>
              <a:rPr lang="en-US" sz="1150" b="1" dirty="0">
                <a:solidFill>
                  <a:schemeClr val="tx1"/>
                </a:solidFill>
                <a:latin typeface="Calibri" pitchFamily="34" charset="0"/>
                <a:ea typeface="Calibri" pitchFamily="34" charset="-122"/>
                <a:cs typeface="Calibri" pitchFamily="34" charset="-120"/>
              </a:rPr>
              <a:t>Widening and taper</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RDW extra lane, RDT width change, treatment follows</a:t>
            </a:r>
            <a:endParaRPr lang="en-US" sz="1200" dirty="0"/>
          </a:p>
        </p:txBody>
      </p:sp>
      <p:sp>
        <p:nvSpPr>
          <p:cNvPr id="193" name="shape-340"/>
          <p:cNvSpPr/>
          <p:nvPr/>
        </p:nvSpPr>
        <p:spPr>
          <a:xfrm>
            <a:off x="7818120" y="5769864"/>
            <a:ext cx="256032" cy="256032"/>
          </a:xfrm>
          <a:prstGeom prst="ellipse">
            <a:avLst/>
          </a:prstGeom>
          <a:solidFill>
            <a:schemeClr val="tx1"/>
          </a:solidFill>
          <a:ln/>
        </p:spPr>
      </p:sp>
      <p:sp>
        <p:nvSpPr>
          <p:cNvPr id="194" name="text-341"/>
          <p:cNvSpPr txBox="1"/>
          <p:nvPr/>
        </p:nvSpPr>
        <p:spPr>
          <a:xfrm>
            <a:off x="7818120" y="57698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195" name="text-342"/>
          <p:cNvSpPr txBox="1"/>
          <p:nvPr/>
        </p:nvSpPr>
        <p:spPr>
          <a:xfrm>
            <a:off x="8229600" y="5733288"/>
            <a:ext cx="3474720" cy="457200"/>
          </a:xfrm>
          <a:prstGeom prst="rect">
            <a:avLst/>
          </a:prstGeom>
          <a:noFill/>
          <a:ln/>
        </p:spPr>
        <p:txBody>
          <a:bodyPr wrap="square" lIns="0" tIns="0" rIns="0" bIns="0" rtlCol="0" anchor="t"/>
          <a:lstStyle/>
          <a:p>
            <a:pPr indent="0" marL="0">
              <a:buNone/>
            </a:pPr>
            <a:r>
              <a:rPr lang="en-US" sz="1150" b="1" dirty="0">
                <a:solidFill>
                  <a:schemeClr val="tx1"/>
                </a:solidFill>
                <a:latin typeface="Calibri" pitchFamily="34" charset="0"/>
                <a:ea typeface="Calibri" pitchFamily="34" charset="-122"/>
                <a:cs typeface="Calibri" pitchFamily="34" charset="-120"/>
              </a:rPr>
              <a:t>Report</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Quantities, setting-out E / N, sign schedule, Excel file</a:t>
            </a:r>
            <a:endParaRPr lang="en-US" sz="120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A  ·  GETTING STARTED</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What is new in version 3.4</a:t>
            </a:r>
            <a:endParaRPr lang="en-US" sz="2600" dirty="0"/>
          </a:p>
        </p:txBody>
      </p:sp>
      <p:sp>
        <p:nvSpPr>
          <p:cNvPr id="4" name="shape-343"/>
          <p:cNvSpPr/>
          <p:nvPr/>
        </p:nvSpPr>
        <p:spPr>
          <a:xfrm>
            <a:off x="502920" y="1371600"/>
            <a:ext cx="2670048" cy="3520440"/>
          </a:xfrm>
          <a:prstGeom prst="roundRect">
            <a:avLst>
              <a:gd name="adj" fmla="val 2740"/>
            </a:avLst>
          </a:prstGeom>
          <a:solidFill>
            <a:srgbClr val="F4F5F7"/>
          </a:solidFill>
          <a:ln w="9525">
            <a:solidFill>
              <a:srgbClr val="E3E5E8"/>
            </a:solidFill>
            <a:prstDash val="solid"/>
          </a:ln>
        </p:spPr>
      </p:sp>
      <p:sp>
        <p:nvSpPr>
          <p:cNvPr id="5" name="shape-344"/>
          <p:cNvSpPr/>
          <p:nvPr/>
        </p:nvSpPr>
        <p:spPr>
          <a:xfrm>
            <a:off x="667512" y="1554480"/>
            <a:ext cx="1371600" cy="274320"/>
          </a:xfrm>
          <a:prstGeom prst="roundRect">
            <a:avLst>
              <a:gd name="adj" fmla="val 13333"/>
            </a:avLst>
          </a:prstGeom>
          <a:solidFill>
            <a:schemeClr val="accent2"/>
          </a:solidFill>
          <a:ln/>
        </p:spPr>
      </p:sp>
      <p:sp>
        <p:nvSpPr>
          <p:cNvPr id="6" name="text-345"/>
          <p:cNvSpPr txBox="1"/>
          <p:nvPr/>
        </p:nvSpPr>
        <p:spPr>
          <a:xfrm>
            <a:off x="667512" y="1554480"/>
            <a:ext cx="1371600" cy="274320"/>
          </a:xfrm>
          <a:prstGeom prst="rect">
            <a:avLst/>
          </a:prstGeom>
          <a:noFill/>
          <a:ln/>
        </p:spPr>
        <p:txBody>
          <a:bodyPr wrap="square" lIns="0" tIns="0" rIns="0" bIns="0" rtlCol="0" anchor="ctr"/>
          <a:lstStyle/>
          <a:p>
            <a:pPr algn="ctr" indent="0" marL="0">
              <a:buNone/>
            </a:pPr>
            <a:r>
              <a:rPr lang="en-US" sz="900" b="1" dirty="0">
                <a:solidFill>
                  <a:srgbClr val="1F2326"/>
                </a:solidFill>
                <a:latin typeface="Calibri" pitchFamily="34" charset="0"/>
                <a:ea typeface="Calibri" pitchFamily="34" charset="-122"/>
                <a:cs typeface="Calibri" pitchFamily="34" charset="-120"/>
              </a:rPr>
              <a:t>RDP  ·  RDC</a:t>
            </a:r>
            <a:endParaRPr lang="en-US" sz="900" dirty="0"/>
          </a:p>
        </p:txBody>
      </p:sp>
      <p:sp>
        <p:nvSpPr>
          <p:cNvPr id="7" name="text-346"/>
          <p:cNvSpPr txBox="1"/>
          <p:nvPr/>
        </p:nvSpPr>
        <p:spPr>
          <a:xfrm>
            <a:off x="667512" y="1965960"/>
            <a:ext cx="2340864" cy="566928"/>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Corridor</a:t>
            </a:r>
            <a:endParaRPr lang="en-US" sz="1500" dirty="0"/>
          </a:p>
        </p:txBody>
      </p:sp>
      <p:sp>
        <p:nvSpPr>
          <p:cNvPr id="8" name="text-347"/>
          <p:cNvSpPr txBox="1"/>
          <p:nvPr/>
        </p:nvSpPr>
        <p:spPr>
          <a:xfrm>
            <a:off x="667512" y="2606040"/>
            <a:ext cx="2340864" cy="2194560"/>
          </a:xfrm>
          <a:prstGeom prst="rect">
            <a:avLst/>
          </a:prstGeom>
          <a:noFill/>
          <a:ln/>
        </p:spPr>
        <p:txBody>
          <a:bodyPr wrap="square" lIns="0" tIns="0" rIns="0" bIns="0" rtlCol="0" anchor="t"/>
          <a:lstStyle/>
          <a:p>
            <a:pPr indent="0" marL="0">
              <a:buNone/>
            </a:pPr>
            <a:r>
              <a:rPr lang="en-US" sz="1150" dirty="0">
                <a:solidFill>
                  <a:srgbClr val="3A3F45"/>
                </a:solidFill>
                <a:latin typeface="Calibri" pitchFamily="34" charset="0"/>
                <a:ea typeface="Calibri" pitchFamily="34" charset="-122"/>
                <a:cs typeface="Calibri" pitchFamily="34" charset="-120"/>
              </a:rPr>
              <a:t>Lanes (from width, manual or automatic), single or dual carriageway, flush or raised median, sidewalks left / right, walkways, drains and utility corridor (provisions). Slides 38 – 42.</a:t>
            </a:r>
            <a:endParaRPr lang="en-US" sz="1150" dirty="0"/>
          </a:p>
        </p:txBody>
      </p:sp>
      <p:sp>
        <p:nvSpPr>
          <p:cNvPr id="9" name="shape-348"/>
          <p:cNvSpPr/>
          <p:nvPr/>
        </p:nvSpPr>
        <p:spPr>
          <a:xfrm>
            <a:off x="3319272" y="1371600"/>
            <a:ext cx="2670048" cy="3520440"/>
          </a:xfrm>
          <a:prstGeom prst="roundRect">
            <a:avLst>
              <a:gd name="adj" fmla="val 2740"/>
            </a:avLst>
          </a:prstGeom>
          <a:solidFill>
            <a:srgbClr val="F4F5F7"/>
          </a:solidFill>
          <a:ln w="9525">
            <a:solidFill>
              <a:srgbClr val="E3E5E8"/>
            </a:solidFill>
            <a:prstDash val="solid"/>
          </a:ln>
        </p:spPr>
      </p:sp>
      <p:sp>
        <p:nvSpPr>
          <p:cNvPr id="10" name="shape-349"/>
          <p:cNvSpPr/>
          <p:nvPr/>
        </p:nvSpPr>
        <p:spPr>
          <a:xfrm>
            <a:off x="3483864" y="1554480"/>
            <a:ext cx="1371600" cy="274320"/>
          </a:xfrm>
          <a:prstGeom prst="roundRect">
            <a:avLst>
              <a:gd name="adj" fmla="val 13333"/>
            </a:avLst>
          </a:prstGeom>
          <a:solidFill>
            <a:schemeClr val="accent1"/>
          </a:solidFill>
          <a:ln/>
        </p:spPr>
      </p:sp>
      <p:sp>
        <p:nvSpPr>
          <p:cNvPr id="11" name="text-350"/>
          <p:cNvSpPr txBox="1"/>
          <p:nvPr/>
        </p:nvSpPr>
        <p:spPr>
          <a:xfrm>
            <a:off x="3483864" y="1554480"/>
            <a:ext cx="13716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RP_PAVER</a:t>
            </a:r>
            <a:endParaRPr lang="en-US" sz="900" dirty="0"/>
          </a:p>
        </p:txBody>
      </p:sp>
      <p:sp>
        <p:nvSpPr>
          <p:cNvPr id="12" name="text-351"/>
          <p:cNvSpPr txBox="1"/>
          <p:nvPr/>
        </p:nvSpPr>
        <p:spPr>
          <a:xfrm>
            <a:off x="3483864" y="1965960"/>
            <a:ext cx="2340864" cy="566928"/>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Paver hatch</a:t>
            </a:r>
            <a:endParaRPr lang="en-US" sz="1500" dirty="0"/>
          </a:p>
        </p:txBody>
      </p:sp>
      <p:sp>
        <p:nvSpPr>
          <p:cNvPr id="13" name="text-352"/>
          <p:cNvSpPr txBox="1"/>
          <p:nvPr/>
        </p:nvSpPr>
        <p:spPr>
          <a:xfrm>
            <a:off x="3483864" y="2606040"/>
            <a:ext cx="2340864" cy="2194560"/>
          </a:xfrm>
          <a:prstGeom prst="rect">
            <a:avLst/>
          </a:prstGeom>
          <a:noFill/>
          <a:ln/>
        </p:spPr>
        <p:txBody>
          <a:bodyPr wrap="square" lIns="0" tIns="0" rIns="0" bIns="0" rtlCol="0" anchor="t"/>
          <a:lstStyle/>
          <a:p>
            <a:pPr indent="0" marL="0">
              <a:buNone/>
            </a:pPr>
            <a:r>
              <a:rPr lang="en-US" sz="1150" dirty="0">
                <a:solidFill>
                  <a:srgbClr val="3A3F45"/>
                </a:solidFill>
                <a:latin typeface="Calibri" pitchFamily="34" charset="0"/>
                <a:ea typeface="Calibri" pitchFamily="34" charset="-122"/>
                <a:cs typeface="Calibri" pitchFamily="34" charset="-120"/>
              </a:rPr>
              <a:t>Interlocking I-shape paver hatch on sidewalks and walkways, turning with the road. Herringbone or any other pattern as options. Slide 43.</a:t>
            </a:r>
            <a:endParaRPr lang="en-US" sz="1150" dirty="0"/>
          </a:p>
        </p:txBody>
      </p:sp>
      <p:sp>
        <p:nvSpPr>
          <p:cNvPr id="14" name="shape-353"/>
          <p:cNvSpPr/>
          <p:nvPr/>
        </p:nvSpPr>
        <p:spPr>
          <a:xfrm>
            <a:off x="6135624" y="1371600"/>
            <a:ext cx="2670048" cy="3520440"/>
          </a:xfrm>
          <a:prstGeom prst="roundRect">
            <a:avLst>
              <a:gd name="adj" fmla="val 2740"/>
            </a:avLst>
          </a:prstGeom>
          <a:solidFill>
            <a:srgbClr val="F4F5F7"/>
          </a:solidFill>
          <a:ln w="9525">
            <a:solidFill>
              <a:srgbClr val="E3E5E8"/>
            </a:solidFill>
            <a:prstDash val="solid"/>
          </a:ln>
        </p:spPr>
      </p:sp>
      <p:sp>
        <p:nvSpPr>
          <p:cNvPr id="15" name="shape-354"/>
          <p:cNvSpPr/>
          <p:nvPr/>
        </p:nvSpPr>
        <p:spPr>
          <a:xfrm>
            <a:off x="6300216" y="1554480"/>
            <a:ext cx="1371600" cy="274320"/>
          </a:xfrm>
          <a:prstGeom prst="roundRect">
            <a:avLst>
              <a:gd name="adj" fmla="val 13333"/>
            </a:avLst>
          </a:prstGeom>
          <a:solidFill>
            <a:schemeClr val="accent1"/>
          </a:solidFill>
          <a:ln/>
        </p:spPr>
      </p:sp>
      <p:sp>
        <p:nvSpPr>
          <p:cNvPr id="16" name="text-355"/>
          <p:cNvSpPr txBox="1"/>
          <p:nvPr/>
        </p:nvSpPr>
        <p:spPr>
          <a:xfrm>
            <a:off x="6300216" y="1554480"/>
            <a:ext cx="13716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RDER  ·  RDB</a:t>
            </a:r>
            <a:endParaRPr lang="en-US" sz="900" dirty="0"/>
          </a:p>
        </p:txBody>
      </p:sp>
      <p:sp>
        <p:nvSpPr>
          <p:cNvPr id="17" name="text-356"/>
          <p:cNvSpPr txBox="1"/>
          <p:nvPr/>
        </p:nvSpPr>
        <p:spPr>
          <a:xfrm>
            <a:off x="6300216" y="1965960"/>
            <a:ext cx="2340864" cy="566928"/>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Edit radius later</a:t>
            </a:r>
            <a:endParaRPr lang="en-US" sz="1500" dirty="0"/>
          </a:p>
        </p:txBody>
      </p:sp>
      <p:sp>
        <p:nvSpPr>
          <p:cNvPr id="18" name="text-357"/>
          <p:cNvSpPr txBox="1"/>
          <p:nvPr/>
        </p:nvSpPr>
        <p:spPr>
          <a:xfrm>
            <a:off x="6300216" y="2606040"/>
            <a:ext cx="2340864" cy="2194560"/>
          </a:xfrm>
          <a:prstGeom prst="rect">
            <a:avLst/>
          </a:prstGeom>
          <a:noFill/>
          <a:ln/>
        </p:spPr>
        <p:txBody>
          <a:bodyPr wrap="square" lIns="0" tIns="0" rIns="0" bIns="0" rtlCol="0" anchor="t"/>
          <a:lstStyle/>
          <a:p>
            <a:pPr indent="0" marL="0">
              <a:buNone/>
            </a:pPr>
            <a:r>
              <a:rPr lang="en-US" sz="1150" dirty="0">
                <a:solidFill>
                  <a:srgbClr val="3A3F45"/>
                </a:solidFill>
                <a:latin typeface="Calibri" pitchFamily="34" charset="0"/>
                <a:ea typeface="Calibri" pitchFamily="34" charset="-122"/>
                <a:cs typeface="Calibri" pitchFamily="34" charset="-120"/>
              </a:rPr>
              <a:t>Change any curve radius after the road is built - the road is rebuilt with its own settings. RDB rebuilds after you edit the CL by hand. Slide 44.</a:t>
            </a:r>
            <a:endParaRPr lang="en-US" sz="1150" dirty="0"/>
          </a:p>
        </p:txBody>
      </p:sp>
      <p:sp>
        <p:nvSpPr>
          <p:cNvPr id="19" name="shape-358"/>
          <p:cNvSpPr/>
          <p:nvPr/>
        </p:nvSpPr>
        <p:spPr>
          <a:xfrm>
            <a:off x="8951976" y="1371600"/>
            <a:ext cx="2670048" cy="3520440"/>
          </a:xfrm>
          <a:prstGeom prst="roundRect">
            <a:avLst>
              <a:gd name="adj" fmla="val 2740"/>
            </a:avLst>
          </a:prstGeom>
          <a:solidFill>
            <a:srgbClr val="F4F5F7"/>
          </a:solidFill>
          <a:ln w="9525">
            <a:solidFill>
              <a:srgbClr val="E3E5E8"/>
            </a:solidFill>
            <a:prstDash val="solid"/>
          </a:ln>
        </p:spPr>
      </p:sp>
      <p:sp>
        <p:nvSpPr>
          <p:cNvPr id="20" name="shape-359"/>
          <p:cNvSpPr/>
          <p:nvPr/>
        </p:nvSpPr>
        <p:spPr>
          <a:xfrm>
            <a:off x="9116568" y="1554480"/>
            <a:ext cx="1371600" cy="274320"/>
          </a:xfrm>
          <a:prstGeom prst="roundRect">
            <a:avLst>
              <a:gd name="adj" fmla="val 13333"/>
            </a:avLst>
          </a:prstGeom>
          <a:solidFill>
            <a:schemeClr val="accent1"/>
          </a:solidFill>
          <a:ln/>
        </p:spPr>
      </p:sp>
      <p:sp>
        <p:nvSpPr>
          <p:cNvPr id="21" name="text-360"/>
          <p:cNvSpPr txBox="1"/>
          <p:nvPr/>
        </p:nvSpPr>
        <p:spPr>
          <a:xfrm>
            <a:off x="9116568" y="1554480"/>
            <a:ext cx="137160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RDLX  ·  RDLXI</a:t>
            </a:r>
            <a:endParaRPr lang="en-US" sz="900" dirty="0"/>
          </a:p>
        </p:txBody>
      </p:sp>
      <p:sp>
        <p:nvSpPr>
          <p:cNvPr id="22" name="text-361"/>
          <p:cNvSpPr txBox="1"/>
          <p:nvPr/>
        </p:nvSpPr>
        <p:spPr>
          <a:xfrm>
            <a:off x="9116568" y="1965960"/>
            <a:ext cx="2340864" cy="566928"/>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Civil 3D / LandXML</a:t>
            </a:r>
            <a:endParaRPr lang="en-US" sz="1500" dirty="0"/>
          </a:p>
        </p:txBody>
      </p:sp>
      <p:sp>
        <p:nvSpPr>
          <p:cNvPr id="23" name="text-362"/>
          <p:cNvSpPr txBox="1"/>
          <p:nvPr/>
        </p:nvSpPr>
        <p:spPr>
          <a:xfrm>
            <a:off x="9116568" y="2606040"/>
            <a:ext cx="2340864" cy="2194560"/>
          </a:xfrm>
          <a:prstGeom prst="rect">
            <a:avLst/>
          </a:prstGeom>
          <a:noFill/>
          <a:ln/>
        </p:spPr>
        <p:txBody>
          <a:bodyPr wrap="square" lIns="0" tIns="0" rIns="0" bIns="0" rtlCol="0" anchor="t"/>
          <a:lstStyle/>
          <a:p>
            <a:pPr indent="0" marL="0">
              <a:buNone/>
            </a:pPr>
            <a:r>
              <a:rPr lang="en-US" sz="1150" dirty="0">
                <a:solidFill>
                  <a:srgbClr val="3A3F45"/>
                </a:solidFill>
                <a:latin typeface="Calibri" pitchFamily="34" charset="0"/>
                <a:ea typeface="Calibri" pitchFamily="34" charset="-122"/>
                <a:cs typeface="Calibri" pitchFamily="34" charset="-120"/>
              </a:rPr>
              <a:t>Export the CL as a LandXML 1.2 alignment, import LandXML alignments, select a Civil 3D alignment in RDP, alignment checks. Slide 45.</a:t>
            </a:r>
            <a:endParaRPr lang="en-US" sz="1150" dirty="0"/>
          </a:p>
        </p:txBody>
      </p:sp>
      <p:sp>
        <p:nvSpPr>
          <p:cNvPr id="24" name="text-363"/>
          <p:cNvSpPr txBox="1"/>
          <p:nvPr/>
        </p:nvSpPr>
        <p:spPr>
          <a:xfrm>
            <a:off x="502920" y="4983480"/>
            <a:ext cx="11155680" cy="457200"/>
          </a:xfrm>
          <a:prstGeom prst="rect">
            <a:avLst/>
          </a:prstGeom>
          <a:noFill/>
          <a:ln/>
        </p:spPr>
        <p:txBody>
          <a:bodyPr wrap="square" lIns="0" tIns="0" rIns="0" bIns="0" rtlCol="0" anchor="t"/>
          <a:lstStyle/>
          <a:p>
            <a:pPr indent="0" marL="0">
              <a:buNone/>
            </a:pPr>
            <a:r>
              <a:rPr lang="en-US" sz="1050" b="1" dirty="0">
                <a:solidFill>
                  <a:srgbClr val="3A3F45"/>
                </a:solidFill>
                <a:latin typeface="Calibri" pitchFamily="34" charset="0"/>
                <a:ea typeface="Calibri" pitchFamily="34" charset="-122"/>
                <a:cs typeface="Calibri" pitchFamily="34" charset="-120"/>
              </a:rPr>
              <a:t>Also fixed / improved:  </a:t>
            </a:r>
            <a:pPr indent="0" marL="0">
              <a:buNone/>
            </a:pPr>
            <a:r>
              <a:rPr lang="en-US" sz="1050" dirty="0">
                <a:solidFill>
                  <a:srgbClr val="3A3F45"/>
                </a:solidFill>
                <a:latin typeface="Calibri" pitchFamily="34" charset="0"/>
                <a:ea typeface="Calibri" pitchFamily="34" charset="-122"/>
                <a:cs typeface="Calibri" pitchFamily="34" charset="-120"/>
              </a:rPr>
              <a:t>lane widening now moves the edge markings, the report names the real centre marking, RDL no longer prints "cancelled" after a good run, labels stay clear of sidewalks. From 3.3: RDL single line, junction corner treatment.</a:t>
            </a:r>
            <a:endParaRPr lang="en-US" sz="1050" dirty="0"/>
          </a:p>
        </p:txBody>
      </p:sp>
      <p:sp>
        <p:nvSpPr>
          <p:cNvPr id="25" name="shape-364"/>
          <p:cNvSpPr/>
          <p:nvPr/>
        </p:nvSpPr>
        <p:spPr>
          <a:xfrm>
            <a:off x="502920" y="5532120"/>
            <a:ext cx="11155680" cy="658368"/>
          </a:xfrm>
          <a:prstGeom prst="roundRect">
            <a:avLst>
              <a:gd name="adj" fmla="val 11111"/>
            </a:avLst>
          </a:prstGeom>
          <a:solidFill>
            <a:srgbClr val="FFF6D6"/>
          </a:solidFill>
          <a:ln w="9525">
            <a:solidFill>
              <a:srgbClr val="F2D27A"/>
            </a:solidFill>
            <a:prstDash val="solid"/>
          </a:ln>
        </p:spPr>
      </p:sp>
      <p:sp>
        <p:nvSpPr>
          <p:cNvPr id="26" name="text-365"/>
          <p:cNvSpPr txBox="1"/>
          <p:nvPr/>
        </p:nvSpPr>
        <p:spPr>
          <a:xfrm>
            <a:off x="649224" y="5605272"/>
            <a:ext cx="10863072" cy="512064"/>
          </a:xfrm>
          <a:prstGeom prst="rect">
            <a:avLst/>
          </a:prstGeom>
          <a:noFill/>
          <a:ln/>
        </p:spPr>
        <p:txBody>
          <a:bodyPr wrap="square" lIns="0" tIns="0" rIns="0" bIns="0" rtlCol="0" anchor="ctr"/>
          <a:lstStyle/>
          <a:p>
            <a:pPr indent="0" marL="0">
              <a:buNone/>
            </a:pPr>
            <a:r>
              <a:rPr lang="en-US" sz="1050" b="1" dirty="0">
                <a:solidFill>
                  <a:srgbClr val="A65F00"/>
                </a:solidFill>
                <a:latin typeface="Calibri" pitchFamily="34" charset="0"/>
                <a:ea typeface="Calibri" pitchFamily="34" charset="-122"/>
                <a:cs typeface="Calibri" pitchFamily="34" charset="-120"/>
              </a:rPr>
              <a:t>Upgrading?  </a:t>
            </a:r>
            <a:pPr indent="0" marL="0">
              <a:buNone/>
            </a:pPr>
            <a:r>
              <a:rPr lang="en-US" sz="1050" dirty="0">
                <a:solidFill>
                  <a:srgbClr val="3A3F45"/>
                </a:solidFill>
                <a:latin typeface="Calibri" pitchFamily="34" charset="0"/>
                <a:ea typeface="Calibri" pitchFamily="34" charset="-122"/>
                <a:cs typeface="Calibri" pitchFamily="34" charset="-120"/>
              </a:rPr>
              <a:t>Load the new RoadPro.lsp with APPLOAD (replace the old file in the Startup Suite). Your settings are kept. Roads drawn with 3.2 / 3.3 work with every 3.4 command; RDER / RDB find their objects by distance and ask first.</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A  ·  GETTING STARTED</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Install and load RoadPro</a:t>
            </a:r>
            <a:endParaRPr lang="en-US" sz="2600" dirty="0"/>
          </a:p>
        </p:txBody>
      </p:sp>
      <p:sp>
        <p:nvSpPr>
          <p:cNvPr id="4" name="shape-366"/>
          <p:cNvSpPr/>
          <p:nvPr/>
        </p:nvSpPr>
        <p:spPr>
          <a:xfrm>
            <a:off x="502920" y="1371600"/>
            <a:ext cx="329184" cy="329184"/>
          </a:xfrm>
          <a:prstGeom prst="ellipse">
            <a:avLst/>
          </a:prstGeom>
          <a:solidFill>
            <a:schemeClr val="accent1"/>
          </a:solidFill>
          <a:ln/>
        </p:spPr>
      </p:sp>
      <p:sp>
        <p:nvSpPr>
          <p:cNvPr id="5" name="text-367"/>
          <p:cNvSpPr txBox="1"/>
          <p:nvPr/>
        </p:nvSpPr>
        <p:spPr>
          <a:xfrm>
            <a:off x="502920" y="1371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368"/>
          <p:cNvSpPr txBox="1"/>
          <p:nvPr/>
        </p:nvSpPr>
        <p:spPr>
          <a:xfrm>
            <a:off x="978408" y="1353312"/>
            <a:ext cx="5559552" cy="71323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Copy the file to a fixed folder</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Save RoadPro.lsp in a folder that will not move, for example  C:\RoadPro\</a:t>
            </a:r>
            <a:endParaRPr lang="en-US" sz="1200" dirty="0"/>
          </a:p>
        </p:txBody>
      </p:sp>
      <p:sp>
        <p:nvSpPr>
          <p:cNvPr id="7" name="shape-369"/>
          <p:cNvSpPr/>
          <p:nvPr/>
        </p:nvSpPr>
        <p:spPr>
          <a:xfrm>
            <a:off x="502920" y="2121408"/>
            <a:ext cx="329184" cy="329184"/>
          </a:xfrm>
          <a:prstGeom prst="ellipse">
            <a:avLst/>
          </a:prstGeom>
          <a:solidFill>
            <a:schemeClr val="accent1"/>
          </a:solidFill>
          <a:ln/>
        </p:spPr>
      </p:sp>
      <p:sp>
        <p:nvSpPr>
          <p:cNvPr id="8" name="text-370"/>
          <p:cNvSpPr txBox="1"/>
          <p:nvPr/>
        </p:nvSpPr>
        <p:spPr>
          <a:xfrm>
            <a:off x="502920" y="21214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9" name="text-371"/>
          <p:cNvSpPr txBox="1"/>
          <p:nvPr/>
        </p:nvSpPr>
        <p:spPr>
          <a:xfrm>
            <a:off x="978408" y="2103120"/>
            <a:ext cx="5559552" cy="71323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Type APPLOAD in AutoCAD</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Browse to RoadPro.lsp, select it and press Load. Close the dialog.</a:t>
            </a:r>
            <a:endParaRPr lang="en-US" sz="1200" dirty="0"/>
          </a:p>
        </p:txBody>
      </p:sp>
      <p:sp>
        <p:nvSpPr>
          <p:cNvPr id="10" name="shape-372"/>
          <p:cNvSpPr/>
          <p:nvPr/>
        </p:nvSpPr>
        <p:spPr>
          <a:xfrm>
            <a:off x="502920" y="2871216"/>
            <a:ext cx="329184" cy="329184"/>
          </a:xfrm>
          <a:prstGeom prst="ellipse">
            <a:avLst/>
          </a:prstGeom>
          <a:solidFill>
            <a:schemeClr val="accent1"/>
          </a:solidFill>
          <a:ln/>
        </p:spPr>
      </p:sp>
      <p:sp>
        <p:nvSpPr>
          <p:cNvPr id="11" name="text-373"/>
          <p:cNvSpPr txBox="1"/>
          <p:nvPr/>
        </p:nvSpPr>
        <p:spPr>
          <a:xfrm>
            <a:off x="502920" y="28712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2" name="text-374"/>
          <p:cNvSpPr txBox="1"/>
          <p:nvPr/>
        </p:nvSpPr>
        <p:spPr>
          <a:xfrm>
            <a:off x="978408" y="2852928"/>
            <a:ext cx="5559552" cy="71323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Check the load message</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The command line shows  Road Pro v3.4 loaded  with all the short commands.</a:t>
            </a:r>
            <a:endParaRPr lang="en-US" sz="1200" dirty="0"/>
          </a:p>
        </p:txBody>
      </p:sp>
      <p:sp>
        <p:nvSpPr>
          <p:cNvPr id="13" name="shape-375"/>
          <p:cNvSpPr/>
          <p:nvPr/>
        </p:nvSpPr>
        <p:spPr>
          <a:xfrm>
            <a:off x="502920" y="3621024"/>
            <a:ext cx="329184" cy="329184"/>
          </a:xfrm>
          <a:prstGeom prst="ellipse">
            <a:avLst/>
          </a:prstGeom>
          <a:solidFill>
            <a:schemeClr val="accent1"/>
          </a:solidFill>
          <a:ln/>
        </p:spPr>
      </p:sp>
      <p:sp>
        <p:nvSpPr>
          <p:cNvPr id="14" name="text-376"/>
          <p:cNvSpPr txBox="1"/>
          <p:nvPr/>
        </p:nvSpPr>
        <p:spPr>
          <a:xfrm>
            <a:off x="502920" y="36210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5" name="text-377"/>
          <p:cNvSpPr txBox="1"/>
          <p:nvPr/>
        </p:nvSpPr>
        <p:spPr>
          <a:xfrm>
            <a:off x="978408" y="3602736"/>
            <a:ext cx="5559552" cy="71323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Load it every time (recommended)</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APPLOAD → Startup Suite → Contents → Add → pick RoadPro.lsp → Close.</a:t>
            </a:r>
            <a:endParaRPr lang="en-US" sz="1200" dirty="0"/>
          </a:p>
        </p:txBody>
      </p:sp>
      <p:sp>
        <p:nvSpPr>
          <p:cNvPr id="16" name="shape-378"/>
          <p:cNvSpPr/>
          <p:nvPr/>
        </p:nvSpPr>
        <p:spPr>
          <a:xfrm>
            <a:off x="502920" y="4370832"/>
            <a:ext cx="329184" cy="329184"/>
          </a:xfrm>
          <a:prstGeom prst="ellipse">
            <a:avLst/>
          </a:prstGeom>
          <a:solidFill>
            <a:schemeClr val="accent1"/>
          </a:solidFill>
          <a:ln/>
        </p:spPr>
      </p:sp>
      <p:sp>
        <p:nvSpPr>
          <p:cNvPr id="17" name="text-379"/>
          <p:cNvSpPr txBox="1"/>
          <p:nvPr/>
        </p:nvSpPr>
        <p:spPr>
          <a:xfrm>
            <a:off x="502920" y="43708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8" name="text-380"/>
          <p:cNvSpPr txBox="1"/>
          <p:nvPr/>
        </p:nvSpPr>
        <p:spPr>
          <a:xfrm>
            <a:off x="978408" y="4352544"/>
            <a:ext cx="5559552" cy="71323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Security warning?</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Choose Always Load, or add the folder in OPTIONS → Files → Trusted Locations.</a:t>
            </a:r>
            <a:endParaRPr lang="en-US" sz="1200" dirty="0"/>
          </a:p>
        </p:txBody>
      </p:sp>
      <p:sp>
        <p:nvSpPr>
          <p:cNvPr id="19" name="shape-381"/>
          <p:cNvSpPr/>
          <p:nvPr/>
        </p:nvSpPr>
        <p:spPr>
          <a:xfrm>
            <a:off x="502920" y="5120640"/>
            <a:ext cx="329184" cy="329184"/>
          </a:xfrm>
          <a:prstGeom prst="ellipse">
            <a:avLst/>
          </a:prstGeom>
          <a:solidFill>
            <a:schemeClr val="accent1"/>
          </a:solidFill>
          <a:ln/>
        </p:spPr>
      </p:sp>
      <p:sp>
        <p:nvSpPr>
          <p:cNvPr id="20" name="text-382"/>
          <p:cNvSpPr txBox="1"/>
          <p:nvPr/>
        </p:nvSpPr>
        <p:spPr>
          <a:xfrm>
            <a:off x="502920" y="51206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1" name="text-383"/>
          <p:cNvSpPr txBox="1"/>
          <p:nvPr/>
        </p:nvSpPr>
        <p:spPr>
          <a:xfrm>
            <a:off x="978408" y="5102352"/>
            <a:ext cx="5559552" cy="71323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Start working</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Type RDP and press Enter. The ROAD PRO dialog opens.</a:t>
            </a:r>
            <a:endParaRPr lang="en-US" sz="1200" dirty="0"/>
          </a:p>
        </p:txBody>
      </p:sp>
      <p:sp>
        <p:nvSpPr>
          <p:cNvPr id="22" name="shape-384"/>
          <p:cNvSpPr/>
          <p:nvPr/>
        </p:nvSpPr>
        <p:spPr>
          <a:xfrm>
            <a:off x="6812280" y="1371600"/>
            <a:ext cx="4846320" cy="1920240"/>
          </a:xfrm>
          <a:prstGeom prst="roundRect">
            <a:avLst>
              <a:gd name="adj" fmla="val 2857"/>
            </a:avLst>
          </a:prstGeom>
          <a:solidFill>
            <a:srgbClr val="1F2326"/>
          </a:solidFill>
          <a:ln/>
        </p:spPr>
      </p:sp>
      <p:sp>
        <p:nvSpPr>
          <p:cNvPr id="23" name="text-385"/>
          <p:cNvSpPr txBox="1"/>
          <p:nvPr/>
        </p:nvSpPr>
        <p:spPr>
          <a:xfrm>
            <a:off x="6976872" y="1499616"/>
            <a:ext cx="4517136" cy="1664208"/>
          </a:xfrm>
          <a:prstGeom prst="rect">
            <a:avLst/>
          </a:prstGeom>
          <a:noFill/>
          <a:ln/>
        </p:spPr>
        <p:txBody>
          <a:bodyPr wrap="square" lIns="0" tIns="0" rIns="0" bIns="0" rtlCol="0" anchor="t"/>
          <a:lstStyle/>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Command: </a:t>
            </a:r>
            <a:pPr indent="0" marL="0">
              <a:spcAft>
                <a:spcPts val="200"/>
              </a:spcAft>
              <a:buNone/>
            </a:pPr>
            <a:r>
              <a:rPr lang="en-US" sz="950" b="1" dirty="0">
                <a:solidFill>
                  <a:srgbClr val="F2B705"/>
                </a:solidFill>
                <a:latin typeface="Courier New" pitchFamily="34" charset="0"/>
                <a:ea typeface="Courier New" pitchFamily="34" charset="-122"/>
                <a:cs typeface="Courier New" pitchFamily="34" charset="-120"/>
              </a:rPr>
              <a:t>APPLOAD</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RoadPro.lsp successfully loaded.</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Road Pro v3.4 loaded.  ROADPRO (RDP) = build road</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ROADREPORT (RDR) = report  |  ... |</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ROADCORRIDOR (RDC) ... ROADLANDXML (RDLX)</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Developed by https://www.exceltokml.com/</a:t>
            </a:r>
            <a:endParaRPr lang="en-US" sz="950" dirty="0"/>
          </a:p>
        </p:txBody>
      </p:sp>
      <p:sp>
        <p:nvSpPr>
          <p:cNvPr id="24" name="shape-386"/>
          <p:cNvSpPr/>
          <p:nvPr/>
        </p:nvSpPr>
        <p:spPr>
          <a:xfrm>
            <a:off x="6812280" y="3474720"/>
            <a:ext cx="4846320" cy="2697480"/>
          </a:xfrm>
          <a:prstGeom prst="roundRect">
            <a:avLst>
              <a:gd name="adj" fmla="val 2712"/>
            </a:avLst>
          </a:prstGeom>
          <a:solidFill>
            <a:srgbClr val="F4F5F7"/>
          </a:solidFill>
          <a:ln w="9525">
            <a:solidFill>
              <a:srgbClr val="E3E5E8"/>
            </a:solidFill>
            <a:prstDash val="solid"/>
          </a:ln>
        </p:spPr>
      </p:sp>
      <p:sp>
        <p:nvSpPr>
          <p:cNvPr id="25" name="text-387"/>
          <p:cNvSpPr txBox="1"/>
          <p:nvPr/>
        </p:nvSpPr>
        <p:spPr>
          <a:xfrm>
            <a:off x="6976872" y="3611880"/>
            <a:ext cx="451713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Requirements</a:t>
            </a:r>
            <a:endParaRPr lang="en-US" sz="1300" dirty="0"/>
          </a:p>
        </p:txBody>
      </p:sp>
      <p:sp>
        <p:nvSpPr>
          <p:cNvPr id="26" name="text-388"/>
          <p:cNvSpPr txBox="1"/>
          <p:nvPr/>
        </p:nvSpPr>
        <p:spPr>
          <a:xfrm>
            <a:off x="6976872" y="3977640"/>
            <a:ext cx="4517136" cy="2084832"/>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3A3F45"/>
                </a:solidFill>
                <a:latin typeface="Calibri" pitchFamily="34" charset="0"/>
                <a:ea typeface="Calibri" pitchFamily="34" charset="-122"/>
                <a:cs typeface="Calibri" pitchFamily="34" charset="-120"/>
              </a:rPr>
              <a:t>Full AutoCAD 2014 or newer on Windows (also Civil 3D, Map 3D). AutoCAD LT cannot run LISP.</a:t>
            </a:r>
            <a:endParaRPr lang="en-US" sz="1150" dirty="0"/>
          </a:p>
          <a:p>
            <a:pPr marL="152400" indent="-152400">
              <a:spcAft>
                <a:spcPts val="300"/>
              </a:spcAft>
              <a:buSzPct val="100000"/>
              <a:buChar char="•"/>
            </a:pPr>
            <a:r>
              <a:rPr lang="en-US" sz="1150" dirty="0">
                <a:solidFill>
                  <a:srgbClr val="3A3F45"/>
                </a:solidFill>
                <a:latin typeface="Calibri" pitchFamily="34" charset="0"/>
                <a:ea typeface="Calibri" pitchFamily="34" charset="-122"/>
                <a:cs typeface="Calibri" pitchFamily="34" charset="-120"/>
              </a:rPr>
              <a:t>Drawing in metres (1 unit = 1 m) or millimetres (1 unit = 1 mm).</a:t>
            </a:r>
            <a:endParaRPr lang="en-US" sz="1150" dirty="0"/>
          </a:p>
          <a:p>
            <a:pPr marL="152400" indent="-152400">
              <a:spcAft>
                <a:spcPts val="300"/>
              </a:spcAft>
              <a:buSzPct val="100000"/>
              <a:buChar char="•"/>
            </a:pPr>
            <a:r>
              <a:rPr lang="en-US" sz="1150" dirty="0">
                <a:solidFill>
                  <a:srgbClr val="3A3F45"/>
                </a:solidFill>
                <a:latin typeface="Calibri" pitchFamily="34" charset="0"/>
                <a:ea typeface="Calibri" pitchFamily="34" charset="-122"/>
                <a:cs typeface="Calibri" pitchFamily="34" charset="-120"/>
              </a:rPr>
              <a:t>Settings are remembered between sessions on this PC. ROADPRORESET restores the defaults.</a:t>
            </a:r>
            <a:endParaRPr lang="en-US" sz="1150" dirty="0"/>
          </a:p>
          <a:p>
            <a:pPr marL="152400" indent="-152400">
              <a:spcAft>
                <a:spcPts val="300"/>
              </a:spcAft>
              <a:buSzPct val="100000"/>
              <a:buChar char="•"/>
            </a:pPr>
            <a:r>
              <a:rPr lang="en-US" sz="1150" dirty="0">
                <a:solidFill>
                  <a:srgbClr val="3A3F45"/>
                </a:solidFill>
                <a:latin typeface="Calibri" pitchFamily="34" charset="0"/>
                <a:ea typeface="Calibri" pitchFamily="34" charset="-122"/>
                <a:cs typeface="Calibri" pitchFamily="34" charset="-120"/>
              </a:rPr>
              <a:t>Every command is one UNDO step: type U to take back a whole run.</a:t>
            </a:r>
            <a:endParaRPr lang="en-US" sz="11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A  ·  GETTING STARTED</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All commands and short keys</a:t>
            </a:r>
            <a:endParaRPr lang="en-US" sz="2600" dirty="0"/>
          </a:p>
        </p:txBody>
      </p:sp>
      <p:graphicFrame>
        <p:nvGraphicFramePr>
          <p:cNvPr id="7" name="table-389"/>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914400"/>
        </p:xfrm>
        <a:graphic>
          <a:graphicData uri="http://schemas.openxmlformats.org/drawingml/2006/table">
            <a:tbl>
              <a:tblPr/>
              <a:tblGrid>
                <a:gridCol w="1051560"/>
                <a:gridCol w="1874520"/>
                <a:gridCol w="5486400"/>
                <a:gridCol w="2743200"/>
              </a:tblGrid>
              <a:tr h="26517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Short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Full command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You select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RDP</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ROADPRO</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Build a complete road from a centre line (dialog with all settings)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Pick points, or an existing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RDR</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ROADREPORT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Report on screen, Excel (CSV) file and tables in the drawing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RDRAD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ROADRADIUS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Radius, TC / CT and curve data labels on every curve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RDSEC</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ROADSECTIONS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Straight sections S1, S2 ... with length, area, chainage, bearing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RDX</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ROADXSEC</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Cross sections: typical, at one chainage, or at every interval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RDW</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ROADWIDEN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Extra lane (widening) with tapers, one side or both sides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ROADTAPER</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Change the road width from a chainage onward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RDJ</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ROADJUNCTION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Join a branch road: kerb returns, corner treatment, signs, aux lane, island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MAIN road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ROADMARK</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Draw or remove road markings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Single line of barricades, cones or kerb stone on any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Lines, polylines, arcs, splines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RDC</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ROADCORRIDOR</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NEW  Lanes, median, sidewalks, walkways, drains, utilities of a road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RDU</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ROADUPDATE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NEW  Regenerate corridor + markings of a road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RDER</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ROADEDITRADIUS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NEW  Change a curve radius after the design, road rebuilt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 CL on the curve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RDB</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ROADREBUILD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NEW  Rebuild a road after editing its CL by hand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RDLX</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ROADLANDXML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NEW  Export the CL as a LandXML 1.2 alignment (Civil 3D)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 CL or polyline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RDLXI</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ROADLANDXMLIN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NEW  Import LandXML alignments as polylines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LandXML file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65176">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ROADPRORESET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Restore every setting to the default values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A  ·  GETTING STARTED</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The workflow from start to finish</a:t>
            </a:r>
            <a:endParaRPr lang="en-US" sz="2600" dirty="0"/>
          </a:p>
        </p:txBody>
      </p:sp>
      <p:sp>
        <p:nvSpPr>
          <p:cNvPr id="4" name="shape-390"/>
          <p:cNvSpPr/>
          <p:nvPr/>
        </p:nvSpPr>
        <p:spPr>
          <a:xfrm>
            <a:off x="502920" y="1417320"/>
            <a:ext cx="2057400" cy="1783080"/>
          </a:xfrm>
          <a:prstGeom prst="roundRect">
            <a:avLst>
              <a:gd name="adj" fmla="val 4103"/>
            </a:avLst>
          </a:prstGeom>
          <a:solidFill>
            <a:srgbClr val="F4F5F7"/>
          </a:solidFill>
          <a:ln w="9525">
            <a:solidFill>
              <a:srgbClr val="E3E5E8"/>
            </a:solidFill>
            <a:prstDash val="solid"/>
          </a:ln>
        </p:spPr>
      </p:sp>
      <p:sp>
        <p:nvSpPr>
          <p:cNvPr id="5" name="text-391"/>
          <p:cNvSpPr txBox="1"/>
          <p:nvPr/>
        </p:nvSpPr>
        <p:spPr>
          <a:xfrm>
            <a:off x="640080" y="1527048"/>
            <a:ext cx="457200" cy="27432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1</a:t>
            </a:r>
            <a:endParaRPr lang="en-US" sz="1800" dirty="0"/>
          </a:p>
        </p:txBody>
      </p:sp>
      <p:sp>
        <p:nvSpPr>
          <p:cNvPr id="6" name="shape-392"/>
          <p:cNvSpPr/>
          <p:nvPr/>
        </p:nvSpPr>
        <p:spPr>
          <a:xfrm>
            <a:off x="1234440" y="1554480"/>
            <a:ext cx="1188720" cy="329184"/>
          </a:xfrm>
          <a:prstGeom prst="roundRect">
            <a:avLst>
              <a:gd name="adj" fmla="val 16667"/>
            </a:avLst>
          </a:prstGeom>
          <a:solidFill>
            <a:schemeClr val="tx2"/>
          </a:solidFill>
          <a:ln/>
        </p:spPr>
      </p:sp>
      <p:sp>
        <p:nvSpPr>
          <p:cNvPr id="7" name="text-393"/>
          <p:cNvSpPr txBox="1"/>
          <p:nvPr/>
        </p:nvSpPr>
        <p:spPr>
          <a:xfrm>
            <a:off x="1234440" y="1554480"/>
            <a:ext cx="118872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APPLOAD</a:t>
            </a:r>
            <a:endParaRPr lang="en-US" sz="1200" dirty="0"/>
          </a:p>
        </p:txBody>
      </p:sp>
      <p:sp>
        <p:nvSpPr>
          <p:cNvPr id="8" name="text-394"/>
          <p:cNvSpPr txBox="1"/>
          <p:nvPr/>
        </p:nvSpPr>
        <p:spPr>
          <a:xfrm>
            <a:off x="640080" y="2039112"/>
            <a:ext cx="182880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Load</a:t>
            </a:r>
            <a:endParaRPr lang="en-US" sz="1350" dirty="0"/>
          </a:p>
        </p:txBody>
      </p:sp>
      <p:sp>
        <p:nvSpPr>
          <p:cNvPr id="9" name="text-395"/>
          <p:cNvSpPr txBox="1"/>
          <p:nvPr/>
        </p:nvSpPr>
        <p:spPr>
          <a:xfrm>
            <a:off x="640080" y="2377440"/>
            <a:ext cx="1828800" cy="73152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Load RoadPro.lsp once, or keep it in the Startup Suite</a:t>
            </a:r>
            <a:endParaRPr lang="en-US" sz="1050" dirty="0"/>
          </a:p>
        </p:txBody>
      </p:sp>
      <p:sp>
        <p:nvSpPr>
          <p:cNvPr id="10" name="text-396"/>
          <p:cNvSpPr txBox="1"/>
          <p:nvPr/>
        </p:nvSpPr>
        <p:spPr>
          <a:xfrm>
            <a:off x="2551176" y="2057400"/>
            <a:ext cx="219456" cy="365760"/>
          </a:xfrm>
          <a:prstGeom prst="rect">
            <a:avLst/>
          </a:prstGeom>
          <a:noFill/>
          <a:ln/>
        </p:spPr>
        <p:txBody>
          <a:bodyPr wrap="square" lIns="0" tIns="0" rIns="0" bIns="0" rtlCol="0" anchor="t"/>
          <a:lstStyle/>
          <a:p>
            <a:pPr algn="ctr" indent="0" marL="0">
              <a:buNone/>
            </a:pPr>
            <a:r>
              <a:rPr lang="en-US" sz="2200" b="1" dirty="0">
                <a:solidFill>
                  <a:schemeClr val="accent1"/>
                </a:solidFill>
                <a:latin typeface="Calibri" pitchFamily="34" charset="0"/>
                <a:ea typeface="Calibri" pitchFamily="34" charset="-122"/>
                <a:cs typeface="Calibri" pitchFamily="34" charset="-120"/>
              </a:rPr>
              <a:t>›</a:t>
            </a:r>
            <a:endParaRPr lang="en-US" sz="2200" dirty="0"/>
          </a:p>
        </p:txBody>
      </p:sp>
      <p:sp>
        <p:nvSpPr>
          <p:cNvPr id="11" name="shape-397"/>
          <p:cNvSpPr/>
          <p:nvPr/>
        </p:nvSpPr>
        <p:spPr>
          <a:xfrm>
            <a:off x="2761488" y="1417320"/>
            <a:ext cx="2057400" cy="1783080"/>
          </a:xfrm>
          <a:prstGeom prst="roundRect">
            <a:avLst>
              <a:gd name="adj" fmla="val 4103"/>
            </a:avLst>
          </a:prstGeom>
          <a:solidFill>
            <a:srgbClr val="F4F5F7"/>
          </a:solidFill>
          <a:ln w="9525">
            <a:solidFill>
              <a:srgbClr val="E3E5E8"/>
            </a:solidFill>
            <a:prstDash val="solid"/>
          </a:ln>
        </p:spPr>
      </p:sp>
      <p:sp>
        <p:nvSpPr>
          <p:cNvPr id="12" name="text-398"/>
          <p:cNvSpPr txBox="1"/>
          <p:nvPr/>
        </p:nvSpPr>
        <p:spPr>
          <a:xfrm>
            <a:off x="2898648" y="1527048"/>
            <a:ext cx="457200" cy="27432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2</a:t>
            </a:r>
            <a:endParaRPr lang="en-US" sz="1800" dirty="0"/>
          </a:p>
        </p:txBody>
      </p:sp>
      <p:sp>
        <p:nvSpPr>
          <p:cNvPr id="13" name="shape-399"/>
          <p:cNvSpPr/>
          <p:nvPr/>
        </p:nvSpPr>
        <p:spPr>
          <a:xfrm>
            <a:off x="3493008" y="1554480"/>
            <a:ext cx="914400" cy="329184"/>
          </a:xfrm>
          <a:prstGeom prst="roundRect">
            <a:avLst>
              <a:gd name="adj" fmla="val 16667"/>
            </a:avLst>
          </a:prstGeom>
          <a:solidFill>
            <a:schemeClr val="accent1"/>
          </a:solidFill>
          <a:ln/>
        </p:spPr>
      </p:sp>
      <p:sp>
        <p:nvSpPr>
          <p:cNvPr id="14" name="text-400"/>
          <p:cNvSpPr txBox="1"/>
          <p:nvPr/>
        </p:nvSpPr>
        <p:spPr>
          <a:xfrm>
            <a:off x="3493008" y="1554480"/>
            <a:ext cx="9144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RDP</a:t>
            </a:r>
            <a:endParaRPr lang="en-US" sz="1200" dirty="0"/>
          </a:p>
        </p:txBody>
      </p:sp>
      <p:sp>
        <p:nvSpPr>
          <p:cNvPr id="15" name="text-401"/>
          <p:cNvSpPr txBox="1"/>
          <p:nvPr/>
        </p:nvSpPr>
        <p:spPr>
          <a:xfrm>
            <a:off x="2898648" y="2039112"/>
            <a:ext cx="182880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Build the road</a:t>
            </a:r>
            <a:endParaRPr lang="en-US" sz="1350" dirty="0"/>
          </a:p>
        </p:txBody>
      </p:sp>
      <p:sp>
        <p:nvSpPr>
          <p:cNvPr id="16" name="text-402"/>
          <p:cNvSpPr txBox="1"/>
          <p:nvPr/>
        </p:nvSpPr>
        <p:spPr>
          <a:xfrm>
            <a:off x="2898648" y="2377440"/>
            <a:ext cx="1828800" cy="73152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Settings, centre line, then everything is drawn</a:t>
            </a:r>
            <a:endParaRPr lang="en-US" sz="1050" dirty="0"/>
          </a:p>
        </p:txBody>
      </p:sp>
      <p:sp>
        <p:nvSpPr>
          <p:cNvPr id="17" name="text-403"/>
          <p:cNvSpPr txBox="1"/>
          <p:nvPr/>
        </p:nvSpPr>
        <p:spPr>
          <a:xfrm>
            <a:off x="4809744" y="2057400"/>
            <a:ext cx="219456" cy="365760"/>
          </a:xfrm>
          <a:prstGeom prst="rect">
            <a:avLst/>
          </a:prstGeom>
          <a:noFill/>
          <a:ln/>
        </p:spPr>
        <p:txBody>
          <a:bodyPr wrap="square" lIns="0" tIns="0" rIns="0" bIns="0" rtlCol="0" anchor="t"/>
          <a:lstStyle/>
          <a:p>
            <a:pPr algn="ctr" indent="0" marL="0">
              <a:buNone/>
            </a:pPr>
            <a:r>
              <a:rPr lang="en-US" sz="2200" b="1" dirty="0">
                <a:solidFill>
                  <a:schemeClr val="accent1"/>
                </a:solidFill>
                <a:latin typeface="Calibri" pitchFamily="34" charset="0"/>
                <a:ea typeface="Calibri" pitchFamily="34" charset="-122"/>
                <a:cs typeface="Calibri" pitchFamily="34" charset="-120"/>
              </a:rPr>
              <a:t>›</a:t>
            </a:r>
            <a:endParaRPr lang="en-US" sz="2200" dirty="0"/>
          </a:p>
        </p:txBody>
      </p:sp>
      <p:sp>
        <p:nvSpPr>
          <p:cNvPr id="18" name="shape-404"/>
          <p:cNvSpPr/>
          <p:nvPr/>
        </p:nvSpPr>
        <p:spPr>
          <a:xfrm>
            <a:off x="5020056" y="1417320"/>
            <a:ext cx="2057400" cy="1783080"/>
          </a:xfrm>
          <a:prstGeom prst="roundRect">
            <a:avLst>
              <a:gd name="adj" fmla="val 4103"/>
            </a:avLst>
          </a:prstGeom>
          <a:solidFill>
            <a:srgbClr val="F4F5F7"/>
          </a:solidFill>
          <a:ln w="9525">
            <a:solidFill>
              <a:srgbClr val="E3E5E8"/>
            </a:solidFill>
            <a:prstDash val="solid"/>
          </a:ln>
        </p:spPr>
      </p:sp>
      <p:sp>
        <p:nvSpPr>
          <p:cNvPr id="19" name="text-405"/>
          <p:cNvSpPr txBox="1"/>
          <p:nvPr/>
        </p:nvSpPr>
        <p:spPr>
          <a:xfrm>
            <a:off x="5157216" y="1527048"/>
            <a:ext cx="457200" cy="27432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3</a:t>
            </a:r>
            <a:endParaRPr lang="en-US" sz="1800" dirty="0"/>
          </a:p>
        </p:txBody>
      </p:sp>
      <p:sp>
        <p:nvSpPr>
          <p:cNvPr id="20" name="shape-406"/>
          <p:cNvSpPr/>
          <p:nvPr/>
        </p:nvSpPr>
        <p:spPr>
          <a:xfrm>
            <a:off x="5751576" y="1554480"/>
            <a:ext cx="914400" cy="329184"/>
          </a:xfrm>
          <a:prstGeom prst="roundRect">
            <a:avLst>
              <a:gd name="adj" fmla="val 16667"/>
            </a:avLst>
          </a:prstGeom>
          <a:solidFill>
            <a:schemeClr val="accent1"/>
          </a:solidFill>
          <a:ln/>
        </p:spPr>
      </p:sp>
      <p:sp>
        <p:nvSpPr>
          <p:cNvPr id="21" name="text-407"/>
          <p:cNvSpPr txBox="1"/>
          <p:nvPr/>
        </p:nvSpPr>
        <p:spPr>
          <a:xfrm>
            <a:off x="5751576" y="1554480"/>
            <a:ext cx="9144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RDRAD</a:t>
            </a:r>
            <a:endParaRPr lang="en-US" sz="1200" dirty="0"/>
          </a:p>
        </p:txBody>
      </p:sp>
      <p:sp>
        <p:nvSpPr>
          <p:cNvPr id="22" name="text-408"/>
          <p:cNvSpPr txBox="1"/>
          <p:nvPr/>
        </p:nvSpPr>
        <p:spPr>
          <a:xfrm>
            <a:off x="5157216" y="2039112"/>
            <a:ext cx="182880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Check curves</a:t>
            </a:r>
            <a:endParaRPr lang="en-US" sz="1350" dirty="0"/>
          </a:p>
        </p:txBody>
      </p:sp>
      <p:sp>
        <p:nvSpPr>
          <p:cNvPr id="23" name="text-409"/>
          <p:cNvSpPr txBox="1"/>
          <p:nvPr/>
        </p:nvSpPr>
        <p:spPr>
          <a:xfrm>
            <a:off x="5157216" y="2377440"/>
            <a:ext cx="1828800" cy="73152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Radius labels (and RDSEC straights) if not added in RDP</a:t>
            </a:r>
            <a:endParaRPr lang="en-US" sz="1050" dirty="0"/>
          </a:p>
        </p:txBody>
      </p:sp>
      <p:sp>
        <p:nvSpPr>
          <p:cNvPr id="24" name="text-410"/>
          <p:cNvSpPr txBox="1"/>
          <p:nvPr/>
        </p:nvSpPr>
        <p:spPr>
          <a:xfrm>
            <a:off x="7068312" y="2057400"/>
            <a:ext cx="219456" cy="365760"/>
          </a:xfrm>
          <a:prstGeom prst="rect">
            <a:avLst/>
          </a:prstGeom>
          <a:noFill/>
          <a:ln/>
        </p:spPr>
        <p:txBody>
          <a:bodyPr wrap="square" lIns="0" tIns="0" rIns="0" bIns="0" rtlCol="0" anchor="t"/>
          <a:lstStyle/>
          <a:p>
            <a:pPr algn="ctr" indent="0" marL="0">
              <a:buNone/>
            </a:pPr>
            <a:r>
              <a:rPr lang="en-US" sz="2200" b="1" dirty="0">
                <a:solidFill>
                  <a:schemeClr val="accent1"/>
                </a:solidFill>
                <a:latin typeface="Calibri" pitchFamily="34" charset="0"/>
                <a:ea typeface="Calibri" pitchFamily="34" charset="-122"/>
                <a:cs typeface="Calibri" pitchFamily="34" charset="-120"/>
              </a:rPr>
              <a:t>›</a:t>
            </a:r>
            <a:endParaRPr lang="en-US" sz="2200" dirty="0"/>
          </a:p>
        </p:txBody>
      </p:sp>
      <p:sp>
        <p:nvSpPr>
          <p:cNvPr id="25" name="shape-411"/>
          <p:cNvSpPr/>
          <p:nvPr/>
        </p:nvSpPr>
        <p:spPr>
          <a:xfrm>
            <a:off x="7278624" y="1417320"/>
            <a:ext cx="2057400" cy="1783080"/>
          </a:xfrm>
          <a:prstGeom prst="roundRect">
            <a:avLst>
              <a:gd name="adj" fmla="val 4103"/>
            </a:avLst>
          </a:prstGeom>
          <a:solidFill>
            <a:srgbClr val="F4F5F7"/>
          </a:solidFill>
          <a:ln w="9525">
            <a:solidFill>
              <a:srgbClr val="E3E5E8"/>
            </a:solidFill>
            <a:prstDash val="solid"/>
          </a:ln>
        </p:spPr>
      </p:sp>
      <p:sp>
        <p:nvSpPr>
          <p:cNvPr id="26" name="text-412"/>
          <p:cNvSpPr txBox="1"/>
          <p:nvPr/>
        </p:nvSpPr>
        <p:spPr>
          <a:xfrm>
            <a:off x="7415784" y="1527048"/>
            <a:ext cx="457200" cy="27432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4</a:t>
            </a:r>
            <a:endParaRPr lang="en-US" sz="1800" dirty="0"/>
          </a:p>
        </p:txBody>
      </p:sp>
      <p:sp>
        <p:nvSpPr>
          <p:cNvPr id="27" name="shape-413"/>
          <p:cNvSpPr/>
          <p:nvPr/>
        </p:nvSpPr>
        <p:spPr>
          <a:xfrm>
            <a:off x="8010144" y="1554480"/>
            <a:ext cx="914400" cy="329184"/>
          </a:xfrm>
          <a:prstGeom prst="roundRect">
            <a:avLst>
              <a:gd name="adj" fmla="val 16667"/>
            </a:avLst>
          </a:prstGeom>
          <a:solidFill>
            <a:schemeClr val="accent1"/>
          </a:solidFill>
          <a:ln/>
        </p:spPr>
      </p:sp>
      <p:sp>
        <p:nvSpPr>
          <p:cNvPr id="28" name="text-414"/>
          <p:cNvSpPr txBox="1"/>
          <p:nvPr/>
        </p:nvSpPr>
        <p:spPr>
          <a:xfrm>
            <a:off x="8010144" y="1554480"/>
            <a:ext cx="9144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RDW</a:t>
            </a:r>
            <a:endParaRPr lang="en-US" sz="1200" dirty="0"/>
          </a:p>
        </p:txBody>
      </p:sp>
      <p:sp>
        <p:nvSpPr>
          <p:cNvPr id="29" name="text-415"/>
          <p:cNvSpPr txBox="1"/>
          <p:nvPr/>
        </p:nvSpPr>
        <p:spPr>
          <a:xfrm>
            <a:off x="7415784" y="2039112"/>
            <a:ext cx="182880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Widen / taper</a:t>
            </a:r>
            <a:endParaRPr lang="en-US" sz="1350" dirty="0"/>
          </a:p>
        </p:txBody>
      </p:sp>
      <p:sp>
        <p:nvSpPr>
          <p:cNvPr id="30" name="text-416"/>
          <p:cNvSpPr txBox="1"/>
          <p:nvPr/>
        </p:nvSpPr>
        <p:spPr>
          <a:xfrm>
            <a:off x="7415784" y="2377440"/>
            <a:ext cx="1828800" cy="73152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Extra lanes (RDW) and width changes (RDT)</a:t>
            </a:r>
            <a:endParaRPr lang="en-US" sz="1050" dirty="0"/>
          </a:p>
        </p:txBody>
      </p:sp>
      <p:sp>
        <p:nvSpPr>
          <p:cNvPr id="31" name="text-417"/>
          <p:cNvSpPr txBox="1"/>
          <p:nvPr/>
        </p:nvSpPr>
        <p:spPr>
          <a:xfrm>
            <a:off x="9326880" y="2057400"/>
            <a:ext cx="219456" cy="365760"/>
          </a:xfrm>
          <a:prstGeom prst="rect">
            <a:avLst/>
          </a:prstGeom>
          <a:noFill/>
          <a:ln/>
        </p:spPr>
        <p:txBody>
          <a:bodyPr wrap="square" lIns="0" tIns="0" rIns="0" bIns="0" rtlCol="0" anchor="t"/>
          <a:lstStyle/>
          <a:p>
            <a:pPr algn="ctr" indent="0" marL="0">
              <a:buNone/>
            </a:pPr>
            <a:r>
              <a:rPr lang="en-US" sz="2200" b="1" dirty="0">
                <a:solidFill>
                  <a:schemeClr val="accent1"/>
                </a:solidFill>
                <a:latin typeface="Calibri" pitchFamily="34" charset="0"/>
                <a:ea typeface="Calibri" pitchFamily="34" charset="-122"/>
                <a:cs typeface="Calibri" pitchFamily="34" charset="-120"/>
              </a:rPr>
              <a:t>›</a:t>
            </a:r>
            <a:endParaRPr lang="en-US" sz="2200" dirty="0"/>
          </a:p>
        </p:txBody>
      </p:sp>
      <p:sp>
        <p:nvSpPr>
          <p:cNvPr id="32" name="shape-418"/>
          <p:cNvSpPr/>
          <p:nvPr/>
        </p:nvSpPr>
        <p:spPr>
          <a:xfrm>
            <a:off x="9537192" y="1417320"/>
            <a:ext cx="2057400" cy="1783080"/>
          </a:xfrm>
          <a:prstGeom prst="roundRect">
            <a:avLst>
              <a:gd name="adj" fmla="val 4103"/>
            </a:avLst>
          </a:prstGeom>
          <a:solidFill>
            <a:srgbClr val="F4F5F7"/>
          </a:solidFill>
          <a:ln w="9525">
            <a:solidFill>
              <a:srgbClr val="E3E5E8"/>
            </a:solidFill>
            <a:prstDash val="solid"/>
          </a:ln>
        </p:spPr>
      </p:sp>
      <p:sp>
        <p:nvSpPr>
          <p:cNvPr id="33" name="text-419"/>
          <p:cNvSpPr txBox="1"/>
          <p:nvPr/>
        </p:nvSpPr>
        <p:spPr>
          <a:xfrm>
            <a:off x="9674352" y="1527048"/>
            <a:ext cx="457200" cy="27432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5</a:t>
            </a:r>
            <a:endParaRPr lang="en-US" sz="1800" dirty="0"/>
          </a:p>
        </p:txBody>
      </p:sp>
      <p:sp>
        <p:nvSpPr>
          <p:cNvPr id="34" name="shape-420"/>
          <p:cNvSpPr/>
          <p:nvPr/>
        </p:nvSpPr>
        <p:spPr>
          <a:xfrm>
            <a:off x="10268712" y="1554480"/>
            <a:ext cx="914400" cy="329184"/>
          </a:xfrm>
          <a:prstGeom prst="roundRect">
            <a:avLst>
              <a:gd name="adj" fmla="val 16667"/>
            </a:avLst>
          </a:prstGeom>
          <a:solidFill>
            <a:schemeClr val="accent1"/>
          </a:solidFill>
          <a:ln/>
        </p:spPr>
      </p:sp>
      <p:sp>
        <p:nvSpPr>
          <p:cNvPr id="35" name="text-421"/>
          <p:cNvSpPr txBox="1"/>
          <p:nvPr/>
        </p:nvSpPr>
        <p:spPr>
          <a:xfrm>
            <a:off x="10268712" y="1554480"/>
            <a:ext cx="9144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RDJ</a:t>
            </a:r>
            <a:endParaRPr lang="en-US" sz="1200" dirty="0"/>
          </a:p>
        </p:txBody>
      </p:sp>
      <p:sp>
        <p:nvSpPr>
          <p:cNvPr id="36" name="text-422"/>
          <p:cNvSpPr txBox="1"/>
          <p:nvPr/>
        </p:nvSpPr>
        <p:spPr>
          <a:xfrm>
            <a:off x="9674352" y="2039112"/>
            <a:ext cx="182880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Junctions</a:t>
            </a:r>
            <a:endParaRPr lang="en-US" sz="1350" dirty="0"/>
          </a:p>
        </p:txBody>
      </p:sp>
      <p:sp>
        <p:nvSpPr>
          <p:cNvPr id="37" name="text-423"/>
          <p:cNvSpPr txBox="1"/>
          <p:nvPr/>
        </p:nvSpPr>
        <p:spPr>
          <a:xfrm>
            <a:off x="9674352" y="2377440"/>
            <a:ext cx="1828800" cy="73152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Join branch roads with kerb returns and corners</a:t>
            </a:r>
            <a:endParaRPr lang="en-US" sz="1050" dirty="0"/>
          </a:p>
        </p:txBody>
      </p:sp>
      <p:sp>
        <p:nvSpPr>
          <p:cNvPr id="38" name="shape-424"/>
          <p:cNvSpPr/>
          <p:nvPr/>
        </p:nvSpPr>
        <p:spPr>
          <a:xfrm>
            <a:off x="1627632" y="3520440"/>
            <a:ext cx="2057400" cy="1783080"/>
          </a:xfrm>
          <a:prstGeom prst="roundRect">
            <a:avLst>
              <a:gd name="adj" fmla="val 4103"/>
            </a:avLst>
          </a:prstGeom>
          <a:solidFill>
            <a:srgbClr val="F4F5F7"/>
          </a:solidFill>
          <a:ln w="9525">
            <a:solidFill>
              <a:srgbClr val="E3E5E8"/>
            </a:solidFill>
            <a:prstDash val="solid"/>
          </a:ln>
        </p:spPr>
      </p:sp>
      <p:sp>
        <p:nvSpPr>
          <p:cNvPr id="39" name="text-425"/>
          <p:cNvSpPr txBox="1"/>
          <p:nvPr/>
        </p:nvSpPr>
        <p:spPr>
          <a:xfrm>
            <a:off x="1764792" y="3630168"/>
            <a:ext cx="457200" cy="27432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6</a:t>
            </a:r>
            <a:endParaRPr lang="en-US" sz="1800" dirty="0"/>
          </a:p>
        </p:txBody>
      </p:sp>
      <p:sp>
        <p:nvSpPr>
          <p:cNvPr id="40" name="shape-426"/>
          <p:cNvSpPr/>
          <p:nvPr/>
        </p:nvSpPr>
        <p:spPr>
          <a:xfrm>
            <a:off x="2359152" y="3657600"/>
            <a:ext cx="914400" cy="329184"/>
          </a:xfrm>
          <a:prstGeom prst="roundRect">
            <a:avLst>
              <a:gd name="adj" fmla="val 16667"/>
            </a:avLst>
          </a:prstGeom>
          <a:solidFill>
            <a:schemeClr val="accent2"/>
          </a:solidFill>
          <a:ln/>
        </p:spPr>
      </p:sp>
      <p:sp>
        <p:nvSpPr>
          <p:cNvPr id="41" name="text-427"/>
          <p:cNvSpPr txBox="1"/>
          <p:nvPr/>
        </p:nvSpPr>
        <p:spPr>
          <a:xfrm>
            <a:off x="2359152" y="3657600"/>
            <a:ext cx="9144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RDL</a:t>
            </a:r>
            <a:endParaRPr lang="en-US" sz="1200" dirty="0"/>
          </a:p>
        </p:txBody>
      </p:sp>
      <p:sp>
        <p:nvSpPr>
          <p:cNvPr id="42" name="text-428"/>
          <p:cNvSpPr txBox="1"/>
          <p:nvPr/>
        </p:nvSpPr>
        <p:spPr>
          <a:xfrm>
            <a:off x="1764792" y="4142232"/>
            <a:ext cx="182880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Single lines</a:t>
            </a:r>
            <a:endParaRPr lang="en-US" sz="1350" dirty="0"/>
          </a:p>
        </p:txBody>
      </p:sp>
      <p:sp>
        <p:nvSpPr>
          <p:cNvPr id="43" name="text-429"/>
          <p:cNvSpPr txBox="1"/>
          <p:nvPr/>
        </p:nvSpPr>
        <p:spPr>
          <a:xfrm>
            <a:off x="1764792" y="4480560"/>
            <a:ext cx="1828800" cy="73152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Lane closures, work zones, kerb on any line</a:t>
            </a:r>
            <a:endParaRPr lang="en-US" sz="1050" dirty="0"/>
          </a:p>
        </p:txBody>
      </p:sp>
      <p:sp>
        <p:nvSpPr>
          <p:cNvPr id="44" name="text-430"/>
          <p:cNvSpPr txBox="1"/>
          <p:nvPr/>
        </p:nvSpPr>
        <p:spPr>
          <a:xfrm>
            <a:off x="3675888" y="4160520"/>
            <a:ext cx="219456" cy="365760"/>
          </a:xfrm>
          <a:prstGeom prst="rect">
            <a:avLst/>
          </a:prstGeom>
          <a:noFill/>
          <a:ln/>
        </p:spPr>
        <p:txBody>
          <a:bodyPr wrap="square" lIns="0" tIns="0" rIns="0" bIns="0" rtlCol="0" anchor="t"/>
          <a:lstStyle/>
          <a:p>
            <a:pPr algn="ctr" indent="0" marL="0">
              <a:buNone/>
            </a:pPr>
            <a:r>
              <a:rPr lang="en-US" sz="2200" b="1" dirty="0">
                <a:solidFill>
                  <a:schemeClr val="accent1"/>
                </a:solidFill>
                <a:latin typeface="Calibri" pitchFamily="34" charset="0"/>
                <a:ea typeface="Calibri" pitchFamily="34" charset="-122"/>
                <a:cs typeface="Calibri" pitchFamily="34" charset="-120"/>
              </a:rPr>
              <a:t>›</a:t>
            </a:r>
            <a:endParaRPr lang="en-US" sz="2200" dirty="0"/>
          </a:p>
        </p:txBody>
      </p:sp>
      <p:sp>
        <p:nvSpPr>
          <p:cNvPr id="45" name="shape-431"/>
          <p:cNvSpPr/>
          <p:nvPr/>
        </p:nvSpPr>
        <p:spPr>
          <a:xfrm>
            <a:off x="3886200" y="3520440"/>
            <a:ext cx="2057400" cy="1783080"/>
          </a:xfrm>
          <a:prstGeom prst="roundRect">
            <a:avLst>
              <a:gd name="adj" fmla="val 4103"/>
            </a:avLst>
          </a:prstGeom>
          <a:solidFill>
            <a:srgbClr val="F4F5F7"/>
          </a:solidFill>
          <a:ln w="9525">
            <a:solidFill>
              <a:srgbClr val="E3E5E8"/>
            </a:solidFill>
            <a:prstDash val="solid"/>
          </a:ln>
        </p:spPr>
      </p:sp>
      <p:sp>
        <p:nvSpPr>
          <p:cNvPr id="46" name="text-432"/>
          <p:cNvSpPr txBox="1"/>
          <p:nvPr/>
        </p:nvSpPr>
        <p:spPr>
          <a:xfrm>
            <a:off x="4023360" y="3630168"/>
            <a:ext cx="457200" cy="27432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7</a:t>
            </a:r>
            <a:endParaRPr lang="en-US" sz="1800" dirty="0"/>
          </a:p>
        </p:txBody>
      </p:sp>
      <p:sp>
        <p:nvSpPr>
          <p:cNvPr id="47" name="shape-433"/>
          <p:cNvSpPr/>
          <p:nvPr/>
        </p:nvSpPr>
        <p:spPr>
          <a:xfrm>
            <a:off x="4617720" y="3657600"/>
            <a:ext cx="914400" cy="329184"/>
          </a:xfrm>
          <a:prstGeom prst="roundRect">
            <a:avLst>
              <a:gd name="adj" fmla="val 16667"/>
            </a:avLst>
          </a:prstGeom>
          <a:solidFill>
            <a:schemeClr val="accent1"/>
          </a:solidFill>
          <a:ln/>
        </p:spPr>
      </p:sp>
      <p:sp>
        <p:nvSpPr>
          <p:cNvPr id="48" name="text-434"/>
          <p:cNvSpPr txBox="1"/>
          <p:nvPr/>
        </p:nvSpPr>
        <p:spPr>
          <a:xfrm>
            <a:off x="4617720" y="3657600"/>
            <a:ext cx="9144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RDM</a:t>
            </a:r>
            <a:endParaRPr lang="en-US" sz="1200" dirty="0"/>
          </a:p>
        </p:txBody>
      </p:sp>
      <p:sp>
        <p:nvSpPr>
          <p:cNvPr id="49" name="text-435"/>
          <p:cNvSpPr txBox="1"/>
          <p:nvPr/>
        </p:nvSpPr>
        <p:spPr>
          <a:xfrm>
            <a:off x="4023360" y="4142232"/>
            <a:ext cx="182880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Markings</a:t>
            </a:r>
            <a:endParaRPr lang="en-US" sz="1350" dirty="0"/>
          </a:p>
        </p:txBody>
      </p:sp>
      <p:sp>
        <p:nvSpPr>
          <p:cNvPr id="50" name="text-436"/>
          <p:cNvSpPr txBox="1"/>
          <p:nvPr/>
        </p:nvSpPr>
        <p:spPr>
          <a:xfrm>
            <a:off x="4023360" y="4480560"/>
            <a:ext cx="1828800" cy="73152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Draw or redraw markings when needed</a:t>
            </a:r>
            <a:endParaRPr lang="en-US" sz="1050" dirty="0"/>
          </a:p>
        </p:txBody>
      </p:sp>
      <p:sp>
        <p:nvSpPr>
          <p:cNvPr id="51" name="text-437"/>
          <p:cNvSpPr txBox="1"/>
          <p:nvPr/>
        </p:nvSpPr>
        <p:spPr>
          <a:xfrm>
            <a:off x="5934456" y="4160520"/>
            <a:ext cx="219456" cy="365760"/>
          </a:xfrm>
          <a:prstGeom prst="rect">
            <a:avLst/>
          </a:prstGeom>
          <a:noFill/>
          <a:ln/>
        </p:spPr>
        <p:txBody>
          <a:bodyPr wrap="square" lIns="0" tIns="0" rIns="0" bIns="0" rtlCol="0" anchor="t"/>
          <a:lstStyle/>
          <a:p>
            <a:pPr algn="ctr" indent="0" marL="0">
              <a:buNone/>
            </a:pPr>
            <a:r>
              <a:rPr lang="en-US" sz="2200" b="1" dirty="0">
                <a:solidFill>
                  <a:schemeClr val="accent1"/>
                </a:solidFill>
                <a:latin typeface="Calibri" pitchFamily="34" charset="0"/>
                <a:ea typeface="Calibri" pitchFamily="34" charset="-122"/>
                <a:cs typeface="Calibri" pitchFamily="34" charset="-120"/>
              </a:rPr>
              <a:t>›</a:t>
            </a:r>
            <a:endParaRPr lang="en-US" sz="2200" dirty="0"/>
          </a:p>
        </p:txBody>
      </p:sp>
      <p:sp>
        <p:nvSpPr>
          <p:cNvPr id="52" name="shape-438"/>
          <p:cNvSpPr/>
          <p:nvPr/>
        </p:nvSpPr>
        <p:spPr>
          <a:xfrm>
            <a:off x="6144768" y="3520440"/>
            <a:ext cx="2057400" cy="1783080"/>
          </a:xfrm>
          <a:prstGeom prst="roundRect">
            <a:avLst>
              <a:gd name="adj" fmla="val 4103"/>
            </a:avLst>
          </a:prstGeom>
          <a:solidFill>
            <a:srgbClr val="F4F5F7"/>
          </a:solidFill>
          <a:ln w="9525">
            <a:solidFill>
              <a:srgbClr val="E3E5E8"/>
            </a:solidFill>
            <a:prstDash val="solid"/>
          </a:ln>
        </p:spPr>
      </p:sp>
      <p:sp>
        <p:nvSpPr>
          <p:cNvPr id="53" name="text-439"/>
          <p:cNvSpPr txBox="1"/>
          <p:nvPr/>
        </p:nvSpPr>
        <p:spPr>
          <a:xfrm>
            <a:off x="6281928" y="3630168"/>
            <a:ext cx="457200" cy="27432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8</a:t>
            </a:r>
            <a:endParaRPr lang="en-US" sz="1800" dirty="0"/>
          </a:p>
        </p:txBody>
      </p:sp>
      <p:sp>
        <p:nvSpPr>
          <p:cNvPr id="54" name="shape-440"/>
          <p:cNvSpPr/>
          <p:nvPr/>
        </p:nvSpPr>
        <p:spPr>
          <a:xfrm>
            <a:off x="6876288" y="3657600"/>
            <a:ext cx="914400" cy="329184"/>
          </a:xfrm>
          <a:prstGeom prst="roundRect">
            <a:avLst>
              <a:gd name="adj" fmla="val 16667"/>
            </a:avLst>
          </a:prstGeom>
          <a:solidFill>
            <a:schemeClr val="accent1"/>
          </a:solidFill>
          <a:ln/>
        </p:spPr>
      </p:sp>
      <p:sp>
        <p:nvSpPr>
          <p:cNvPr id="55" name="text-441"/>
          <p:cNvSpPr txBox="1"/>
          <p:nvPr/>
        </p:nvSpPr>
        <p:spPr>
          <a:xfrm>
            <a:off x="6876288" y="3657600"/>
            <a:ext cx="9144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RDX</a:t>
            </a:r>
            <a:endParaRPr lang="en-US" sz="1200" dirty="0"/>
          </a:p>
        </p:txBody>
      </p:sp>
      <p:sp>
        <p:nvSpPr>
          <p:cNvPr id="56" name="text-442"/>
          <p:cNvSpPr txBox="1"/>
          <p:nvPr/>
        </p:nvSpPr>
        <p:spPr>
          <a:xfrm>
            <a:off x="6281928" y="4142232"/>
            <a:ext cx="182880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Cross sections</a:t>
            </a:r>
            <a:endParaRPr lang="en-US" sz="1350" dirty="0"/>
          </a:p>
        </p:txBody>
      </p:sp>
      <p:sp>
        <p:nvSpPr>
          <p:cNvPr id="57" name="text-443"/>
          <p:cNvSpPr txBox="1"/>
          <p:nvPr/>
        </p:nvSpPr>
        <p:spPr>
          <a:xfrm>
            <a:off x="6281928" y="4480560"/>
            <a:ext cx="1828800" cy="73152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Typical, one chainage or every interval</a:t>
            </a:r>
            <a:endParaRPr lang="en-US" sz="1050" dirty="0"/>
          </a:p>
        </p:txBody>
      </p:sp>
      <p:sp>
        <p:nvSpPr>
          <p:cNvPr id="58" name="text-444"/>
          <p:cNvSpPr txBox="1"/>
          <p:nvPr/>
        </p:nvSpPr>
        <p:spPr>
          <a:xfrm>
            <a:off x="8193024" y="4160520"/>
            <a:ext cx="219456" cy="365760"/>
          </a:xfrm>
          <a:prstGeom prst="rect">
            <a:avLst/>
          </a:prstGeom>
          <a:noFill/>
          <a:ln/>
        </p:spPr>
        <p:txBody>
          <a:bodyPr wrap="square" lIns="0" tIns="0" rIns="0" bIns="0" rtlCol="0" anchor="t"/>
          <a:lstStyle/>
          <a:p>
            <a:pPr algn="ctr" indent="0" marL="0">
              <a:buNone/>
            </a:pPr>
            <a:r>
              <a:rPr lang="en-US" sz="2200" b="1" dirty="0">
                <a:solidFill>
                  <a:schemeClr val="accent1"/>
                </a:solidFill>
                <a:latin typeface="Calibri" pitchFamily="34" charset="0"/>
                <a:ea typeface="Calibri" pitchFamily="34" charset="-122"/>
                <a:cs typeface="Calibri" pitchFamily="34" charset="-120"/>
              </a:rPr>
              <a:t>›</a:t>
            </a:r>
            <a:endParaRPr lang="en-US" sz="2200" dirty="0"/>
          </a:p>
        </p:txBody>
      </p:sp>
      <p:sp>
        <p:nvSpPr>
          <p:cNvPr id="59" name="shape-445"/>
          <p:cNvSpPr/>
          <p:nvPr/>
        </p:nvSpPr>
        <p:spPr>
          <a:xfrm>
            <a:off x="8403336" y="3520440"/>
            <a:ext cx="2057400" cy="1783080"/>
          </a:xfrm>
          <a:prstGeom prst="roundRect">
            <a:avLst>
              <a:gd name="adj" fmla="val 4103"/>
            </a:avLst>
          </a:prstGeom>
          <a:solidFill>
            <a:srgbClr val="F4F5F7"/>
          </a:solidFill>
          <a:ln w="9525">
            <a:solidFill>
              <a:srgbClr val="E3E5E8"/>
            </a:solidFill>
            <a:prstDash val="solid"/>
          </a:ln>
        </p:spPr>
      </p:sp>
      <p:sp>
        <p:nvSpPr>
          <p:cNvPr id="60" name="text-446"/>
          <p:cNvSpPr txBox="1"/>
          <p:nvPr/>
        </p:nvSpPr>
        <p:spPr>
          <a:xfrm>
            <a:off x="8540496" y="3630168"/>
            <a:ext cx="457200" cy="27432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9</a:t>
            </a:r>
            <a:endParaRPr lang="en-US" sz="1800" dirty="0"/>
          </a:p>
        </p:txBody>
      </p:sp>
      <p:sp>
        <p:nvSpPr>
          <p:cNvPr id="61" name="shape-447"/>
          <p:cNvSpPr/>
          <p:nvPr/>
        </p:nvSpPr>
        <p:spPr>
          <a:xfrm>
            <a:off x="9134856" y="3657600"/>
            <a:ext cx="914400" cy="329184"/>
          </a:xfrm>
          <a:prstGeom prst="roundRect">
            <a:avLst>
              <a:gd name="adj" fmla="val 16667"/>
            </a:avLst>
          </a:prstGeom>
          <a:solidFill>
            <a:schemeClr val="accent1"/>
          </a:solidFill>
          <a:ln/>
        </p:spPr>
      </p:sp>
      <p:sp>
        <p:nvSpPr>
          <p:cNvPr id="62" name="text-448"/>
          <p:cNvSpPr txBox="1"/>
          <p:nvPr/>
        </p:nvSpPr>
        <p:spPr>
          <a:xfrm>
            <a:off x="9134856" y="3657600"/>
            <a:ext cx="9144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RDR</a:t>
            </a:r>
            <a:endParaRPr lang="en-US" sz="1200" dirty="0"/>
          </a:p>
        </p:txBody>
      </p:sp>
      <p:sp>
        <p:nvSpPr>
          <p:cNvPr id="63" name="text-449"/>
          <p:cNvSpPr txBox="1"/>
          <p:nvPr/>
        </p:nvSpPr>
        <p:spPr>
          <a:xfrm>
            <a:off x="8540496" y="4142232"/>
            <a:ext cx="1828800" cy="292608"/>
          </a:xfrm>
          <a:prstGeom prst="rect">
            <a:avLst/>
          </a:prstGeom>
          <a:noFill/>
          <a:ln/>
        </p:spPr>
        <p:txBody>
          <a:bodyPr wrap="square" lIns="0" tIns="0" rIns="0" bIns="0" rtlCol="0" anchor="t"/>
          <a:lstStyle/>
          <a:p>
            <a:pPr indent="0" marL="0">
              <a:buNone/>
            </a:pPr>
            <a:r>
              <a:rPr lang="en-US" sz="1350" b="1" dirty="0">
                <a:solidFill>
                  <a:schemeClr val="tx1"/>
                </a:solidFill>
                <a:latin typeface="Calibri" pitchFamily="34" charset="0"/>
                <a:ea typeface="Calibri" pitchFamily="34" charset="-122"/>
                <a:cs typeface="Calibri" pitchFamily="34" charset="-120"/>
              </a:rPr>
              <a:t>Report</a:t>
            </a:r>
            <a:endParaRPr lang="en-US" sz="1350" dirty="0"/>
          </a:p>
        </p:txBody>
      </p:sp>
      <p:sp>
        <p:nvSpPr>
          <p:cNvPr id="64" name="text-450"/>
          <p:cNvSpPr txBox="1"/>
          <p:nvPr/>
        </p:nvSpPr>
        <p:spPr>
          <a:xfrm>
            <a:off x="8540496" y="4480560"/>
            <a:ext cx="1828800" cy="73152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Run last: quantities, setting-out, Excel</a:t>
            </a:r>
            <a:endParaRPr lang="en-US" sz="1050" dirty="0"/>
          </a:p>
        </p:txBody>
      </p:sp>
      <p:sp>
        <p:nvSpPr>
          <p:cNvPr id="65" name="shape-451"/>
          <p:cNvSpPr/>
          <p:nvPr/>
        </p:nvSpPr>
        <p:spPr>
          <a:xfrm>
            <a:off x="502920" y="5715000"/>
            <a:ext cx="11155680" cy="502920"/>
          </a:xfrm>
          <a:prstGeom prst="roundRect">
            <a:avLst>
              <a:gd name="adj" fmla="val 14545"/>
            </a:avLst>
          </a:prstGeom>
          <a:solidFill>
            <a:srgbClr val="FFF6D6"/>
          </a:solidFill>
          <a:ln w="9525">
            <a:solidFill>
              <a:srgbClr val="F2D27A"/>
            </a:solidFill>
            <a:prstDash val="solid"/>
          </a:ln>
        </p:spPr>
      </p:sp>
      <p:sp>
        <p:nvSpPr>
          <p:cNvPr id="66" name="text-452"/>
          <p:cNvSpPr txBox="1"/>
          <p:nvPr/>
        </p:nvSpPr>
        <p:spPr>
          <a:xfrm>
            <a:off x="649224" y="5788152"/>
            <a:ext cx="10863072" cy="356616"/>
          </a:xfrm>
          <a:prstGeom prst="rect">
            <a:avLst/>
          </a:prstGeom>
          <a:noFill/>
          <a:ln/>
        </p:spPr>
        <p:txBody>
          <a:bodyPr wrap="square" lIns="0" tIns="0" rIns="0" bIns="0" rtlCol="0" anchor="ctr"/>
          <a:lstStyle/>
          <a:p>
            <a:pPr indent="0" marL="0">
              <a:buNone/>
            </a:pPr>
            <a:r>
              <a:rPr lang="en-US" sz="1050" b="1" dirty="0">
                <a:solidFill>
                  <a:srgbClr val="A65F00"/>
                </a:solidFill>
                <a:latin typeface="Calibri" pitchFamily="34" charset="0"/>
                <a:ea typeface="Calibri" pitchFamily="34" charset="-122"/>
                <a:cs typeface="Calibri" pitchFamily="34" charset="-120"/>
              </a:rPr>
              <a:t>Run RDR last  </a:t>
            </a:r>
            <a:pPr indent="0" marL="0">
              <a:buNone/>
            </a:pPr>
            <a:r>
              <a:rPr lang="en-US" sz="1050" dirty="0">
                <a:solidFill>
                  <a:srgbClr val="3A3F45"/>
                </a:solidFill>
                <a:latin typeface="Calibri" pitchFamily="34" charset="0"/>
                <a:ea typeface="Calibri" pitchFamily="34" charset="-122"/>
                <a:cs typeface="Calibri" pitchFamily="34" charset="-120"/>
              </a:rPr>
              <a:t>The report reads everything stored on the CL (widenings, tapers, junctions, markings, corridor). Change later: RDC corridor, RDER radius, RDB after editing the CL by hand.</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A  ·  GETTING STARTED</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Before you start: prepare the drawing</a:t>
            </a:r>
            <a:endParaRPr lang="en-US" sz="2600" dirty="0"/>
          </a:p>
        </p:txBody>
      </p:sp>
      <p:sp>
        <p:nvSpPr>
          <p:cNvPr id="4" name="shape-453"/>
          <p:cNvSpPr/>
          <p:nvPr/>
        </p:nvSpPr>
        <p:spPr>
          <a:xfrm>
            <a:off x="502920" y="1325880"/>
            <a:ext cx="5760720" cy="4892040"/>
          </a:xfrm>
          <a:prstGeom prst="roundRect">
            <a:avLst>
              <a:gd name="adj" fmla="val 1495"/>
            </a:avLst>
          </a:prstGeom>
          <a:solidFill>
            <a:srgbClr val="F4F5F7"/>
          </a:solidFill>
          <a:ln w="9525">
            <a:solidFill>
              <a:srgbClr val="E3E5E8"/>
            </a:solidFill>
            <a:prstDash val="solid"/>
          </a:ln>
        </p:spPr>
      </p:sp>
      <p:sp>
        <p:nvSpPr>
          <p:cNvPr id="5" name="text-454"/>
          <p:cNvSpPr txBox="1"/>
          <p:nvPr/>
        </p:nvSpPr>
        <p:spPr>
          <a:xfrm>
            <a:off x="667512" y="1463040"/>
            <a:ext cx="543153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Checklist</a:t>
            </a:r>
            <a:endParaRPr lang="en-US" sz="1300" dirty="0"/>
          </a:p>
        </p:txBody>
      </p:sp>
      <p:sp>
        <p:nvSpPr>
          <p:cNvPr id="6" name="text-455"/>
          <p:cNvSpPr txBox="1"/>
          <p:nvPr/>
        </p:nvSpPr>
        <p:spPr>
          <a:xfrm>
            <a:off x="667512" y="1828800"/>
            <a:ext cx="5431536" cy="4279392"/>
          </a:xfrm>
          <a:prstGeom prst="rect">
            <a:avLst/>
          </a:prstGeom>
          <a:noFill/>
          <a:ln/>
        </p:spPr>
        <p:txBody>
          <a:bodyPr wrap="square" lIns="0" tIns="0" rIns="0" bIns="0" rtlCol="0" anchor="t"/>
          <a:lstStyle/>
          <a:p>
            <a:pPr marL="152400" indent="-152400">
              <a:spcAft>
                <a:spcPts val="700"/>
              </a:spcAft>
              <a:buSzPct val="100000"/>
              <a:buChar char="•"/>
            </a:pPr>
            <a:r>
              <a:rPr lang="en-US" sz="1200" b="1" dirty="0">
                <a:solidFill>
                  <a:srgbClr val="3A3F45"/>
                </a:solidFill>
                <a:latin typeface="Calibri" pitchFamily="34" charset="0"/>
                <a:ea typeface="Calibri" pitchFamily="34" charset="-122"/>
                <a:cs typeface="Calibri" pitchFamily="34" charset="-120"/>
              </a:rPr>
              <a:t>Units.  </a:t>
            </a:r>
            <a:pPr indent="0" marL="0">
              <a:spcAft>
                <a:spcPts val="700"/>
              </a:spcAft>
              <a:buNone/>
            </a:pPr>
            <a:r>
              <a:rPr lang="en-US" sz="1200" dirty="0">
                <a:solidFill>
                  <a:srgbClr val="3A3F45"/>
                </a:solidFill>
                <a:latin typeface="Calibri" pitchFamily="34" charset="0"/>
                <a:ea typeface="Calibri" pitchFamily="34" charset="-122"/>
                <a:cs typeface="Calibri" pitchFamily="34" charset="-120"/>
              </a:rPr>
              <a:t>Decide 1 unit = 1 m (default) or 1 unit = 1 mm and set Drawing units in RDP. Values in all dialogs are always typed in metres. RDL uses the same setting.</a:t>
            </a:r>
            <a:endParaRPr lang="en-US" sz="1200" dirty="0"/>
          </a:p>
          <a:p>
            <a:pPr marL="152400" indent="-152400">
              <a:spcAft>
                <a:spcPts val="700"/>
              </a:spcAft>
              <a:buSzPct val="100000"/>
              <a:buChar char="•"/>
            </a:pPr>
            <a:r>
              <a:rPr lang="en-US" sz="1200" b="1" dirty="0">
                <a:solidFill>
                  <a:srgbClr val="3A3F45"/>
                </a:solidFill>
                <a:latin typeface="Calibri" pitchFamily="34" charset="0"/>
                <a:ea typeface="Calibri" pitchFamily="34" charset="-122"/>
                <a:cs typeface="Calibri" pitchFamily="34" charset="-120"/>
              </a:rPr>
              <a:t>Direction.  </a:t>
            </a:r>
            <a:pPr indent="0" marL="0">
              <a:spcAft>
                <a:spcPts val="700"/>
              </a:spcAft>
              <a:buNone/>
            </a:pPr>
            <a:r>
              <a:rPr lang="en-US" sz="1200" dirty="0">
                <a:solidFill>
                  <a:srgbClr val="3A3F45"/>
                </a:solidFill>
                <a:latin typeface="Calibri" pitchFamily="34" charset="0"/>
                <a:ea typeface="Calibri" pitchFamily="34" charset="-122"/>
                <a:cs typeface="Calibri" pitchFamily="34" charset="-120"/>
              </a:rPr>
              <a:t>Draw the centre line in the chainage direction. The first point is the start chainage.</a:t>
            </a:r>
            <a:endParaRPr lang="en-US" sz="1200" dirty="0"/>
          </a:p>
          <a:p>
            <a:pPr marL="152400" indent="-152400">
              <a:spcAft>
                <a:spcPts val="700"/>
              </a:spcAft>
              <a:buSzPct val="100000"/>
              <a:buChar char="•"/>
            </a:pPr>
            <a:r>
              <a:rPr lang="en-US" sz="1200" b="1" dirty="0">
                <a:solidFill>
                  <a:srgbClr val="3A3F45"/>
                </a:solidFill>
                <a:latin typeface="Calibri" pitchFamily="34" charset="0"/>
                <a:ea typeface="Calibri" pitchFamily="34" charset="-122"/>
                <a:cs typeface="Calibri" pitchFamily="34" charset="-120"/>
              </a:rPr>
              <a:t>One object.  </a:t>
            </a:r>
            <a:pPr indent="0" marL="0">
              <a:spcAft>
                <a:spcPts val="700"/>
              </a:spcAft>
              <a:buNone/>
            </a:pPr>
            <a:r>
              <a:rPr lang="en-US" sz="1200" dirty="0">
                <a:solidFill>
                  <a:srgbClr val="3A3F45"/>
                </a:solidFill>
                <a:latin typeface="Calibri" pitchFamily="34" charset="0"/>
                <a:ea typeface="Calibri" pitchFamily="34" charset="-122"/>
                <a:cs typeface="Calibri" pitchFamily="34" charset="-120"/>
              </a:rPr>
              <a:t>Use one Line, Arc or 2D (LW) Polyline with straight and arc segments. Join pieces first with JOIN; explode blocks.</a:t>
            </a:r>
            <a:endParaRPr lang="en-US" sz="1200" dirty="0"/>
          </a:p>
          <a:p>
            <a:pPr marL="152400" indent="-152400">
              <a:spcAft>
                <a:spcPts val="700"/>
              </a:spcAft>
              <a:buSzPct val="100000"/>
              <a:buChar char="•"/>
            </a:pPr>
            <a:r>
              <a:rPr lang="en-US" sz="1200" b="1" dirty="0">
                <a:solidFill>
                  <a:srgbClr val="3A3F45"/>
                </a:solidFill>
                <a:latin typeface="Calibri" pitchFamily="34" charset="0"/>
                <a:ea typeface="Calibri" pitchFamily="34" charset="-122"/>
                <a:cs typeface="Calibri" pitchFamily="34" charset="-120"/>
              </a:rPr>
              <a:t>Survey points.  </a:t>
            </a:r>
            <a:pPr indent="0" marL="0">
              <a:spcAft>
                <a:spcPts val="700"/>
              </a:spcAft>
              <a:buNone/>
            </a:pPr>
            <a:r>
              <a:rPr lang="en-US" sz="1200" dirty="0">
                <a:solidFill>
                  <a:srgbClr val="3A3F45"/>
                </a:solidFill>
                <a:latin typeface="Calibri" pitchFamily="34" charset="0"/>
                <a:ea typeface="Calibri" pitchFamily="34" charset="-122"/>
                <a:cs typeface="Calibri" pitchFamily="34" charset="-120"/>
              </a:rPr>
              <a:t>Turn on OSNAP and snap the CL to your design or survey points.</a:t>
            </a:r>
            <a:endParaRPr lang="en-US" sz="1200" dirty="0"/>
          </a:p>
          <a:p>
            <a:pPr marL="152400" indent="-152400">
              <a:spcAft>
                <a:spcPts val="700"/>
              </a:spcAft>
              <a:buSzPct val="100000"/>
              <a:buChar char="•"/>
            </a:pPr>
            <a:r>
              <a:rPr lang="en-US" sz="1200" b="1" dirty="0">
                <a:solidFill>
                  <a:srgbClr val="3A3F45"/>
                </a:solidFill>
                <a:latin typeface="Calibri" pitchFamily="34" charset="0"/>
                <a:ea typeface="Calibri" pitchFamily="34" charset="-122"/>
                <a:cs typeface="Calibri" pitchFamily="34" charset="-120"/>
              </a:rPr>
              <a:t>Space and UCS.  </a:t>
            </a:r>
            <a:pPr indent="0" marL="0">
              <a:spcAft>
                <a:spcPts val="700"/>
              </a:spcAft>
              <a:buNone/>
            </a:pPr>
            <a:r>
              <a:rPr lang="en-US" sz="1200" dirty="0">
                <a:solidFill>
                  <a:srgbClr val="3A3F45"/>
                </a:solidFill>
                <a:latin typeface="Calibri" pitchFamily="34" charset="0"/>
                <a:ea typeface="Calibri" pitchFamily="34" charset="-122"/>
                <a:cs typeface="Calibri" pitchFamily="34" charset="-120"/>
              </a:rPr>
              <a:t>Work in model space. RoadPro switches to the World UCS while it runs and restores yours.</a:t>
            </a:r>
            <a:endParaRPr lang="en-US" sz="1200" dirty="0"/>
          </a:p>
          <a:p>
            <a:pPr marL="152400" indent="-152400">
              <a:spcAft>
                <a:spcPts val="700"/>
              </a:spcAft>
              <a:buSzPct val="100000"/>
              <a:buChar char="•"/>
            </a:pPr>
            <a:r>
              <a:rPr lang="en-US" sz="1200" b="1" dirty="0">
                <a:solidFill>
                  <a:srgbClr val="3A3F45"/>
                </a:solidFill>
                <a:latin typeface="Calibri" pitchFamily="34" charset="0"/>
                <a:ea typeface="Calibri" pitchFamily="34" charset="-122"/>
                <a:cs typeface="Calibri" pitchFamily="34" charset="-120"/>
              </a:rPr>
              <a:t>Save the DWG.  </a:t>
            </a:r>
            <a:pPr indent="0" marL="0">
              <a:spcAft>
                <a:spcPts val="700"/>
              </a:spcAft>
              <a:buNone/>
            </a:pPr>
            <a:r>
              <a:rPr lang="en-US" sz="1200" dirty="0">
                <a:solidFill>
                  <a:srgbClr val="3A3F45"/>
                </a:solidFill>
                <a:latin typeface="Calibri" pitchFamily="34" charset="0"/>
                <a:ea typeface="Calibri" pitchFamily="34" charset="-122"/>
                <a:cs typeface="Calibri" pitchFamily="34" charset="-120"/>
              </a:rPr>
              <a:t>Save before RDR: the Excel (CSV) file is written next to the drawing.</a:t>
            </a:r>
            <a:endParaRPr lang="en-US" sz="1200" dirty="0"/>
          </a:p>
        </p:txBody>
      </p:sp>
      <p:sp>
        <p:nvSpPr>
          <p:cNvPr id="7" name="shape-456"/>
          <p:cNvSpPr/>
          <p:nvPr/>
        </p:nvSpPr>
        <p:spPr>
          <a:xfrm>
            <a:off x="6492240" y="1325880"/>
            <a:ext cx="5166360" cy="4892040"/>
          </a:xfrm>
          <a:prstGeom prst="roundRect">
            <a:avLst>
              <a:gd name="adj" fmla="val 1495"/>
            </a:avLst>
          </a:prstGeom>
          <a:solidFill>
            <a:srgbClr val="F4F5F7"/>
          </a:solidFill>
          <a:ln w="9525">
            <a:solidFill>
              <a:srgbClr val="E3E5E8"/>
            </a:solidFill>
            <a:prstDash val="solid"/>
          </a:ln>
        </p:spPr>
      </p:sp>
      <p:sp>
        <p:nvSpPr>
          <p:cNvPr id="8" name="text-457"/>
          <p:cNvSpPr txBox="1"/>
          <p:nvPr/>
        </p:nvSpPr>
        <p:spPr>
          <a:xfrm>
            <a:off x="6675120" y="1463040"/>
            <a:ext cx="4754880"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Left and right, and chainage</a:t>
            </a:r>
            <a:endParaRPr lang="en-US" sz="1300" dirty="0"/>
          </a:p>
        </p:txBody>
      </p:sp>
      <p:sp>
        <p:nvSpPr>
          <p:cNvPr id="9" name="shape-458"/>
          <p:cNvSpPr/>
          <p:nvPr/>
        </p:nvSpPr>
        <p:spPr>
          <a:xfrm>
            <a:off x="6858000" y="2514600"/>
            <a:ext cx="4480560" cy="1097280"/>
          </a:xfrm>
          <a:prstGeom prst="rect">
            <a:avLst/>
          </a:prstGeom>
          <a:solidFill>
            <a:schemeClr val="accent5"/>
          </a:solidFill>
          <a:ln/>
        </p:spPr>
      </p:sp>
      <p:sp>
        <p:nvSpPr>
          <p:cNvPr id="10" name="shape-459"/>
          <p:cNvSpPr/>
          <p:nvPr/>
        </p:nvSpPr>
        <p:spPr>
          <a:xfrm>
            <a:off x="6858000" y="2560320"/>
            <a:ext cx="4480560" cy="0"/>
          </a:xfrm>
          <a:prstGeom prst="line">
            <a:avLst/>
          </a:prstGeom>
          <a:noFill/>
          <a:ln w="15875">
            <a:solidFill>
              <a:schemeClr val="accent2"/>
            </a:solidFill>
            <a:prstDash val="solid"/>
          </a:ln>
        </p:spPr>
      </p:sp>
      <p:sp>
        <p:nvSpPr>
          <p:cNvPr id="11" name="shape-460"/>
          <p:cNvSpPr/>
          <p:nvPr/>
        </p:nvSpPr>
        <p:spPr>
          <a:xfrm>
            <a:off x="6858000" y="3566160"/>
            <a:ext cx="4480560" cy="0"/>
          </a:xfrm>
          <a:prstGeom prst="line">
            <a:avLst/>
          </a:prstGeom>
          <a:noFill/>
          <a:ln w="15875">
            <a:solidFill>
              <a:schemeClr val="accent2"/>
            </a:solidFill>
            <a:prstDash val="solid"/>
          </a:ln>
        </p:spPr>
      </p:sp>
      <p:sp>
        <p:nvSpPr>
          <p:cNvPr id="12" name="shape-461"/>
          <p:cNvSpPr/>
          <p:nvPr/>
        </p:nvSpPr>
        <p:spPr>
          <a:xfrm>
            <a:off x="6949440" y="3063240"/>
            <a:ext cx="4251960" cy="0"/>
          </a:xfrm>
          <a:prstGeom prst="line">
            <a:avLst/>
          </a:prstGeom>
          <a:noFill/>
          <a:ln w="25400">
            <a:solidFill>
              <a:schemeClr val="accent1"/>
            </a:solidFill>
            <a:prstDash val="solid"/>
            <a:tailEnd type="triangle"/>
          </a:ln>
        </p:spPr>
      </p:sp>
      <p:sp>
        <p:nvSpPr>
          <p:cNvPr id="13" name="shape-462"/>
          <p:cNvSpPr/>
          <p:nvPr/>
        </p:nvSpPr>
        <p:spPr>
          <a:xfrm>
            <a:off x="6876288" y="2990088"/>
            <a:ext cx="146304" cy="146304"/>
          </a:xfrm>
          <a:prstGeom prst="ellipse">
            <a:avLst/>
          </a:prstGeom>
          <a:solidFill>
            <a:schemeClr val="accent1"/>
          </a:solidFill>
          <a:ln/>
        </p:spPr>
      </p:sp>
      <p:sp>
        <p:nvSpPr>
          <p:cNvPr id="14" name="text-463"/>
          <p:cNvSpPr txBox="1"/>
          <p:nvPr/>
        </p:nvSpPr>
        <p:spPr>
          <a:xfrm>
            <a:off x="6675120" y="3703320"/>
            <a:ext cx="1463040" cy="228600"/>
          </a:xfrm>
          <a:prstGeom prst="rect">
            <a:avLst/>
          </a:prstGeom>
          <a:noFill/>
          <a:ln/>
        </p:spPr>
        <p:txBody>
          <a:bodyPr wrap="square" lIns="0" tIns="0" rIns="0" bIns="0" rtlCol="0" anchor="t"/>
          <a:lstStyle/>
          <a:p>
            <a:pPr indent="0" marL="0">
              <a:buNone/>
            </a:pPr>
            <a:r>
              <a:rPr lang="en-US" sz="950" b="1" dirty="0">
                <a:solidFill>
                  <a:schemeClr val="accent1"/>
                </a:solidFill>
                <a:latin typeface="Calibri" pitchFamily="34" charset="0"/>
                <a:ea typeface="Calibri" pitchFamily="34" charset="-122"/>
                <a:cs typeface="Calibri" pitchFamily="34" charset="-120"/>
              </a:rPr>
              <a:t>START  0+000</a:t>
            </a:r>
            <a:endParaRPr lang="en-US" sz="950" dirty="0"/>
          </a:p>
        </p:txBody>
      </p:sp>
      <p:sp>
        <p:nvSpPr>
          <p:cNvPr id="15" name="text-464"/>
          <p:cNvSpPr txBox="1"/>
          <p:nvPr/>
        </p:nvSpPr>
        <p:spPr>
          <a:xfrm>
            <a:off x="10789920" y="3703320"/>
            <a:ext cx="548640" cy="228600"/>
          </a:xfrm>
          <a:prstGeom prst="rect">
            <a:avLst/>
          </a:prstGeom>
          <a:noFill/>
          <a:ln/>
        </p:spPr>
        <p:txBody>
          <a:bodyPr wrap="square" lIns="0" tIns="0" rIns="0" bIns="0" rtlCol="0" anchor="t"/>
          <a:lstStyle/>
          <a:p>
            <a:pPr algn="r" indent="0" marL="0">
              <a:buNone/>
            </a:pPr>
            <a:r>
              <a:rPr lang="en-US" sz="950" b="1" dirty="0">
                <a:solidFill>
                  <a:schemeClr val="accent1"/>
                </a:solidFill>
                <a:latin typeface="Calibri" pitchFamily="34" charset="0"/>
                <a:ea typeface="Calibri" pitchFamily="34" charset="-122"/>
                <a:cs typeface="Calibri" pitchFamily="34" charset="-120"/>
              </a:rPr>
              <a:t>END</a:t>
            </a:r>
            <a:endParaRPr lang="en-US" sz="950" dirty="0"/>
          </a:p>
        </p:txBody>
      </p:sp>
      <p:sp>
        <p:nvSpPr>
          <p:cNvPr id="16" name="text-465"/>
          <p:cNvSpPr txBox="1"/>
          <p:nvPr/>
        </p:nvSpPr>
        <p:spPr>
          <a:xfrm>
            <a:off x="8229600" y="2057400"/>
            <a:ext cx="1828800" cy="274320"/>
          </a:xfrm>
          <a:prstGeom prst="rect">
            <a:avLst/>
          </a:prstGeom>
          <a:noFill/>
          <a:ln/>
        </p:spPr>
        <p:txBody>
          <a:bodyPr wrap="square" lIns="0" tIns="0" rIns="0" bIns="0" rtlCol="0" anchor="t"/>
          <a:lstStyle/>
          <a:p>
            <a:pPr algn="ctr" indent="0" marL="0">
              <a:buNone/>
            </a:pPr>
            <a:r>
              <a:rPr lang="en-US" sz="1300" b="1" dirty="0">
                <a:solidFill>
                  <a:schemeClr val="accent3"/>
                </a:solidFill>
                <a:latin typeface="Calibri" pitchFamily="34" charset="0"/>
                <a:ea typeface="Calibri" pitchFamily="34" charset="-122"/>
                <a:cs typeface="Calibri" pitchFamily="34" charset="-120"/>
              </a:rPr>
              <a:t>LEFT side</a:t>
            </a:r>
            <a:endParaRPr lang="en-US" sz="1300" dirty="0"/>
          </a:p>
        </p:txBody>
      </p:sp>
      <p:sp>
        <p:nvSpPr>
          <p:cNvPr id="17" name="text-466"/>
          <p:cNvSpPr txBox="1"/>
          <p:nvPr/>
        </p:nvSpPr>
        <p:spPr>
          <a:xfrm>
            <a:off x="8229600" y="3749040"/>
            <a:ext cx="1828800" cy="274320"/>
          </a:xfrm>
          <a:prstGeom prst="rect">
            <a:avLst/>
          </a:prstGeom>
          <a:noFill/>
          <a:ln/>
        </p:spPr>
        <p:txBody>
          <a:bodyPr wrap="square" lIns="0" tIns="0" rIns="0" bIns="0" rtlCol="0" anchor="t"/>
          <a:lstStyle/>
          <a:p>
            <a:pPr algn="ctr" indent="0" marL="0">
              <a:buNone/>
            </a:pPr>
            <a:r>
              <a:rPr lang="en-US" sz="1300" b="1" dirty="0">
                <a:solidFill>
                  <a:schemeClr val="accent3"/>
                </a:solidFill>
                <a:latin typeface="Calibri" pitchFamily="34" charset="0"/>
                <a:ea typeface="Calibri" pitchFamily="34" charset="-122"/>
                <a:cs typeface="Calibri" pitchFamily="34" charset="-120"/>
              </a:rPr>
              <a:t>RIGHT side</a:t>
            </a:r>
            <a:endParaRPr lang="en-US" sz="1300" dirty="0"/>
          </a:p>
        </p:txBody>
      </p:sp>
      <p:sp>
        <p:nvSpPr>
          <p:cNvPr id="18" name="text-467"/>
          <p:cNvSpPr txBox="1"/>
          <p:nvPr/>
        </p:nvSpPr>
        <p:spPr>
          <a:xfrm>
            <a:off x="7223760" y="2651760"/>
            <a:ext cx="1097280" cy="228600"/>
          </a:xfrm>
          <a:prstGeom prst="rect">
            <a:avLst/>
          </a:prstGeom>
          <a:noFill/>
          <a:ln/>
        </p:spPr>
        <p:txBody>
          <a:bodyPr wrap="square" lIns="0" tIns="0" rIns="0" bIns="0" rtlCol="0" anchor="t"/>
          <a:lstStyle/>
          <a:p>
            <a:pPr indent="0" marL="0">
              <a:buNone/>
            </a:pPr>
            <a:r>
              <a:rPr lang="en-US" sz="900" dirty="0">
                <a:solidFill>
                  <a:srgbClr val="FFFFFF"/>
                </a:solidFill>
                <a:latin typeface="Calibri" pitchFamily="34" charset="0"/>
                <a:ea typeface="Calibri" pitchFamily="34" charset="-122"/>
                <a:cs typeface="Calibri" pitchFamily="34" charset="-120"/>
              </a:rPr>
              <a:t>← traffic</a:t>
            </a:r>
            <a:endParaRPr lang="en-US" sz="900" dirty="0"/>
          </a:p>
        </p:txBody>
      </p:sp>
      <p:sp>
        <p:nvSpPr>
          <p:cNvPr id="19" name="text-468"/>
          <p:cNvSpPr txBox="1"/>
          <p:nvPr/>
        </p:nvSpPr>
        <p:spPr>
          <a:xfrm>
            <a:off x="9966960" y="3246120"/>
            <a:ext cx="1097280" cy="228600"/>
          </a:xfrm>
          <a:prstGeom prst="rect">
            <a:avLst/>
          </a:prstGeom>
          <a:noFill/>
          <a:ln/>
        </p:spPr>
        <p:txBody>
          <a:bodyPr wrap="square" lIns="0" tIns="0" rIns="0" bIns="0" rtlCol="0" anchor="t"/>
          <a:lstStyle/>
          <a:p>
            <a:pPr algn="r" indent="0" marL="0">
              <a:buNone/>
            </a:pPr>
            <a:r>
              <a:rPr lang="en-US" sz="900" dirty="0">
                <a:solidFill>
                  <a:srgbClr val="FFFFFF"/>
                </a:solidFill>
                <a:latin typeface="Calibri" pitchFamily="34" charset="0"/>
                <a:ea typeface="Calibri" pitchFamily="34" charset="-122"/>
                <a:cs typeface="Calibri" pitchFamily="34" charset="-120"/>
              </a:rPr>
              <a:t>traffic →</a:t>
            </a:r>
            <a:endParaRPr lang="en-US" sz="900" dirty="0"/>
          </a:p>
        </p:txBody>
      </p:sp>
      <p:sp>
        <p:nvSpPr>
          <p:cNvPr id="20" name="text-469"/>
          <p:cNvSpPr txBox="1"/>
          <p:nvPr/>
        </p:nvSpPr>
        <p:spPr>
          <a:xfrm>
            <a:off x="6675120" y="4297680"/>
            <a:ext cx="4846320" cy="1828800"/>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3A3F45"/>
                </a:solidFill>
                <a:latin typeface="Calibri" pitchFamily="34" charset="0"/>
                <a:ea typeface="Calibri" pitchFamily="34" charset="-122"/>
                <a:cs typeface="Calibri" pitchFamily="34" charset="-120"/>
              </a:rPr>
              <a:t>Left / right are seen looking along the CL from its start point. Traffic keeps right.</a:t>
            </a:r>
            <a:endParaRPr lang="en-US" sz="1150" dirty="0"/>
          </a:p>
          <a:p>
            <a:pPr marL="152400" indent="-152400">
              <a:spcAft>
                <a:spcPts val="500"/>
              </a:spcAft>
              <a:buSzPct val="100000"/>
              <a:buChar char="•"/>
            </a:pPr>
            <a:r>
              <a:rPr lang="en-US" sz="1150" dirty="0">
                <a:solidFill>
                  <a:srgbClr val="3A3F45"/>
                </a:solidFill>
                <a:latin typeface="Calibri" pitchFamily="34" charset="0"/>
                <a:ea typeface="Calibri" pitchFamily="34" charset="-122"/>
                <a:cs typeface="Calibri" pitchFamily="34" charset="-120"/>
              </a:rPr>
              <a:t>Chainage can be typed as 150 or 0+150, and 1250.5 or 1+250.500.</a:t>
            </a:r>
            <a:endParaRPr lang="en-US" sz="1150" dirty="0"/>
          </a:p>
          <a:p>
            <a:pPr marL="152400" indent="-152400">
              <a:spcAft>
                <a:spcPts val="500"/>
              </a:spcAft>
              <a:buSzPct val="100000"/>
              <a:buChar char="•"/>
            </a:pPr>
            <a:r>
              <a:rPr lang="en-US" sz="1150" dirty="0">
                <a:solidFill>
                  <a:srgbClr val="3A3F45"/>
                </a:solidFill>
                <a:latin typeface="Calibri" pitchFamily="34" charset="0"/>
                <a:ea typeface="Calibri" pitchFamily="34" charset="-122"/>
                <a:cs typeface="Calibri" pitchFamily="34" charset="-120"/>
              </a:rPr>
              <a:t>Chainages are real road chainages: a road that starts at 1+000 has its widening at 1+150, not at 150.</a:t>
            </a:r>
            <a:endParaRPr lang="en-US" sz="11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B  ·  BUILD THE ROAD  ·  RDP</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Build a road step by step</a:t>
            </a:r>
            <a:endParaRPr lang="en-US" sz="2600" dirty="0"/>
          </a:p>
        </p:txBody>
      </p:sp>
      <p:sp>
        <p:nvSpPr>
          <p:cNvPr id="4" name="shape-470"/>
          <p:cNvSpPr/>
          <p:nvPr/>
        </p:nvSpPr>
        <p:spPr>
          <a:xfrm>
            <a:off x="502920" y="1325880"/>
            <a:ext cx="329184" cy="329184"/>
          </a:xfrm>
          <a:prstGeom prst="ellipse">
            <a:avLst/>
          </a:prstGeom>
          <a:solidFill>
            <a:schemeClr val="accent1"/>
          </a:solidFill>
          <a:ln/>
        </p:spPr>
      </p:sp>
      <p:sp>
        <p:nvSpPr>
          <p:cNvPr id="5" name="text-471"/>
          <p:cNvSpPr txBox="1"/>
          <p:nvPr/>
        </p:nvSpPr>
        <p:spPr>
          <a:xfrm>
            <a:off x="502920" y="13258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472"/>
          <p:cNvSpPr txBox="1"/>
          <p:nvPr/>
        </p:nvSpPr>
        <p:spPr>
          <a:xfrm>
            <a:off x="978408" y="1307592"/>
            <a:ext cx="5833872" cy="576072"/>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Type RDP and press Enter</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The ROAD PRO dialog opens with your last settings.</a:t>
            </a:r>
            <a:endParaRPr lang="en-US" sz="1200" dirty="0"/>
          </a:p>
        </p:txBody>
      </p:sp>
      <p:sp>
        <p:nvSpPr>
          <p:cNvPr id="7" name="shape-473"/>
          <p:cNvSpPr/>
          <p:nvPr/>
        </p:nvSpPr>
        <p:spPr>
          <a:xfrm>
            <a:off x="502920" y="1938528"/>
            <a:ext cx="329184" cy="329184"/>
          </a:xfrm>
          <a:prstGeom prst="ellipse">
            <a:avLst/>
          </a:prstGeom>
          <a:solidFill>
            <a:schemeClr val="accent1"/>
          </a:solidFill>
          <a:ln/>
        </p:spPr>
      </p:sp>
      <p:sp>
        <p:nvSpPr>
          <p:cNvPr id="8" name="text-474"/>
          <p:cNvSpPr txBox="1"/>
          <p:nvPr/>
        </p:nvSpPr>
        <p:spPr>
          <a:xfrm>
            <a:off x="502920" y="19385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9" name="text-475"/>
          <p:cNvSpPr txBox="1"/>
          <p:nvPr/>
        </p:nvSpPr>
        <p:spPr>
          <a:xfrm>
            <a:off x="978408" y="1920240"/>
            <a:ext cx="5833872" cy="576072"/>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Road Geometry</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Road name, width, turning radius, units, centre line input, keep original line.</a:t>
            </a:r>
            <a:endParaRPr lang="en-US" sz="1200" dirty="0"/>
          </a:p>
        </p:txBody>
      </p:sp>
      <p:sp>
        <p:nvSpPr>
          <p:cNvPr id="10" name="shape-476"/>
          <p:cNvSpPr/>
          <p:nvPr/>
        </p:nvSpPr>
        <p:spPr>
          <a:xfrm>
            <a:off x="502920" y="2551176"/>
            <a:ext cx="329184" cy="329184"/>
          </a:xfrm>
          <a:prstGeom prst="ellipse">
            <a:avLst/>
          </a:prstGeom>
          <a:solidFill>
            <a:schemeClr val="accent1"/>
          </a:solidFill>
          <a:ln/>
        </p:spPr>
      </p:sp>
      <p:sp>
        <p:nvSpPr>
          <p:cNvPr id="11" name="text-477"/>
          <p:cNvSpPr txBox="1"/>
          <p:nvPr/>
        </p:nvSpPr>
        <p:spPr>
          <a:xfrm>
            <a:off x="502920" y="25511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2" name="text-478"/>
          <p:cNvSpPr txBox="1"/>
          <p:nvPr/>
        </p:nvSpPr>
        <p:spPr>
          <a:xfrm>
            <a:off x="978408" y="2532888"/>
            <a:ext cx="5833872" cy="576072"/>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Road Edge and Centre</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Left / right edge, Barricades, Traffic cones or Kerb stone, centre, sizes, shoulder.</a:t>
            </a:r>
            <a:endParaRPr lang="en-US" sz="1200" dirty="0"/>
          </a:p>
        </p:txBody>
      </p:sp>
      <p:sp>
        <p:nvSpPr>
          <p:cNvPr id="13" name="shape-479"/>
          <p:cNvSpPr/>
          <p:nvPr/>
        </p:nvSpPr>
        <p:spPr>
          <a:xfrm>
            <a:off x="502920" y="3163824"/>
            <a:ext cx="329184" cy="329184"/>
          </a:xfrm>
          <a:prstGeom prst="ellipse">
            <a:avLst/>
          </a:prstGeom>
          <a:solidFill>
            <a:schemeClr val="accent1"/>
          </a:solidFill>
          <a:ln/>
        </p:spPr>
      </p:sp>
      <p:sp>
        <p:nvSpPr>
          <p:cNvPr id="14" name="text-480"/>
          <p:cNvSpPr txBox="1"/>
          <p:nvPr/>
        </p:nvSpPr>
        <p:spPr>
          <a:xfrm>
            <a:off x="502920" y="31638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5" name="text-481"/>
          <p:cNvSpPr txBox="1"/>
          <p:nvPr/>
        </p:nvSpPr>
        <p:spPr>
          <a:xfrm>
            <a:off x="978408" y="3145536"/>
            <a:ext cx="5833872" cy="576072"/>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Signs and Markings</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Speed, warning signs, control at tie-in, sign set.</a:t>
            </a:r>
            <a:endParaRPr lang="en-US" sz="1200" dirty="0"/>
          </a:p>
        </p:txBody>
      </p:sp>
      <p:sp>
        <p:nvSpPr>
          <p:cNvPr id="16" name="shape-482"/>
          <p:cNvSpPr/>
          <p:nvPr/>
        </p:nvSpPr>
        <p:spPr>
          <a:xfrm>
            <a:off x="502920" y="3776472"/>
            <a:ext cx="329184" cy="329184"/>
          </a:xfrm>
          <a:prstGeom prst="ellipse">
            <a:avLst/>
          </a:prstGeom>
          <a:solidFill>
            <a:schemeClr val="accent1"/>
          </a:solidFill>
          <a:ln/>
        </p:spPr>
      </p:sp>
      <p:sp>
        <p:nvSpPr>
          <p:cNvPr id="17" name="text-483"/>
          <p:cNvSpPr txBox="1"/>
          <p:nvPr/>
        </p:nvSpPr>
        <p:spPr>
          <a:xfrm>
            <a:off x="502920" y="3776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8" name="text-484"/>
          <p:cNvSpPr txBox="1"/>
          <p:nvPr/>
        </p:nvSpPr>
        <p:spPr>
          <a:xfrm>
            <a:off x="978408" y="3758184"/>
            <a:ext cx="5833872" cy="576072"/>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Surface, Chainage, Ends, Report  +  Lanes... button</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Hatch, markings, chainage, end types, report, section; lanes / median / sidewalks (slide 39).</a:t>
            </a:r>
            <a:endParaRPr lang="en-US" sz="1200" dirty="0"/>
          </a:p>
        </p:txBody>
      </p:sp>
      <p:sp>
        <p:nvSpPr>
          <p:cNvPr id="19" name="shape-485"/>
          <p:cNvSpPr/>
          <p:nvPr/>
        </p:nvSpPr>
        <p:spPr>
          <a:xfrm>
            <a:off x="502920" y="4389120"/>
            <a:ext cx="329184" cy="329184"/>
          </a:xfrm>
          <a:prstGeom prst="ellipse">
            <a:avLst/>
          </a:prstGeom>
          <a:solidFill>
            <a:schemeClr val="accent1"/>
          </a:solidFill>
          <a:ln/>
        </p:spPr>
      </p:sp>
      <p:sp>
        <p:nvSpPr>
          <p:cNvPr id="20" name="text-486"/>
          <p:cNvSpPr txBox="1"/>
          <p:nvPr/>
        </p:nvSpPr>
        <p:spPr>
          <a:xfrm>
            <a:off x="502920" y="43891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1" name="text-487"/>
          <p:cNvSpPr txBox="1"/>
          <p:nvPr/>
        </p:nvSpPr>
        <p:spPr>
          <a:xfrm>
            <a:off x="978408" y="4370832"/>
            <a:ext cx="5833872" cy="576072"/>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Press OK, then give the centre line</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Pick points: click points, A = arc, L = line, U = undo, Enter = finish.  Select existing: click the line.</a:t>
            </a:r>
            <a:endParaRPr lang="en-US" sz="1200" dirty="0"/>
          </a:p>
        </p:txBody>
      </p:sp>
      <p:sp>
        <p:nvSpPr>
          <p:cNvPr id="22" name="shape-488"/>
          <p:cNvSpPr/>
          <p:nvPr/>
        </p:nvSpPr>
        <p:spPr>
          <a:xfrm>
            <a:off x="502920" y="5001768"/>
            <a:ext cx="329184" cy="329184"/>
          </a:xfrm>
          <a:prstGeom prst="ellipse">
            <a:avLst/>
          </a:prstGeom>
          <a:solidFill>
            <a:schemeClr val="accent1"/>
          </a:solidFill>
          <a:ln/>
        </p:spPr>
      </p:sp>
      <p:sp>
        <p:nvSpPr>
          <p:cNvPr id="23" name="text-489"/>
          <p:cNvSpPr txBox="1"/>
          <p:nvPr/>
        </p:nvSpPr>
        <p:spPr>
          <a:xfrm>
            <a:off x="502920" y="50017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24" name="text-490"/>
          <p:cNvSpPr txBox="1"/>
          <p:nvPr/>
        </p:nvSpPr>
        <p:spPr>
          <a:xfrm>
            <a:off x="978408" y="4983480"/>
            <a:ext cx="5833872" cy="576072"/>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RoadPro builds the road</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Edges, surface, treatment, markings, signs, chainage, radius, ends. Summary printed.</a:t>
            </a:r>
            <a:endParaRPr lang="en-US" sz="1200" dirty="0"/>
          </a:p>
        </p:txBody>
      </p:sp>
      <p:sp>
        <p:nvSpPr>
          <p:cNvPr id="25" name="shape-491"/>
          <p:cNvSpPr/>
          <p:nvPr/>
        </p:nvSpPr>
        <p:spPr>
          <a:xfrm>
            <a:off x="502920" y="5614416"/>
            <a:ext cx="329184" cy="329184"/>
          </a:xfrm>
          <a:prstGeom prst="ellipse">
            <a:avLst/>
          </a:prstGeom>
          <a:solidFill>
            <a:schemeClr val="accent1"/>
          </a:solidFill>
          <a:ln/>
        </p:spPr>
      </p:sp>
      <p:sp>
        <p:nvSpPr>
          <p:cNvPr id="26" name="text-492"/>
          <p:cNvSpPr txBox="1"/>
          <p:nvPr/>
        </p:nvSpPr>
        <p:spPr>
          <a:xfrm>
            <a:off x="502920" y="56144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27" name="text-493"/>
          <p:cNvSpPr txBox="1"/>
          <p:nvPr/>
        </p:nvSpPr>
        <p:spPr>
          <a:xfrm>
            <a:off x="978408" y="5596128"/>
            <a:ext cx="5833872" cy="576072"/>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Report and section</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Excel saved → pick a corner for tables (Enter skips) → open Excel? → pick a point for the typical section (Enter skips).</a:t>
            </a:r>
            <a:endParaRPr lang="en-US" sz="1200" dirty="0"/>
          </a:p>
        </p:txBody>
      </p:sp>
      <p:sp>
        <p:nvSpPr>
          <p:cNvPr id="28" name="shape-494"/>
          <p:cNvSpPr/>
          <p:nvPr/>
        </p:nvSpPr>
        <p:spPr>
          <a:xfrm>
            <a:off x="7086600" y="1325880"/>
            <a:ext cx="4572000" cy="4892040"/>
          </a:xfrm>
          <a:prstGeom prst="roundRect">
            <a:avLst>
              <a:gd name="adj" fmla="val 1200"/>
            </a:avLst>
          </a:prstGeom>
          <a:solidFill>
            <a:srgbClr val="1F2326"/>
          </a:solidFill>
          <a:ln/>
        </p:spPr>
      </p:sp>
      <p:sp>
        <p:nvSpPr>
          <p:cNvPr id="29" name="text-495"/>
          <p:cNvSpPr txBox="1"/>
          <p:nvPr/>
        </p:nvSpPr>
        <p:spPr>
          <a:xfrm>
            <a:off x="7251192" y="1453896"/>
            <a:ext cx="4242816" cy="4636008"/>
          </a:xfrm>
          <a:prstGeom prst="rect">
            <a:avLst/>
          </a:prstGeom>
          <a:noFill/>
          <a:ln/>
        </p:spPr>
        <p:txBody>
          <a:bodyPr wrap="square" lIns="0" tIns="0" rIns="0" bIns="0" rtlCol="0" anchor="t"/>
          <a:lstStyle/>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Command: </a:t>
            </a:r>
            <a:pPr indent="0" marL="0">
              <a:spcAft>
                <a:spcPts val="200"/>
              </a:spcAft>
              <a:buNone/>
            </a:pPr>
            <a:r>
              <a:rPr lang="en-US" sz="900" b="1" dirty="0">
                <a:solidFill>
                  <a:srgbClr val="F2B705"/>
                </a:solidFill>
                <a:latin typeface="Courier New" pitchFamily="34" charset="0"/>
                <a:ea typeface="Courier New" pitchFamily="34" charset="-122"/>
                <a:cs typeface="Courier New" pitchFamily="34" charset="-120"/>
              </a:rPr>
              <a:t>RDP</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  (dialog: settings, press OK)</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Draw the road centre line</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(Arc option allowed, Enter to finish):</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Specify start point: </a:t>
            </a:r>
            <a:pPr indent="0" marL="0">
              <a:spcAft>
                <a:spcPts val="200"/>
              </a:spcAft>
              <a:buNone/>
            </a:pPr>
            <a:r>
              <a:rPr lang="en-US" sz="900" b="1" dirty="0">
                <a:solidFill>
                  <a:srgbClr val="F2B705"/>
                </a:solidFill>
                <a:latin typeface="Courier New" pitchFamily="34" charset="0"/>
                <a:ea typeface="Courier New" pitchFamily="34" charset="-122"/>
                <a:cs typeface="Courier New" pitchFamily="34" charset="-120"/>
              </a:rPr>
              <a:t>pick</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Specify next point or [Arc/...]: </a:t>
            </a:r>
            <a:pPr indent="0" marL="0">
              <a:spcAft>
                <a:spcPts val="200"/>
              </a:spcAft>
              <a:buNone/>
            </a:pPr>
            <a:r>
              <a:rPr lang="en-US" sz="900" b="1" dirty="0">
                <a:solidFill>
                  <a:srgbClr val="F2B705"/>
                </a:solidFill>
                <a:latin typeface="Courier New" pitchFamily="34" charset="0"/>
                <a:ea typeface="Courier New" pitchFamily="34" charset="-122"/>
                <a:cs typeface="Courier New" pitchFamily="34" charset="-120"/>
              </a:rPr>
              <a:t>pick</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Specify next point or [Arc/...]: </a:t>
            </a:r>
            <a:pPr indent="0" marL="0">
              <a:spcAft>
                <a:spcPts val="200"/>
              </a:spcAft>
              <a:buNone/>
            </a:pPr>
            <a:r>
              <a:rPr lang="en-US" sz="900" b="1" dirty="0">
                <a:solidFill>
                  <a:srgbClr val="F2B705"/>
                </a:solidFill>
                <a:latin typeface="Courier New" pitchFamily="34" charset="0"/>
                <a:ea typeface="Courier New" pitchFamily="34" charset="-122"/>
                <a:cs typeface="Courier New" pitchFamily="34" charset="-120"/>
              </a:rPr>
              <a:t>A</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Specify end point of arc: </a:t>
            </a:r>
            <a:pPr indent="0" marL="0">
              <a:spcAft>
                <a:spcPts val="200"/>
              </a:spcAft>
              <a:buNone/>
            </a:pPr>
            <a:r>
              <a:rPr lang="en-US" sz="900" b="1" dirty="0">
                <a:solidFill>
                  <a:srgbClr val="F2B705"/>
                </a:solidFill>
                <a:latin typeface="Courier New" pitchFamily="34" charset="0"/>
                <a:ea typeface="Courier New" pitchFamily="34" charset="-122"/>
                <a:cs typeface="Courier New" pitchFamily="34" charset="-120"/>
              </a:rPr>
              <a:t>pick</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Specify end point of arc or [Line]: </a:t>
            </a:r>
            <a:pPr indent="0" marL="0">
              <a:spcAft>
                <a:spcPts val="200"/>
              </a:spcAft>
              <a:buNone/>
            </a:pPr>
            <a:r>
              <a:rPr lang="en-US" sz="900" b="1" dirty="0">
                <a:solidFill>
                  <a:srgbClr val="F2B705"/>
                </a:solidFill>
                <a:latin typeface="Courier New" pitchFamily="34" charset="0"/>
                <a:ea typeface="Courier New" pitchFamily="34" charset="-122"/>
                <a:cs typeface="Courier New" pitchFamily="34" charset="-120"/>
              </a:rPr>
              <a:t>L</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Specify next point: </a:t>
            </a:r>
            <a:pPr indent="0" marL="0">
              <a:spcAft>
                <a:spcPts val="200"/>
              </a:spcAft>
              <a:buNone/>
            </a:pPr>
            <a:r>
              <a:rPr lang="en-US" sz="900" b="1" dirty="0">
                <a:solidFill>
                  <a:srgbClr val="F2B705"/>
                </a:solidFill>
                <a:latin typeface="Courier New" pitchFamily="34" charset="0"/>
                <a:ea typeface="Courier New" pitchFamily="34" charset="-122"/>
                <a:cs typeface="Courier New" pitchFamily="34" charset="-120"/>
              </a:rPr>
              <a:t>Enter</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 ROAD PRO - ROAD-01 ======</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  Road width : 7.30 m ...</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  Excel report saved : C:\...\ROAD-01_RoadPro_Report.csv</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Pick top-left corner for report tables</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&lt;Enter = skip&gt;: </a:t>
            </a:r>
            <a:pPr indent="0" marL="0">
              <a:spcAft>
                <a:spcPts val="200"/>
              </a:spcAft>
              <a:buNone/>
            </a:pPr>
            <a:r>
              <a:rPr lang="en-US" sz="900" b="1" dirty="0">
                <a:solidFill>
                  <a:srgbClr val="F2B705"/>
                </a:solidFill>
                <a:latin typeface="Courier New" pitchFamily="34" charset="0"/>
                <a:ea typeface="Courier New" pitchFamily="34" charset="-122"/>
                <a:cs typeface="Courier New" pitchFamily="34" charset="-120"/>
              </a:rPr>
              <a:t>pick</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Open the Excel report now? [Yes/No] &lt;Yes&gt;: </a:t>
            </a:r>
            <a:pPr indent="0" marL="0">
              <a:spcAft>
                <a:spcPts val="200"/>
              </a:spcAft>
              <a:buNone/>
            </a:pPr>
            <a:r>
              <a:rPr lang="en-US" sz="900" b="1" dirty="0">
                <a:solidFill>
                  <a:srgbClr val="F2B705"/>
                </a:solidFill>
                <a:latin typeface="Courier New" pitchFamily="34" charset="0"/>
                <a:ea typeface="Courier New" pitchFamily="34" charset="-122"/>
                <a:cs typeface="Courier New" pitchFamily="34" charset="-120"/>
              </a:rPr>
              <a:t>Y</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Pick point for the TYPICAL CROSS SECTION</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centre line &lt;Enter = skip&gt;: </a:t>
            </a:r>
            <a:pPr indent="0" marL="0">
              <a:spcAft>
                <a:spcPts val="200"/>
              </a:spcAft>
              <a:buNone/>
            </a:pPr>
            <a:r>
              <a:rPr lang="en-US" sz="900" b="1" dirty="0">
                <a:solidFill>
                  <a:srgbClr val="F2B705"/>
                </a:solidFill>
                <a:latin typeface="Courier New" pitchFamily="34" charset="0"/>
                <a:ea typeface="Courier New" pitchFamily="34" charset="-122"/>
                <a:cs typeface="Courier New" pitchFamily="34" charset="-120"/>
              </a:rPr>
              <a:t>pick</a:t>
            </a:r>
            <a:endParaRPr lang="en-US" sz="90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B  ·  BUILD THE ROAD  ·  RDP</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The RDP dialog at a glance (default values shown)</a:t>
            </a:r>
            <a:endParaRPr lang="en-US" sz="2600" dirty="0"/>
          </a:p>
        </p:txBody>
      </p:sp>
      <p:sp>
        <p:nvSpPr>
          <p:cNvPr id="4" name="shape-496"/>
          <p:cNvSpPr/>
          <p:nvPr/>
        </p:nvSpPr>
        <p:spPr>
          <a:xfrm>
            <a:off x="502920" y="1280160"/>
            <a:ext cx="11155680" cy="5074920"/>
          </a:xfrm>
          <a:prstGeom prst="rect">
            <a:avLst/>
          </a:prstGeom>
          <a:solidFill>
            <a:srgbClr val="F7F8F9"/>
          </a:solidFill>
          <a:ln w="9525">
            <a:solidFill>
              <a:srgbClr val="9AA0A6"/>
            </a:solidFill>
            <a:prstDash val="solid"/>
          </a:ln>
        </p:spPr>
      </p:sp>
      <p:sp>
        <p:nvSpPr>
          <p:cNvPr id="5" name="shape-497"/>
          <p:cNvSpPr/>
          <p:nvPr/>
        </p:nvSpPr>
        <p:spPr>
          <a:xfrm>
            <a:off x="502920" y="1280160"/>
            <a:ext cx="11155680" cy="274320"/>
          </a:xfrm>
          <a:prstGeom prst="rect">
            <a:avLst/>
          </a:prstGeom>
          <a:solidFill>
            <a:srgbClr val="1F2326"/>
          </a:solidFill>
          <a:ln/>
        </p:spPr>
      </p:sp>
      <p:sp>
        <p:nvSpPr>
          <p:cNvPr id="6" name="text-498"/>
          <p:cNvSpPr txBox="1"/>
          <p:nvPr/>
        </p:nvSpPr>
        <p:spPr>
          <a:xfrm>
            <a:off x="640080" y="1298448"/>
            <a:ext cx="7315200" cy="237744"/>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ROAD PRO  -  Road Builder for AutoCAD  v3.4</a:t>
            </a:r>
            <a:endParaRPr lang="en-US" sz="1000" dirty="0"/>
          </a:p>
        </p:txBody>
      </p:sp>
      <p:sp>
        <p:nvSpPr>
          <p:cNvPr id="7" name="shape-499"/>
          <p:cNvSpPr/>
          <p:nvPr/>
        </p:nvSpPr>
        <p:spPr>
          <a:xfrm>
            <a:off x="685800" y="1810512"/>
            <a:ext cx="3566160" cy="2514600"/>
          </a:xfrm>
          <a:prstGeom prst="rect">
            <a:avLst/>
          </a:prstGeom>
          <a:solidFill>
            <a:srgbClr val="FFFFFF"/>
          </a:solidFill>
          <a:ln w="9525">
            <a:solidFill>
              <a:srgbClr val="B5BAC0"/>
            </a:solidFill>
            <a:prstDash val="solid"/>
          </a:ln>
        </p:spPr>
      </p:sp>
      <p:sp>
        <p:nvSpPr>
          <p:cNvPr id="8" name="shape-500"/>
          <p:cNvSpPr/>
          <p:nvPr/>
        </p:nvSpPr>
        <p:spPr>
          <a:xfrm>
            <a:off x="758952" y="1691640"/>
            <a:ext cx="256032" cy="256032"/>
          </a:xfrm>
          <a:prstGeom prst="ellipse">
            <a:avLst/>
          </a:prstGeom>
          <a:solidFill>
            <a:schemeClr val="accent1"/>
          </a:solidFill>
          <a:ln/>
        </p:spPr>
      </p:sp>
      <p:sp>
        <p:nvSpPr>
          <p:cNvPr id="9" name="text-501"/>
          <p:cNvSpPr txBox="1"/>
          <p:nvPr/>
        </p:nvSpPr>
        <p:spPr>
          <a:xfrm>
            <a:off x="758952" y="1691640"/>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 name="text-502"/>
          <p:cNvSpPr txBox="1"/>
          <p:nvPr/>
        </p:nvSpPr>
        <p:spPr>
          <a:xfrm>
            <a:off x="1069848" y="1700784"/>
            <a:ext cx="3108960" cy="219456"/>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Road Geometry</a:t>
            </a:r>
            <a:endParaRPr lang="en-US" sz="1050" dirty="0"/>
          </a:p>
        </p:txBody>
      </p:sp>
      <p:sp>
        <p:nvSpPr>
          <p:cNvPr id="11" name="text-503"/>
          <p:cNvSpPr txBox="1"/>
          <p:nvPr/>
        </p:nvSpPr>
        <p:spPr>
          <a:xfrm>
            <a:off x="795528" y="1965960"/>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Road name / ID:</a:t>
            </a:r>
            <a:endParaRPr lang="en-US" sz="900" dirty="0"/>
          </a:p>
        </p:txBody>
      </p:sp>
      <p:sp>
        <p:nvSpPr>
          <p:cNvPr id="12" name="text-504"/>
          <p:cNvSpPr txBox="1"/>
          <p:nvPr/>
        </p:nvSpPr>
        <p:spPr>
          <a:xfrm>
            <a:off x="2423160" y="1965960"/>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ROAD-01</a:t>
            </a:r>
            <a:endParaRPr lang="en-US" sz="900" dirty="0"/>
          </a:p>
        </p:txBody>
      </p:sp>
      <p:sp>
        <p:nvSpPr>
          <p:cNvPr id="13" name="text-505"/>
          <p:cNvSpPr txBox="1"/>
          <p:nvPr/>
        </p:nvSpPr>
        <p:spPr>
          <a:xfrm>
            <a:off x="795528" y="2162556"/>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Road width (m):</a:t>
            </a:r>
            <a:endParaRPr lang="en-US" sz="900" dirty="0"/>
          </a:p>
        </p:txBody>
      </p:sp>
      <p:sp>
        <p:nvSpPr>
          <p:cNvPr id="14" name="text-506"/>
          <p:cNvSpPr txBox="1"/>
          <p:nvPr/>
        </p:nvSpPr>
        <p:spPr>
          <a:xfrm>
            <a:off x="2423160" y="2162556"/>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7.30</a:t>
            </a:r>
            <a:endParaRPr lang="en-US" sz="900" dirty="0"/>
          </a:p>
        </p:txBody>
      </p:sp>
      <p:sp>
        <p:nvSpPr>
          <p:cNvPr id="15" name="text-507"/>
          <p:cNvSpPr txBox="1"/>
          <p:nvPr/>
        </p:nvSpPr>
        <p:spPr>
          <a:xfrm>
            <a:off x="795528" y="2359152"/>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Turning radius:</a:t>
            </a:r>
            <a:endParaRPr lang="en-US" sz="900" dirty="0"/>
          </a:p>
        </p:txBody>
      </p:sp>
      <p:sp>
        <p:nvSpPr>
          <p:cNvPr id="16" name="text-508"/>
          <p:cNvSpPr txBox="1"/>
          <p:nvPr/>
        </p:nvSpPr>
        <p:spPr>
          <a:xfrm>
            <a:off x="2423160" y="2359152"/>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Match existing</a:t>
            </a:r>
            <a:endParaRPr lang="en-US" sz="900" dirty="0"/>
          </a:p>
        </p:txBody>
      </p:sp>
      <p:sp>
        <p:nvSpPr>
          <p:cNvPr id="17" name="text-509"/>
          <p:cNvSpPr txBox="1"/>
          <p:nvPr/>
        </p:nvSpPr>
        <p:spPr>
          <a:xfrm>
            <a:off x="795528" y="2555748"/>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Manual radius (m):</a:t>
            </a:r>
            <a:endParaRPr lang="en-US" sz="900" dirty="0"/>
          </a:p>
        </p:txBody>
      </p:sp>
      <p:sp>
        <p:nvSpPr>
          <p:cNvPr id="18" name="text-510"/>
          <p:cNvSpPr txBox="1"/>
          <p:nvPr/>
        </p:nvSpPr>
        <p:spPr>
          <a:xfrm>
            <a:off x="2423160" y="2555748"/>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10.0</a:t>
            </a:r>
            <a:endParaRPr lang="en-US" sz="900" dirty="0"/>
          </a:p>
        </p:txBody>
      </p:sp>
      <p:sp>
        <p:nvSpPr>
          <p:cNvPr id="19" name="text-511"/>
          <p:cNvSpPr txBox="1"/>
          <p:nvPr/>
        </p:nvSpPr>
        <p:spPr>
          <a:xfrm>
            <a:off x="795528" y="2752344"/>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Radius measured at:</a:t>
            </a:r>
            <a:endParaRPr lang="en-US" sz="900" dirty="0"/>
          </a:p>
        </p:txBody>
      </p:sp>
      <p:sp>
        <p:nvSpPr>
          <p:cNvPr id="20" name="text-512"/>
          <p:cNvSpPr txBox="1"/>
          <p:nvPr/>
        </p:nvSpPr>
        <p:spPr>
          <a:xfrm>
            <a:off x="2423160" y="2752344"/>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Centre line (CL)</a:t>
            </a:r>
            <a:endParaRPr lang="en-US" sz="900" dirty="0"/>
          </a:p>
        </p:txBody>
      </p:sp>
      <p:sp>
        <p:nvSpPr>
          <p:cNvPr id="21" name="text-513"/>
          <p:cNvSpPr txBox="1"/>
          <p:nvPr/>
        </p:nvSpPr>
        <p:spPr>
          <a:xfrm>
            <a:off x="795528" y="2948940"/>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Drawing units:</a:t>
            </a:r>
            <a:endParaRPr lang="en-US" sz="900" dirty="0"/>
          </a:p>
        </p:txBody>
      </p:sp>
      <p:sp>
        <p:nvSpPr>
          <p:cNvPr id="22" name="text-514"/>
          <p:cNvSpPr txBox="1"/>
          <p:nvPr/>
        </p:nvSpPr>
        <p:spPr>
          <a:xfrm>
            <a:off x="2423160" y="2948940"/>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Meters</a:t>
            </a:r>
            <a:endParaRPr lang="en-US" sz="900" dirty="0"/>
          </a:p>
        </p:txBody>
      </p:sp>
      <p:sp>
        <p:nvSpPr>
          <p:cNvPr id="23" name="text-515"/>
          <p:cNvSpPr txBox="1"/>
          <p:nvPr/>
        </p:nvSpPr>
        <p:spPr>
          <a:xfrm>
            <a:off x="795528" y="3145536"/>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Centre line input:</a:t>
            </a:r>
            <a:endParaRPr lang="en-US" sz="900" dirty="0"/>
          </a:p>
        </p:txBody>
      </p:sp>
      <p:sp>
        <p:nvSpPr>
          <p:cNvPr id="24" name="text-516"/>
          <p:cNvSpPr txBox="1"/>
          <p:nvPr/>
        </p:nvSpPr>
        <p:spPr>
          <a:xfrm>
            <a:off x="2423160" y="3145536"/>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Pick points</a:t>
            </a:r>
            <a:endParaRPr lang="en-US" sz="900" dirty="0"/>
          </a:p>
        </p:txBody>
      </p:sp>
      <p:sp>
        <p:nvSpPr>
          <p:cNvPr id="25" name="text-517"/>
          <p:cNvSpPr txBox="1"/>
          <p:nvPr/>
        </p:nvSpPr>
        <p:spPr>
          <a:xfrm>
            <a:off x="795528" y="3342132"/>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Keep the original line (build on a copy)</a:t>
            </a:r>
            <a:endParaRPr lang="en-US" sz="900" dirty="0"/>
          </a:p>
        </p:txBody>
      </p:sp>
      <p:sp>
        <p:nvSpPr>
          <p:cNvPr id="26" name="text-518"/>
          <p:cNvSpPr txBox="1"/>
          <p:nvPr/>
        </p:nvSpPr>
        <p:spPr>
          <a:xfrm>
            <a:off x="795528" y="3538728"/>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Show radius, TC / CT and curve data</a:t>
            </a:r>
            <a:endParaRPr lang="en-US" sz="900" dirty="0"/>
          </a:p>
        </p:txBody>
      </p:sp>
      <p:sp>
        <p:nvSpPr>
          <p:cNvPr id="27" name="text-519"/>
          <p:cNvSpPr txBox="1"/>
          <p:nvPr/>
        </p:nvSpPr>
        <p:spPr>
          <a:xfrm>
            <a:off x="795528" y="3735324"/>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Show straight sections (S1, S2...)</a:t>
            </a:r>
            <a:endParaRPr lang="en-US" sz="900" dirty="0"/>
          </a:p>
        </p:txBody>
      </p:sp>
      <p:sp>
        <p:nvSpPr>
          <p:cNvPr id="28" name="shape-520"/>
          <p:cNvSpPr/>
          <p:nvPr/>
        </p:nvSpPr>
        <p:spPr>
          <a:xfrm>
            <a:off x="4297680" y="1810512"/>
            <a:ext cx="3566160" cy="2514600"/>
          </a:xfrm>
          <a:prstGeom prst="rect">
            <a:avLst/>
          </a:prstGeom>
          <a:solidFill>
            <a:srgbClr val="FFFFFF"/>
          </a:solidFill>
          <a:ln w="9525">
            <a:solidFill>
              <a:srgbClr val="B5BAC0"/>
            </a:solidFill>
            <a:prstDash val="solid"/>
          </a:ln>
        </p:spPr>
      </p:sp>
      <p:sp>
        <p:nvSpPr>
          <p:cNvPr id="29" name="shape-521"/>
          <p:cNvSpPr/>
          <p:nvPr/>
        </p:nvSpPr>
        <p:spPr>
          <a:xfrm>
            <a:off x="4370832" y="1691640"/>
            <a:ext cx="256032" cy="256032"/>
          </a:xfrm>
          <a:prstGeom prst="ellipse">
            <a:avLst/>
          </a:prstGeom>
          <a:solidFill>
            <a:schemeClr val="accent1"/>
          </a:solidFill>
          <a:ln/>
        </p:spPr>
      </p:sp>
      <p:sp>
        <p:nvSpPr>
          <p:cNvPr id="30" name="text-522"/>
          <p:cNvSpPr txBox="1"/>
          <p:nvPr/>
        </p:nvSpPr>
        <p:spPr>
          <a:xfrm>
            <a:off x="4370832" y="1691640"/>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523"/>
          <p:cNvSpPr txBox="1"/>
          <p:nvPr/>
        </p:nvSpPr>
        <p:spPr>
          <a:xfrm>
            <a:off x="4681728" y="1700784"/>
            <a:ext cx="3108960" cy="219456"/>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Road Edge and Centre</a:t>
            </a:r>
            <a:endParaRPr lang="en-US" sz="1050" dirty="0"/>
          </a:p>
        </p:txBody>
      </p:sp>
      <p:sp>
        <p:nvSpPr>
          <p:cNvPr id="32" name="text-524"/>
          <p:cNvSpPr txBox="1"/>
          <p:nvPr/>
        </p:nvSpPr>
        <p:spPr>
          <a:xfrm>
            <a:off x="4407408" y="1965960"/>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Left edge     ☑ Right edge</a:t>
            </a:r>
            <a:endParaRPr lang="en-US" sz="900" dirty="0"/>
          </a:p>
        </p:txBody>
      </p:sp>
      <p:sp>
        <p:nvSpPr>
          <p:cNvPr id="33" name="text-525"/>
          <p:cNvSpPr txBox="1"/>
          <p:nvPr/>
        </p:nvSpPr>
        <p:spPr>
          <a:xfrm>
            <a:off x="4407408" y="2162556"/>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Edge:</a:t>
            </a:r>
            <a:endParaRPr lang="en-US" sz="900" dirty="0"/>
          </a:p>
        </p:txBody>
      </p:sp>
      <p:sp>
        <p:nvSpPr>
          <p:cNvPr id="34" name="text-526"/>
          <p:cNvSpPr txBox="1"/>
          <p:nvPr/>
        </p:nvSpPr>
        <p:spPr>
          <a:xfrm>
            <a:off x="6035040" y="2162556"/>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Barricades (red / white)</a:t>
            </a:r>
            <a:endParaRPr lang="en-US" sz="900" dirty="0"/>
          </a:p>
        </p:txBody>
      </p:sp>
      <p:sp>
        <p:nvSpPr>
          <p:cNvPr id="35" name="text-527"/>
          <p:cNvSpPr txBox="1"/>
          <p:nvPr/>
        </p:nvSpPr>
        <p:spPr>
          <a:xfrm>
            <a:off x="4407408" y="2359152"/>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Centre:</a:t>
            </a:r>
            <a:endParaRPr lang="en-US" sz="900" dirty="0"/>
          </a:p>
        </p:txBody>
      </p:sp>
      <p:sp>
        <p:nvSpPr>
          <p:cNvPr id="36" name="text-528"/>
          <p:cNvSpPr txBox="1"/>
          <p:nvPr/>
        </p:nvSpPr>
        <p:spPr>
          <a:xfrm>
            <a:off x="6035040" y="2359152"/>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Centre line markings</a:t>
            </a:r>
            <a:endParaRPr lang="en-US" sz="900" dirty="0"/>
          </a:p>
        </p:txBody>
      </p:sp>
      <p:sp>
        <p:nvSpPr>
          <p:cNvPr id="37" name="text-529"/>
          <p:cNvSpPr txBox="1"/>
          <p:nvPr/>
        </p:nvSpPr>
        <p:spPr>
          <a:xfrm>
            <a:off x="4407408" y="2555748"/>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Unit length / cone spacing (m):</a:t>
            </a:r>
            <a:endParaRPr lang="en-US" sz="900" dirty="0"/>
          </a:p>
        </p:txBody>
      </p:sp>
      <p:sp>
        <p:nvSpPr>
          <p:cNvPr id="38" name="text-530"/>
          <p:cNvSpPr txBox="1"/>
          <p:nvPr/>
        </p:nvSpPr>
        <p:spPr>
          <a:xfrm>
            <a:off x="6035040" y="2555748"/>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2.00</a:t>
            </a:r>
            <a:endParaRPr lang="en-US" sz="900" dirty="0"/>
          </a:p>
        </p:txBody>
      </p:sp>
      <p:sp>
        <p:nvSpPr>
          <p:cNvPr id="39" name="text-531"/>
          <p:cNvSpPr txBox="1"/>
          <p:nvPr/>
        </p:nvSpPr>
        <p:spPr>
          <a:xfrm>
            <a:off x="4407408" y="2752344"/>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Unit / cone / kerb width (m):</a:t>
            </a:r>
            <a:endParaRPr lang="en-US" sz="900" dirty="0"/>
          </a:p>
        </p:txBody>
      </p:sp>
      <p:sp>
        <p:nvSpPr>
          <p:cNvPr id="40" name="text-532"/>
          <p:cNvSpPr txBox="1"/>
          <p:nvPr/>
        </p:nvSpPr>
        <p:spPr>
          <a:xfrm>
            <a:off x="6035040" y="2752344"/>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0.50</a:t>
            </a:r>
            <a:endParaRPr lang="en-US" sz="900" dirty="0"/>
          </a:p>
        </p:txBody>
      </p:sp>
      <p:sp>
        <p:nvSpPr>
          <p:cNvPr id="41" name="text-533"/>
          <p:cNvSpPr txBox="1"/>
          <p:nvPr/>
        </p:nvSpPr>
        <p:spPr>
          <a:xfrm>
            <a:off x="4407408" y="2948940"/>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Paved shoulder (m):</a:t>
            </a:r>
            <a:endParaRPr lang="en-US" sz="900" dirty="0"/>
          </a:p>
        </p:txBody>
      </p:sp>
      <p:sp>
        <p:nvSpPr>
          <p:cNvPr id="42" name="text-534"/>
          <p:cNvSpPr txBox="1"/>
          <p:nvPr/>
        </p:nvSpPr>
        <p:spPr>
          <a:xfrm>
            <a:off x="6035040" y="2948940"/>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0.50</a:t>
            </a:r>
            <a:endParaRPr lang="en-US" sz="900" dirty="0"/>
          </a:p>
        </p:txBody>
      </p:sp>
      <p:sp>
        <p:nvSpPr>
          <p:cNvPr id="43" name="shape-535"/>
          <p:cNvSpPr/>
          <p:nvPr/>
        </p:nvSpPr>
        <p:spPr>
          <a:xfrm>
            <a:off x="7909560" y="1810512"/>
            <a:ext cx="3566160" cy="2514600"/>
          </a:xfrm>
          <a:prstGeom prst="rect">
            <a:avLst/>
          </a:prstGeom>
          <a:solidFill>
            <a:srgbClr val="FFFFFF"/>
          </a:solidFill>
          <a:ln w="9525">
            <a:solidFill>
              <a:srgbClr val="B5BAC0"/>
            </a:solidFill>
            <a:prstDash val="solid"/>
          </a:ln>
        </p:spPr>
      </p:sp>
      <p:sp>
        <p:nvSpPr>
          <p:cNvPr id="44" name="shape-536"/>
          <p:cNvSpPr/>
          <p:nvPr/>
        </p:nvSpPr>
        <p:spPr>
          <a:xfrm>
            <a:off x="7982712" y="1691640"/>
            <a:ext cx="256032" cy="256032"/>
          </a:xfrm>
          <a:prstGeom prst="ellipse">
            <a:avLst/>
          </a:prstGeom>
          <a:solidFill>
            <a:schemeClr val="accent1"/>
          </a:solidFill>
          <a:ln/>
        </p:spPr>
      </p:sp>
      <p:sp>
        <p:nvSpPr>
          <p:cNvPr id="45" name="text-537"/>
          <p:cNvSpPr txBox="1"/>
          <p:nvPr/>
        </p:nvSpPr>
        <p:spPr>
          <a:xfrm>
            <a:off x="7982712" y="1691640"/>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46" name="text-538"/>
          <p:cNvSpPr txBox="1"/>
          <p:nvPr/>
        </p:nvSpPr>
        <p:spPr>
          <a:xfrm>
            <a:off x="8293608" y="1700784"/>
            <a:ext cx="3108960" cy="219456"/>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Signs and Markings</a:t>
            </a:r>
            <a:endParaRPr lang="en-US" sz="1050" dirty="0"/>
          </a:p>
        </p:txBody>
      </p:sp>
      <p:sp>
        <p:nvSpPr>
          <p:cNvPr id="47" name="text-539"/>
          <p:cNvSpPr txBox="1"/>
          <p:nvPr/>
        </p:nvSpPr>
        <p:spPr>
          <a:xfrm>
            <a:off x="8019288" y="1965960"/>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Speed limit</a:t>
            </a:r>
            <a:endParaRPr lang="en-US" sz="900" dirty="0"/>
          </a:p>
        </p:txBody>
      </p:sp>
      <p:sp>
        <p:nvSpPr>
          <p:cNvPr id="48" name="text-540"/>
          <p:cNvSpPr txBox="1"/>
          <p:nvPr/>
        </p:nvSpPr>
        <p:spPr>
          <a:xfrm>
            <a:off x="10287000" y="1965960"/>
            <a:ext cx="107899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30 km/h</a:t>
            </a:r>
            <a:endParaRPr lang="en-US" sz="900" dirty="0"/>
          </a:p>
        </p:txBody>
      </p:sp>
      <p:sp>
        <p:nvSpPr>
          <p:cNvPr id="49" name="text-541"/>
          <p:cNvSpPr txBox="1"/>
          <p:nvPr/>
        </p:nvSpPr>
        <p:spPr>
          <a:xfrm>
            <a:off x="8019288" y="2162556"/>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Bend ahead   before (m)</a:t>
            </a:r>
            <a:endParaRPr lang="en-US" sz="900" dirty="0"/>
          </a:p>
        </p:txBody>
      </p:sp>
      <p:sp>
        <p:nvSpPr>
          <p:cNvPr id="50" name="text-542"/>
          <p:cNvSpPr txBox="1"/>
          <p:nvPr/>
        </p:nvSpPr>
        <p:spPr>
          <a:xfrm>
            <a:off x="10287000" y="2162556"/>
            <a:ext cx="107899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30</a:t>
            </a:r>
            <a:endParaRPr lang="en-US" sz="900" dirty="0"/>
          </a:p>
        </p:txBody>
      </p:sp>
      <p:sp>
        <p:nvSpPr>
          <p:cNvPr id="51" name="text-543"/>
          <p:cNvSpPr txBox="1"/>
          <p:nvPr/>
        </p:nvSpPr>
        <p:spPr>
          <a:xfrm>
            <a:off x="8019288" y="2359152"/>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Road works ahead (with plate)</a:t>
            </a:r>
            <a:endParaRPr lang="en-US" sz="900" dirty="0"/>
          </a:p>
        </p:txBody>
      </p:sp>
      <p:sp>
        <p:nvSpPr>
          <p:cNvPr id="52" name="text-544"/>
          <p:cNvSpPr txBox="1"/>
          <p:nvPr/>
        </p:nvSpPr>
        <p:spPr>
          <a:xfrm>
            <a:off x="8019288" y="2555748"/>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Chevron boards on bends</a:t>
            </a:r>
            <a:endParaRPr lang="en-US" sz="900" dirty="0"/>
          </a:p>
        </p:txBody>
      </p:sp>
      <p:sp>
        <p:nvSpPr>
          <p:cNvPr id="53" name="text-545"/>
          <p:cNvSpPr txBox="1"/>
          <p:nvPr/>
        </p:nvSpPr>
        <p:spPr>
          <a:xfrm>
            <a:off x="8019288" y="2752344"/>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Keep right at median</a:t>
            </a:r>
            <a:endParaRPr lang="en-US" sz="900" dirty="0"/>
          </a:p>
        </p:txBody>
      </p:sp>
      <p:sp>
        <p:nvSpPr>
          <p:cNvPr id="54" name="text-546"/>
          <p:cNvSpPr txBox="1"/>
          <p:nvPr/>
        </p:nvSpPr>
        <p:spPr>
          <a:xfrm>
            <a:off x="8019288" y="2948940"/>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Lane direction arrows</a:t>
            </a:r>
            <a:endParaRPr lang="en-US" sz="900" dirty="0"/>
          </a:p>
        </p:txBody>
      </p:sp>
      <p:sp>
        <p:nvSpPr>
          <p:cNvPr id="55" name="text-547"/>
          <p:cNvSpPr txBox="1"/>
          <p:nvPr/>
        </p:nvSpPr>
        <p:spPr>
          <a:xfrm>
            <a:off x="8019288" y="3145536"/>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At tie-in:</a:t>
            </a:r>
            <a:endParaRPr lang="en-US" sz="900" dirty="0"/>
          </a:p>
        </p:txBody>
      </p:sp>
      <p:sp>
        <p:nvSpPr>
          <p:cNvPr id="56" name="text-548"/>
          <p:cNvSpPr txBox="1"/>
          <p:nvPr/>
        </p:nvSpPr>
        <p:spPr>
          <a:xfrm>
            <a:off x="9646920" y="3145536"/>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STOP sign</a:t>
            </a:r>
            <a:endParaRPr lang="en-US" sz="900" dirty="0"/>
          </a:p>
        </p:txBody>
      </p:sp>
      <p:sp>
        <p:nvSpPr>
          <p:cNvPr id="57" name="text-549"/>
          <p:cNvSpPr txBox="1"/>
          <p:nvPr/>
        </p:nvSpPr>
        <p:spPr>
          <a:xfrm>
            <a:off x="8019288" y="3342132"/>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Two-way traffic (signs both ways)</a:t>
            </a:r>
            <a:endParaRPr lang="en-US" sz="900" dirty="0"/>
          </a:p>
        </p:txBody>
      </p:sp>
      <p:sp>
        <p:nvSpPr>
          <p:cNvPr id="58" name="text-550"/>
          <p:cNvSpPr txBox="1"/>
          <p:nvPr/>
        </p:nvSpPr>
        <p:spPr>
          <a:xfrm>
            <a:off x="8019288" y="3538728"/>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Sizes and distances by speed (HDS)</a:t>
            </a:r>
            <a:endParaRPr lang="en-US" sz="900" dirty="0"/>
          </a:p>
        </p:txBody>
      </p:sp>
      <p:sp>
        <p:nvSpPr>
          <p:cNvPr id="59" name="text-551"/>
          <p:cNvSpPr txBox="1"/>
          <p:nvPr/>
        </p:nvSpPr>
        <p:spPr>
          <a:xfrm>
            <a:off x="8019288" y="3735324"/>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Sign set:</a:t>
            </a:r>
            <a:endParaRPr lang="en-US" sz="900" dirty="0"/>
          </a:p>
        </p:txBody>
      </p:sp>
      <p:sp>
        <p:nvSpPr>
          <p:cNvPr id="60" name="text-552"/>
          <p:cNvSpPr txBox="1"/>
          <p:nvPr/>
        </p:nvSpPr>
        <p:spPr>
          <a:xfrm>
            <a:off x="9646920" y="3735324"/>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Temporary</a:t>
            </a:r>
            <a:endParaRPr lang="en-US" sz="900" dirty="0"/>
          </a:p>
        </p:txBody>
      </p:sp>
      <p:sp>
        <p:nvSpPr>
          <p:cNvPr id="61" name="text-553"/>
          <p:cNvSpPr txBox="1"/>
          <p:nvPr/>
        </p:nvSpPr>
        <p:spPr>
          <a:xfrm>
            <a:off x="8019288" y="3931920"/>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Symbol (m)  /  Spacing (m):</a:t>
            </a:r>
            <a:endParaRPr lang="en-US" sz="900" dirty="0"/>
          </a:p>
        </p:txBody>
      </p:sp>
      <p:sp>
        <p:nvSpPr>
          <p:cNvPr id="62" name="text-554"/>
          <p:cNvSpPr txBox="1"/>
          <p:nvPr/>
        </p:nvSpPr>
        <p:spPr>
          <a:xfrm>
            <a:off x="9646920" y="3931920"/>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2.0  /  15</a:t>
            </a:r>
            <a:endParaRPr lang="en-US" sz="900" dirty="0"/>
          </a:p>
        </p:txBody>
      </p:sp>
      <p:sp>
        <p:nvSpPr>
          <p:cNvPr id="63" name="shape-555"/>
          <p:cNvSpPr/>
          <p:nvPr/>
        </p:nvSpPr>
        <p:spPr>
          <a:xfrm>
            <a:off x="685800" y="4526280"/>
            <a:ext cx="3566160" cy="1536192"/>
          </a:xfrm>
          <a:prstGeom prst="rect">
            <a:avLst/>
          </a:prstGeom>
          <a:solidFill>
            <a:srgbClr val="FFFFFF"/>
          </a:solidFill>
          <a:ln w="9525">
            <a:solidFill>
              <a:srgbClr val="B5BAC0"/>
            </a:solidFill>
            <a:prstDash val="solid"/>
          </a:ln>
        </p:spPr>
      </p:sp>
      <p:sp>
        <p:nvSpPr>
          <p:cNvPr id="64" name="shape-556"/>
          <p:cNvSpPr/>
          <p:nvPr/>
        </p:nvSpPr>
        <p:spPr>
          <a:xfrm>
            <a:off x="758952" y="4407408"/>
            <a:ext cx="256032" cy="256032"/>
          </a:xfrm>
          <a:prstGeom prst="ellipse">
            <a:avLst/>
          </a:prstGeom>
          <a:solidFill>
            <a:schemeClr val="accent1"/>
          </a:solidFill>
          <a:ln/>
        </p:spPr>
      </p:sp>
      <p:sp>
        <p:nvSpPr>
          <p:cNvPr id="65" name="text-557"/>
          <p:cNvSpPr txBox="1"/>
          <p:nvPr/>
        </p:nvSpPr>
        <p:spPr>
          <a:xfrm>
            <a:off x="758952" y="440740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66" name="text-558"/>
          <p:cNvSpPr txBox="1"/>
          <p:nvPr/>
        </p:nvSpPr>
        <p:spPr>
          <a:xfrm>
            <a:off x="1069848" y="4416552"/>
            <a:ext cx="3108960" cy="219456"/>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Surface and Centre Line</a:t>
            </a:r>
            <a:endParaRPr lang="en-US" sz="1050" dirty="0"/>
          </a:p>
        </p:txBody>
      </p:sp>
      <p:sp>
        <p:nvSpPr>
          <p:cNvPr id="67" name="text-559"/>
          <p:cNvSpPr txBox="1"/>
          <p:nvPr/>
        </p:nvSpPr>
        <p:spPr>
          <a:xfrm>
            <a:off x="795528" y="4681728"/>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Hatch road surface</a:t>
            </a:r>
            <a:endParaRPr lang="en-US" sz="900" dirty="0"/>
          </a:p>
        </p:txBody>
      </p:sp>
      <p:sp>
        <p:nvSpPr>
          <p:cNvPr id="68" name="text-560"/>
          <p:cNvSpPr txBox="1"/>
          <p:nvPr/>
        </p:nvSpPr>
        <p:spPr>
          <a:xfrm>
            <a:off x="795528" y="4878324"/>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Hatch pattern  /  scale:</a:t>
            </a:r>
            <a:endParaRPr lang="en-US" sz="900" dirty="0"/>
          </a:p>
        </p:txBody>
      </p:sp>
      <p:sp>
        <p:nvSpPr>
          <p:cNvPr id="69" name="text-561"/>
          <p:cNvSpPr txBox="1"/>
          <p:nvPr/>
        </p:nvSpPr>
        <p:spPr>
          <a:xfrm>
            <a:off x="2423160" y="4878324"/>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SOLID  /  1.0</a:t>
            </a:r>
            <a:endParaRPr lang="en-US" sz="900" dirty="0"/>
          </a:p>
        </p:txBody>
      </p:sp>
      <p:sp>
        <p:nvSpPr>
          <p:cNvPr id="70" name="text-562"/>
          <p:cNvSpPr txBox="1"/>
          <p:nvPr/>
        </p:nvSpPr>
        <p:spPr>
          <a:xfrm>
            <a:off x="795528" y="5074920"/>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Show CL text in centre line</a:t>
            </a:r>
            <a:endParaRPr lang="en-US" sz="900" dirty="0"/>
          </a:p>
        </p:txBody>
      </p:sp>
      <p:sp>
        <p:nvSpPr>
          <p:cNvPr id="71" name="text-563"/>
          <p:cNvSpPr txBox="1"/>
          <p:nvPr/>
        </p:nvSpPr>
        <p:spPr>
          <a:xfrm>
            <a:off x="795528" y="5271516"/>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Road markings (centre + edge)</a:t>
            </a:r>
            <a:endParaRPr lang="en-US" sz="900" dirty="0"/>
          </a:p>
        </p:txBody>
      </p:sp>
      <p:sp>
        <p:nvSpPr>
          <p:cNvPr id="72" name="text-564"/>
          <p:cNvSpPr txBox="1"/>
          <p:nvPr/>
        </p:nvSpPr>
        <p:spPr>
          <a:xfrm>
            <a:off x="795528" y="5468112"/>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Centre marking:</a:t>
            </a:r>
            <a:endParaRPr lang="en-US" sz="900" dirty="0"/>
          </a:p>
        </p:txBody>
      </p:sp>
      <p:sp>
        <p:nvSpPr>
          <p:cNvPr id="73" name="text-565"/>
          <p:cNvSpPr txBox="1"/>
          <p:nvPr/>
        </p:nvSpPr>
        <p:spPr>
          <a:xfrm>
            <a:off x="2423160" y="5468112"/>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Standard L1/L2/L2A</a:t>
            </a:r>
            <a:endParaRPr lang="en-US" sz="900" dirty="0"/>
          </a:p>
        </p:txBody>
      </p:sp>
      <p:sp>
        <p:nvSpPr>
          <p:cNvPr id="74" name="text-566"/>
          <p:cNvSpPr txBox="1"/>
          <p:nvPr/>
        </p:nvSpPr>
        <p:spPr>
          <a:xfrm>
            <a:off x="795528" y="5664708"/>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SLOW markings before bends</a:t>
            </a:r>
            <a:endParaRPr lang="en-US" sz="900" dirty="0"/>
          </a:p>
        </p:txBody>
      </p:sp>
      <p:sp>
        <p:nvSpPr>
          <p:cNvPr id="75" name="text-567"/>
          <p:cNvSpPr txBox="1"/>
          <p:nvPr/>
        </p:nvSpPr>
        <p:spPr>
          <a:xfrm>
            <a:off x="795528" y="5861304"/>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Delineator posts on curves</a:t>
            </a:r>
            <a:endParaRPr lang="en-US" sz="900" dirty="0"/>
          </a:p>
        </p:txBody>
      </p:sp>
      <p:sp>
        <p:nvSpPr>
          <p:cNvPr id="76" name="shape-568"/>
          <p:cNvSpPr/>
          <p:nvPr/>
        </p:nvSpPr>
        <p:spPr>
          <a:xfrm>
            <a:off x="4297680" y="4526280"/>
            <a:ext cx="3566160" cy="1536192"/>
          </a:xfrm>
          <a:prstGeom prst="rect">
            <a:avLst/>
          </a:prstGeom>
          <a:solidFill>
            <a:srgbClr val="FFFFFF"/>
          </a:solidFill>
          <a:ln w="9525">
            <a:solidFill>
              <a:srgbClr val="B5BAC0"/>
            </a:solidFill>
            <a:prstDash val="solid"/>
          </a:ln>
        </p:spPr>
      </p:sp>
      <p:sp>
        <p:nvSpPr>
          <p:cNvPr id="77" name="shape-569"/>
          <p:cNvSpPr/>
          <p:nvPr/>
        </p:nvSpPr>
        <p:spPr>
          <a:xfrm>
            <a:off x="4370832" y="4407408"/>
            <a:ext cx="256032" cy="256032"/>
          </a:xfrm>
          <a:prstGeom prst="ellipse">
            <a:avLst/>
          </a:prstGeom>
          <a:solidFill>
            <a:schemeClr val="accent1"/>
          </a:solidFill>
          <a:ln/>
        </p:spPr>
      </p:sp>
      <p:sp>
        <p:nvSpPr>
          <p:cNvPr id="78" name="text-570"/>
          <p:cNvSpPr txBox="1"/>
          <p:nvPr/>
        </p:nvSpPr>
        <p:spPr>
          <a:xfrm>
            <a:off x="4370832" y="440740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9" name="text-571"/>
          <p:cNvSpPr txBox="1"/>
          <p:nvPr/>
        </p:nvSpPr>
        <p:spPr>
          <a:xfrm>
            <a:off x="4681728" y="4416552"/>
            <a:ext cx="3108960" cy="219456"/>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Chainage</a:t>
            </a:r>
            <a:endParaRPr lang="en-US" sz="1050" dirty="0"/>
          </a:p>
        </p:txBody>
      </p:sp>
      <p:sp>
        <p:nvSpPr>
          <p:cNvPr id="80" name="text-572"/>
          <p:cNvSpPr txBox="1"/>
          <p:nvPr/>
        </p:nvSpPr>
        <p:spPr>
          <a:xfrm>
            <a:off x="4407408" y="4681728"/>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Add chainage ticks and labels</a:t>
            </a:r>
            <a:endParaRPr lang="en-US" sz="900" dirty="0"/>
          </a:p>
        </p:txBody>
      </p:sp>
      <p:sp>
        <p:nvSpPr>
          <p:cNvPr id="81" name="text-573"/>
          <p:cNvSpPr txBox="1"/>
          <p:nvPr/>
        </p:nvSpPr>
        <p:spPr>
          <a:xfrm>
            <a:off x="4407408" y="4878324"/>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Interval (m):</a:t>
            </a:r>
            <a:endParaRPr lang="en-US" sz="900" dirty="0"/>
          </a:p>
        </p:txBody>
      </p:sp>
      <p:sp>
        <p:nvSpPr>
          <p:cNvPr id="82" name="text-574"/>
          <p:cNvSpPr txBox="1"/>
          <p:nvPr/>
        </p:nvSpPr>
        <p:spPr>
          <a:xfrm>
            <a:off x="6035040" y="4878324"/>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20</a:t>
            </a:r>
            <a:endParaRPr lang="en-US" sz="900" dirty="0"/>
          </a:p>
        </p:txBody>
      </p:sp>
      <p:sp>
        <p:nvSpPr>
          <p:cNvPr id="83" name="text-575"/>
          <p:cNvSpPr txBox="1"/>
          <p:nvPr/>
        </p:nvSpPr>
        <p:spPr>
          <a:xfrm>
            <a:off x="4407408" y="5074920"/>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Start chainage (m):</a:t>
            </a:r>
            <a:endParaRPr lang="en-US" sz="900" dirty="0"/>
          </a:p>
        </p:txBody>
      </p:sp>
      <p:sp>
        <p:nvSpPr>
          <p:cNvPr id="84" name="text-576"/>
          <p:cNvSpPr txBox="1"/>
          <p:nvPr/>
        </p:nvSpPr>
        <p:spPr>
          <a:xfrm>
            <a:off x="6035040" y="5074920"/>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0</a:t>
            </a:r>
            <a:endParaRPr lang="en-US" sz="900" dirty="0"/>
          </a:p>
        </p:txBody>
      </p:sp>
      <p:sp>
        <p:nvSpPr>
          <p:cNvPr id="85" name="text-577"/>
          <p:cNvSpPr txBox="1"/>
          <p:nvPr/>
        </p:nvSpPr>
        <p:spPr>
          <a:xfrm>
            <a:off x="4407408" y="5271516"/>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Text height (m):</a:t>
            </a:r>
            <a:endParaRPr lang="en-US" sz="900" dirty="0"/>
          </a:p>
        </p:txBody>
      </p:sp>
      <p:sp>
        <p:nvSpPr>
          <p:cNvPr id="86" name="text-578"/>
          <p:cNvSpPr txBox="1"/>
          <p:nvPr/>
        </p:nvSpPr>
        <p:spPr>
          <a:xfrm>
            <a:off x="6035040" y="5271516"/>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1.0</a:t>
            </a:r>
            <a:endParaRPr lang="en-US" sz="900" dirty="0"/>
          </a:p>
        </p:txBody>
      </p:sp>
      <p:sp>
        <p:nvSpPr>
          <p:cNvPr id="87" name="shape-579"/>
          <p:cNvSpPr/>
          <p:nvPr/>
        </p:nvSpPr>
        <p:spPr>
          <a:xfrm>
            <a:off x="7909560" y="4526280"/>
            <a:ext cx="3566160" cy="1536192"/>
          </a:xfrm>
          <a:prstGeom prst="rect">
            <a:avLst/>
          </a:prstGeom>
          <a:solidFill>
            <a:srgbClr val="FFFFFF"/>
          </a:solidFill>
          <a:ln w="9525">
            <a:solidFill>
              <a:srgbClr val="B5BAC0"/>
            </a:solidFill>
            <a:prstDash val="solid"/>
          </a:ln>
        </p:spPr>
      </p:sp>
      <p:sp>
        <p:nvSpPr>
          <p:cNvPr id="88" name="shape-580"/>
          <p:cNvSpPr/>
          <p:nvPr/>
        </p:nvSpPr>
        <p:spPr>
          <a:xfrm>
            <a:off x="7982712" y="4407408"/>
            <a:ext cx="256032" cy="256032"/>
          </a:xfrm>
          <a:prstGeom prst="ellipse">
            <a:avLst/>
          </a:prstGeom>
          <a:solidFill>
            <a:schemeClr val="accent1"/>
          </a:solidFill>
          <a:ln/>
        </p:spPr>
      </p:sp>
      <p:sp>
        <p:nvSpPr>
          <p:cNvPr id="89" name="text-581"/>
          <p:cNvSpPr txBox="1"/>
          <p:nvPr/>
        </p:nvSpPr>
        <p:spPr>
          <a:xfrm>
            <a:off x="7982712" y="4407408"/>
            <a:ext cx="25603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90" name="text-582"/>
          <p:cNvSpPr txBox="1"/>
          <p:nvPr/>
        </p:nvSpPr>
        <p:spPr>
          <a:xfrm>
            <a:off x="8293608" y="4416552"/>
            <a:ext cx="3108960" cy="219456"/>
          </a:xfrm>
          <a:prstGeom prst="rect">
            <a:avLst/>
          </a:prstGeom>
          <a:noFill/>
          <a:ln/>
        </p:spPr>
        <p:txBody>
          <a:bodyPr wrap="square" lIns="0" tIns="0" rIns="0" bIns="0" rtlCol="0" anchor="t"/>
          <a:lstStyle/>
          <a:p>
            <a:pPr indent="0" marL="0">
              <a:buNone/>
            </a:pPr>
            <a:r>
              <a:rPr lang="en-US" sz="1050" b="1" dirty="0">
                <a:solidFill>
                  <a:schemeClr val="accent1"/>
                </a:solidFill>
                <a:latin typeface="Calibri" pitchFamily="34" charset="0"/>
                <a:ea typeface="Calibri" pitchFamily="34" charset="-122"/>
                <a:cs typeface="Calibri" pitchFamily="34" charset="-120"/>
              </a:rPr>
              <a:t>Road Ends and Report</a:t>
            </a:r>
            <a:endParaRPr lang="en-US" sz="1050" dirty="0"/>
          </a:p>
        </p:txBody>
      </p:sp>
      <p:sp>
        <p:nvSpPr>
          <p:cNvPr id="91" name="text-583"/>
          <p:cNvSpPr txBox="1"/>
          <p:nvPr/>
        </p:nvSpPr>
        <p:spPr>
          <a:xfrm>
            <a:off x="8019288" y="4681728"/>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Start end:</a:t>
            </a:r>
            <a:endParaRPr lang="en-US" sz="900" dirty="0"/>
          </a:p>
        </p:txBody>
      </p:sp>
      <p:sp>
        <p:nvSpPr>
          <p:cNvPr id="92" name="text-584"/>
          <p:cNvSpPr txBox="1"/>
          <p:nvPr/>
        </p:nvSpPr>
        <p:spPr>
          <a:xfrm>
            <a:off x="9646920" y="4681728"/>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Tie-in line</a:t>
            </a:r>
            <a:endParaRPr lang="en-US" sz="900" dirty="0"/>
          </a:p>
        </p:txBody>
      </p:sp>
      <p:sp>
        <p:nvSpPr>
          <p:cNvPr id="93" name="text-585"/>
          <p:cNvSpPr txBox="1"/>
          <p:nvPr/>
        </p:nvSpPr>
        <p:spPr>
          <a:xfrm>
            <a:off x="8019288" y="4878324"/>
            <a:ext cx="2103120" cy="192024"/>
          </a:xfrm>
          <a:prstGeom prst="rect">
            <a:avLst/>
          </a:prstGeom>
          <a:noFill/>
          <a:ln/>
        </p:spPr>
        <p:txBody>
          <a:bodyPr wrap="square" lIns="0" tIns="0" rIns="0" bIns="0" rtlCol="0" anchor="t"/>
          <a:lstStyle/>
          <a:p>
            <a:pPr indent="0" marL="0">
              <a:buNone/>
            </a:pPr>
            <a:r>
              <a:rPr lang="en-US" sz="900" dirty="0">
                <a:solidFill>
                  <a:schemeClr val="tx1"/>
                </a:solidFill>
                <a:latin typeface="Calibri" pitchFamily="34" charset="0"/>
                <a:ea typeface="Calibri" pitchFamily="34" charset="-122"/>
                <a:cs typeface="Calibri" pitchFamily="34" charset="-120"/>
              </a:rPr>
              <a:t>Finish end:</a:t>
            </a:r>
            <a:endParaRPr lang="en-US" sz="900" dirty="0"/>
          </a:p>
        </p:txBody>
      </p:sp>
      <p:sp>
        <p:nvSpPr>
          <p:cNvPr id="94" name="text-586"/>
          <p:cNvSpPr txBox="1"/>
          <p:nvPr/>
        </p:nvSpPr>
        <p:spPr>
          <a:xfrm>
            <a:off x="9646920" y="4878324"/>
            <a:ext cx="1719072" cy="192024"/>
          </a:xfrm>
          <a:prstGeom prst="rect">
            <a:avLst/>
          </a:prstGeom>
          <a:noFill/>
          <a:ln/>
        </p:spPr>
        <p:txBody>
          <a:bodyPr wrap="square" lIns="0" tIns="0" rIns="0" bIns="0" rtlCol="0" anchor="t"/>
          <a:lstStyle/>
          <a:p>
            <a:pPr algn="r" indent="0" marL="0">
              <a:buNone/>
            </a:pPr>
            <a:r>
              <a:rPr lang="en-US" sz="900" b="1" dirty="0">
                <a:solidFill>
                  <a:schemeClr val="accent3"/>
                </a:solidFill>
                <a:latin typeface="Calibri" pitchFamily="34" charset="0"/>
                <a:ea typeface="Calibri" pitchFamily="34" charset="-122"/>
                <a:cs typeface="Calibri" pitchFamily="34" charset="-120"/>
              </a:rPr>
              <a:t>Tie-in line</a:t>
            </a:r>
            <a:endParaRPr lang="en-US" sz="900" dirty="0"/>
          </a:p>
        </p:txBody>
      </p:sp>
      <p:sp>
        <p:nvSpPr>
          <p:cNvPr id="95" name="text-587"/>
          <p:cNvSpPr txBox="1"/>
          <p:nvPr/>
        </p:nvSpPr>
        <p:spPr>
          <a:xfrm>
            <a:off x="8019288" y="5074920"/>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Report tables + Excel (CSV) file</a:t>
            </a:r>
            <a:endParaRPr lang="en-US" sz="900" dirty="0"/>
          </a:p>
        </p:txBody>
      </p:sp>
      <p:sp>
        <p:nvSpPr>
          <p:cNvPr id="96" name="text-588"/>
          <p:cNvSpPr txBox="1"/>
          <p:nvPr/>
        </p:nvSpPr>
        <p:spPr>
          <a:xfrm>
            <a:off x="8019288" y="5271516"/>
            <a:ext cx="3346704" cy="192024"/>
          </a:xfrm>
          <a:prstGeom prst="rect">
            <a:avLst/>
          </a:prstGeom>
          <a:noFill/>
          <a:ln/>
        </p:spPr>
        <p:txBody>
          <a:bodyPr wrap="square" lIns="0" tIns="0" rIns="0" bIns="0" rtlCol="0" anchor="t"/>
          <a:lstStyle/>
          <a:p>
            <a:pPr indent="0" marL="0">
              <a:buNone/>
            </a:pPr>
            <a:r>
              <a:rPr lang="en-US" sz="900" dirty="0">
                <a:solidFill>
                  <a:srgbClr val="3A3F45"/>
                </a:solidFill>
                <a:latin typeface="Calibri" pitchFamily="34" charset="0"/>
                <a:ea typeface="Calibri" pitchFamily="34" charset="-122"/>
                <a:cs typeface="Calibri" pitchFamily="34" charset="-120"/>
              </a:rPr>
              <a:t>☑ </a:t>
            </a:r>
            <a:pPr indent="0" marL="0">
              <a:buNone/>
            </a:pPr>
            <a:r>
              <a:rPr lang="en-US" sz="900" dirty="0">
                <a:solidFill>
                  <a:schemeClr val="tx1"/>
                </a:solidFill>
                <a:latin typeface="Calibri" pitchFamily="34" charset="0"/>
                <a:ea typeface="Calibri" pitchFamily="34" charset="-122"/>
                <a:cs typeface="Calibri" pitchFamily="34" charset="-120"/>
              </a:rPr>
              <a:t>Typical cross section drawing</a:t>
            </a:r>
            <a:endParaRPr lang="en-US" sz="900" dirty="0"/>
          </a:p>
        </p:txBody>
      </p:sp>
      <p:sp>
        <p:nvSpPr>
          <p:cNvPr id="97" name="shape-589"/>
          <p:cNvSpPr/>
          <p:nvPr/>
        </p:nvSpPr>
        <p:spPr>
          <a:xfrm>
            <a:off x="685800" y="6089904"/>
            <a:ext cx="3566160" cy="219456"/>
          </a:xfrm>
          <a:prstGeom prst="roundRect">
            <a:avLst>
              <a:gd name="adj" fmla="val 12500"/>
            </a:avLst>
          </a:prstGeom>
          <a:solidFill>
            <a:srgbClr val="E1E3E6"/>
          </a:solidFill>
          <a:ln w="9525">
            <a:solidFill>
              <a:srgbClr val="9AA0A6"/>
            </a:solidFill>
            <a:prstDash val="solid"/>
          </a:ln>
        </p:spPr>
      </p:sp>
      <p:sp>
        <p:nvSpPr>
          <p:cNvPr id="98" name="text-590"/>
          <p:cNvSpPr txBox="1"/>
          <p:nvPr/>
        </p:nvSpPr>
        <p:spPr>
          <a:xfrm>
            <a:off x="685800" y="6089904"/>
            <a:ext cx="3566160" cy="219456"/>
          </a:xfrm>
          <a:prstGeom prst="rect">
            <a:avLst/>
          </a:prstGeom>
          <a:noFill/>
          <a:ln/>
        </p:spPr>
        <p:txBody>
          <a:bodyPr wrap="square" lIns="0" tIns="0" rIns="0" bIns="0" rtlCol="0" anchor="ctr"/>
          <a:lstStyle/>
          <a:p>
            <a:pPr algn="ctr" indent="0" marL="0">
              <a:buNone/>
            </a:pPr>
            <a:r>
              <a:rPr lang="en-US" sz="900" dirty="0">
                <a:solidFill>
                  <a:schemeClr val="tx1"/>
                </a:solidFill>
                <a:latin typeface="Calibri" pitchFamily="34" charset="0"/>
                <a:ea typeface="Calibri" pitchFamily="34" charset="-122"/>
                <a:cs typeface="Calibri" pitchFamily="34" charset="-120"/>
              </a:rPr>
              <a:t>Lanes, median, sidewalks, drains, utilities...</a:t>
            </a:r>
            <a:endParaRPr lang="en-US" sz="900" dirty="0"/>
          </a:p>
        </p:txBody>
      </p:sp>
      <p:sp>
        <p:nvSpPr>
          <p:cNvPr id="99" name="text-591"/>
          <p:cNvSpPr txBox="1"/>
          <p:nvPr/>
        </p:nvSpPr>
        <p:spPr>
          <a:xfrm>
            <a:off x="4343400" y="6089904"/>
            <a:ext cx="7132320" cy="219456"/>
          </a:xfrm>
          <a:prstGeom prst="rect">
            <a:avLst/>
          </a:prstGeom>
          <a:noFill/>
          <a:ln/>
        </p:spPr>
        <p:txBody>
          <a:bodyPr wrap="square" lIns="0" tIns="0" rIns="0" bIns="0" rtlCol="0" anchor="ctr"/>
          <a:lstStyle/>
          <a:p>
            <a:pPr indent="0" marL="0">
              <a:buNone/>
            </a:pPr>
            <a:r>
              <a:rPr lang="en-US" sz="900" dirty="0">
                <a:solidFill>
                  <a:schemeClr val="accent3"/>
                </a:solidFill>
                <a:latin typeface="Calibri" pitchFamily="34" charset="0"/>
                <a:ea typeface="Calibri" pitchFamily="34" charset="-122"/>
                <a:cs typeface="Calibri" pitchFamily="34" charset="-120"/>
              </a:rPr>
              <a:t>Single carriageway, lanes from road width   (button opens the corridor dialog, slide 39)</a:t>
            </a:r>
            <a:endParaRPr lang="en-US" sz="900" dirty="0"/>
          </a:p>
        </p:txBody>
      </p:sp>
      <p:sp>
        <p:nvSpPr>
          <p:cNvPr id="100" name="text-592"/>
          <p:cNvSpPr txBox="1"/>
          <p:nvPr/>
        </p:nvSpPr>
        <p:spPr>
          <a:xfrm>
            <a:off x="4389120" y="5559552"/>
            <a:ext cx="3383280" cy="274320"/>
          </a:xfrm>
          <a:prstGeom prst="rect">
            <a:avLst/>
          </a:prstGeom>
          <a:noFill/>
          <a:ln/>
        </p:spPr>
        <p:txBody>
          <a:bodyPr wrap="square" lIns="0" tIns="0" rIns="0" bIns="0" rtlCol="0" anchor="t"/>
          <a:lstStyle/>
          <a:p>
            <a:pPr indent="0" marL="0">
              <a:buNone/>
            </a:pPr>
            <a:r>
              <a:rPr lang="en-US" sz="950" i="1" dirty="0">
                <a:solidFill>
                  <a:srgbClr val="5B6169"/>
                </a:solidFill>
                <a:latin typeface="Calibri" pitchFamily="34" charset="0"/>
                <a:ea typeface="Calibri" pitchFamily="34" charset="-122"/>
                <a:cs typeface="Calibri" pitchFamily="34" charset="-120"/>
              </a:rPr>
              <a:t>Panels 1 – 6 : slides 11 – 17</a:t>
            </a:r>
            <a:endParaRPr lang="en-US" sz="9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PANEL 1  ·  RDP DIALOG</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Road Geometry settings</a:t>
            </a:r>
            <a:endParaRPr lang="en-US" sz="2600" dirty="0"/>
          </a:p>
        </p:txBody>
      </p:sp>
      <p:graphicFrame>
        <p:nvGraphicFramePr>
          <p:cNvPr id="12" name="table-593"/>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914400"/>
        </p:xfrm>
        <a:graphic>
          <a:graphicData uri="http://schemas.openxmlformats.org/drawingml/2006/table">
            <a:tbl>
              <a:tblPr/>
              <a:tblGrid>
                <a:gridCol w="2377440"/>
                <a:gridCol w="3108960"/>
                <a:gridCol w="5669280"/>
              </a:tblGrid>
              <a:tr h="34747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Setting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Options  (default)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4747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Road name / ID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ROAD-01</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Name on labels, report title and the Excel file name ROAD-01_RoadPro_Report.csv. Use a new name for each road.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4747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Road width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7.30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Full carriageway width, edge to edge; half on each side of the CL. Paved shoulder is added outside it.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4747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Turning radius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Match existing (keep CL as drawn)  /  Manual radius at every bend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Match existing keeps your arcs exactly. Manual puts the radius below into every corner of the CL.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4747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Manual radius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Used only with Manual radius (greyed out otherwise).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4747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Radius measured at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Centre line (CL)  /  Inner edge (kerb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Only with Manual radius. Inner edge: the value is the kerb radius and the CL radius becomes R + half width.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4747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Drawing units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Meters  /  Millimeters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 unit = 1 m or 1 unit = 1 mm. Every value in every dialog is still typed in metres.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4747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Centre line input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Pick points (draw new)  /  Select existing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Draw the CL after OK, or click a line, polyline, arc or Civil 3D alignment.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4747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Keep the original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Select existing only: the road is built on a copy, your line stays as it is.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4747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Show radius, TC / CT and curve data</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Radius arrow and value, TC / CT ticks with chainage, curve data box (same as RDRAD).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4747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Show straight sections (S1, S2...)</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Extent bar with length, area, chainage range and bearing for every straight (same as RDSEC).</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bl>
          </a:graphicData>
        </a:graphic>
      </p:graphicFrame>
      <p:sp>
        <p:nvSpPr>
          <p:cNvPr id="5" name="shape-594"/>
          <p:cNvSpPr/>
          <p:nvPr/>
        </p:nvSpPr>
        <p:spPr>
          <a:xfrm>
            <a:off x="502920" y="5669280"/>
            <a:ext cx="11155680" cy="530352"/>
          </a:xfrm>
          <a:prstGeom prst="roundRect">
            <a:avLst>
              <a:gd name="adj" fmla="val 13793"/>
            </a:avLst>
          </a:prstGeom>
          <a:solidFill>
            <a:srgbClr val="FFF6D6"/>
          </a:solidFill>
          <a:ln w="9525">
            <a:solidFill>
              <a:srgbClr val="F2D27A"/>
            </a:solidFill>
            <a:prstDash val="solid"/>
          </a:ln>
        </p:spPr>
      </p:sp>
      <p:sp>
        <p:nvSpPr>
          <p:cNvPr id="6" name="text-595"/>
          <p:cNvSpPr txBox="1"/>
          <p:nvPr/>
        </p:nvSpPr>
        <p:spPr>
          <a:xfrm>
            <a:off x="649224" y="5742432"/>
            <a:ext cx="10863072" cy="384048"/>
          </a:xfrm>
          <a:prstGeom prst="rect">
            <a:avLst/>
          </a:prstGeom>
          <a:noFill/>
          <a:ln/>
        </p:spPr>
        <p:txBody>
          <a:bodyPr wrap="square" lIns="0" tIns="0" rIns="0" bIns="0" rtlCol="0" anchor="ctr"/>
          <a:lstStyle/>
          <a:p>
            <a:pPr indent="0" marL="0">
              <a:buNone/>
            </a:pPr>
            <a:r>
              <a:rPr lang="en-US" sz="1050" b="1" dirty="0">
                <a:solidFill>
                  <a:srgbClr val="A65F00"/>
                </a:solidFill>
                <a:latin typeface="Calibri" pitchFamily="34" charset="0"/>
                <a:ea typeface="Calibri" pitchFamily="34" charset="-122"/>
                <a:cs typeface="Calibri" pitchFamily="34" charset="-120"/>
              </a:rPr>
              <a:t>Tip  </a:t>
            </a:r>
            <a:pPr indent="0" marL="0">
              <a:buNone/>
            </a:pPr>
            <a:r>
              <a:rPr lang="en-US" sz="1050" dirty="0">
                <a:solidFill>
                  <a:srgbClr val="3A3F45"/>
                </a:solidFill>
                <a:latin typeface="Calibri" pitchFamily="34" charset="0"/>
                <a:ea typeface="Calibri" pitchFamily="34" charset="-122"/>
                <a:cs typeface="Calibri" pitchFamily="34" charset="-120"/>
              </a:rPr>
              <a:t>Using a CL from the designer? Keep Match existing. Drawing a quick site road with sharp corners? Choose Manual radius and RoadPro rounds every bend for you.</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PANEL 1  ·  RDP DIALOG</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Turning radius: the two options explained</a:t>
            </a:r>
            <a:endParaRPr lang="en-US" sz="2600" dirty="0"/>
          </a:p>
        </p:txBody>
      </p:sp>
      <p:sp>
        <p:nvSpPr>
          <p:cNvPr id="4" name="shape-596"/>
          <p:cNvSpPr/>
          <p:nvPr/>
        </p:nvSpPr>
        <p:spPr>
          <a:xfrm>
            <a:off x="502920" y="1325880"/>
            <a:ext cx="3611880" cy="3383280"/>
          </a:xfrm>
          <a:prstGeom prst="roundRect">
            <a:avLst>
              <a:gd name="adj" fmla="val 2162"/>
            </a:avLst>
          </a:prstGeom>
          <a:solidFill>
            <a:srgbClr val="F4F5F7"/>
          </a:solidFill>
          <a:ln w="9525">
            <a:solidFill>
              <a:srgbClr val="E3E5E8"/>
            </a:solidFill>
            <a:prstDash val="solid"/>
          </a:ln>
        </p:spPr>
      </p:sp>
      <p:sp>
        <p:nvSpPr>
          <p:cNvPr id="5" name="text-597"/>
          <p:cNvSpPr txBox="1"/>
          <p:nvPr/>
        </p:nvSpPr>
        <p:spPr>
          <a:xfrm>
            <a:off x="667512" y="1463040"/>
            <a:ext cx="3282696" cy="292608"/>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Match existing</a:t>
            </a:r>
            <a:endParaRPr lang="en-US" sz="1300" dirty="0"/>
          </a:p>
        </p:txBody>
      </p:sp>
      <p:sp>
        <p:nvSpPr>
          <p:cNvPr id="6" name="shape-598"/>
          <p:cNvSpPr/>
          <p:nvPr/>
        </p:nvSpPr>
        <p:spPr>
          <a:xfrm>
            <a:off x="868680" y="3840480"/>
            <a:ext cx="960120" cy="0"/>
          </a:xfrm>
          <a:prstGeom prst="line">
            <a:avLst/>
          </a:prstGeom>
          <a:noFill/>
          <a:ln w="25400">
            <a:solidFill>
              <a:schemeClr val="accent1"/>
            </a:solidFill>
            <a:prstDash val="solid"/>
          </a:ln>
        </p:spPr>
      </p:sp>
      <p:sp>
        <p:nvSpPr>
          <p:cNvPr id="7" name="shape-599"/>
          <p:cNvSpPr/>
          <p:nvPr/>
        </p:nvSpPr>
        <p:spPr>
          <a:xfrm>
            <a:off x="914400" y="2011680"/>
            <a:ext cx="1828800" cy="1828800"/>
          </a:xfrm>
          <a:prstGeom prst="arc">
            <a:avLst>
              <a:gd name="adj1" fmla="val 0"/>
              <a:gd name="adj2" fmla="val 5400000"/>
            </a:avLst>
          </a:prstGeom>
          <a:noFill/>
          <a:ln w="25400">
            <a:solidFill>
              <a:schemeClr val="accent1"/>
            </a:solidFill>
            <a:prstDash val="solid"/>
          </a:ln>
        </p:spPr>
      </p:sp>
      <p:sp>
        <p:nvSpPr>
          <p:cNvPr id="8" name="shape-600"/>
          <p:cNvSpPr/>
          <p:nvPr/>
        </p:nvSpPr>
        <p:spPr>
          <a:xfrm>
            <a:off x="2743200" y="1965960"/>
            <a:ext cx="0" cy="960120"/>
          </a:xfrm>
          <a:prstGeom prst="line">
            <a:avLst/>
          </a:prstGeom>
          <a:noFill/>
          <a:ln w="25400">
            <a:solidFill>
              <a:schemeClr val="accent1"/>
            </a:solidFill>
            <a:prstDash val="solid"/>
          </a:ln>
        </p:spPr>
      </p:sp>
      <p:sp>
        <p:nvSpPr>
          <p:cNvPr id="9" name="shape-601"/>
          <p:cNvSpPr/>
          <p:nvPr/>
        </p:nvSpPr>
        <p:spPr>
          <a:xfrm>
            <a:off x="1828800" y="2926080"/>
            <a:ext cx="914400" cy="0"/>
          </a:xfrm>
          <a:prstGeom prst="line">
            <a:avLst/>
          </a:prstGeom>
          <a:noFill/>
          <a:ln w="9525">
            <a:solidFill>
              <a:schemeClr val="accent6"/>
            </a:solidFill>
            <a:prstDash val="solid"/>
            <a:tailEnd type="triangle"/>
          </a:ln>
        </p:spPr>
      </p:sp>
      <p:sp>
        <p:nvSpPr>
          <p:cNvPr id="10" name="text-602"/>
          <p:cNvSpPr txBox="1"/>
          <p:nvPr/>
        </p:nvSpPr>
        <p:spPr>
          <a:xfrm>
            <a:off x="1874520" y="2697480"/>
            <a:ext cx="914400" cy="201168"/>
          </a:xfrm>
          <a:prstGeom prst="rect">
            <a:avLst/>
          </a:prstGeom>
          <a:noFill/>
          <a:ln/>
        </p:spPr>
        <p:txBody>
          <a:bodyPr wrap="square" lIns="0" tIns="0" rIns="0" bIns="0" rtlCol="0" anchor="t"/>
          <a:lstStyle/>
          <a:p>
            <a:pPr indent="0" marL="0">
              <a:buNone/>
            </a:pPr>
            <a:r>
              <a:rPr lang="en-US" sz="900" b="1" dirty="0">
                <a:solidFill>
                  <a:schemeClr val="accent6"/>
                </a:solidFill>
                <a:latin typeface="Calibri" pitchFamily="34" charset="0"/>
                <a:ea typeface="Calibri" pitchFamily="34" charset="-122"/>
                <a:cs typeface="Calibri" pitchFamily="34" charset="-120"/>
              </a:rPr>
              <a:t>R as drawn</a:t>
            </a:r>
            <a:endParaRPr lang="en-US" sz="900" dirty="0"/>
          </a:p>
        </p:txBody>
      </p:sp>
      <p:sp>
        <p:nvSpPr>
          <p:cNvPr id="11" name="text-603"/>
          <p:cNvSpPr txBox="1"/>
          <p:nvPr/>
        </p:nvSpPr>
        <p:spPr>
          <a:xfrm>
            <a:off x="685800" y="4160520"/>
            <a:ext cx="3291840" cy="50292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Your arcs are kept exactly as drawn. Corners without an arc stay sharp.</a:t>
            </a:r>
            <a:endParaRPr lang="en-US" sz="1050" dirty="0"/>
          </a:p>
        </p:txBody>
      </p:sp>
      <p:sp>
        <p:nvSpPr>
          <p:cNvPr id="12" name="shape-604"/>
          <p:cNvSpPr/>
          <p:nvPr/>
        </p:nvSpPr>
        <p:spPr>
          <a:xfrm>
            <a:off x="4288536" y="1325880"/>
            <a:ext cx="3611880" cy="3383280"/>
          </a:xfrm>
          <a:prstGeom prst="roundRect">
            <a:avLst>
              <a:gd name="adj" fmla="val 2162"/>
            </a:avLst>
          </a:prstGeom>
          <a:solidFill>
            <a:srgbClr val="F4F5F7"/>
          </a:solidFill>
          <a:ln w="9525">
            <a:solidFill>
              <a:srgbClr val="E3E5E8"/>
            </a:solidFill>
            <a:prstDash val="solid"/>
          </a:ln>
        </p:spPr>
      </p:sp>
      <p:sp>
        <p:nvSpPr>
          <p:cNvPr id="13" name="text-605"/>
          <p:cNvSpPr txBox="1"/>
          <p:nvPr/>
        </p:nvSpPr>
        <p:spPr>
          <a:xfrm>
            <a:off x="4453128" y="1463040"/>
            <a:ext cx="3282696" cy="292608"/>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Manual radius at every bend</a:t>
            </a:r>
            <a:endParaRPr lang="en-US" sz="1300" dirty="0"/>
          </a:p>
        </p:txBody>
      </p:sp>
      <p:sp>
        <p:nvSpPr>
          <p:cNvPr id="14" name="shape-606"/>
          <p:cNvSpPr/>
          <p:nvPr/>
        </p:nvSpPr>
        <p:spPr>
          <a:xfrm>
            <a:off x="4617720" y="3840480"/>
            <a:ext cx="1783080" cy="0"/>
          </a:xfrm>
          <a:prstGeom prst="line">
            <a:avLst/>
          </a:prstGeom>
          <a:noFill/>
          <a:ln w="12700">
            <a:solidFill>
              <a:srgbClr val="8A9099"/>
            </a:solidFill>
            <a:prstDash val="dash"/>
          </a:ln>
        </p:spPr>
      </p:sp>
      <p:sp>
        <p:nvSpPr>
          <p:cNvPr id="15" name="shape-607"/>
          <p:cNvSpPr/>
          <p:nvPr/>
        </p:nvSpPr>
        <p:spPr>
          <a:xfrm>
            <a:off x="6400800" y="1965960"/>
            <a:ext cx="0" cy="1874520"/>
          </a:xfrm>
          <a:prstGeom prst="line">
            <a:avLst/>
          </a:prstGeom>
          <a:noFill/>
          <a:ln w="12700">
            <a:solidFill>
              <a:srgbClr val="8A9099"/>
            </a:solidFill>
            <a:prstDash val="dash"/>
          </a:ln>
        </p:spPr>
      </p:sp>
      <p:sp>
        <p:nvSpPr>
          <p:cNvPr id="16" name="text-608"/>
          <p:cNvSpPr txBox="1"/>
          <p:nvPr/>
        </p:nvSpPr>
        <p:spPr>
          <a:xfrm>
            <a:off x="6446520" y="3611880"/>
            <a:ext cx="1097280" cy="201168"/>
          </a:xfrm>
          <a:prstGeom prst="rect">
            <a:avLst/>
          </a:prstGeom>
          <a:noFill/>
          <a:ln/>
        </p:spPr>
        <p:txBody>
          <a:bodyPr wrap="square" lIns="0" tIns="0" rIns="0" bIns="0" rtlCol="0" anchor="t"/>
          <a:lstStyle/>
          <a:p>
            <a:pPr indent="0" marL="0">
              <a:buNone/>
            </a:pPr>
            <a:r>
              <a:rPr lang="en-US" sz="850" dirty="0">
                <a:solidFill>
                  <a:srgbClr val="8A9099"/>
                </a:solidFill>
                <a:latin typeface="Calibri" pitchFamily="34" charset="0"/>
                <a:ea typeface="Calibri" pitchFamily="34" charset="-122"/>
                <a:cs typeface="Calibri" pitchFamily="34" charset="-120"/>
              </a:rPr>
              <a:t>drawn corner</a:t>
            </a:r>
            <a:endParaRPr lang="en-US" sz="850" dirty="0"/>
          </a:p>
        </p:txBody>
      </p:sp>
      <p:sp>
        <p:nvSpPr>
          <p:cNvPr id="17" name="shape-609"/>
          <p:cNvSpPr/>
          <p:nvPr/>
        </p:nvSpPr>
        <p:spPr>
          <a:xfrm>
            <a:off x="4617720" y="3840480"/>
            <a:ext cx="1051560" cy="0"/>
          </a:xfrm>
          <a:prstGeom prst="line">
            <a:avLst/>
          </a:prstGeom>
          <a:noFill/>
          <a:ln w="25400">
            <a:solidFill>
              <a:schemeClr val="accent1"/>
            </a:solidFill>
            <a:prstDash val="solid"/>
          </a:ln>
        </p:spPr>
      </p:sp>
      <p:sp>
        <p:nvSpPr>
          <p:cNvPr id="18" name="shape-610"/>
          <p:cNvSpPr/>
          <p:nvPr/>
        </p:nvSpPr>
        <p:spPr>
          <a:xfrm>
            <a:off x="4937760" y="2377440"/>
            <a:ext cx="1463040" cy="1463040"/>
          </a:xfrm>
          <a:prstGeom prst="arc">
            <a:avLst>
              <a:gd name="adj1" fmla="val 0"/>
              <a:gd name="adj2" fmla="val 5400000"/>
            </a:avLst>
          </a:prstGeom>
          <a:noFill/>
          <a:ln w="25400">
            <a:solidFill>
              <a:schemeClr val="accent1"/>
            </a:solidFill>
            <a:prstDash val="solid"/>
          </a:ln>
        </p:spPr>
      </p:sp>
      <p:sp>
        <p:nvSpPr>
          <p:cNvPr id="19" name="shape-611"/>
          <p:cNvSpPr/>
          <p:nvPr/>
        </p:nvSpPr>
        <p:spPr>
          <a:xfrm>
            <a:off x="6400800" y="1965960"/>
            <a:ext cx="0" cy="1143000"/>
          </a:xfrm>
          <a:prstGeom prst="line">
            <a:avLst/>
          </a:prstGeom>
          <a:noFill/>
          <a:ln w="25400">
            <a:solidFill>
              <a:schemeClr val="accent1"/>
            </a:solidFill>
            <a:prstDash val="solid"/>
          </a:ln>
        </p:spPr>
      </p:sp>
      <p:sp>
        <p:nvSpPr>
          <p:cNvPr id="20" name="shape-612"/>
          <p:cNvSpPr/>
          <p:nvPr/>
        </p:nvSpPr>
        <p:spPr>
          <a:xfrm>
            <a:off x="5669280" y="3108960"/>
            <a:ext cx="713232" cy="0"/>
          </a:xfrm>
          <a:prstGeom prst="line">
            <a:avLst/>
          </a:prstGeom>
          <a:noFill/>
          <a:ln w="9525">
            <a:solidFill>
              <a:schemeClr val="accent6"/>
            </a:solidFill>
            <a:prstDash val="solid"/>
            <a:tailEnd type="triangle"/>
          </a:ln>
        </p:spPr>
      </p:sp>
      <p:sp>
        <p:nvSpPr>
          <p:cNvPr id="21" name="text-613"/>
          <p:cNvSpPr txBox="1"/>
          <p:nvPr/>
        </p:nvSpPr>
        <p:spPr>
          <a:xfrm>
            <a:off x="5897880" y="2880360"/>
            <a:ext cx="274320" cy="201168"/>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R</a:t>
            </a:r>
            <a:endParaRPr lang="en-US" sz="1000" dirty="0"/>
          </a:p>
        </p:txBody>
      </p:sp>
      <p:sp>
        <p:nvSpPr>
          <p:cNvPr id="22" name="text-614"/>
          <p:cNvSpPr txBox="1"/>
          <p:nvPr/>
        </p:nvSpPr>
        <p:spPr>
          <a:xfrm>
            <a:off x="4471416" y="4160520"/>
            <a:ext cx="3291840" cy="50292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Sharp polyline corners get the Manual radius. Good for quick site roads.</a:t>
            </a:r>
            <a:endParaRPr lang="en-US" sz="1050" dirty="0"/>
          </a:p>
        </p:txBody>
      </p:sp>
      <p:sp>
        <p:nvSpPr>
          <p:cNvPr id="23" name="shape-615"/>
          <p:cNvSpPr/>
          <p:nvPr/>
        </p:nvSpPr>
        <p:spPr>
          <a:xfrm>
            <a:off x="8074152" y="1325880"/>
            <a:ext cx="3584448" cy="3383280"/>
          </a:xfrm>
          <a:prstGeom prst="roundRect">
            <a:avLst>
              <a:gd name="adj" fmla="val 2162"/>
            </a:avLst>
          </a:prstGeom>
          <a:solidFill>
            <a:srgbClr val="F4F5F7"/>
          </a:solidFill>
          <a:ln w="9525">
            <a:solidFill>
              <a:srgbClr val="E3E5E8"/>
            </a:solidFill>
            <a:prstDash val="solid"/>
          </a:ln>
        </p:spPr>
      </p:sp>
      <p:sp>
        <p:nvSpPr>
          <p:cNvPr id="24" name="text-616"/>
          <p:cNvSpPr txBox="1"/>
          <p:nvPr/>
        </p:nvSpPr>
        <p:spPr>
          <a:xfrm>
            <a:off x="8238744" y="1463040"/>
            <a:ext cx="3255264" cy="292608"/>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Radius measured at</a:t>
            </a:r>
            <a:endParaRPr lang="en-US" sz="1300" dirty="0"/>
          </a:p>
        </p:txBody>
      </p:sp>
      <p:graphicFrame>
        <p:nvGraphicFramePr>
          <p:cNvPr id="13" name="table-617"/>
          <p:cNvGraphicFramePr>
            <a:graphicFrameLocks noGrp="1"/>
          </p:cNvGraphicFramePr>
          <p:nvPr>
            <p:extLst>
              <p:ext uri="{D42A27DB-BD31-4B8C-83A1-F6EECF244321}">
                <p14:modId xmlns:p14="http://schemas.microsoft.com/office/powerpoint/2010/main" val="1579011935"/>
              </p:ext>
            </p:extLst>
          </p:nvPr>
        </p:nvGraphicFramePr>
        <p:xfrm>
          <a:off x="8229600" y="1828800"/>
          <a:ext cx="3291840" cy="914400"/>
        </p:xfrm>
        <a:graphic>
          <a:graphicData uri="http://schemas.openxmlformats.org/drawingml/2006/table">
            <a:tbl>
              <a:tblPr/>
              <a:tblGrid>
                <a:gridCol w="1737360"/>
                <a:gridCol w="155448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Width 7.30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 typed = 10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27432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At CL: inner edge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326"/>
                          </a:solidFill>
                          <a:latin typeface="Calibri" pitchFamily="34" charset="0"/>
                          <a:ea typeface="Calibri" pitchFamily="34" charset="-122"/>
                          <a:cs typeface="Calibri" pitchFamily="34" charset="-120"/>
                        </a:rPr>
                        <a:t>6.35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At CL: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algn="r" indent="0" marL="0">
                        <a:buNone/>
                      </a:pPr>
                      <a:r>
                        <a:rPr lang="en-US" sz="1050" dirty="0">
                          <a:solidFill>
                            <a:srgbClr val="1F2326"/>
                          </a:solidFill>
                          <a:latin typeface="Calibri" pitchFamily="34" charset="0"/>
                          <a:ea typeface="Calibri" pitchFamily="34" charset="-122"/>
                          <a:cs typeface="Calibri" pitchFamily="34" charset="-120"/>
                        </a:rPr>
                        <a:t>10.00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7432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At CL: outer edge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326"/>
                          </a:solidFill>
                          <a:latin typeface="Calibri" pitchFamily="34" charset="0"/>
                          <a:ea typeface="Calibri" pitchFamily="34" charset="-122"/>
                          <a:cs typeface="Calibri" pitchFamily="34" charset="-120"/>
                        </a:rPr>
                        <a:t>13.65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Inner edge: inner</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algn="r" indent="0" marL="0">
                        <a:buNone/>
                      </a:pPr>
                      <a:r>
                        <a:rPr lang="en-US" sz="1050" dirty="0">
                          <a:solidFill>
                            <a:srgbClr val="1F2326"/>
                          </a:solidFill>
                          <a:latin typeface="Calibri" pitchFamily="34" charset="0"/>
                          <a:ea typeface="Calibri" pitchFamily="34" charset="-122"/>
                          <a:cs typeface="Calibri" pitchFamily="34" charset="-120"/>
                        </a:rPr>
                        <a:t>10.00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7432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Inner edge: CL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326"/>
                          </a:solidFill>
                          <a:latin typeface="Calibri" pitchFamily="34" charset="0"/>
                          <a:ea typeface="Calibri" pitchFamily="34" charset="-122"/>
                          <a:cs typeface="Calibri" pitchFamily="34" charset="-120"/>
                        </a:rPr>
                        <a:t>13.65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Inner edge: outer</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algn="r" indent="0" marL="0">
                        <a:buNone/>
                      </a:pPr>
                      <a:r>
                        <a:rPr lang="en-US" sz="1050" dirty="0">
                          <a:solidFill>
                            <a:srgbClr val="1F2326"/>
                          </a:solidFill>
                          <a:latin typeface="Calibri" pitchFamily="34" charset="0"/>
                          <a:ea typeface="Calibri" pitchFamily="34" charset="-122"/>
                          <a:cs typeface="Calibri" pitchFamily="34" charset="-120"/>
                        </a:rPr>
                        <a:t>17.30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bl>
          </a:graphicData>
        </a:graphic>
      </p:graphicFrame>
      <p:sp>
        <p:nvSpPr>
          <p:cNvPr id="26" name="text-618"/>
          <p:cNvSpPr txBox="1"/>
          <p:nvPr/>
        </p:nvSpPr>
        <p:spPr>
          <a:xfrm>
            <a:off x="8229600" y="4160520"/>
            <a:ext cx="3291840" cy="45720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Use Inner edge when the drawing gives a kerb radius.</a:t>
            </a:r>
            <a:endParaRPr lang="en-US" sz="1050" dirty="0"/>
          </a:p>
        </p:txBody>
      </p:sp>
      <p:sp>
        <p:nvSpPr>
          <p:cNvPr id="27" name="shape-619"/>
          <p:cNvSpPr/>
          <p:nvPr/>
        </p:nvSpPr>
        <p:spPr>
          <a:xfrm>
            <a:off x="502920" y="4892040"/>
            <a:ext cx="11155680" cy="1280160"/>
          </a:xfrm>
          <a:prstGeom prst="roundRect">
            <a:avLst>
              <a:gd name="adj" fmla="val 5714"/>
            </a:avLst>
          </a:prstGeom>
          <a:solidFill>
            <a:srgbClr val="FFF6D6"/>
          </a:solidFill>
          <a:ln w="9525">
            <a:solidFill>
              <a:srgbClr val="F2D27A"/>
            </a:solidFill>
            <a:prstDash val="solid"/>
          </a:ln>
        </p:spPr>
      </p:sp>
      <p:sp>
        <p:nvSpPr>
          <p:cNvPr id="28" name="text-620"/>
          <p:cNvSpPr txBox="1"/>
          <p:nvPr/>
        </p:nvSpPr>
        <p:spPr>
          <a:xfrm>
            <a:off x="649224" y="4965192"/>
            <a:ext cx="10863072" cy="1133856"/>
          </a:xfrm>
          <a:prstGeom prst="rect">
            <a:avLst/>
          </a:prstGeom>
          <a:noFill/>
          <a:ln/>
        </p:spPr>
        <p:txBody>
          <a:bodyPr wrap="square" lIns="0" tIns="0" rIns="0" bIns="0" rtlCol="0" anchor="ctr"/>
          <a:lstStyle/>
          <a:p>
            <a:pPr indent="0" marL="0">
              <a:buNone/>
            </a:pPr>
            <a:r>
              <a:rPr lang="en-US" sz="1150" b="1" dirty="0">
                <a:solidFill>
                  <a:srgbClr val="A65F00"/>
                </a:solidFill>
                <a:latin typeface="Calibri" pitchFamily="34" charset="0"/>
                <a:ea typeface="Calibri" pitchFamily="34" charset="-122"/>
                <a:cs typeface="Calibri" pitchFamily="34" charset="-120"/>
              </a:rPr>
              <a:t>Rule  </a:t>
            </a:r>
            <a:pPr indent="0" marL="0">
              <a:buNone/>
            </a:pPr>
            <a:r>
              <a:rPr lang="en-US" sz="1150" dirty="0">
                <a:solidFill>
                  <a:srgbClr val="3A3F45"/>
                </a:solidFill>
                <a:latin typeface="Calibri" pitchFamily="34" charset="0"/>
                <a:ea typeface="Calibri" pitchFamily="34" charset="-122"/>
                <a:cs typeface="Calibri" pitchFamily="34" charset="-120"/>
              </a:rPr>
              <a:t>The CL radius must be larger than half the road width + paved shoulder + unit width, otherwise the inside treatment folds over itself. Example: 7.30 m road, 0.50 shoulder, 0.50 units → CL radius more than 3.65 + 0.50 + 0.50 = 4.65 m. RoadPro prints a warning if a bend is too tight: increase the radius or reduce the width / shoulder.</a:t>
            </a:r>
            <a:endParaRPr lang="en-US" sz="11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PANEL 2  ·  RDP DIALOG</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Road Edge and Centre settings</a:t>
            </a:r>
            <a:endParaRPr lang="en-US" sz="2600" dirty="0"/>
          </a:p>
        </p:txBody>
      </p:sp>
      <p:graphicFrame>
        <p:nvGraphicFramePr>
          <p:cNvPr id="14" name="table-621"/>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914400"/>
        </p:xfrm>
        <a:graphic>
          <a:graphicData uri="http://schemas.openxmlformats.org/drawingml/2006/table">
            <a:tbl>
              <a:tblPr/>
              <a:tblGrid>
                <a:gridCol w="2331720"/>
                <a:gridCol w="2880360"/>
                <a:gridCol w="5943600"/>
              </a:tblGrid>
              <a:tr h="41148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Setting</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Options  (default)</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411480">
                <a:tc>
                  <a:txBody>
                    <a:bodyPr/>
                    <a:lstStyle/>
                    <a:p>
                      <a:pPr indent="0" marL="0">
                        <a:buNone/>
                      </a:pPr>
                      <a:r>
                        <a:rPr lang="en-US" sz="1100" b="1" dirty="0">
                          <a:solidFill>
                            <a:srgbClr val="1F2326"/>
                          </a:solidFill>
                          <a:latin typeface="Calibri" pitchFamily="34" charset="0"/>
                          <a:ea typeface="Calibri" pitchFamily="34" charset="-122"/>
                          <a:cs typeface="Calibri" pitchFamily="34" charset="-120"/>
                        </a:rPr>
                        <a:t>Left edge  /  Right edge</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100" dirty="0">
                          <a:solidFill>
                            <a:srgbClr val="1F2326"/>
                          </a:solidFill>
                          <a:latin typeface="Calibri" pitchFamily="34" charset="0"/>
                          <a:ea typeface="Calibri" pitchFamily="34" charset="-122"/>
                          <a:cs typeface="Calibri" pitchFamily="34" charset="-120"/>
                        </a:rPr>
                        <a:t>Both on</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100" dirty="0">
                          <a:solidFill>
                            <a:srgbClr val="1F2326"/>
                          </a:solidFill>
                          <a:latin typeface="Calibri" pitchFamily="34" charset="0"/>
                          <a:ea typeface="Calibri" pitchFamily="34" charset="-122"/>
                          <a:cs typeface="Calibri" pitchFamily="34" charset="-120"/>
                        </a:rPr>
                        <a:t>Which sides get the edge treatment. Untick one side for a road along a wall, a fence or an existing kerb.</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1F2326"/>
                          </a:solidFill>
                          <a:latin typeface="Calibri" pitchFamily="34" charset="0"/>
                          <a:ea typeface="Calibri" pitchFamily="34" charset="-122"/>
                          <a:cs typeface="Calibri" pitchFamily="34" charset="-120"/>
                        </a:rPr>
                        <a:t>Edge</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100" dirty="0">
                          <a:solidFill>
                            <a:srgbClr val="1F2326"/>
                          </a:solidFill>
                          <a:latin typeface="Calibri" pitchFamily="34" charset="0"/>
                          <a:ea typeface="Calibri" pitchFamily="34" charset="-122"/>
                          <a:cs typeface="Calibri" pitchFamily="34" charset="-120"/>
                        </a:rPr>
                        <a:t>Barricades (red / white)  /  Traffic cones  /  Kerb stone</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100" dirty="0">
                          <a:solidFill>
                            <a:srgbClr val="1F2326"/>
                          </a:solidFill>
                          <a:latin typeface="Calibri" pitchFamily="34" charset="0"/>
                          <a:ea typeface="Calibri" pitchFamily="34" charset="-122"/>
                          <a:cs typeface="Calibri" pitchFamily="34" charset="-120"/>
                        </a:rPr>
                        <a:t>What is placed along the edges, outside the paved shoulder.</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11480">
                <a:tc>
                  <a:txBody>
                    <a:bodyPr/>
                    <a:lstStyle/>
                    <a:p>
                      <a:pPr indent="0" marL="0">
                        <a:buNone/>
                      </a:pPr>
                      <a:r>
                        <a:rPr lang="en-US" sz="1100" b="1" dirty="0">
                          <a:solidFill>
                            <a:srgbClr val="1F2326"/>
                          </a:solidFill>
                          <a:latin typeface="Calibri" pitchFamily="34" charset="0"/>
                          <a:ea typeface="Calibri" pitchFamily="34" charset="-122"/>
                          <a:cs typeface="Calibri" pitchFamily="34" charset="-120"/>
                        </a:rPr>
                        <a:t>Centre</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100" dirty="0">
                          <a:solidFill>
                            <a:srgbClr val="1F2326"/>
                          </a:solidFill>
                          <a:latin typeface="Calibri" pitchFamily="34" charset="0"/>
                          <a:ea typeface="Calibri" pitchFamily="34" charset="-122"/>
                          <a:cs typeface="Calibri" pitchFamily="34" charset="-120"/>
                        </a:rPr>
                        <a:t>Centre line markings (no barrier)  /  Barricades  /  Traffic cones</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100" dirty="0">
                          <a:solidFill>
                            <a:srgbClr val="1F2326"/>
                          </a:solidFill>
                          <a:latin typeface="Calibri" pitchFamily="34" charset="0"/>
                          <a:ea typeface="Calibri" pitchFamily="34" charset="-122"/>
                          <a:cs typeface="Calibri" pitchFamily="34" charset="-120"/>
                        </a:rPr>
                        <a:t>Markings only, or a median of barricades or cones on the CL with KEEP RIGHT signs at each nose.</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1F2326"/>
                          </a:solidFill>
                          <a:latin typeface="Calibri" pitchFamily="34" charset="0"/>
                          <a:ea typeface="Calibri" pitchFamily="34" charset="-122"/>
                          <a:cs typeface="Calibri" pitchFamily="34" charset="-120"/>
                        </a:rPr>
                        <a:t>Unit length / cone spacing (m)</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100" dirty="0">
                          <a:solidFill>
                            <a:srgbClr val="1F2326"/>
                          </a:solidFill>
                          <a:latin typeface="Calibri" pitchFamily="34" charset="0"/>
                          <a:ea typeface="Calibri" pitchFamily="34" charset="-122"/>
                          <a:cs typeface="Calibri" pitchFamily="34" charset="-120"/>
                        </a:rPr>
                        <a:t>2.00</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100" dirty="0">
                          <a:solidFill>
                            <a:srgbClr val="1F2326"/>
                          </a:solidFill>
                          <a:latin typeface="Calibri" pitchFamily="34" charset="0"/>
                          <a:ea typeface="Calibri" pitchFamily="34" charset="-122"/>
                          <a:cs typeface="Calibri" pitchFamily="34" charset="-120"/>
                        </a:rPr>
                        <a:t>Barricades and kerb: length of one unit. Cones: distance from cone to cone.</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11480">
                <a:tc>
                  <a:txBody>
                    <a:bodyPr/>
                    <a:lstStyle/>
                    <a:p>
                      <a:pPr indent="0" marL="0">
                        <a:buNone/>
                      </a:pPr>
                      <a:r>
                        <a:rPr lang="en-US" sz="1100" b="1" dirty="0">
                          <a:solidFill>
                            <a:srgbClr val="1F2326"/>
                          </a:solidFill>
                          <a:latin typeface="Calibri" pitchFamily="34" charset="0"/>
                          <a:ea typeface="Calibri" pitchFamily="34" charset="-122"/>
                          <a:cs typeface="Calibri" pitchFamily="34" charset="-120"/>
                        </a:rPr>
                        <a:t>Unit / cone / kerb width (m)</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100" dirty="0">
                          <a:solidFill>
                            <a:srgbClr val="1F2326"/>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100" dirty="0">
                          <a:solidFill>
                            <a:srgbClr val="1F2326"/>
                          </a:solidFill>
                          <a:latin typeface="Calibri" pitchFamily="34" charset="0"/>
                          <a:ea typeface="Calibri" pitchFamily="34" charset="-122"/>
                          <a:cs typeface="Calibri" pitchFamily="34" charset="-120"/>
                        </a:rPr>
                        <a:t>Barricade width, cone base size or kerb width (for kerb use 0.15 – 0.30).</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1F2326"/>
                          </a:solidFill>
                          <a:latin typeface="Calibri" pitchFamily="34" charset="0"/>
                          <a:ea typeface="Calibri" pitchFamily="34" charset="-122"/>
                          <a:cs typeface="Calibri" pitchFamily="34" charset="-120"/>
                        </a:rPr>
                        <a:t>Paved shoulder (m)</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100" dirty="0">
                          <a:solidFill>
                            <a:srgbClr val="1F2326"/>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100" dirty="0">
                          <a:solidFill>
                            <a:srgbClr val="1F2326"/>
                          </a:solidFill>
                          <a:latin typeface="Calibri" pitchFamily="34" charset="0"/>
                          <a:ea typeface="Calibri" pitchFamily="34" charset="-122"/>
                          <a:cs typeface="Calibri" pitchFamily="34" charset="-120"/>
                        </a:rPr>
                        <a:t>Paved strip between the carriageway edge and the treatment. Hatched, in the section and in the report. 0 = treatment on the edge.</a:t>
                      </a:r>
                      <a:endParaRPr lang="en-US" sz="11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bl>
          </a:graphicData>
        </a:graphic>
      </p:graphicFrame>
      <p:sp>
        <p:nvSpPr>
          <p:cNvPr id="5" name="shape-622"/>
          <p:cNvSpPr/>
          <p:nvPr/>
        </p:nvSpPr>
        <p:spPr>
          <a:xfrm>
            <a:off x="502920" y="4526280"/>
            <a:ext cx="11155680" cy="1691640"/>
          </a:xfrm>
          <a:prstGeom prst="roundRect">
            <a:avLst>
              <a:gd name="adj" fmla="val 4324"/>
            </a:avLst>
          </a:prstGeom>
          <a:solidFill>
            <a:srgbClr val="F4F5F7"/>
          </a:solidFill>
          <a:ln w="9525">
            <a:solidFill>
              <a:srgbClr val="E3E5E8"/>
            </a:solidFill>
            <a:prstDash val="solid"/>
          </a:ln>
        </p:spPr>
      </p:sp>
      <p:sp>
        <p:nvSpPr>
          <p:cNvPr id="6" name="text-623"/>
          <p:cNvSpPr txBox="1"/>
          <p:nvPr/>
        </p:nvSpPr>
        <p:spPr>
          <a:xfrm>
            <a:off x="685800" y="4617720"/>
            <a:ext cx="4572000" cy="256032"/>
          </a:xfrm>
          <a:prstGeom prst="rect">
            <a:avLst/>
          </a:prstGeom>
          <a:noFill/>
          <a:ln/>
        </p:spPr>
        <p:txBody>
          <a:bodyPr wrap="square" lIns="0" tIns="0" rIns="0" bIns="0" rtlCol="0" anchor="t"/>
          <a:lstStyle/>
          <a:p>
            <a:pPr indent="0" marL="0">
              <a:buNone/>
            </a:pPr>
            <a:r>
              <a:rPr lang="en-US" sz="1150" b="1" dirty="0">
                <a:solidFill>
                  <a:schemeClr val="tx1"/>
                </a:solidFill>
                <a:latin typeface="Calibri" pitchFamily="34" charset="0"/>
                <a:ea typeface="Calibri" pitchFamily="34" charset="-122"/>
                <a:cs typeface="Calibri" pitchFamily="34" charset="-120"/>
              </a:rPr>
              <a:t>Where each width goes (half section)</a:t>
            </a:r>
            <a:endParaRPr lang="en-US" sz="1150" dirty="0"/>
          </a:p>
        </p:txBody>
      </p:sp>
      <p:sp>
        <p:nvSpPr>
          <p:cNvPr id="7" name="shape-624"/>
          <p:cNvSpPr/>
          <p:nvPr/>
        </p:nvSpPr>
        <p:spPr>
          <a:xfrm>
            <a:off x="914400" y="5349240"/>
            <a:ext cx="5486400" cy="256032"/>
          </a:xfrm>
          <a:prstGeom prst="rect">
            <a:avLst/>
          </a:prstGeom>
          <a:solidFill>
            <a:schemeClr val="accent5"/>
          </a:solidFill>
          <a:ln/>
        </p:spPr>
      </p:sp>
      <p:sp>
        <p:nvSpPr>
          <p:cNvPr id="8" name="shape-625"/>
          <p:cNvSpPr/>
          <p:nvPr/>
        </p:nvSpPr>
        <p:spPr>
          <a:xfrm>
            <a:off x="6400800" y="5349240"/>
            <a:ext cx="1188720" cy="256032"/>
          </a:xfrm>
          <a:prstGeom prst="rect">
            <a:avLst/>
          </a:prstGeom>
          <a:solidFill>
            <a:srgbClr val="A3A8AE"/>
          </a:solidFill>
          <a:ln/>
        </p:spPr>
      </p:sp>
      <p:sp>
        <p:nvSpPr>
          <p:cNvPr id="9" name="shape-626"/>
          <p:cNvSpPr/>
          <p:nvPr/>
        </p:nvSpPr>
        <p:spPr>
          <a:xfrm>
            <a:off x="7726680" y="4864608"/>
            <a:ext cx="640080" cy="731520"/>
          </a:xfrm>
          <a:prstGeom prst="trapezoid">
            <a:avLst/>
          </a:prstGeom>
          <a:solidFill>
            <a:schemeClr val="accent1"/>
          </a:solidFill>
          <a:ln w="7620">
            <a:solidFill>
              <a:srgbClr val="1F2326"/>
            </a:solidFill>
            <a:prstDash val="solid"/>
          </a:ln>
        </p:spPr>
      </p:sp>
      <p:sp>
        <p:nvSpPr>
          <p:cNvPr id="10" name="shape-627"/>
          <p:cNvSpPr/>
          <p:nvPr/>
        </p:nvSpPr>
        <p:spPr>
          <a:xfrm>
            <a:off x="914400" y="5760720"/>
            <a:ext cx="5486400" cy="0"/>
          </a:xfrm>
          <a:prstGeom prst="line">
            <a:avLst/>
          </a:prstGeom>
          <a:noFill/>
          <a:ln w="9525">
            <a:solidFill>
              <a:srgbClr val="1F2326"/>
            </a:solidFill>
            <a:prstDash val="solid"/>
            <a:headEnd type="triangle"/>
            <a:tailEnd type="triangle"/>
          </a:ln>
        </p:spPr>
      </p:sp>
      <p:sp>
        <p:nvSpPr>
          <p:cNvPr id="11" name="shape-628"/>
          <p:cNvSpPr/>
          <p:nvPr/>
        </p:nvSpPr>
        <p:spPr>
          <a:xfrm>
            <a:off x="6400800" y="5760720"/>
            <a:ext cx="1188720" cy="0"/>
          </a:xfrm>
          <a:prstGeom prst="line">
            <a:avLst/>
          </a:prstGeom>
          <a:noFill/>
          <a:ln w="9525">
            <a:solidFill>
              <a:srgbClr val="1F2326"/>
            </a:solidFill>
            <a:prstDash val="solid"/>
            <a:headEnd type="triangle"/>
            <a:tailEnd type="triangle"/>
          </a:ln>
        </p:spPr>
      </p:sp>
      <p:sp>
        <p:nvSpPr>
          <p:cNvPr id="12" name="shape-629"/>
          <p:cNvSpPr/>
          <p:nvPr/>
        </p:nvSpPr>
        <p:spPr>
          <a:xfrm>
            <a:off x="7726680" y="5760720"/>
            <a:ext cx="640080" cy="0"/>
          </a:xfrm>
          <a:prstGeom prst="line">
            <a:avLst/>
          </a:prstGeom>
          <a:noFill/>
          <a:ln w="9525">
            <a:solidFill>
              <a:srgbClr val="1F2326"/>
            </a:solidFill>
            <a:prstDash val="solid"/>
            <a:headEnd type="triangle"/>
            <a:tailEnd type="triangle"/>
          </a:ln>
        </p:spPr>
      </p:sp>
      <p:sp>
        <p:nvSpPr>
          <p:cNvPr id="13" name="text-630"/>
          <p:cNvSpPr txBox="1"/>
          <p:nvPr/>
        </p:nvSpPr>
        <p:spPr>
          <a:xfrm>
            <a:off x="2011680" y="5815584"/>
            <a:ext cx="3291840" cy="228600"/>
          </a:xfrm>
          <a:prstGeom prst="rect">
            <a:avLst/>
          </a:prstGeom>
          <a:noFill/>
          <a:ln/>
        </p:spPr>
        <p:txBody>
          <a:bodyPr wrap="square" lIns="0" tIns="0" rIns="0" bIns="0" rtlCol="0" anchor="t"/>
          <a:lstStyle/>
          <a:p>
            <a:pPr algn="ctr" indent="0" marL="0">
              <a:buNone/>
            </a:pPr>
            <a:r>
              <a:rPr lang="en-US" sz="1000" dirty="0">
                <a:solidFill>
                  <a:schemeClr val="tx1"/>
                </a:solidFill>
                <a:latin typeface="Calibri" pitchFamily="34" charset="0"/>
                <a:ea typeface="Calibri" pitchFamily="34" charset="-122"/>
                <a:cs typeface="Calibri" pitchFamily="34" charset="-120"/>
              </a:rPr>
              <a:t>Half road width  (7.30 / 2 = 3.65)</a:t>
            </a:r>
            <a:endParaRPr lang="en-US" sz="1000" dirty="0"/>
          </a:p>
        </p:txBody>
      </p:sp>
      <p:sp>
        <p:nvSpPr>
          <p:cNvPr id="14" name="text-631"/>
          <p:cNvSpPr txBox="1"/>
          <p:nvPr/>
        </p:nvSpPr>
        <p:spPr>
          <a:xfrm>
            <a:off x="6355080" y="5815584"/>
            <a:ext cx="1280160" cy="228600"/>
          </a:xfrm>
          <a:prstGeom prst="rect">
            <a:avLst/>
          </a:prstGeom>
          <a:noFill/>
          <a:ln/>
        </p:spPr>
        <p:txBody>
          <a:bodyPr wrap="square" lIns="0" tIns="0" rIns="0" bIns="0" rtlCol="0" anchor="t"/>
          <a:lstStyle/>
          <a:p>
            <a:pPr algn="ctr" indent="0" marL="0">
              <a:buNone/>
            </a:pPr>
            <a:r>
              <a:rPr lang="en-US" sz="1000" dirty="0">
                <a:solidFill>
                  <a:schemeClr val="tx1"/>
                </a:solidFill>
                <a:latin typeface="Calibri" pitchFamily="34" charset="0"/>
                <a:ea typeface="Calibri" pitchFamily="34" charset="-122"/>
                <a:cs typeface="Calibri" pitchFamily="34" charset="-120"/>
              </a:rPr>
              <a:t>Shoulder 0.50</a:t>
            </a:r>
            <a:endParaRPr lang="en-US" sz="1000" dirty="0"/>
          </a:p>
        </p:txBody>
      </p:sp>
      <p:sp>
        <p:nvSpPr>
          <p:cNvPr id="15" name="text-632"/>
          <p:cNvSpPr txBox="1"/>
          <p:nvPr/>
        </p:nvSpPr>
        <p:spPr>
          <a:xfrm>
            <a:off x="7589520" y="5815584"/>
            <a:ext cx="914400" cy="228600"/>
          </a:xfrm>
          <a:prstGeom prst="rect">
            <a:avLst/>
          </a:prstGeom>
          <a:noFill/>
          <a:ln/>
        </p:spPr>
        <p:txBody>
          <a:bodyPr wrap="square" lIns="0" tIns="0" rIns="0" bIns="0" rtlCol="0" anchor="t"/>
          <a:lstStyle/>
          <a:p>
            <a:pPr algn="ctr" indent="0" marL="0">
              <a:buNone/>
            </a:pPr>
            <a:r>
              <a:rPr lang="en-US" sz="1000" dirty="0">
                <a:solidFill>
                  <a:schemeClr val="tx1"/>
                </a:solidFill>
                <a:latin typeface="Calibri" pitchFamily="34" charset="0"/>
                <a:ea typeface="Calibri" pitchFamily="34" charset="-122"/>
                <a:cs typeface="Calibri" pitchFamily="34" charset="-120"/>
              </a:rPr>
              <a:t>Unit 0.50</a:t>
            </a:r>
            <a:endParaRPr lang="en-US" sz="1000" dirty="0"/>
          </a:p>
        </p:txBody>
      </p:sp>
      <p:sp>
        <p:nvSpPr>
          <p:cNvPr id="16" name="text-633"/>
          <p:cNvSpPr txBox="1"/>
          <p:nvPr/>
        </p:nvSpPr>
        <p:spPr>
          <a:xfrm>
            <a:off x="685800" y="5029200"/>
            <a:ext cx="457200" cy="228600"/>
          </a:xfrm>
          <a:prstGeom prst="rect">
            <a:avLst/>
          </a:prstGeom>
          <a:noFill/>
          <a:ln/>
        </p:spPr>
        <p:txBody>
          <a:bodyPr wrap="square" lIns="0" tIns="0" rIns="0" bIns="0" rtlCol="0" anchor="t"/>
          <a:lstStyle/>
          <a:p>
            <a:pPr indent="0" marL="0">
              <a:buNone/>
            </a:pPr>
            <a:r>
              <a:rPr lang="en-US" sz="1000" b="1" dirty="0">
                <a:solidFill>
                  <a:schemeClr val="accent1"/>
                </a:solidFill>
                <a:latin typeface="Calibri" pitchFamily="34" charset="0"/>
                <a:ea typeface="Calibri" pitchFamily="34" charset="-122"/>
                <a:cs typeface="Calibri" pitchFamily="34" charset="-120"/>
              </a:rPr>
              <a:t>CL</a:t>
            </a:r>
            <a:endParaRPr lang="en-US" sz="1000" dirty="0"/>
          </a:p>
        </p:txBody>
      </p:sp>
      <p:sp>
        <p:nvSpPr>
          <p:cNvPr id="17" name="shape-634"/>
          <p:cNvSpPr/>
          <p:nvPr/>
        </p:nvSpPr>
        <p:spPr>
          <a:xfrm>
            <a:off x="914400" y="4937760"/>
            <a:ext cx="0" cy="731520"/>
          </a:xfrm>
          <a:prstGeom prst="line">
            <a:avLst/>
          </a:prstGeom>
          <a:noFill/>
          <a:ln w="15875">
            <a:solidFill>
              <a:schemeClr val="accent1"/>
            </a:solidFill>
            <a:prstDash val="dash"/>
          </a:ln>
        </p:spPr>
      </p:sp>
      <p:sp>
        <p:nvSpPr>
          <p:cNvPr id="18" name="text-635"/>
          <p:cNvSpPr txBox="1"/>
          <p:nvPr/>
        </p:nvSpPr>
        <p:spPr>
          <a:xfrm>
            <a:off x="8778240" y="4937760"/>
            <a:ext cx="2743200" cy="109728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Cones and kerb sit in the same place as barricades. In RDX the section shows the right profile automatically.</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HOW TO</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How to add barricades, traffic cones or kerb stone</a:t>
            </a:r>
            <a:endParaRPr lang="en-US" sz="2600" dirty="0"/>
          </a:p>
        </p:txBody>
      </p:sp>
      <p:sp>
        <p:nvSpPr>
          <p:cNvPr id="4" name="shape-636"/>
          <p:cNvSpPr/>
          <p:nvPr/>
        </p:nvSpPr>
        <p:spPr>
          <a:xfrm>
            <a:off x="502920" y="1325880"/>
            <a:ext cx="3611880" cy="3931920"/>
          </a:xfrm>
          <a:prstGeom prst="roundRect">
            <a:avLst>
              <a:gd name="adj" fmla="val 2025"/>
            </a:avLst>
          </a:prstGeom>
          <a:solidFill>
            <a:srgbClr val="F4F5F7"/>
          </a:solidFill>
          <a:ln w="9525">
            <a:solidFill>
              <a:srgbClr val="E3E5E8"/>
            </a:solidFill>
            <a:prstDash val="solid"/>
          </a:ln>
        </p:spPr>
      </p:sp>
      <p:sp>
        <p:nvSpPr>
          <p:cNvPr id="5" name="text-637"/>
          <p:cNvSpPr txBox="1"/>
          <p:nvPr/>
        </p:nvSpPr>
        <p:spPr>
          <a:xfrm>
            <a:off x="685800" y="1463040"/>
            <a:ext cx="2743200" cy="32004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Barricades</a:t>
            </a:r>
            <a:endParaRPr lang="en-US" sz="1500" dirty="0"/>
          </a:p>
        </p:txBody>
      </p:sp>
      <p:sp>
        <p:nvSpPr>
          <p:cNvPr id="6" name="shape-638"/>
          <p:cNvSpPr/>
          <p:nvPr/>
        </p:nvSpPr>
        <p:spPr>
          <a:xfrm>
            <a:off x="731520" y="2075688"/>
            <a:ext cx="304800" cy="155448"/>
          </a:xfrm>
          <a:prstGeom prst="rect">
            <a:avLst/>
          </a:prstGeom>
          <a:solidFill>
            <a:schemeClr val="accent1"/>
          </a:solidFill>
          <a:ln w="7620">
            <a:solidFill>
              <a:srgbClr val="1F2326"/>
            </a:solidFill>
            <a:prstDash val="solid"/>
          </a:ln>
        </p:spPr>
      </p:sp>
      <p:sp>
        <p:nvSpPr>
          <p:cNvPr id="7" name="shape-639"/>
          <p:cNvSpPr/>
          <p:nvPr/>
        </p:nvSpPr>
        <p:spPr>
          <a:xfrm>
            <a:off x="1036320" y="2075688"/>
            <a:ext cx="304800" cy="155448"/>
          </a:xfrm>
          <a:prstGeom prst="rect">
            <a:avLst/>
          </a:prstGeom>
          <a:solidFill>
            <a:srgbClr val="FFFFFF"/>
          </a:solidFill>
          <a:ln w="7620">
            <a:solidFill>
              <a:srgbClr val="1F2326"/>
            </a:solidFill>
            <a:prstDash val="solid"/>
          </a:ln>
        </p:spPr>
      </p:sp>
      <p:sp>
        <p:nvSpPr>
          <p:cNvPr id="8" name="shape-640"/>
          <p:cNvSpPr/>
          <p:nvPr/>
        </p:nvSpPr>
        <p:spPr>
          <a:xfrm>
            <a:off x="1341120" y="2075688"/>
            <a:ext cx="304800" cy="155448"/>
          </a:xfrm>
          <a:prstGeom prst="rect">
            <a:avLst/>
          </a:prstGeom>
          <a:solidFill>
            <a:schemeClr val="accent1"/>
          </a:solidFill>
          <a:ln w="7620">
            <a:solidFill>
              <a:srgbClr val="1F2326"/>
            </a:solidFill>
            <a:prstDash val="solid"/>
          </a:ln>
        </p:spPr>
      </p:sp>
      <p:sp>
        <p:nvSpPr>
          <p:cNvPr id="9" name="shape-641"/>
          <p:cNvSpPr/>
          <p:nvPr/>
        </p:nvSpPr>
        <p:spPr>
          <a:xfrm>
            <a:off x="1645920" y="2075688"/>
            <a:ext cx="304800" cy="155448"/>
          </a:xfrm>
          <a:prstGeom prst="rect">
            <a:avLst/>
          </a:prstGeom>
          <a:solidFill>
            <a:srgbClr val="FFFFFF"/>
          </a:solidFill>
          <a:ln w="7620">
            <a:solidFill>
              <a:srgbClr val="1F2326"/>
            </a:solidFill>
            <a:prstDash val="solid"/>
          </a:ln>
        </p:spPr>
      </p:sp>
      <p:sp>
        <p:nvSpPr>
          <p:cNvPr id="10" name="shape-642"/>
          <p:cNvSpPr/>
          <p:nvPr/>
        </p:nvSpPr>
        <p:spPr>
          <a:xfrm>
            <a:off x="1950720" y="2075688"/>
            <a:ext cx="304800" cy="155448"/>
          </a:xfrm>
          <a:prstGeom prst="rect">
            <a:avLst/>
          </a:prstGeom>
          <a:solidFill>
            <a:schemeClr val="accent1"/>
          </a:solidFill>
          <a:ln w="7620">
            <a:solidFill>
              <a:srgbClr val="1F2326"/>
            </a:solidFill>
            <a:prstDash val="solid"/>
          </a:ln>
        </p:spPr>
      </p:sp>
      <p:sp>
        <p:nvSpPr>
          <p:cNvPr id="11" name="shape-643"/>
          <p:cNvSpPr/>
          <p:nvPr/>
        </p:nvSpPr>
        <p:spPr>
          <a:xfrm>
            <a:off x="2255520" y="2075688"/>
            <a:ext cx="304800" cy="155448"/>
          </a:xfrm>
          <a:prstGeom prst="rect">
            <a:avLst/>
          </a:prstGeom>
          <a:solidFill>
            <a:srgbClr val="FFFFFF"/>
          </a:solidFill>
          <a:ln w="7620">
            <a:solidFill>
              <a:srgbClr val="1F2326"/>
            </a:solidFill>
            <a:prstDash val="solid"/>
          </a:ln>
        </p:spPr>
      </p:sp>
      <p:sp>
        <p:nvSpPr>
          <p:cNvPr id="12" name="shape-644"/>
          <p:cNvSpPr/>
          <p:nvPr/>
        </p:nvSpPr>
        <p:spPr>
          <a:xfrm>
            <a:off x="2971800" y="1892808"/>
            <a:ext cx="502920" cy="566928"/>
          </a:xfrm>
          <a:prstGeom prst="trapezoid">
            <a:avLst/>
          </a:prstGeom>
          <a:solidFill>
            <a:schemeClr val="accent1"/>
          </a:solidFill>
          <a:ln w="7620">
            <a:solidFill>
              <a:srgbClr val="1F2326"/>
            </a:solidFill>
            <a:prstDash val="solid"/>
          </a:ln>
        </p:spPr>
      </p:sp>
      <p:sp>
        <p:nvSpPr>
          <p:cNvPr id="13" name="shape-645"/>
          <p:cNvSpPr/>
          <p:nvPr/>
        </p:nvSpPr>
        <p:spPr>
          <a:xfrm>
            <a:off x="685800" y="2651760"/>
            <a:ext cx="237744" cy="237744"/>
          </a:xfrm>
          <a:prstGeom prst="ellipse">
            <a:avLst/>
          </a:prstGeom>
          <a:solidFill>
            <a:schemeClr val="accent1"/>
          </a:solidFill>
          <a:ln/>
        </p:spPr>
      </p:sp>
      <p:sp>
        <p:nvSpPr>
          <p:cNvPr id="14" name="text-646"/>
          <p:cNvSpPr txBox="1"/>
          <p:nvPr/>
        </p:nvSpPr>
        <p:spPr>
          <a:xfrm>
            <a:off x="685800" y="2651760"/>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5" name="text-647"/>
          <p:cNvSpPr txBox="1"/>
          <p:nvPr/>
        </p:nvSpPr>
        <p:spPr>
          <a:xfrm>
            <a:off x="1069848" y="2633472"/>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RDP → Road Edge and Centre</a:t>
            </a:r>
            <a:endParaRPr lang="en-US" sz="1200" dirty="0"/>
          </a:p>
        </p:txBody>
      </p:sp>
      <p:sp>
        <p:nvSpPr>
          <p:cNvPr id="16" name="shape-648"/>
          <p:cNvSpPr/>
          <p:nvPr/>
        </p:nvSpPr>
        <p:spPr>
          <a:xfrm>
            <a:off x="685800" y="2980944"/>
            <a:ext cx="237744" cy="237744"/>
          </a:xfrm>
          <a:prstGeom prst="ellipse">
            <a:avLst/>
          </a:prstGeom>
          <a:solidFill>
            <a:schemeClr val="accent1"/>
          </a:solidFill>
          <a:ln/>
        </p:spPr>
      </p:sp>
      <p:sp>
        <p:nvSpPr>
          <p:cNvPr id="17" name="text-649"/>
          <p:cNvSpPr txBox="1"/>
          <p:nvPr/>
        </p:nvSpPr>
        <p:spPr>
          <a:xfrm>
            <a:off x="685800" y="2980944"/>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8" name="text-650"/>
          <p:cNvSpPr txBox="1"/>
          <p:nvPr/>
        </p:nvSpPr>
        <p:spPr>
          <a:xfrm>
            <a:off x="1069848" y="2962656"/>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Tick Left edge and / or Right edge</a:t>
            </a:r>
            <a:endParaRPr lang="en-US" sz="1200" dirty="0"/>
          </a:p>
        </p:txBody>
      </p:sp>
      <p:sp>
        <p:nvSpPr>
          <p:cNvPr id="19" name="shape-651"/>
          <p:cNvSpPr/>
          <p:nvPr/>
        </p:nvSpPr>
        <p:spPr>
          <a:xfrm>
            <a:off x="685800" y="3310128"/>
            <a:ext cx="237744" cy="237744"/>
          </a:xfrm>
          <a:prstGeom prst="ellipse">
            <a:avLst/>
          </a:prstGeom>
          <a:solidFill>
            <a:schemeClr val="accent1"/>
          </a:solidFill>
          <a:ln/>
        </p:spPr>
      </p:sp>
      <p:sp>
        <p:nvSpPr>
          <p:cNvPr id="20" name="text-652"/>
          <p:cNvSpPr txBox="1"/>
          <p:nvPr/>
        </p:nvSpPr>
        <p:spPr>
          <a:xfrm>
            <a:off x="685800" y="331012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653"/>
          <p:cNvSpPr txBox="1"/>
          <p:nvPr/>
        </p:nvSpPr>
        <p:spPr>
          <a:xfrm>
            <a:off x="1069848" y="3291840"/>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Edge = Barricades (red / white)</a:t>
            </a:r>
            <a:endParaRPr lang="en-US" sz="1200" dirty="0"/>
          </a:p>
        </p:txBody>
      </p:sp>
      <p:sp>
        <p:nvSpPr>
          <p:cNvPr id="22" name="shape-654"/>
          <p:cNvSpPr/>
          <p:nvPr/>
        </p:nvSpPr>
        <p:spPr>
          <a:xfrm>
            <a:off x="685800" y="3639312"/>
            <a:ext cx="237744" cy="237744"/>
          </a:xfrm>
          <a:prstGeom prst="ellipse">
            <a:avLst/>
          </a:prstGeom>
          <a:solidFill>
            <a:schemeClr val="accent1"/>
          </a:solidFill>
          <a:ln/>
        </p:spPr>
      </p:sp>
      <p:sp>
        <p:nvSpPr>
          <p:cNvPr id="23" name="text-655"/>
          <p:cNvSpPr txBox="1"/>
          <p:nvPr/>
        </p:nvSpPr>
        <p:spPr>
          <a:xfrm>
            <a:off x="685800" y="363931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4" name="text-656"/>
          <p:cNvSpPr txBox="1"/>
          <p:nvPr/>
        </p:nvSpPr>
        <p:spPr>
          <a:xfrm>
            <a:off x="1069848" y="3621024"/>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Unit length 2.00, width 0.50</a:t>
            </a:r>
            <a:endParaRPr lang="en-US" sz="1200" dirty="0"/>
          </a:p>
        </p:txBody>
      </p:sp>
      <p:sp>
        <p:nvSpPr>
          <p:cNvPr id="25" name="shape-657"/>
          <p:cNvSpPr/>
          <p:nvPr/>
        </p:nvSpPr>
        <p:spPr>
          <a:xfrm>
            <a:off x="685800" y="3968496"/>
            <a:ext cx="237744" cy="237744"/>
          </a:xfrm>
          <a:prstGeom prst="ellipse">
            <a:avLst/>
          </a:prstGeom>
          <a:solidFill>
            <a:schemeClr val="accent1"/>
          </a:solidFill>
          <a:ln/>
        </p:spPr>
      </p:sp>
      <p:sp>
        <p:nvSpPr>
          <p:cNvPr id="26" name="text-658"/>
          <p:cNvSpPr txBox="1"/>
          <p:nvPr/>
        </p:nvSpPr>
        <p:spPr>
          <a:xfrm>
            <a:off x="685800" y="396849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27" name="text-659"/>
          <p:cNvSpPr txBox="1"/>
          <p:nvPr/>
        </p:nvSpPr>
        <p:spPr>
          <a:xfrm>
            <a:off x="1069848" y="3950208"/>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OK and draw the CL</a:t>
            </a:r>
            <a:endParaRPr lang="en-US" sz="1200" dirty="0"/>
          </a:p>
        </p:txBody>
      </p:sp>
      <p:sp>
        <p:nvSpPr>
          <p:cNvPr id="28" name="text-660"/>
          <p:cNvSpPr txBox="1"/>
          <p:nvPr/>
        </p:nvSpPr>
        <p:spPr>
          <a:xfrm>
            <a:off x="685800" y="4343400"/>
            <a:ext cx="3246120" cy="868680"/>
          </a:xfrm>
          <a:prstGeom prst="rect">
            <a:avLst/>
          </a:prstGeom>
          <a:noFill/>
          <a:ln/>
        </p:spPr>
        <p:txBody>
          <a:bodyPr wrap="square" lIns="0" tIns="0" rIns="0" bIns="0" rtlCol="0" anchor="t"/>
          <a:lstStyle/>
          <a:p>
            <a:pPr indent="0" marL="0">
              <a:buNone/>
            </a:pPr>
            <a:r>
              <a:rPr lang="en-US" sz="1000" dirty="0">
                <a:solidFill>
                  <a:srgbClr val="5B6169"/>
                </a:solidFill>
                <a:latin typeface="Calibri" pitchFamily="34" charset="0"/>
                <a:ea typeface="Calibri" pitchFamily="34" charset="-122"/>
                <a:cs typeface="Calibri" pitchFamily="34" charset="-120"/>
              </a:rPr>
              <a:t>Red / white units with black outline. Report: red and white units per side. RDX: water-filled or New Jersey profile with its height.</a:t>
            </a:r>
            <a:endParaRPr lang="en-US" sz="1000" dirty="0"/>
          </a:p>
        </p:txBody>
      </p:sp>
      <p:sp>
        <p:nvSpPr>
          <p:cNvPr id="29" name="shape-661"/>
          <p:cNvSpPr/>
          <p:nvPr/>
        </p:nvSpPr>
        <p:spPr>
          <a:xfrm>
            <a:off x="4251960" y="1325880"/>
            <a:ext cx="3611880" cy="3931920"/>
          </a:xfrm>
          <a:prstGeom prst="roundRect">
            <a:avLst>
              <a:gd name="adj" fmla="val 2025"/>
            </a:avLst>
          </a:prstGeom>
          <a:solidFill>
            <a:srgbClr val="F4F5F7"/>
          </a:solidFill>
          <a:ln w="9525">
            <a:solidFill>
              <a:srgbClr val="E3E5E8"/>
            </a:solidFill>
            <a:prstDash val="solid"/>
          </a:ln>
        </p:spPr>
      </p:sp>
      <p:sp>
        <p:nvSpPr>
          <p:cNvPr id="30" name="text-662"/>
          <p:cNvSpPr txBox="1"/>
          <p:nvPr/>
        </p:nvSpPr>
        <p:spPr>
          <a:xfrm>
            <a:off x="4434840" y="1463040"/>
            <a:ext cx="2743200" cy="32004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Traffic cones</a:t>
            </a:r>
            <a:endParaRPr lang="en-US" sz="1500" dirty="0"/>
          </a:p>
        </p:txBody>
      </p:sp>
      <p:sp>
        <p:nvSpPr>
          <p:cNvPr id="31" name="shape-663"/>
          <p:cNvSpPr/>
          <p:nvPr/>
        </p:nvSpPr>
        <p:spPr>
          <a:xfrm>
            <a:off x="4480560" y="2066544"/>
            <a:ext cx="182880" cy="182880"/>
          </a:xfrm>
          <a:prstGeom prst="ellipse">
            <a:avLst/>
          </a:prstGeom>
          <a:solidFill>
            <a:schemeClr val="accent1"/>
          </a:solidFill>
          <a:ln w="5080">
            <a:solidFill>
              <a:srgbClr val="1F2326"/>
            </a:solidFill>
            <a:prstDash val="solid"/>
          </a:ln>
        </p:spPr>
      </p:sp>
      <p:sp>
        <p:nvSpPr>
          <p:cNvPr id="32" name="shape-664"/>
          <p:cNvSpPr/>
          <p:nvPr/>
        </p:nvSpPr>
        <p:spPr>
          <a:xfrm>
            <a:off x="4517136" y="2103120"/>
            <a:ext cx="109728" cy="109728"/>
          </a:xfrm>
          <a:prstGeom prst="ellipse">
            <a:avLst/>
          </a:prstGeom>
          <a:solidFill>
            <a:srgbClr val="FFFFFF"/>
          </a:solidFill>
          <a:ln/>
        </p:spPr>
      </p:sp>
      <p:sp>
        <p:nvSpPr>
          <p:cNvPr id="33" name="shape-665"/>
          <p:cNvSpPr/>
          <p:nvPr/>
        </p:nvSpPr>
        <p:spPr>
          <a:xfrm>
            <a:off x="4542739" y="2128723"/>
            <a:ext cx="58522" cy="58522"/>
          </a:xfrm>
          <a:prstGeom prst="ellipse">
            <a:avLst/>
          </a:prstGeom>
          <a:solidFill>
            <a:schemeClr val="accent1"/>
          </a:solidFill>
          <a:ln/>
        </p:spPr>
      </p:sp>
      <p:sp>
        <p:nvSpPr>
          <p:cNvPr id="34" name="shape-666"/>
          <p:cNvSpPr/>
          <p:nvPr/>
        </p:nvSpPr>
        <p:spPr>
          <a:xfrm>
            <a:off x="4809744" y="2066544"/>
            <a:ext cx="182880" cy="182880"/>
          </a:xfrm>
          <a:prstGeom prst="ellipse">
            <a:avLst/>
          </a:prstGeom>
          <a:solidFill>
            <a:schemeClr val="accent1"/>
          </a:solidFill>
          <a:ln w="5080">
            <a:solidFill>
              <a:srgbClr val="1F2326"/>
            </a:solidFill>
            <a:prstDash val="solid"/>
          </a:ln>
        </p:spPr>
      </p:sp>
      <p:sp>
        <p:nvSpPr>
          <p:cNvPr id="35" name="shape-667"/>
          <p:cNvSpPr/>
          <p:nvPr/>
        </p:nvSpPr>
        <p:spPr>
          <a:xfrm>
            <a:off x="4846320" y="2103120"/>
            <a:ext cx="109728" cy="109728"/>
          </a:xfrm>
          <a:prstGeom prst="ellipse">
            <a:avLst/>
          </a:prstGeom>
          <a:solidFill>
            <a:srgbClr val="FFFFFF"/>
          </a:solidFill>
          <a:ln/>
        </p:spPr>
      </p:sp>
      <p:sp>
        <p:nvSpPr>
          <p:cNvPr id="36" name="shape-668"/>
          <p:cNvSpPr/>
          <p:nvPr/>
        </p:nvSpPr>
        <p:spPr>
          <a:xfrm>
            <a:off x="4871923" y="2128723"/>
            <a:ext cx="58522" cy="58522"/>
          </a:xfrm>
          <a:prstGeom prst="ellipse">
            <a:avLst/>
          </a:prstGeom>
          <a:solidFill>
            <a:schemeClr val="accent1"/>
          </a:solidFill>
          <a:ln/>
        </p:spPr>
      </p:sp>
      <p:sp>
        <p:nvSpPr>
          <p:cNvPr id="37" name="shape-669"/>
          <p:cNvSpPr/>
          <p:nvPr/>
        </p:nvSpPr>
        <p:spPr>
          <a:xfrm>
            <a:off x="5138928" y="2066544"/>
            <a:ext cx="182880" cy="182880"/>
          </a:xfrm>
          <a:prstGeom prst="ellipse">
            <a:avLst/>
          </a:prstGeom>
          <a:solidFill>
            <a:schemeClr val="accent1"/>
          </a:solidFill>
          <a:ln w="5080">
            <a:solidFill>
              <a:srgbClr val="1F2326"/>
            </a:solidFill>
            <a:prstDash val="solid"/>
          </a:ln>
        </p:spPr>
      </p:sp>
      <p:sp>
        <p:nvSpPr>
          <p:cNvPr id="38" name="shape-670"/>
          <p:cNvSpPr/>
          <p:nvPr/>
        </p:nvSpPr>
        <p:spPr>
          <a:xfrm>
            <a:off x="5175504" y="2103120"/>
            <a:ext cx="109728" cy="109728"/>
          </a:xfrm>
          <a:prstGeom prst="ellipse">
            <a:avLst/>
          </a:prstGeom>
          <a:solidFill>
            <a:srgbClr val="FFFFFF"/>
          </a:solidFill>
          <a:ln/>
        </p:spPr>
      </p:sp>
      <p:sp>
        <p:nvSpPr>
          <p:cNvPr id="39" name="shape-671"/>
          <p:cNvSpPr/>
          <p:nvPr/>
        </p:nvSpPr>
        <p:spPr>
          <a:xfrm>
            <a:off x="5201107" y="2128723"/>
            <a:ext cx="58522" cy="58522"/>
          </a:xfrm>
          <a:prstGeom prst="ellipse">
            <a:avLst/>
          </a:prstGeom>
          <a:solidFill>
            <a:schemeClr val="accent1"/>
          </a:solidFill>
          <a:ln/>
        </p:spPr>
      </p:sp>
      <p:sp>
        <p:nvSpPr>
          <p:cNvPr id="40" name="shape-672"/>
          <p:cNvSpPr/>
          <p:nvPr/>
        </p:nvSpPr>
        <p:spPr>
          <a:xfrm>
            <a:off x="5468112" y="2066544"/>
            <a:ext cx="182880" cy="182880"/>
          </a:xfrm>
          <a:prstGeom prst="ellipse">
            <a:avLst/>
          </a:prstGeom>
          <a:solidFill>
            <a:schemeClr val="accent1"/>
          </a:solidFill>
          <a:ln w="5080">
            <a:solidFill>
              <a:srgbClr val="1F2326"/>
            </a:solidFill>
            <a:prstDash val="solid"/>
          </a:ln>
        </p:spPr>
      </p:sp>
      <p:sp>
        <p:nvSpPr>
          <p:cNvPr id="41" name="shape-673"/>
          <p:cNvSpPr/>
          <p:nvPr/>
        </p:nvSpPr>
        <p:spPr>
          <a:xfrm>
            <a:off x="5504688" y="2103120"/>
            <a:ext cx="109728" cy="109728"/>
          </a:xfrm>
          <a:prstGeom prst="ellipse">
            <a:avLst/>
          </a:prstGeom>
          <a:solidFill>
            <a:srgbClr val="FFFFFF"/>
          </a:solidFill>
          <a:ln/>
        </p:spPr>
      </p:sp>
      <p:sp>
        <p:nvSpPr>
          <p:cNvPr id="42" name="shape-674"/>
          <p:cNvSpPr/>
          <p:nvPr/>
        </p:nvSpPr>
        <p:spPr>
          <a:xfrm>
            <a:off x="5530291" y="2128723"/>
            <a:ext cx="58522" cy="58522"/>
          </a:xfrm>
          <a:prstGeom prst="ellipse">
            <a:avLst/>
          </a:prstGeom>
          <a:solidFill>
            <a:schemeClr val="accent1"/>
          </a:solidFill>
          <a:ln/>
        </p:spPr>
      </p:sp>
      <p:sp>
        <p:nvSpPr>
          <p:cNvPr id="43" name="shape-675"/>
          <p:cNvSpPr/>
          <p:nvPr/>
        </p:nvSpPr>
        <p:spPr>
          <a:xfrm>
            <a:off x="5797296" y="2066544"/>
            <a:ext cx="182880" cy="182880"/>
          </a:xfrm>
          <a:prstGeom prst="ellipse">
            <a:avLst/>
          </a:prstGeom>
          <a:solidFill>
            <a:schemeClr val="accent1"/>
          </a:solidFill>
          <a:ln w="5080">
            <a:solidFill>
              <a:srgbClr val="1F2326"/>
            </a:solidFill>
            <a:prstDash val="solid"/>
          </a:ln>
        </p:spPr>
      </p:sp>
      <p:sp>
        <p:nvSpPr>
          <p:cNvPr id="44" name="shape-676"/>
          <p:cNvSpPr/>
          <p:nvPr/>
        </p:nvSpPr>
        <p:spPr>
          <a:xfrm>
            <a:off x="5833872" y="2103120"/>
            <a:ext cx="109728" cy="109728"/>
          </a:xfrm>
          <a:prstGeom prst="ellipse">
            <a:avLst/>
          </a:prstGeom>
          <a:solidFill>
            <a:srgbClr val="FFFFFF"/>
          </a:solidFill>
          <a:ln/>
        </p:spPr>
      </p:sp>
      <p:sp>
        <p:nvSpPr>
          <p:cNvPr id="45" name="shape-677"/>
          <p:cNvSpPr/>
          <p:nvPr/>
        </p:nvSpPr>
        <p:spPr>
          <a:xfrm>
            <a:off x="5859475" y="2128723"/>
            <a:ext cx="58522" cy="58522"/>
          </a:xfrm>
          <a:prstGeom prst="ellipse">
            <a:avLst/>
          </a:prstGeom>
          <a:solidFill>
            <a:schemeClr val="accent1"/>
          </a:solidFill>
          <a:ln/>
        </p:spPr>
      </p:sp>
      <p:sp>
        <p:nvSpPr>
          <p:cNvPr id="46" name="shape-678"/>
          <p:cNvSpPr/>
          <p:nvPr/>
        </p:nvSpPr>
        <p:spPr>
          <a:xfrm>
            <a:off x="6126480" y="2066544"/>
            <a:ext cx="182880" cy="182880"/>
          </a:xfrm>
          <a:prstGeom prst="ellipse">
            <a:avLst/>
          </a:prstGeom>
          <a:solidFill>
            <a:schemeClr val="accent1"/>
          </a:solidFill>
          <a:ln w="5080">
            <a:solidFill>
              <a:srgbClr val="1F2326"/>
            </a:solidFill>
            <a:prstDash val="solid"/>
          </a:ln>
        </p:spPr>
      </p:sp>
      <p:sp>
        <p:nvSpPr>
          <p:cNvPr id="47" name="shape-679"/>
          <p:cNvSpPr/>
          <p:nvPr/>
        </p:nvSpPr>
        <p:spPr>
          <a:xfrm>
            <a:off x="6163056" y="2103120"/>
            <a:ext cx="109728" cy="109728"/>
          </a:xfrm>
          <a:prstGeom prst="ellipse">
            <a:avLst/>
          </a:prstGeom>
          <a:solidFill>
            <a:srgbClr val="FFFFFF"/>
          </a:solidFill>
          <a:ln/>
        </p:spPr>
      </p:sp>
      <p:sp>
        <p:nvSpPr>
          <p:cNvPr id="48" name="shape-680"/>
          <p:cNvSpPr/>
          <p:nvPr/>
        </p:nvSpPr>
        <p:spPr>
          <a:xfrm>
            <a:off x="6188659" y="2128723"/>
            <a:ext cx="58522" cy="58522"/>
          </a:xfrm>
          <a:prstGeom prst="ellipse">
            <a:avLst/>
          </a:prstGeom>
          <a:solidFill>
            <a:schemeClr val="accent1"/>
          </a:solidFill>
          <a:ln/>
        </p:spPr>
      </p:sp>
      <p:sp>
        <p:nvSpPr>
          <p:cNvPr id="49" name="shape-681"/>
          <p:cNvSpPr/>
          <p:nvPr/>
        </p:nvSpPr>
        <p:spPr>
          <a:xfrm>
            <a:off x="6775704" y="1892808"/>
            <a:ext cx="347472" cy="546811"/>
          </a:xfrm>
          <a:prstGeom prst="triangle">
            <a:avLst/>
          </a:prstGeom>
          <a:solidFill>
            <a:schemeClr val="accent1"/>
          </a:solidFill>
          <a:ln w="6350">
            <a:solidFill>
              <a:srgbClr val="1F2326"/>
            </a:solidFill>
            <a:prstDash val="solid"/>
          </a:ln>
        </p:spPr>
      </p:sp>
      <p:sp>
        <p:nvSpPr>
          <p:cNvPr id="50" name="shape-682"/>
          <p:cNvSpPr/>
          <p:nvPr/>
        </p:nvSpPr>
        <p:spPr>
          <a:xfrm>
            <a:off x="6871716" y="2142439"/>
            <a:ext cx="155448" cy="83210"/>
          </a:xfrm>
          <a:prstGeom prst="rect">
            <a:avLst/>
          </a:prstGeom>
          <a:solidFill>
            <a:srgbClr val="FFFFFF"/>
          </a:solidFill>
          <a:ln/>
        </p:spPr>
      </p:sp>
      <p:sp>
        <p:nvSpPr>
          <p:cNvPr id="51" name="shape-683"/>
          <p:cNvSpPr/>
          <p:nvPr/>
        </p:nvSpPr>
        <p:spPr>
          <a:xfrm>
            <a:off x="6720840" y="2427732"/>
            <a:ext cx="457200" cy="59436"/>
          </a:xfrm>
          <a:prstGeom prst="rect">
            <a:avLst/>
          </a:prstGeom>
          <a:solidFill>
            <a:srgbClr val="1F2326"/>
          </a:solidFill>
          <a:ln/>
        </p:spPr>
      </p:sp>
      <p:sp>
        <p:nvSpPr>
          <p:cNvPr id="52" name="shape-684"/>
          <p:cNvSpPr/>
          <p:nvPr/>
        </p:nvSpPr>
        <p:spPr>
          <a:xfrm>
            <a:off x="4434840" y="2651760"/>
            <a:ext cx="237744" cy="237744"/>
          </a:xfrm>
          <a:prstGeom prst="ellipse">
            <a:avLst/>
          </a:prstGeom>
          <a:solidFill>
            <a:schemeClr val="accent1"/>
          </a:solidFill>
          <a:ln/>
        </p:spPr>
      </p:sp>
      <p:sp>
        <p:nvSpPr>
          <p:cNvPr id="53" name="text-685"/>
          <p:cNvSpPr txBox="1"/>
          <p:nvPr/>
        </p:nvSpPr>
        <p:spPr>
          <a:xfrm>
            <a:off x="4434840" y="2651760"/>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54" name="text-686"/>
          <p:cNvSpPr txBox="1"/>
          <p:nvPr/>
        </p:nvSpPr>
        <p:spPr>
          <a:xfrm>
            <a:off x="4818888" y="2633472"/>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RDP → Road Edge and Centre</a:t>
            </a:r>
            <a:endParaRPr lang="en-US" sz="1200" dirty="0"/>
          </a:p>
        </p:txBody>
      </p:sp>
      <p:sp>
        <p:nvSpPr>
          <p:cNvPr id="55" name="shape-687"/>
          <p:cNvSpPr/>
          <p:nvPr/>
        </p:nvSpPr>
        <p:spPr>
          <a:xfrm>
            <a:off x="4434840" y="2980944"/>
            <a:ext cx="237744" cy="237744"/>
          </a:xfrm>
          <a:prstGeom prst="ellipse">
            <a:avLst/>
          </a:prstGeom>
          <a:solidFill>
            <a:schemeClr val="accent1"/>
          </a:solidFill>
          <a:ln/>
        </p:spPr>
      </p:sp>
      <p:sp>
        <p:nvSpPr>
          <p:cNvPr id="56" name="text-688"/>
          <p:cNvSpPr txBox="1"/>
          <p:nvPr/>
        </p:nvSpPr>
        <p:spPr>
          <a:xfrm>
            <a:off x="4434840" y="2980944"/>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57" name="text-689"/>
          <p:cNvSpPr txBox="1"/>
          <p:nvPr/>
        </p:nvSpPr>
        <p:spPr>
          <a:xfrm>
            <a:off x="4818888" y="2962656"/>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Tick the sides you want</a:t>
            </a:r>
            <a:endParaRPr lang="en-US" sz="1200" dirty="0"/>
          </a:p>
        </p:txBody>
      </p:sp>
      <p:sp>
        <p:nvSpPr>
          <p:cNvPr id="58" name="shape-690"/>
          <p:cNvSpPr/>
          <p:nvPr/>
        </p:nvSpPr>
        <p:spPr>
          <a:xfrm>
            <a:off x="4434840" y="3310128"/>
            <a:ext cx="237744" cy="237744"/>
          </a:xfrm>
          <a:prstGeom prst="ellipse">
            <a:avLst/>
          </a:prstGeom>
          <a:solidFill>
            <a:schemeClr val="accent1"/>
          </a:solidFill>
          <a:ln/>
        </p:spPr>
      </p:sp>
      <p:sp>
        <p:nvSpPr>
          <p:cNvPr id="59" name="text-691"/>
          <p:cNvSpPr txBox="1"/>
          <p:nvPr/>
        </p:nvSpPr>
        <p:spPr>
          <a:xfrm>
            <a:off x="4434840" y="331012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60" name="text-692"/>
          <p:cNvSpPr txBox="1"/>
          <p:nvPr/>
        </p:nvSpPr>
        <p:spPr>
          <a:xfrm>
            <a:off x="4818888" y="3291840"/>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Edge = Traffic cones</a:t>
            </a:r>
            <a:endParaRPr lang="en-US" sz="1200" dirty="0"/>
          </a:p>
        </p:txBody>
      </p:sp>
      <p:sp>
        <p:nvSpPr>
          <p:cNvPr id="61" name="shape-693"/>
          <p:cNvSpPr/>
          <p:nvPr/>
        </p:nvSpPr>
        <p:spPr>
          <a:xfrm>
            <a:off x="4434840" y="3639312"/>
            <a:ext cx="237744" cy="237744"/>
          </a:xfrm>
          <a:prstGeom prst="ellipse">
            <a:avLst/>
          </a:prstGeom>
          <a:solidFill>
            <a:schemeClr val="accent1"/>
          </a:solidFill>
          <a:ln/>
        </p:spPr>
      </p:sp>
      <p:sp>
        <p:nvSpPr>
          <p:cNvPr id="62" name="text-694"/>
          <p:cNvSpPr txBox="1"/>
          <p:nvPr/>
        </p:nvSpPr>
        <p:spPr>
          <a:xfrm>
            <a:off x="4434840" y="363931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63" name="text-695"/>
          <p:cNvSpPr txBox="1"/>
          <p:nvPr/>
        </p:nvSpPr>
        <p:spPr>
          <a:xfrm>
            <a:off x="4818888" y="3621024"/>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Unit length = cone spacing, e.g. 3.00</a:t>
            </a:r>
            <a:endParaRPr lang="en-US" sz="1200" dirty="0"/>
          </a:p>
        </p:txBody>
      </p:sp>
      <p:sp>
        <p:nvSpPr>
          <p:cNvPr id="64" name="shape-696"/>
          <p:cNvSpPr/>
          <p:nvPr/>
        </p:nvSpPr>
        <p:spPr>
          <a:xfrm>
            <a:off x="4434840" y="3968496"/>
            <a:ext cx="237744" cy="237744"/>
          </a:xfrm>
          <a:prstGeom prst="ellipse">
            <a:avLst/>
          </a:prstGeom>
          <a:solidFill>
            <a:schemeClr val="accent1"/>
          </a:solidFill>
          <a:ln/>
        </p:spPr>
      </p:sp>
      <p:sp>
        <p:nvSpPr>
          <p:cNvPr id="65" name="text-697"/>
          <p:cNvSpPr txBox="1"/>
          <p:nvPr/>
        </p:nvSpPr>
        <p:spPr>
          <a:xfrm>
            <a:off x="4434840" y="396849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66" name="text-698"/>
          <p:cNvSpPr txBox="1"/>
          <p:nvPr/>
        </p:nvSpPr>
        <p:spPr>
          <a:xfrm>
            <a:off x="4818888" y="3950208"/>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Width = cone size, e.g. 0.40</a:t>
            </a:r>
            <a:endParaRPr lang="en-US" sz="1200" dirty="0"/>
          </a:p>
        </p:txBody>
      </p:sp>
      <p:sp>
        <p:nvSpPr>
          <p:cNvPr id="67" name="text-699"/>
          <p:cNvSpPr txBox="1"/>
          <p:nvPr/>
        </p:nvSpPr>
        <p:spPr>
          <a:xfrm>
            <a:off x="4434840" y="4343400"/>
            <a:ext cx="3246120" cy="868680"/>
          </a:xfrm>
          <a:prstGeom prst="rect">
            <a:avLst/>
          </a:prstGeom>
          <a:noFill/>
          <a:ln/>
        </p:spPr>
        <p:txBody>
          <a:bodyPr wrap="square" lIns="0" tIns="0" rIns="0" bIns="0" rtlCol="0" anchor="t"/>
          <a:lstStyle/>
          <a:p>
            <a:pPr indent="0" marL="0">
              <a:buNone/>
            </a:pPr>
            <a:r>
              <a:rPr lang="en-US" sz="1000" dirty="0">
                <a:solidFill>
                  <a:srgbClr val="5B6169"/>
                </a:solidFill>
                <a:latin typeface="Calibri" pitchFamily="34" charset="0"/>
                <a:ea typeface="Calibri" pitchFamily="34" charset="-122"/>
                <a:cs typeface="Calibri" pitchFamily="34" charset="-120"/>
              </a:rPr>
              <a:t>Red cones with a white band (ROAD-CONE, ROAD-CONE-BAND). Report: number of cones per side. RDX: 0.75 m cone.</a:t>
            </a:r>
            <a:endParaRPr lang="en-US" sz="1000" dirty="0"/>
          </a:p>
        </p:txBody>
      </p:sp>
      <p:sp>
        <p:nvSpPr>
          <p:cNvPr id="68" name="shape-700"/>
          <p:cNvSpPr/>
          <p:nvPr/>
        </p:nvSpPr>
        <p:spPr>
          <a:xfrm>
            <a:off x="8001000" y="1325880"/>
            <a:ext cx="3611880" cy="3931920"/>
          </a:xfrm>
          <a:prstGeom prst="roundRect">
            <a:avLst>
              <a:gd name="adj" fmla="val 2025"/>
            </a:avLst>
          </a:prstGeom>
          <a:solidFill>
            <a:srgbClr val="F4F5F7"/>
          </a:solidFill>
          <a:ln w="9525">
            <a:solidFill>
              <a:srgbClr val="E3E5E8"/>
            </a:solidFill>
            <a:prstDash val="solid"/>
          </a:ln>
        </p:spPr>
      </p:sp>
      <p:sp>
        <p:nvSpPr>
          <p:cNvPr id="69" name="text-701"/>
          <p:cNvSpPr txBox="1"/>
          <p:nvPr/>
        </p:nvSpPr>
        <p:spPr>
          <a:xfrm>
            <a:off x="8183880" y="1463040"/>
            <a:ext cx="2743200" cy="320040"/>
          </a:xfrm>
          <a:prstGeom prst="rect">
            <a:avLst/>
          </a:prstGeom>
          <a:noFill/>
          <a:ln/>
        </p:spPr>
        <p:txBody>
          <a:bodyPr wrap="square" lIns="0" tIns="0" rIns="0" bIns="0" rtlCol="0" anchor="t"/>
          <a:lstStyle/>
          <a:p>
            <a:pPr indent="0" marL="0">
              <a:buNone/>
            </a:pPr>
            <a:r>
              <a:rPr lang="en-US" sz="1500" b="1" dirty="0">
                <a:solidFill>
                  <a:schemeClr val="accent3"/>
                </a:solidFill>
                <a:latin typeface="Calibri" pitchFamily="34" charset="0"/>
                <a:ea typeface="Calibri" pitchFamily="34" charset="-122"/>
                <a:cs typeface="Calibri" pitchFamily="34" charset="-120"/>
              </a:rPr>
              <a:t>Kerb stone</a:t>
            </a:r>
            <a:endParaRPr lang="en-US" sz="1500" dirty="0"/>
          </a:p>
        </p:txBody>
      </p:sp>
      <p:sp>
        <p:nvSpPr>
          <p:cNvPr id="70" name="shape-702"/>
          <p:cNvSpPr/>
          <p:nvPr/>
        </p:nvSpPr>
        <p:spPr>
          <a:xfrm>
            <a:off x="8229600" y="2075688"/>
            <a:ext cx="304800" cy="155448"/>
          </a:xfrm>
          <a:prstGeom prst="rect">
            <a:avLst/>
          </a:prstGeom>
          <a:solidFill>
            <a:srgbClr val="B9BDC3"/>
          </a:solidFill>
          <a:ln w="7620">
            <a:solidFill>
              <a:srgbClr val="1F2326"/>
            </a:solidFill>
            <a:prstDash val="solid"/>
          </a:ln>
        </p:spPr>
      </p:sp>
      <p:sp>
        <p:nvSpPr>
          <p:cNvPr id="71" name="shape-703"/>
          <p:cNvSpPr/>
          <p:nvPr/>
        </p:nvSpPr>
        <p:spPr>
          <a:xfrm>
            <a:off x="8534400" y="2075688"/>
            <a:ext cx="304800" cy="155448"/>
          </a:xfrm>
          <a:prstGeom prst="rect">
            <a:avLst/>
          </a:prstGeom>
          <a:solidFill>
            <a:srgbClr val="B9BDC3"/>
          </a:solidFill>
          <a:ln w="7620">
            <a:solidFill>
              <a:srgbClr val="1F2326"/>
            </a:solidFill>
            <a:prstDash val="solid"/>
          </a:ln>
        </p:spPr>
      </p:sp>
      <p:sp>
        <p:nvSpPr>
          <p:cNvPr id="72" name="shape-704"/>
          <p:cNvSpPr/>
          <p:nvPr/>
        </p:nvSpPr>
        <p:spPr>
          <a:xfrm>
            <a:off x="8839200" y="2075688"/>
            <a:ext cx="304800" cy="155448"/>
          </a:xfrm>
          <a:prstGeom prst="rect">
            <a:avLst/>
          </a:prstGeom>
          <a:solidFill>
            <a:srgbClr val="B9BDC3"/>
          </a:solidFill>
          <a:ln w="7620">
            <a:solidFill>
              <a:srgbClr val="1F2326"/>
            </a:solidFill>
            <a:prstDash val="solid"/>
          </a:ln>
        </p:spPr>
      </p:sp>
      <p:sp>
        <p:nvSpPr>
          <p:cNvPr id="73" name="shape-705"/>
          <p:cNvSpPr/>
          <p:nvPr/>
        </p:nvSpPr>
        <p:spPr>
          <a:xfrm>
            <a:off x="9144000" y="2075688"/>
            <a:ext cx="304800" cy="155448"/>
          </a:xfrm>
          <a:prstGeom prst="rect">
            <a:avLst/>
          </a:prstGeom>
          <a:solidFill>
            <a:srgbClr val="B9BDC3"/>
          </a:solidFill>
          <a:ln w="7620">
            <a:solidFill>
              <a:srgbClr val="1F2326"/>
            </a:solidFill>
            <a:prstDash val="solid"/>
          </a:ln>
        </p:spPr>
      </p:sp>
      <p:sp>
        <p:nvSpPr>
          <p:cNvPr id="74" name="shape-706"/>
          <p:cNvSpPr/>
          <p:nvPr/>
        </p:nvSpPr>
        <p:spPr>
          <a:xfrm>
            <a:off x="9448800" y="2075688"/>
            <a:ext cx="304800" cy="155448"/>
          </a:xfrm>
          <a:prstGeom prst="rect">
            <a:avLst/>
          </a:prstGeom>
          <a:solidFill>
            <a:srgbClr val="B9BDC3"/>
          </a:solidFill>
          <a:ln w="7620">
            <a:solidFill>
              <a:srgbClr val="1F2326"/>
            </a:solidFill>
            <a:prstDash val="solid"/>
          </a:ln>
        </p:spPr>
      </p:sp>
      <p:sp>
        <p:nvSpPr>
          <p:cNvPr id="75" name="shape-707"/>
          <p:cNvSpPr/>
          <p:nvPr/>
        </p:nvSpPr>
        <p:spPr>
          <a:xfrm>
            <a:off x="9753600" y="2075688"/>
            <a:ext cx="304800" cy="155448"/>
          </a:xfrm>
          <a:prstGeom prst="rect">
            <a:avLst/>
          </a:prstGeom>
          <a:solidFill>
            <a:srgbClr val="B9BDC3"/>
          </a:solidFill>
          <a:ln w="7620">
            <a:solidFill>
              <a:srgbClr val="1F2326"/>
            </a:solidFill>
            <a:prstDash val="solid"/>
          </a:ln>
        </p:spPr>
      </p:sp>
      <p:sp>
        <p:nvSpPr>
          <p:cNvPr id="76" name="shape-708"/>
          <p:cNvSpPr/>
          <p:nvPr/>
        </p:nvSpPr>
        <p:spPr>
          <a:xfrm>
            <a:off x="10821010" y="1938528"/>
            <a:ext cx="243230" cy="502920"/>
          </a:xfrm>
          <a:prstGeom prst="rect">
            <a:avLst/>
          </a:prstGeom>
          <a:solidFill>
            <a:srgbClr val="B9BDC3"/>
          </a:solidFill>
          <a:ln w="9525">
            <a:solidFill>
              <a:srgbClr val="1F2326"/>
            </a:solidFill>
            <a:prstDash val="solid"/>
          </a:ln>
        </p:spPr>
      </p:sp>
      <p:sp>
        <p:nvSpPr>
          <p:cNvPr id="77" name="shape-709"/>
          <p:cNvSpPr/>
          <p:nvPr/>
        </p:nvSpPr>
        <p:spPr>
          <a:xfrm>
            <a:off x="10424160" y="2215134"/>
            <a:ext cx="396850" cy="60350"/>
          </a:xfrm>
          <a:prstGeom prst="rect">
            <a:avLst/>
          </a:prstGeom>
          <a:solidFill>
            <a:srgbClr val="1F2326"/>
          </a:solidFill>
          <a:ln/>
        </p:spPr>
      </p:sp>
      <p:sp>
        <p:nvSpPr>
          <p:cNvPr id="78" name="shape-710"/>
          <p:cNvSpPr/>
          <p:nvPr/>
        </p:nvSpPr>
        <p:spPr>
          <a:xfrm>
            <a:off x="8183880" y="2651760"/>
            <a:ext cx="237744" cy="237744"/>
          </a:xfrm>
          <a:prstGeom prst="ellipse">
            <a:avLst/>
          </a:prstGeom>
          <a:solidFill>
            <a:schemeClr val="accent1"/>
          </a:solidFill>
          <a:ln/>
        </p:spPr>
      </p:sp>
      <p:sp>
        <p:nvSpPr>
          <p:cNvPr id="79" name="text-711"/>
          <p:cNvSpPr txBox="1"/>
          <p:nvPr/>
        </p:nvSpPr>
        <p:spPr>
          <a:xfrm>
            <a:off x="8183880" y="2651760"/>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0" name="text-712"/>
          <p:cNvSpPr txBox="1"/>
          <p:nvPr/>
        </p:nvSpPr>
        <p:spPr>
          <a:xfrm>
            <a:off x="8567928" y="2633472"/>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RDP → Road Edge and Centre</a:t>
            </a:r>
            <a:endParaRPr lang="en-US" sz="1200" dirty="0"/>
          </a:p>
        </p:txBody>
      </p:sp>
      <p:sp>
        <p:nvSpPr>
          <p:cNvPr id="81" name="shape-713"/>
          <p:cNvSpPr/>
          <p:nvPr/>
        </p:nvSpPr>
        <p:spPr>
          <a:xfrm>
            <a:off x="8183880" y="2980944"/>
            <a:ext cx="237744" cy="237744"/>
          </a:xfrm>
          <a:prstGeom prst="ellipse">
            <a:avLst/>
          </a:prstGeom>
          <a:solidFill>
            <a:schemeClr val="accent1"/>
          </a:solidFill>
          <a:ln/>
        </p:spPr>
      </p:sp>
      <p:sp>
        <p:nvSpPr>
          <p:cNvPr id="82" name="text-714"/>
          <p:cNvSpPr txBox="1"/>
          <p:nvPr/>
        </p:nvSpPr>
        <p:spPr>
          <a:xfrm>
            <a:off x="8183880" y="2980944"/>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83" name="text-715"/>
          <p:cNvSpPr txBox="1"/>
          <p:nvPr/>
        </p:nvSpPr>
        <p:spPr>
          <a:xfrm>
            <a:off x="8567928" y="2962656"/>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Tick the sides you want</a:t>
            </a:r>
            <a:endParaRPr lang="en-US" sz="1200" dirty="0"/>
          </a:p>
        </p:txBody>
      </p:sp>
      <p:sp>
        <p:nvSpPr>
          <p:cNvPr id="84" name="shape-716"/>
          <p:cNvSpPr/>
          <p:nvPr/>
        </p:nvSpPr>
        <p:spPr>
          <a:xfrm>
            <a:off x="8183880" y="3310128"/>
            <a:ext cx="237744" cy="237744"/>
          </a:xfrm>
          <a:prstGeom prst="ellipse">
            <a:avLst/>
          </a:prstGeom>
          <a:solidFill>
            <a:schemeClr val="accent1"/>
          </a:solidFill>
          <a:ln/>
        </p:spPr>
      </p:sp>
      <p:sp>
        <p:nvSpPr>
          <p:cNvPr id="85" name="text-717"/>
          <p:cNvSpPr txBox="1"/>
          <p:nvPr/>
        </p:nvSpPr>
        <p:spPr>
          <a:xfrm>
            <a:off x="8183880" y="331012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86" name="text-718"/>
          <p:cNvSpPr txBox="1"/>
          <p:nvPr/>
        </p:nvSpPr>
        <p:spPr>
          <a:xfrm>
            <a:off x="8567928" y="3291840"/>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Edge = Kerb stone</a:t>
            </a:r>
            <a:endParaRPr lang="en-US" sz="1200" dirty="0"/>
          </a:p>
        </p:txBody>
      </p:sp>
      <p:sp>
        <p:nvSpPr>
          <p:cNvPr id="87" name="shape-719"/>
          <p:cNvSpPr/>
          <p:nvPr/>
        </p:nvSpPr>
        <p:spPr>
          <a:xfrm>
            <a:off x="8183880" y="3639312"/>
            <a:ext cx="237744" cy="237744"/>
          </a:xfrm>
          <a:prstGeom prst="ellipse">
            <a:avLst/>
          </a:prstGeom>
          <a:solidFill>
            <a:schemeClr val="accent1"/>
          </a:solidFill>
          <a:ln/>
        </p:spPr>
      </p:sp>
      <p:sp>
        <p:nvSpPr>
          <p:cNvPr id="88" name="text-720"/>
          <p:cNvSpPr txBox="1"/>
          <p:nvPr/>
        </p:nvSpPr>
        <p:spPr>
          <a:xfrm>
            <a:off x="8183880" y="363931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89" name="text-721"/>
          <p:cNvSpPr txBox="1"/>
          <p:nvPr/>
        </p:nvSpPr>
        <p:spPr>
          <a:xfrm>
            <a:off x="8567928" y="3621024"/>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Unit length = kerb unit, e.g. 1.00</a:t>
            </a:r>
            <a:endParaRPr lang="en-US" sz="1200" dirty="0"/>
          </a:p>
        </p:txBody>
      </p:sp>
      <p:sp>
        <p:nvSpPr>
          <p:cNvPr id="90" name="shape-722"/>
          <p:cNvSpPr/>
          <p:nvPr/>
        </p:nvSpPr>
        <p:spPr>
          <a:xfrm>
            <a:off x="8183880" y="3968496"/>
            <a:ext cx="237744" cy="237744"/>
          </a:xfrm>
          <a:prstGeom prst="ellipse">
            <a:avLst/>
          </a:prstGeom>
          <a:solidFill>
            <a:schemeClr val="accent1"/>
          </a:solidFill>
          <a:ln/>
        </p:spPr>
      </p:sp>
      <p:sp>
        <p:nvSpPr>
          <p:cNvPr id="91" name="text-723"/>
          <p:cNvSpPr txBox="1"/>
          <p:nvPr/>
        </p:nvSpPr>
        <p:spPr>
          <a:xfrm>
            <a:off x="8183880" y="396849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92" name="text-724"/>
          <p:cNvSpPr txBox="1"/>
          <p:nvPr/>
        </p:nvSpPr>
        <p:spPr>
          <a:xfrm>
            <a:off x="8567928" y="3950208"/>
            <a:ext cx="2907792" cy="292608"/>
          </a:xfrm>
          <a:prstGeom prst="rect">
            <a:avLst/>
          </a:prstGeom>
          <a:noFill/>
          <a:ln/>
        </p:spPr>
        <p:txBody>
          <a:bodyPr wrap="square" lIns="0" tIns="0" rIns="0" bIns="0" rtlCol="0" anchor="t"/>
          <a:lstStyle/>
          <a:p>
            <a:pPr indent="0" marL="0">
              <a:spcAft>
                <a:spcPts val="100"/>
              </a:spcAft>
              <a:buNone/>
            </a:pPr>
            <a:r>
              <a:rPr lang="en-US" sz="1100" b="1" dirty="0">
                <a:solidFill>
                  <a:schemeClr val="tx1"/>
                </a:solidFill>
                <a:latin typeface="Calibri" pitchFamily="34" charset="0"/>
                <a:ea typeface="Calibri" pitchFamily="34" charset="-122"/>
                <a:cs typeface="Calibri" pitchFamily="34" charset="-120"/>
              </a:rPr>
              <a:t>Width = kerb width, e.g. 0.15</a:t>
            </a:r>
            <a:endParaRPr lang="en-US" sz="1200" dirty="0"/>
          </a:p>
        </p:txBody>
      </p:sp>
      <p:sp>
        <p:nvSpPr>
          <p:cNvPr id="93" name="text-725"/>
          <p:cNvSpPr txBox="1"/>
          <p:nvPr/>
        </p:nvSpPr>
        <p:spPr>
          <a:xfrm>
            <a:off x="8183880" y="4343400"/>
            <a:ext cx="3246120" cy="868680"/>
          </a:xfrm>
          <a:prstGeom prst="rect">
            <a:avLst/>
          </a:prstGeom>
          <a:noFill/>
          <a:ln/>
        </p:spPr>
        <p:txBody>
          <a:bodyPr wrap="square" lIns="0" tIns="0" rIns="0" bIns="0" rtlCol="0" anchor="t"/>
          <a:lstStyle/>
          <a:p>
            <a:pPr indent="0" marL="0">
              <a:buNone/>
            </a:pPr>
            <a:r>
              <a:rPr lang="en-US" sz="1000" dirty="0">
                <a:solidFill>
                  <a:srgbClr val="5B6169"/>
                </a:solidFill>
                <a:latin typeface="Calibri" pitchFamily="34" charset="0"/>
                <a:ea typeface="Calibri" pitchFamily="34" charset="-122"/>
                <a:cs typeface="Calibri" pitchFamily="34" charset="-120"/>
              </a:rPr>
              <a:t>Grey kerb units with outline (ROAD-KERB). Report: kerb length in m per side. RDX: kerb with 150 mm upstand.</a:t>
            </a:r>
            <a:endParaRPr lang="en-US" sz="1000" dirty="0"/>
          </a:p>
        </p:txBody>
      </p:sp>
      <p:sp>
        <p:nvSpPr>
          <p:cNvPr id="94" name="shape-726"/>
          <p:cNvSpPr/>
          <p:nvPr/>
        </p:nvSpPr>
        <p:spPr>
          <a:xfrm>
            <a:off x="502920" y="5394960"/>
            <a:ext cx="3657600" cy="822960"/>
          </a:xfrm>
          <a:prstGeom prst="roundRect">
            <a:avLst>
              <a:gd name="adj" fmla="val 8889"/>
            </a:avLst>
          </a:prstGeom>
          <a:solidFill>
            <a:srgbClr val="F4F5F7"/>
          </a:solidFill>
          <a:ln w="9525">
            <a:solidFill>
              <a:srgbClr val="E3E5E8"/>
            </a:solidFill>
            <a:prstDash val="solid"/>
          </a:ln>
        </p:spPr>
      </p:sp>
      <p:sp>
        <p:nvSpPr>
          <p:cNvPr id="95" name="text-727"/>
          <p:cNvSpPr txBox="1"/>
          <p:nvPr/>
        </p:nvSpPr>
        <p:spPr>
          <a:xfrm>
            <a:off x="667512" y="5532120"/>
            <a:ext cx="3328416" cy="292608"/>
          </a:xfrm>
          <a:prstGeom prst="rect">
            <a:avLst/>
          </a:prstGeom>
          <a:noFill/>
          <a:ln/>
        </p:spPr>
        <p:txBody>
          <a:bodyPr wrap="square" lIns="0" tIns="0" rIns="0" bIns="0" rtlCol="0" anchor="t"/>
          <a:lstStyle/>
          <a:p>
            <a:pPr indent="0" marL="0">
              <a:buNone/>
            </a:pPr>
            <a:r>
              <a:rPr lang="en-US" sz="1150" b="1" dirty="0">
                <a:solidFill>
                  <a:schemeClr val="tx1"/>
                </a:solidFill>
                <a:latin typeface="Calibri" pitchFamily="34" charset="0"/>
                <a:ea typeface="Calibri" pitchFamily="34" charset="-122"/>
                <a:cs typeface="Calibri" pitchFamily="34" charset="-120"/>
              </a:rPr>
              <a:t>Median on the centre line</a:t>
            </a:r>
            <a:endParaRPr lang="en-US" sz="1150" dirty="0"/>
          </a:p>
        </p:txBody>
      </p:sp>
      <p:sp>
        <p:nvSpPr>
          <p:cNvPr id="96" name="text-728"/>
          <p:cNvSpPr txBox="1"/>
          <p:nvPr/>
        </p:nvSpPr>
        <p:spPr>
          <a:xfrm>
            <a:off x="667512" y="5806440"/>
            <a:ext cx="3328416" cy="301752"/>
          </a:xfrm>
          <a:prstGeom prst="rect">
            <a:avLst/>
          </a:prstGeom>
          <a:noFill/>
          <a:ln/>
        </p:spPr>
        <p:txBody>
          <a:bodyPr wrap="square" lIns="0" tIns="0" rIns="0" bIns="0" rtlCol="0" anchor="t"/>
          <a:lstStyle/>
          <a:p>
            <a:pPr indent="0" marL="0">
              <a:spcAft>
                <a:spcPts val="300"/>
              </a:spcAft>
              <a:buNone/>
            </a:pPr>
            <a:r>
              <a:rPr lang="en-US" sz="1050" dirty="0">
                <a:solidFill>
                  <a:srgbClr val="3A3F45"/>
                </a:solidFill>
                <a:latin typeface="Calibri" pitchFamily="34" charset="0"/>
                <a:ea typeface="Calibri" pitchFamily="34" charset="-122"/>
                <a:cs typeface="Calibri" pitchFamily="34" charset="-120"/>
              </a:rPr>
              <a:t>Centre = Barricades or Traffic cones</a:t>
            </a:r>
            <a:endParaRPr lang="en-US" sz="1050" dirty="0"/>
          </a:p>
        </p:txBody>
      </p:sp>
      <p:sp>
        <p:nvSpPr>
          <p:cNvPr id="97" name="shape-729"/>
          <p:cNvSpPr/>
          <p:nvPr/>
        </p:nvSpPr>
        <p:spPr>
          <a:xfrm>
            <a:off x="4251960" y="5394960"/>
            <a:ext cx="3657600" cy="822960"/>
          </a:xfrm>
          <a:prstGeom prst="roundRect">
            <a:avLst>
              <a:gd name="adj" fmla="val 8889"/>
            </a:avLst>
          </a:prstGeom>
          <a:solidFill>
            <a:srgbClr val="F4F5F7"/>
          </a:solidFill>
          <a:ln w="9525">
            <a:solidFill>
              <a:srgbClr val="E3E5E8"/>
            </a:solidFill>
            <a:prstDash val="solid"/>
          </a:ln>
        </p:spPr>
      </p:sp>
      <p:sp>
        <p:nvSpPr>
          <p:cNvPr id="98" name="text-730"/>
          <p:cNvSpPr txBox="1"/>
          <p:nvPr/>
        </p:nvSpPr>
        <p:spPr>
          <a:xfrm>
            <a:off x="4416552" y="5532120"/>
            <a:ext cx="3328416" cy="292608"/>
          </a:xfrm>
          <a:prstGeom prst="rect">
            <a:avLst/>
          </a:prstGeom>
          <a:noFill/>
          <a:ln/>
        </p:spPr>
        <p:txBody>
          <a:bodyPr wrap="square" lIns="0" tIns="0" rIns="0" bIns="0" rtlCol="0" anchor="t"/>
          <a:lstStyle/>
          <a:p>
            <a:pPr indent="0" marL="0">
              <a:buNone/>
            </a:pPr>
            <a:r>
              <a:rPr lang="en-US" sz="1150" b="1" dirty="0">
                <a:solidFill>
                  <a:schemeClr val="tx1"/>
                </a:solidFill>
                <a:latin typeface="Calibri" pitchFamily="34" charset="0"/>
                <a:ea typeface="Calibri" pitchFamily="34" charset="-122"/>
                <a:cs typeface="Calibri" pitchFamily="34" charset="-120"/>
              </a:rPr>
              <a:t>Treatment follows changes</a:t>
            </a:r>
            <a:endParaRPr lang="en-US" sz="1150" dirty="0"/>
          </a:p>
        </p:txBody>
      </p:sp>
      <p:sp>
        <p:nvSpPr>
          <p:cNvPr id="99" name="text-731"/>
          <p:cNvSpPr txBox="1"/>
          <p:nvPr/>
        </p:nvSpPr>
        <p:spPr>
          <a:xfrm>
            <a:off x="4416552" y="5806440"/>
            <a:ext cx="3328416" cy="301752"/>
          </a:xfrm>
          <a:prstGeom prst="rect">
            <a:avLst/>
          </a:prstGeom>
          <a:noFill/>
          <a:ln/>
        </p:spPr>
        <p:txBody>
          <a:bodyPr wrap="square" lIns="0" tIns="0" rIns="0" bIns="0" rtlCol="0" anchor="t"/>
          <a:lstStyle/>
          <a:p>
            <a:pPr indent="0" marL="0">
              <a:spcAft>
                <a:spcPts val="300"/>
              </a:spcAft>
              <a:buNone/>
            </a:pPr>
            <a:r>
              <a:rPr lang="en-US" sz="1050" dirty="0">
                <a:solidFill>
                  <a:srgbClr val="3A3F45"/>
                </a:solidFill>
                <a:latin typeface="Calibri" pitchFamily="34" charset="0"/>
                <a:ea typeface="Calibri" pitchFamily="34" charset="-122"/>
                <a:cs typeface="Calibri" pitchFamily="34" charset="-120"/>
              </a:rPr>
              <a:t>RDW, RDT and RDJ move or cut it for you</a:t>
            </a:r>
            <a:endParaRPr lang="en-US" sz="1050" dirty="0"/>
          </a:p>
        </p:txBody>
      </p:sp>
      <p:sp>
        <p:nvSpPr>
          <p:cNvPr id="100" name="shape-732"/>
          <p:cNvSpPr/>
          <p:nvPr/>
        </p:nvSpPr>
        <p:spPr>
          <a:xfrm>
            <a:off x="8001000" y="5394960"/>
            <a:ext cx="3657600" cy="822960"/>
          </a:xfrm>
          <a:prstGeom prst="roundRect">
            <a:avLst>
              <a:gd name="adj" fmla="val 8889"/>
            </a:avLst>
          </a:prstGeom>
          <a:solidFill>
            <a:srgbClr val="F4F5F7"/>
          </a:solidFill>
          <a:ln w="9525">
            <a:solidFill>
              <a:srgbClr val="E3E5E8"/>
            </a:solidFill>
            <a:prstDash val="solid"/>
          </a:ln>
        </p:spPr>
      </p:sp>
      <p:sp>
        <p:nvSpPr>
          <p:cNvPr id="101" name="text-733"/>
          <p:cNvSpPr txBox="1"/>
          <p:nvPr/>
        </p:nvSpPr>
        <p:spPr>
          <a:xfrm>
            <a:off x="8165592" y="5532120"/>
            <a:ext cx="3328416" cy="292608"/>
          </a:xfrm>
          <a:prstGeom prst="rect">
            <a:avLst/>
          </a:prstGeom>
          <a:noFill/>
          <a:ln/>
        </p:spPr>
        <p:txBody>
          <a:bodyPr wrap="square" lIns="0" tIns="0" rIns="0" bIns="0" rtlCol="0" anchor="t"/>
          <a:lstStyle/>
          <a:p>
            <a:pPr indent="0" marL="0">
              <a:buNone/>
            </a:pPr>
            <a:r>
              <a:rPr lang="en-US" sz="1150" b="1" dirty="0">
                <a:solidFill>
                  <a:schemeClr val="accent1"/>
                </a:solidFill>
                <a:latin typeface="Calibri" pitchFamily="34" charset="0"/>
                <a:ea typeface="Calibri" pitchFamily="34" charset="-122"/>
                <a:cs typeface="Calibri" pitchFamily="34" charset="-120"/>
              </a:rPr>
              <a:t>Just one line somewhere?</a:t>
            </a:r>
            <a:endParaRPr lang="en-US" sz="1150" dirty="0"/>
          </a:p>
        </p:txBody>
      </p:sp>
      <p:sp>
        <p:nvSpPr>
          <p:cNvPr id="102" name="text-734"/>
          <p:cNvSpPr txBox="1"/>
          <p:nvPr/>
        </p:nvSpPr>
        <p:spPr>
          <a:xfrm>
            <a:off x="8165592" y="5806440"/>
            <a:ext cx="3328416" cy="301752"/>
          </a:xfrm>
          <a:prstGeom prst="rect">
            <a:avLst/>
          </a:prstGeom>
          <a:noFill/>
          <a:ln/>
        </p:spPr>
        <p:txBody>
          <a:bodyPr wrap="square" lIns="0" tIns="0" rIns="0" bIns="0" rtlCol="0" anchor="t"/>
          <a:lstStyle/>
          <a:p>
            <a:pPr indent="0" marL="0">
              <a:spcAft>
                <a:spcPts val="300"/>
              </a:spcAft>
              <a:buNone/>
            </a:pPr>
            <a:r>
              <a:rPr lang="en-US" sz="1050" dirty="0">
                <a:solidFill>
                  <a:srgbClr val="3A3F45"/>
                </a:solidFill>
                <a:latin typeface="Calibri" pitchFamily="34" charset="0"/>
                <a:ea typeface="Calibri" pitchFamily="34" charset="-122"/>
                <a:cs typeface="Calibri" pitchFamily="34" charset="-120"/>
              </a:rPr>
              <a:t>Use RDL, the single line command (slide 30)</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PANEL 3  ·  RDP DIALOG</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Signs and Markings settings</a:t>
            </a:r>
            <a:endParaRPr lang="en-US" sz="2600" dirty="0"/>
          </a:p>
        </p:txBody>
      </p:sp>
      <p:graphicFrame>
        <p:nvGraphicFramePr>
          <p:cNvPr id="16" name="table-735"/>
          <p:cNvGraphicFramePr>
            <a:graphicFrameLocks noGrp="1"/>
          </p:cNvGraphicFramePr>
          <p:nvPr>
            <p:extLst>
              <p:ext uri="{D42A27DB-BD31-4B8C-83A1-F6EECF244321}">
                <p14:modId xmlns:p14="http://schemas.microsoft.com/office/powerpoint/2010/main" val="1579011935"/>
              </p:ext>
            </p:extLst>
          </p:nvPr>
        </p:nvGraphicFramePr>
        <p:xfrm>
          <a:off x="502920" y="1298448"/>
          <a:ext cx="11155680" cy="914400"/>
        </p:xfrm>
        <a:graphic>
          <a:graphicData uri="http://schemas.openxmlformats.org/drawingml/2006/table">
            <a:tbl>
              <a:tblPr/>
              <a:tblGrid>
                <a:gridCol w="2651760"/>
                <a:gridCol w="2148840"/>
                <a:gridCol w="6355080"/>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Setting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Options  (default)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Speed limit  km/h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 30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Speed limit sign after each entry. The speed also picks HDS sign sizes, warning distances and L1 / L2 patterns.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Bend ahead  before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 30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Bend warning sign before every curve. With HDS on, the distance comes from the speed (50 – 300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Road works ahead (with plate)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 works triangle with a distance plate at the entry of each direction.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Chevron boards on bends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Chevron boards on the outside of every bend.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Keep right at median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KEEP RIGHT sign at each nose of a barricade or cone median.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Lane direction arrows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White lane arrows on the straights (5.0 m or 7.5 m by speed).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At tie-in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STOP sign  /  GIVE WAY sign  /  No sign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Control sign before each tie-in end of the road.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Two-way traffic</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Signs for both directions. Off = one-way: signs one way and NO ENTRY at the far end.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Sizes and distances by speed (HDS)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Plate sizes and warning distances from Oman HDS 2017 Sec. 19 by speed. Off = Symbol and Spacing below.</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Sign set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Permanent  /  Temporary (road works)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Permanent: yellow / black chevrons. Temporary: black / yellow road-works style.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Symbol (m)  /  Spacing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2.0  /  15</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Size of the sign drawing on plan, and the spacing between signs in a group.</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PANEL 4  ·  RDP DIALOG</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Surface and Centre Line settings</a:t>
            </a:r>
            <a:endParaRPr lang="en-US" sz="2600" dirty="0"/>
          </a:p>
        </p:txBody>
      </p:sp>
      <p:graphicFrame>
        <p:nvGraphicFramePr>
          <p:cNvPr id="17" name="table-736"/>
          <p:cNvGraphicFramePr>
            <a:graphicFrameLocks noGrp="1"/>
          </p:cNvGraphicFramePr>
          <p:nvPr>
            <p:extLst>
              <p:ext uri="{D42A27DB-BD31-4B8C-83A1-F6EECF244321}">
                <p14:modId xmlns:p14="http://schemas.microsoft.com/office/powerpoint/2010/main" val="1579011935"/>
              </p:ext>
            </p:extLst>
          </p:nvPr>
        </p:nvGraphicFramePr>
        <p:xfrm>
          <a:off x="502920" y="1325880"/>
          <a:ext cx="7406640" cy="914400"/>
        </p:xfrm>
        <a:graphic>
          <a:graphicData uri="http://schemas.openxmlformats.org/drawingml/2006/table">
            <a:tbl>
              <a:tblPr/>
              <a:tblGrid>
                <a:gridCol w="2514600"/>
                <a:gridCol w="1920240"/>
                <a:gridCol w="29718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Setting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Default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Hatch road surface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Fills the road between the edges.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Hatch pattern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SOLID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Any AutoCAD pattern: AR-CONC, ANSI31 ...</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Pattern scale (not SOLID)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Scale for patterns other than SOLID.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Show CL text in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Red CL linetype with the letters CL.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Road markings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White centre line and yellow L4 edge lines (same as RDM).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Centre marking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Standard L1 / L2 / L2A</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See the three options on the right.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SLOW markings before bends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Off</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SLOW written on the road before each bend.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Delineator posts on curves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Posts on curves at HDS spacing by radius.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bl>
          </a:graphicData>
        </a:graphic>
      </p:graphicFrame>
      <p:sp>
        <p:nvSpPr>
          <p:cNvPr id="5" name="shape-737"/>
          <p:cNvSpPr/>
          <p:nvPr/>
        </p:nvSpPr>
        <p:spPr>
          <a:xfrm>
            <a:off x="8092440" y="1325880"/>
            <a:ext cx="3566160" cy="4846320"/>
          </a:xfrm>
          <a:prstGeom prst="roundRect">
            <a:avLst>
              <a:gd name="adj" fmla="val 2051"/>
            </a:avLst>
          </a:prstGeom>
          <a:solidFill>
            <a:srgbClr val="F4F5F7"/>
          </a:solidFill>
          <a:ln w="9525">
            <a:solidFill>
              <a:srgbClr val="E3E5E8"/>
            </a:solidFill>
            <a:prstDash val="solid"/>
          </a:ln>
        </p:spPr>
      </p:sp>
      <p:sp>
        <p:nvSpPr>
          <p:cNvPr id="6" name="text-738"/>
          <p:cNvSpPr txBox="1"/>
          <p:nvPr/>
        </p:nvSpPr>
        <p:spPr>
          <a:xfrm>
            <a:off x="8275320" y="1444752"/>
            <a:ext cx="3200400" cy="274320"/>
          </a:xfrm>
          <a:prstGeom prst="rect">
            <a:avLst/>
          </a:prstGeom>
          <a:noFill/>
          <a:ln/>
        </p:spPr>
        <p:txBody>
          <a:bodyPr wrap="square" lIns="0" tIns="0" rIns="0" bIns="0" rtlCol="0" anchor="t"/>
          <a:lstStyle/>
          <a:p>
            <a:pPr indent="0" marL="0">
              <a:buNone/>
            </a:pPr>
            <a:r>
              <a:rPr lang="en-US" sz="1250" b="1" dirty="0">
                <a:solidFill>
                  <a:schemeClr val="tx1"/>
                </a:solidFill>
                <a:latin typeface="Calibri" pitchFamily="34" charset="0"/>
                <a:ea typeface="Calibri" pitchFamily="34" charset="-122"/>
                <a:cs typeface="Calibri" pitchFamily="34" charset="-120"/>
              </a:rPr>
              <a:t>Centre marking options</a:t>
            </a:r>
            <a:endParaRPr lang="en-US" sz="1250" dirty="0"/>
          </a:p>
        </p:txBody>
      </p:sp>
      <p:sp>
        <p:nvSpPr>
          <p:cNvPr id="7" name="text-739"/>
          <p:cNvSpPr txBox="1"/>
          <p:nvPr/>
        </p:nvSpPr>
        <p:spPr>
          <a:xfrm>
            <a:off x="8275320" y="1874520"/>
            <a:ext cx="3200400" cy="228600"/>
          </a:xfrm>
          <a:prstGeom prst="rect">
            <a:avLst/>
          </a:prstGeom>
          <a:noFill/>
          <a:ln/>
        </p:spPr>
        <p:txBody>
          <a:bodyPr wrap="square" lIns="0" tIns="0" rIns="0" bIns="0" rtlCol="0" anchor="t"/>
          <a:lstStyle/>
          <a:p>
            <a:pPr indent="0" marL="0">
              <a:buNone/>
            </a:pPr>
            <a:r>
              <a:rPr lang="en-US" sz="1050" b="1" dirty="0">
                <a:solidFill>
                  <a:schemeClr val="accent3"/>
                </a:solidFill>
                <a:latin typeface="Calibri" pitchFamily="34" charset="0"/>
                <a:ea typeface="Calibri" pitchFamily="34" charset="-122"/>
                <a:cs typeface="Calibri" pitchFamily="34" charset="-120"/>
              </a:rPr>
              <a:t>Standard L1 / L2 / L2A by speed</a:t>
            </a:r>
            <a:endParaRPr lang="en-US" sz="1050" dirty="0"/>
          </a:p>
        </p:txBody>
      </p:sp>
      <p:sp>
        <p:nvSpPr>
          <p:cNvPr id="8" name="shape-740"/>
          <p:cNvSpPr/>
          <p:nvPr/>
        </p:nvSpPr>
        <p:spPr>
          <a:xfrm>
            <a:off x="8275320" y="2167128"/>
            <a:ext cx="3200400" cy="731520"/>
          </a:xfrm>
          <a:prstGeom prst="rect">
            <a:avLst/>
          </a:prstGeom>
          <a:solidFill>
            <a:schemeClr val="accent5"/>
          </a:solidFill>
          <a:ln/>
        </p:spPr>
      </p:sp>
      <p:sp>
        <p:nvSpPr>
          <p:cNvPr id="9" name="shape-741"/>
          <p:cNvSpPr/>
          <p:nvPr/>
        </p:nvSpPr>
        <p:spPr>
          <a:xfrm>
            <a:off x="8275320" y="2212848"/>
            <a:ext cx="3200400" cy="0"/>
          </a:xfrm>
          <a:prstGeom prst="line">
            <a:avLst/>
          </a:prstGeom>
          <a:noFill/>
          <a:ln w="15875">
            <a:solidFill>
              <a:schemeClr val="accent2"/>
            </a:solidFill>
            <a:prstDash val="solid"/>
          </a:ln>
        </p:spPr>
      </p:sp>
      <p:sp>
        <p:nvSpPr>
          <p:cNvPr id="10" name="shape-742"/>
          <p:cNvSpPr/>
          <p:nvPr/>
        </p:nvSpPr>
        <p:spPr>
          <a:xfrm>
            <a:off x="8275320" y="2852928"/>
            <a:ext cx="3200400" cy="0"/>
          </a:xfrm>
          <a:prstGeom prst="line">
            <a:avLst/>
          </a:prstGeom>
          <a:noFill/>
          <a:ln w="15875">
            <a:solidFill>
              <a:schemeClr val="accent2"/>
            </a:solidFill>
            <a:prstDash val="solid"/>
          </a:ln>
        </p:spPr>
      </p:sp>
      <p:sp>
        <p:nvSpPr>
          <p:cNvPr id="11" name="shape-743"/>
          <p:cNvSpPr/>
          <p:nvPr/>
        </p:nvSpPr>
        <p:spPr>
          <a:xfrm>
            <a:off x="8275320" y="2532888"/>
            <a:ext cx="3200400" cy="0"/>
          </a:xfrm>
          <a:prstGeom prst="line">
            <a:avLst/>
          </a:prstGeom>
          <a:noFill/>
          <a:ln w="22225">
            <a:solidFill>
              <a:srgbClr val="FFFFFF"/>
            </a:solidFill>
            <a:prstDash val="lgDash"/>
          </a:ln>
        </p:spPr>
      </p:sp>
      <p:sp>
        <p:nvSpPr>
          <p:cNvPr id="12" name="text-744"/>
          <p:cNvSpPr txBox="1"/>
          <p:nvPr/>
        </p:nvSpPr>
        <p:spPr>
          <a:xfrm>
            <a:off x="8275320" y="3291840"/>
            <a:ext cx="3200400" cy="228600"/>
          </a:xfrm>
          <a:prstGeom prst="rect">
            <a:avLst/>
          </a:prstGeom>
          <a:noFill/>
          <a:ln/>
        </p:spPr>
        <p:txBody>
          <a:bodyPr wrap="square" lIns="0" tIns="0" rIns="0" bIns="0" rtlCol="0" anchor="t"/>
          <a:lstStyle/>
          <a:p>
            <a:pPr indent="0" marL="0">
              <a:buNone/>
            </a:pPr>
            <a:r>
              <a:rPr lang="en-US" sz="1050" b="1" dirty="0">
                <a:solidFill>
                  <a:schemeClr val="accent3"/>
                </a:solidFill>
                <a:latin typeface="Calibri" pitchFamily="34" charset="0"/>
                <a:ea typeface="Calibri" pitchFamily="34" charset="-122"/>
                <a:cs typeface="Calibri" pitchFamily="34" charset="-120"/>
              </a:rPr>
              <a:t>Double continuous white</a:t>
            </a:r>
            <a:endParaRPr lang="en-US" sz="1050" dirty="0"/>
          </a:p>
        </p:txBody>
      </p:sp>
      <p:sp>
        <p:nvSpPr>
          <p:cNvPr id="13" name="shape-745"/>
          <p:cNvSpPr/>
          <p:nvPr/>
        </p:nvSpPr>
        <p:spPr>
          <a:xfrm>
            <a:off x="8275320" y="3584448"/>
            <a:ext cx="3200400" cy="731520"/>
          </a:xfrm>
          <a:prstGeom prst="rect">
            <a:avLst/>
          </a:prstGeom>
          <a:solidFill>
            <a:schemeClr val="accent5"/>
          </a:solidFill>
          <a:ln/>
        </p:spPr>
      </p:sp>
      <p:sp>
        <p:nvSpPr>
          <p:cNvPr id="14" name="shape-746"/>
          <p:cNvSpPr/>
          <p:nvPr/>
        </p:nvSpPr>
        <p:spPr>
          <a:xfrm>
            <a:off x="8275320" y="3630168"/>
            <a:ext cx="3200400" cy="0"/>
          </a:xfrm>
          <a:prstGeom prst="line">
            <a:avLst/>
          </a:prstGeom>
          <a:noFill/>
          <a:ln w="15875">
            <a:solidFill>
              <a:schemeClr val="accent2"/>
            </a:solidFill>
            <a:prstDash val="solid"/>
          </a:ln>
        </p:spPr>
      </p:sp>
      <p:sp>
        <p:nvSpPr>
          <p:cNvPr id="15" name="shape-747"/>
          <p:cNvSpPr/>
          <p:nvPr/>
        </p:nvSpPr>
        <p:spPr>
          <a:xfrm>
            <a:off x="8275320" y="4270248"/>
            <a:ext cx="3200400" cy="0"/>
          </a:xfrm>
          <a:prstGeom prst="line">
            <a:avLst/>
          </a:prstGeom>
          <a:noFill/>
          <a:ln w="15875">
            <a:solidFill>
              <a:schemeClr val="accent2"/>
            </a:solidFill>
            <a:prstDash val="solid"/>
          </a:ln>
        </p:spPr>
      </p:sp>
      <p:sp>
        <p:nvSpPr>
          <p:cNvPr id="16" name="shape-748"/>
          <p:cNvSpPr/>
          <p:nvPr/>
        </p:nvSpPr>
        <p:spPr>
          <a:xfrm>
            <a:off x="8275320" y="3913632"/>
            <a:ext cx="3200400" cy="0"/>
          </a:xfrm>
          <a:prstGeom prst="line">
            <a:avLst/>
          </a:prstGeom>
          <a:noFill/>
          <a:ln w="19050">
            <a:solidFill>
              <a:srgbClr val="FFFFFF"/>
            </a:solidFill>
            <a:prstDash val="solid"/>
          </a:ln>
        </p:spPr>
      </p:sp>
      <p:sp>
        <p:nvSpPr>
          <p:cNvPr id="17" name="shape-749"/>
          <p:cNvSpPr/>
          <p:nvPr/>
        </p:nvSpPr>
        <p:spPr>
          <a:xfrm>
            <a:off x="8275320" y="3986784"/>
            <a:ext cx="3200400" cy="0"/>
          </a:xfrm>
          <a:prstGeom prst="line">
            <a:avLst/>
          </a:prstGeom>
          <a:noFill/>
          <a:ln w="19050">
            <a:solidFill>
              <a:srgbClr val="FFFFFF"/>
            </a:solidFill>
            <a:prstDash val="solid"/>
          </a:ln>
        </p:spPr>
      </p:sp>
      <p:sp>
        <p:nvSpPr>
          <p:cNvPr id="18" name="text-750"/>
          <p:cNvSpPr txBox="1"/>
          <p:nvPr/>
        </p:nvSpPr>
        <p:spPr>
          <a:xfrm>
            <a:off x="8275320" y="4709160"/>
            <a:ext cx="3200400" cy="228600"/>
          </a:xfrm>
          <a:prstGeom prst="rect">
            <a:avLst/>
          </a:prstGeom>
          <a:noFill/>
          <a:ln/>
        </p:spPr>
        <p:txBody>
          <a:bodyPr wrap="square" lIns="0" tIns="0" rIns="0" bIns="0" rtlCol="0" anchor="t"/>
          <a:lstStyle/>
          <a:p>
            <a:pPr indent="0" marL="0">
              <a:buNone/>
            </a:pPr>
            <a:r>
              <a:rPr lang="en-US" sz="1050" b="1" dirty="0">
                <a:solidFill>
                  <a:schemeClr val="accent3"/>
                </a:solidFill>
                <a:latin typeface="Calibri" pitchFamily="34" charset="0"/>
                <a:ea typeface="Calibri" pitchFamily="34" charset="-122"/>
                <a:cs typeface="Calibri" pitchFamily="34" charset="-120"/>
              </a:rPr>
              <a:t>Single continuous L2A</a:t>
            </a:r>
            <a:endParaRPr lang="en-US" sz="1050" dirty="0"/>
          </a:p>
        </p:txBody>
      </p:sp>
      <p:sp>
        <p:nvSpPr>
          <p:cNvPr id="19" name="shape-751"/>
          <p:cNvSpPr/>
          <p:nvPr/>
        </p:nvSpPr>
        <p:spPr>
          <a:xfrm>
            <a:off x="8275320" y="5001768"/>
            <a:ext cx="3200400" cy="731520"/>
          </a:xfrm>
          <a:prstGeom prst="rect">
            <a:avLst/>
          </a:prstGeom>
          <a:solidFill>
            <a:schemeClr val="accent5"/>
          </a:solidFill>
          <a:ln/>
        </p:spPr>
      </p:sp>
      <p:sp>
        <p:nvSpPr>
          <p:cNvPr id="20" name="shape-752"/>
          <p:cNvSpPr/>
          <p:nvPr/>
        </p:nvSpPr>
        <p:spPr>
          <a:xfrm>
            <a:off x="8275320" y="5047488"/>
            <a:ext cx="3200400" cy="0"/>
          </a:xfrm>
          <a:prstGeom prst="line">
            <a:avLst/>
          </a:prstGeom>
          <a:noFill/>
          <a:ln w="15875">
            <a:solidFill>
              <a:schemeClr val="accent2"/>
            </a:solidFill>
            <a:prstDash val="solid"/>
          </a:ln>
        </p:spPr>
      </p:sp>
      <p:sp>
        <p:nvSpPr>
          <p:cNvPr id="21" name="shape-753"/>
          <p:cNvSpPr/>
          <p:nvPr/>
        </p:nvSpPr>
        <p:spPr>
          <a:xfrm>
            <a:off x="8275320" y="5687568"/>
            <a:ext cx="3200400" cy="0"/>
          </a:xfrm>
          <a:prstGeom prst="line">
            <a:avLst/>
          </a:prstGeom>
          <a:noFill/>
          <a:ln w="15875">
            <a:solidFill>
              <a:schemeClr val="accent2"/>
            </a:solidFill>
            <a:prstDash val="solid"/>
          </a:ln>
        </p:spPr>
      </p:sp>
      <p:sp>
        <p:nvSpPr>
          <p:cNvPr id="22" name="shape-754"/>
          <p:cNvSpPr/>
          <p:nvPr/>
        </p:nvSpPr>
        <p:spPr>
          <a:xfrm>
            <a:off x="8275320" y="5367528"/>
            <a:ext cx="3200400" cy="0"/>
          </a:xfrm>
          <a:prstGeom prst="line">
            <a:avLst/>
          </a:prstGeom>
          <a:noFill/>
          <a:ln w="22225">
            <a:solidFill>
              <a:srgbClr val="FFFFFF"/>
            </a:solidFill>
            <a:prstDash val="solid"/>
          </a:ln>
        </p:spPr>
      </p:sp>
      <p:sp>
        <p:nvSpPr>
          <p:cNvPr id="23" name="text-755"/>
          <p:cNvSpPr txBox="1"/>
          <p:nvPr/>
        </p:nvSpPr>
        <p:spPr>
          <a:xfrm>
            <a:off x="8275320" y="5760720"/>
            <a:ext cx="3200400" cy="365760"/>
          </a:xfrm>
          <a:prstGeom prst="rect">
            <a:avLst/>
          </a:prstGeom>
          <a:noFill/>
          <a:ln/>
        </p:spPr>
        <p:txBody>
          <a:bodyPr wrap="square" lIns="0" tIns="0" rIns="0" bIns="0" rtlCol="0" anchor="t"/>
          <a:lstStyle/>
          <a:p>
            <a:pPr indent="0" marL="0">
              <a:buNone/>
            </a:pPr>
            <a:r>
              <a:rPr lang="en-US" sz="1000" i="1" dirty="0">
                <a:solidFill>
                  <a:srgbClr val="5B6169"/>
                </a:solidFill>
                <a:latin typeface="Calibri" pitchFamily="34" charset="0"/>
                <a:ea typeface="Calibri" pitchFamily="34" charset="-122"/>
                <a:cs typeface="Calibri" pitchFamily="34" charset="-120"/>
              </a:rPr>
              <a:t>Yellow L4 edge lines are drawn in all three cases.</a:t>
            </a:r>
            <a:endParaRPr lang="en-US" sz="100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PANELS 5 AND 6  ·  RDP DIALOG</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Chainage, road ends and report settings</a:t>
            </a:r>
            <a:endParaRPr lang="en-US" sz="2600" dirty="0"/>
          </a:p>
        </p:txBody>
      </p:sp>
      <p:sp>
        <p:nvSpPr>
          <p:cNvPr id="4" name="text-756"/>
          <p:cNvSpPr txBox="1"/>
          <p:nvPr/>
        </p:nvSpPr>
        <p:spPr>
          <a:xfrm>
            <a:off x="502920" y="1298448"/>
            <a:ext cx="3657600" cy="2743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Chainage</a:t>
            </a:r>
            <a:endParaRPr lang="en-US" sz="1300" dirty="0"/>
          </a:p>
        </p:txBody>
      </p:sp>
      <p:graphicFrame>
        <p:nvGraphicFramePr>
          <p:cNvPr id="18" name="table-757"/>
          <p:cNvGraphicFramePr>
            <a:graphicFrameLocks noGrp="1"/>
          </p:cNvGraphicFramePr>
          <p:nvPr>
            <p:extLst>
              <p:ext uri="{D42A27DB-BD31-4B8C-83A1-F6EECF244321}">
                <p14:modId xmlns:p14="http://schemas.microsoft.com/office/powerpoint/2010/main" val="1579011935"/>
              </p:ext>
            </p:extLst>
          </p:nvPr>
        </p:nvGraphicFramePr>
        <p:xfrm>
          <a:off x="502920" y="1627632"/>
          <a:ext cx="5486400" cy="914400"/>
        </p:xfrm>
        <a:graphic>
          <a:graphicData uri="http://schemas.openxmlformats.org/drawingml/2006/table">
            <a:tbl>
              <a:tblPr/>
              <a:tblGrid>
                <a:gridCol w="2194560"/>
                <a:gridCol w="914400"/>
                <a:gridCol w="2377440"/>
              </a:tblGrid>
              <a:tr h="41148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Setting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Default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41148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Add chainage ticks and labels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Tick and label at every interval.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Interval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Distance between chainage marks.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1148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Start chainage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Chainage of the first CL point. Type 1000 or 1+000.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Text height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Labels, curve data and report tables.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bl>
          </a:graphicData>
        </a:graphic>
      </p:graphicFrame>
      <p:sp>
        <p:nvSpPr>
          <p:cNvPr id="6" name="text-758"/>
          <p:cNvSpPr txBox="1"/>
          <p:nvPr/>
        </p:nvSpPr>
        <p:spPr>
          <a:xfrm>
            <a:off x="6172200" y="1298448"/>
            <a:ext cx="3657600" cy="2743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Road Ends and Report</a:t>
            </a:r>
            <a:endParaRPr lang="en-US" sz="1300" dirty="0"/>
          </a:p>
        </p:txBody>
      </p:sp>
      <p:graphicFrame>
        <p:nvGraphicFramePr>
          <p:cNvPr id="35" name="table-759"/>
          <p:cNvGraphicFramePr>
            <a:graphicFrameLocks noGrp="1"/>
          </p:cNvGraphicFramePr>
          <p:nvPr>
            <p:extLst>
              <p:ext uri="{D42A27DB-BD31-4B8C-83A1-F6EECF244321}">
                <p14:modId xmlns:p14="http://schemas.microsoft.com/office/powerpoint/2010/main" val="1579011935"/>
              </p:ext>
            </p:extLst>
          </p:nvPr>
        </p:nvGraphicFramePr>
        <p:xfrm>
          <a:off x="6172200" y="1627632"/>
          <a:ext cx="5486400" cy="914400"/>
        </p:xfrm>
        <a:graphic>
          <a:graphicData uri="http://schemas.openxmlformats.org/drawingml/2006/table">
            <a:tbl>
              <a:tblPr/>
              <a:tblGrid>
                <a:gridCol w="2011680"/>
                <a:gridCol w="1463040"/>
                <a:gridCol w="201168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Setting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Default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Start end  /  Finish end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Tie-in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Tie-in line, Road closed or None at each end.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Report tables + Excel (CSV) file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Runs the report (RDR) right after the road is built.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Typical cross section drawing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Asks for a point to place a typical section (RDX).</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8" name="shape-760"/>
          <p:cNvSpPr/>
          <p:nvPr/>
        </p:nvSpPr>
        <p:spPr>
          <a:xfrm>
            <a:off x="502920" y="4069080"/>
            <a:ext cx="3611880" cy="2148840"/>
          </a:xfrm>
          <a:prstGeom prst="roundRect">
            <a:avLst>
              <a:gd name="adj" fmla="val 3404"/>
            </a:avLst>
          </a:prstGeom>
          <a:solidFill>
            <a:srgbClr val="F4F5F7"/>
          </a:solidFill>
          <a:ln w="9525">
            <a:solidFill>
              <a:srgbClr val="E3E5E8"/>
            </a:solidFill>
            <a:prstDash val="solid"/>
          </a:ln>
        </p:spPr>
      </p:sp>
      <p:sp>
        <p:nvSpPr>
          <p:cNvPr id="9" name="shape-761"/>
          <p:cNvSpPr/>
          <p:nvPr/>
        </p:nvSpPr>
        <p:spPr>
          <a:xfrm>
            <a:off x="685800" y="4251960"/>
            <a:ext cx="1828800" cy="731520"/>
          </a:xfrm>
          <a:prstGeom prst="rect">
            <a:avLst/>
          </a:prstGeom>
          <a:solidFill>
            <a:schemeClr val="accent5"/>
          </a:solidFill>
          <a:ln/>
        </p:spPr>
      </p:sp>
      <p:sp>
        <p:nvSpPr>
          <p:cNvPr id="10" name="shape-762"/>
          <p:cNvSpPr/>
          <p:nvPr/>
        </p:nvSpPr>
        <p:spPr>
          <a:xfrm>
            <a:off x="685800" y="4297680"/>
            <a:ext cx="1828800" cy="0"/>
          </a:xfrm>
          <a:prstGeom prst="line">
            <a:avLst/>
          </a:prstGeom>
          <a:noFill/>
          <a:ln w="15875">
            <a:solidFill>
              <a:schemeClr val="accent2"/>
            </a:solidFill>
            <a:prstDash val="solid"/>
          </a:ln>
        </p:spPr>
      </p:sp>
      <p:sp>
        <p:nvSpPr>
          <p:cNvPr id="11" name="shape-763"/>
          <p:cNvSpPr/>
          <p:nvPr/>
        </p:nvSpPr>
        <p:spPr>
          <a:xfrm>
            <a:off x="685800" y="4937760"/>
            <a:ext cx="1828800" cy="0"/>
          </a:xfrm>
          <a:prstGeom prst="line">
            <a:avLst/>
          </a:prstGeom>
          <a:noFill/>
          <a:ln w="15875">
            <a:solidFill>
              <a:schemeClr val="accent2"/>
            </a:solidFill>
            <a:prstDash val="solid"/>
          </a:ln>
        </p:spPr>
      </p:sp>
      <p:sp>
        <p:nvSpPr>
          <p:cNvPr id="12" name="shape-764"/>
          <p:cNvSpPr/>
          <p:nvPr/>
        </p:nvSpPr>
        <p:spPr>
          <a:xfrm>
            <a:off x="2514600" y="4160520"/>
            <a:ext cx="0" cy="914400"/>
          </a:xfrm>
          <a:prstGeom prst="line">
            <a:avLst/>
          </a:prstGeom>
          <a:noFill/>
          <a:ln w="25400">
            <a:solidFill>
              <a:schemeClr val="accent1"/>
            </a:solidFill>
            <a:prstDash val="dash"/>
          </a:ln>
        </p:spPr>
      </p:sp>
      <p:sp>
        <p:nvSpPr>
          <p:cNvPr id="13" name="shape-765"/>
          <p:cNvSpPr/>
          <p:nvPr/>
        </p:nvSpPr>
        <p:spPr>
          <a:xfrm>
            <a:off x="2788920" y="4206240"/>
            <a:ext cx="411480" cy="411480"/>
          </a:xfrm>
          <a:prstGeom prst="octagon">
            <a:avLst/>
          </a:prstGeom>
          <a:solidFill>
            <a:schemeClr val="accent1"/>
          </a:solidFill>
          <a:ln w="19050">
            <a:solidFill>
              <a:srgbClr val="FFFFFF"/>
            </a:solidFill>
            <a:prstDash val="solid"/>
          </a:ln>
        </p:spPr>
      </p:sp>
      <p:sp>
        <p:nvSpPr>
          <p:cNvPr id="14" name="text-766"/>
          <p:cNvSpPr txBox="1"/>
          <p:nvPr/>
        </p:nvSpPr>
        <p:spPr>
          <a:xfrm>
            <a:off x="2788920" y="4206240"/>
            <a:ext cx="411480" cy="4114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STOP</a:t>
            </a:r>
            <a:endParaRPr lang="en-US" sz="700" dirty="0"/>
          </a:p>
        </p:txBody>
      </p:sp>
      <p:sp>
        <p:nvSpPr>
          <p:cNvPr id="15" name="text-767"/>
          <p:cNvSpPr txBox="1"/>
          <p:nvPr/>
        </p:nvSpPr>
        <p:spPr>
          <a:xfrm>
            <a:off x="685800" y="5120640"/>
            <a:ext cx="3291840" cy="27432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Tie-in line (existing road)</a:t>
            </a:r>
            <a:endParaRPr lang="en-US" sz="1200" dirty="0"/>
          </a:p>
        </p:txBody>
      </p:sp>
      <p:sp>
        <p:nvSpPr>
          <p:cNvPr id="16" name="text-768"/>
          <p:cNvSpPr txBox="1"/>
          <p:nvPr/>
        </p:nvSpPr>
        <p:spPr>
          <a:xfrm>
            <a:off x="685800" y="5422392"/>
            <a:ext cx="3291840" cy="73152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Red dashed line across the road with E / N, plus the control sign (STOP / GIVE WAY) set in panel 3.</a:t>
            </a:r>
            <a:endParaRPr lang="en-US" sz="1050" dirty="0"/>
          </a:p>
        </p:txBody>
      </p:sp>
      <p:sp>
        <p:nvSpPr>
          <p:cNvPr id="17" name="shape-769"/>
          <p:cNvSpPr/>
          <p:nvPr/>
        </p:nvSpPr>
        <p:spPr>
          <a:xfrm>
            <a:off x="4251960" y="4069080"/>
            <a:ext cx="3611880" cy="2148840"/>
          </a:xfrm>
          <a:prstGeom prst="roundRect">
            <a:avLst>
              <a:gd name="adj" fmla="val 3404"/>
            </a:avLst>
          </a:prstGeom>
          <a:solidFill>
            <a:srgbClr val="F4F5F7"/>
          </a:solidFill>
          <a:ln w="9525">
            <a:solidFill>
              <a:srgbClr val="E3E5E8"/>
            </a:solidFill>
            <a:prstDash val="solid"/>
          </a:ln>
        </p:spPr>
      </p:sp>
      <p:sp>
        <p:nvSpPr>
          <p:cNvPr id="18" name="shape-770"/>
          <p:cNvSpPr/>
          <p:nvPr/>
        </p:nvSpPr>
        <p:spPr>
          <a:xfrm>
            <a:off x="4434840" y="4251960"/>
            <a:ext cx="1828800" cy="731520"/>
          </a:xfrm>
          <a:prstGeom prst="rect">
            <a:avLst/>
          </a:prstGeom>
          <a:solidFill>
            <a:schemeClr val="accent5"/>
          </a:solidFill>
          <a:ln/>
        </p:spPr>
      </p:sp>
      <p:sp>
        <p:nvSpPr>
          <p:cNvPr id="19" name="shape-771"/>
          <p:cNvSpPr/>
          <p:nvPr/>
        </p:nvSpPr>
        <p:spPr>
          <a:xfrm>
            <a:off x="4434840" y="4297680"/>
            <a:ext cx="1828800" cy="0"/>
          </a:xfrm>
          <a:prstGeom prst="line">
            <a:avLst/>
          </a:prstGeom>
          <a:noFill/>
          <a:ln w="15875">
            <a:solidFill>
              <a:schemeClr val="accent2"/>
            </a:solidFill>
            <a:prstDash val="solid"/>
          </a:ln>
        </p:spPr>
      </p:sp>
      <p:sp>
        <p:nvSpPr>
          <p:cNvPr id="20" name="shape-772"/>
          <p:cNvSpPr/>
          <p:nvPr/>
        </p:nvSpPr>
        <p:spPr>
          <a:xfrm>
            <a:off x="4434840" y="4937760"/>
            <a:ext cx="1828800" cy="0"/>
          </a:xfrm>
          <a:prstGeom prst="line">
            <a:avLst/>
          </a:prstGeom>
          <a:noFill/>
          <a:ln w="15875">
            <a:solidFill>
              <a:schemeClr val="accent2"/>
            </a:solidFill>
            <a:prstDash val="solid"/>
          </a:ln>
        </p:spPr>
      </p:sp>
      <p:sp>
        <p:nvSpPr>
          <p:cNvPr id="21" name="shape-773"/>
          <p:cNvSpPr/>
          <p:nvPr/>
        </p:nvSpPr>
        <p:spPr>
          <a:xfrm>
            <a:off x="6281928" y="4206240"/>
            <a:ext cx="128016" cy="205740"/>
          </a:xfrm>
          <a:prstGeom prst="rect">
            <a:avLst/>
          </a:prstGeom>
          <a:solidFill>
            <a:schemeClr val="accent1"/>
          </a:solidFill>
          <a:ln w="7620">
            <a:solidFill>
              <a:srgbClr val="1F2326"/>
            </a:solidFill>
            <a:prstDash val="solid"/>
          </a:ln>
        </p:spPr>
      </p:sp>
      <p:sp>
        <p:nvSpPr>
          <p:cNvPr id="22" name="shape-774"/>
          <p:cNvSpPr/>
          <p:nvPr/>
        </p:nvSpPr>
        <p:spPr>
          <a:xfrm>
            <a:off x="6281928" y="4411980"/>
            <a:ext cx="128016" cy="205740"/>
          </a:xfrm>
          <a:prstGeom prst="rect">
            <a:avLst/>
          </a:prstGeom>
          <a:solidFill>
            <a:srgbClr val="FFFFFF"/>
          </a:solidFill>
          <a:ln w="7620">
            <a:solidFill>
              <a:srgbClr val="1F2326"/>
            </a:solidFill>
            <a:prstDash val="solid"/>
          </a:ln>
        </p:spPr>
      </p:sp>
      <p:sp>
        <p:nvSpPr>
          <p:cNvPr id="23" name="shape-775"/>
          <p:cNvSpPr/>
          <p:nvPr/>
        </p:nvSpPr>
        <p:spPr>
          <a:xfrm>
            <a:off x="6281928" y="4617720"/>
            <a:ext cx="128016" cy="205740"/>
          </a:xfrm>
          <a:prstGeom prst="rect">
            <a:avLst/>
          </a:prstGeom>
          <a:solidFill>
            <a:schemeClr val="accent1"/>
          </a:solidFill>
          <a:ln w="7620">
            <a:solidFill>
              <a:srgbClr val="1F2326"/>
            </a:solidFill>
            <a:prstDash val="solid"/>
          </a:ln>
        </p:spPr>
      </p:sp>
      <p:sp>
        <p:nvSpPr>
          <p:cNvPr id="24" name="shape-776"/>
          <p:cNvSpPr/>
          <p:nvPr/>
        </p:nvSpPr>
        <p:spPr>
          <a:xfrm>
            <a:off x="6281928" y="4823460"/>
            <a:ext cx="128016" cy="205740"/>
          </a:xfrm>
          <a:prstGeom prst="rect">
            <a:avLst/>
          </a:prstGeom>
          <a:solidFill>
            <a:srgbClr val="FFFFFF"/>
          </a:solidFill>
          <a:ln w="7620">
            <a:solidFill>
              <a:srgbClr val="1F2326"/>
            </a:solidFill>
            <a:prstDash val="solid"/>
          </a:ln>
        </p:spPr>
      </p:sp>
      <p:sp>
        <p:nvSpPr>
          <p:cNvPr id="25" name="shape-777"/>
          <p:cNvSpPr/>
          <p:nvPr/>
        </p:nvSpPr>
        <p:spPr>
          <a:xfrm>
            <a:off x="6583680" y="4389120"/>
            <a:ext cx="1097280" cy="384048"/>
          </a:xfrm>
          <a:prstGeom prst="rect">
            <a:avLst/>
          </a:prstGeom>
          <a:solidFill>
            <a:srgbClr val="FFFFFF"/>
          </a:solidFill>
          <a:ln w="9525">
            <a:solidFill>
              <a:srgbClr val="1F2326"/>
            </a:solidFill>
            <a:prstDash val="solid"/>
          </a:ln>
        </p:spPr>
      </p:sp>
      <p:sp>
        <p:nvSpPr>
          <p:cNvPr id="26" name="text-778"/>
          <p:cNvSpPr txBox="1"/>
          <p:nvPr/>
        </p:nvSpPr>
        <p:spPr>
          <a:xfrm>
            <a:off x="6583680" y="4389120"/>
            <a:ext cx="1097280" cy="384048"/>
          </a:xfrm>
          <a:prstGeom prst="rect">
            <a:avLst/>
          </a:prstGeom>
          <a:noFill/>
          <a:ln/>
        </p:spPr>
        <p:txBody>
          <a:bodyPr wrap="square" lIns="0" tIns="0" rIns="0" bIns="0" rtlCol="0" anchor="ctr"/>
          <a:lstStyle/>
          <a:p>
            <a:pPr algn="ctr" indent="0" marL="0">
              <a:buNone/>
            </a:pPr>
            <a:r>
              <a:rPr lang="en-US" sz="900" b="1" dirty="0">
                <a:solidFill>
                  <a:schemeClr val="accent1"/>
                </a:solidFill>
                <a:latin typeface="Calibri" pitchFamily="34" charset="0"/>
                <a:ea typeface="Calibri" pitchFamily="34" charset="-122"/>
                <a:cs typeface="Calibri" pitchFamily="34" charset="-120"/>
              </a:rPr>
              <a:t>ROAD CLOSED</a:t>
            </a:r>
            <a:endParaRPr lang="en-US" sz="900" dirty="0"/>
          </a:p>
        </p:txBody>
      </p:sp>
      <p:sp>
        <p:nvSpPr>
          <p:cNvPr id="27" name="text-779"/>
          <p:cNvSpPr txBox="1"/>
          <p:nvPr/>
        </p:nvSpPr>
        <p:spPr>
          <a:xfrm>
            <a:off x="4434840" y="5120640"/>
            <a:ext cx="3291840" cy="27432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Road closed (barricade + sign)</a:t>
            </a:r>
            <a:endParaRPr lang="en-US" sz="1200" dirty="0"/>
          </a:p>
        </p:txBody>
      </p:sp>
      <p:sp>
        <p:nvSpPr>
          <p:cNvPr id="28" name="text-780"/>
          <p:cNvSpPr txBox="1"/>
          <p:nvPr/>
        </p:nvSpPr>
        <p:spPr>
          <a:xfrm>
            <a:off x="4434840" y="5422392"/>
            <a:ext cx="3291840" cy="73152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Barricade across the full width and a ROAD CLOSED board. Use for dead ends and work limits.</a:t>
            </a:r>
            <a:endParaRPr lang="en-US" sz="1050" dirty="0"/>
          </a:p>
        </p:txBody>
      </p:sp>
      <p:sp>
        <p:nvSpPr>
          <p:cNvPr id="29" name="shape-781"/>
          <p:cNvSpPr/>
          <p:nvPr/>
        </p:nvSpPr>
        <p:spPr>
          <a:xfrm>
            <a:off x="8001000" y="4069080"/>
            <a:ext cx="3611880" cy="2148840"/>
          </a:xfrm>
          <a:prstGeom prst="roundRect">
            <a:avLst>
              <a:gd name="adj" fmla="val 3404"/>
            </a:avLst>
          </a:prstGeom>
          <a:solidFill>
            <a:srgbClr val="F4F5F7"/>
          </a:solidFill>
          <a:ln w="9525">
            <a:solidFill>
              <a:srgbClr val="E3E5E8"/>
            </a:solidFill>
            <a:prstDash val="solid"/>
          </a:ln>
        </p:spPr>
      </p:sp>
      <p:sp>
        <p:nvSpPr>
          <p:cNvPr id="30" name="shape-782"/>
          <p:cNvSpPr/>
          <p:nvPr/>
        </p:nvSpPr>
        <p:spPr>
          <a:xfrm>
            <a:off x="8183880" y="4251960"/>
            <a:ext cx="1828800" cy="731520"/>
          </a:xfrm>
          <a:prstGeom prst="rect">
            <a:avLst/>
          </a:prstGeom>
          <a:solidFill>
            <a:schemeClr val="accent5"/>
          </a:solidFill>
          <a:ln/>
        </p:spPr>
      </p:sp>
      <p:sp>
        <p:nvSpPr>
          <p:cNvPr id="31" name="shape-783"/>
          <p:cNvSpPr/>
          <p:nvPr/>
        </p:nvSpPr>
        <p:spPr>
          <a:xfrm>
            <a:off x="8183880" y="4297680"/>
            <a:ext cx="1828800" cy="0"/>
          </a:xfrm>
          <a:prstGeom prst="line">
            <a:avLst/>
          </a:prstGeom>
          <a:noFill/>
          <a:ln w="15875">
            <a:solidFill>
              <a:schemeClr val="accent2"/>
            </a:solidFill>
            <a:prstDash val="solid"/>
          </a:ln>
        </p:spPr>
      </p:sp>
      <p:sp>
        <p:nvSpPr>
          <p:cNvPr id="32" name="shape-784"/>
          <p:cNvSpPr/>
          <p:nvPr/>
        </p:nvSpPr>
        <p:spPr>
          <a:xfrm>
            <a:off x="8183880" y="4937760"/>
            <a:ext cx="1828800" cy="0"/>
          </a:xfrm>
          <a:prstGeom prst="line">
            <a:avLst/>
          </a:prstGeom>
          <a:noFill/>
          <a:ln w="15875">
            <a:solidFill>
              <a:schemeClr val="accent2"/>
            </a:solidFill>
            <a:prstDash val="solid"/>
          </a:ln>
        </p:spPr>
      </p:sp>
      <p:sp>
        <p:nvSpPr>
          <p:cNvPr id="33" name="text-785"/>
          <p:cNvSpPr txBox="1"/>
          <p:nvPr/>
        </p:nvSpPr>
        <p:spPr>
          <a:xfrm>
            <a:off x="8183880" y="5120640"/>
            <a:ext cx="3291840" cy="27432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None</a:t>
            </a:r>
            <a:endParaRPr lang="en-US" sz="1200" dirty="0"/>
          </a:p>
        </p:txBody>
      </p:sp>
      <p:sp>
        <p:nvSpPr>
          <p:cNvPr id="34" name="text-786"/>
          <p:cNvSpPr txBox="1"/>
          <p:nvPr/>
        </p:nvSpPr>
        <p:spPr>
          <a:xfrm>
            <a:off x="8183880" y="5422392"/>
            <a:ext cx="3291840" cy="73152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The road simply ends. Use when another road or drawing continues it.</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B  ·  BUILD THE ROAD</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Everything on its own layer</a:t>
            </a:r>
            <a:endParaRPr lang="en-US" sz="2600" dirty="0"/>
          </a:p>
        </p:txBody>
      </p:sp>
      <p:graphicFrame>
        <p:nvGraphicFramePr>
          <p:cNvPr id="19" name="table-787"/>
          <p:cNvGraphicFramePr>
            <a:graphicFrameLocks noGrp="1"/>
          </p:cNvGraphicFramePr>
          <p:nvPr>
            <p:extLst>
              <p:ext uri="{D42A27DB-BD31-4B8C-83A1-F6EECF244321}">
                <p14:modId xmlns:p14="http://schemas.microsoft.com/office/powerpoint/2010/main" val="1579011935"/>
              </p:ext>
            </p:extLst>
          </p:nvPr>
        </p:nvGraphicFramePr>
        <p:xfrm>
          <a:off x="502920" y="1298448"/>
          <a:ext cx="5486400" cy="914400"/>
        </p:xfrm>
        <a:graphic>
          <a:graphicData uri="http://schemas.openxmlformats.org/drawingml/2006/table">
            <a:tbl>
              <a:tblPr/>
              <a:tblGrid>
                <a:gridCol w="2514600"/>
                <a:gridCol w="2971800"/>
              </a:tblGrid>
              <a:tr h="294437">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Layer</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Contents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ROAD-CL</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Centre line, red CL linetype (holds the road data)</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ROAD-EDGE</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Left and right carriageway edges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ROAD-SURFACE</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Surface hatch</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ROAD-SHOULDER</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Paved shoulder hatch</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ROAD-BARRIER-RED / -WHITE</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Barricade unit fills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ROAD-BARRIER-OUTLINE</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Black outline of units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ROAD-CONE / ROAD-CONE-BAND</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Traffic cones and white band</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ROAD-KERB</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Kerb stone units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ROAD-CHAINAGE</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Chainage ticks and labels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ROAD-CURVE</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Radius, TC / CT, curve data</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ROAD-SECTION</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Straights S1, S2 ...</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ROAD-MEDIAN  (-KERB)</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Median fill / hatch and kerbs  (3.4)</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ROAD-SIDEWALK</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Sidewalks, paver hatch  (3.4)</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ROAD-WALKWAY</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Walkways, paver hatch  (3.4)</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bl>
          </a:graphicData>
        </a:graphic>
      </p:graphicFrame>
      <p:graphicFrame>
        <p:nvGraphicFramePr>
          <p:cNvPr id="37" name="table-788"/>
          <p:cNvGraphicFramePr>
            <a:graphicFrameLocks noGrp="1"/>
          </p:cNvGraphicFramePr>
          <p:nvPr>
            <p:extLst>
              <p:ext uri="{D42A27DB-BD31-4B8C-83A1-F6EECF244321}">
                <p14:modId xmlns:p14="http://schemas.microsoft.com/office/powerpoint/2010/main" val="1579011935"/>
              </p:ext>
            </p:extLst>
          </p:nvPr>
        </p:nvGraphicFramePr>
        <p:xfrm>
          <a:off x="6172200" y="1298448"/>
          <a:ext cx="5486400" cy="914400"/>
        </p:xfrm>
        <a:graphic>
          <a:graphicData uri="http://schemas.openxmlformats.org/drawingml/2006/table">
            <a:tbl>
              <a:tblPr/>
              <a:tblGrid>
                <a:gridCol w="2743200"/>
                <a:gridCol w="2743200"/>
              </a:tblGrid>
              <a:tr h="294437">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Layer</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Contents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ROAD-SIGN (-RED -WHITE -YELLOW -BLUE)</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Posts, plates and symbols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ROAD-MARKING (-FILL)</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White lines, arrows, text</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ROAD-MARKING-YELLOW</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Yellow L4 edge lines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ROAD-DELINEATOR</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Delineator posts on curves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ROAD-TIEIN</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Tie-in line and E / N</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ROAD-WIDENING</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Widening and taper labels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ROAD-JUNCTION</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Junction labels, corner R, RDL labels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ROAD-ISLAND</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Splitter islands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ROAD-REPORT</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Report tables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ROAD-XSEC ...</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Cross section parts and text</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ROAD-01, ROAD-02 ...</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Road name groups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ROAD-DRAIN</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Drainage provision  (3.4)</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ROAD-UTILITY</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Utility corridor provision  (3.4)</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94437">
                <a:tc>
                  <a:txBody>
                    <a:bodyPr/>
                    <a:lstStyle/>
                    <a:p>
                      <a:pPr indent="0" marL="0">
                        <a:buNone/>
                      </a:pPr>
                      <a:r>
                        <a:rPr lang="en-US" sz="1000" b="1" dirty="0">
                          <a:solidFill>
                            <a:schemeClr val="tx1"/>
                          </a:solidFill>
                          <a:latin typeface="Courier New" pitchFamily="34" charset="0"/>
                          <a:ea typeface="Courier New" pitchFamily="34" charset="-122"/>
                          <a:cs typeface="Courier New" pitchFamily="34" charset="-120"/>
                        </a:rPr>
                        <a:t>ROAD-LANDXML</a:t>
                      </a:r>
                      <a:endParaRPr lang="en-US" sz="1000" dirty="0">
                        <a:latin typeface="Courier New" charset="0"/>
                        <a:ea typeface="Courier New" charset="0"/>
                        <a:cs typeface="Courier New"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Imported LandXML alignments  (3.4)</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bl>
          </a:graphicData>
        </a:graphic>
      </p:graphicFrame>
      <p:sp>
        <p:nvSpPr>
          <p:cNvPr id="6" name="shape-789"/>
          <p:cNvSpPr/>
          <p:nvPr/>
        </p:nvSpPr>
        <p:spPr>
          <a:xfrm>
            <a:off x="502920" y="5760720"/>
            <a:ext cx="11155680" cy="457200"/>
          </a:xfrm>
          <a:prstGeom prst="roundRect">
            <a:avLst>
              <a:gd name="adj" fmla="val 16000"/>
            </a:avLst>
          </a:prstGeom>
          <a:solidFill>
            <a:srgbClr val="FFF6D6"/>
          </a:solidFill>
          <a:ln w="9525">
            <a:solidFill>
              <a:srgbClr val="F2D27A"/>
            </a:solidFill>
            <a:prstDash val="solid"/>
          </a:ln>
        </p:spPr>
      </p:sp>
      <p:sp>
        <p:nvSpPr>
          <p:cNvPr id="7" name="text-790"/>
          <p:cNvSpPr txBox="1"/>
          <p:nvPr/>
        </p:nvSpPr>
        <p:spPr>
          <a:xfrm>
            <a:off x="649224" y="5833872"/>
            <a:ext cx="10863072" cy="310896"/>
          </a:xfrm>
          <a:prstGeom prst="rect">
            <a:avLst/>
          </a:prstGeom>
          <a:noFill/>
          <a:ln/>
        </p:spPr>
        <p:txBody>
          <a:bodyPr wrap="square" lIns="0" tIns="0" rIns="0" bIns="0" rtlCol="0" anchor="ctr"/>
          <a:lstStyle/>
          <a:p>
            <a:pPr indent="0" marL="0">
              <a:buNone/>
            </a:pPr>
            <a:r>
              <a:rPr lang="en-US" sz="1050" b="1" dirty="0">
                <a:solidFill>
                  <a:srgbClr val="A65F00"/>
                </a:solidFill>
                <a:latin typeface="Calibri" pitchFamily="34" charset="0"/>
                <a:ea typeface="Calibri" pitchFamily="34" charset="-122"/>
                <a:cs typeface="Calibri" pitchFamily="34" charset="-120"/>
              </a:rPr>
              <a:t>Tip  </a:t>
            </a:r>
            <a:pPr indent="0" marL="0">
              <a:buNone/>
            </a:pPr>
            <a:r>
              <a:rPr lang="en-US" sz="1050" dirty="0">
                <a:solidFill>
                  <a:srgbClr val="3A3F45"/>
                </a:solidFill>
                <a:latin typeface="Calibri" pitchFamily="34" charset="0"/>
                <a:ea typeface="Calibri" pitchFamily="34" charset="-122"/>
                <a:cs typeface="Calibri" pitchFamily="34" charset="-120"/>
              </a:rPr>
              <a:t>Freeze or turn off layers for clean plots (e.g. ROAD-CHAINAGE). Black outlines look white on a dark screen but plot black.</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C  ·  RDRAD  ·  RDSEC</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Radius and straight sections on the plan</a:t>
            </a:r>
            <a:endParaRPr lang="en-US" sz="2600" dirty="0"/>
          </a:p>
        </p:txBody>
      </p:sp>
      <p:sp>
        <p:nvSpPr>
          <p:cNvPr id="4" name="shape-791"/>
          <p:cNvSpPr/>
          <p:nvPr/>
        </p:nvSpPr>
        <p:spPr>
          <a:xfrm>
            <a:off x="502920" y="1325880"/>
            <a:ext cx="5486400" cy="3337560"/>
          </a:xfrm>
          <a:prstGeom prst="roundRect">
            <a:avLst>
              <a:gd name="adj" fmla="val 2192"/>
            </a:avLst>
          </a:prstGeom>
          <a:solidFill>
            <a:srgbClr val="F4F5F7"/>
          </a:solidFill>
          <a:ln w="9525">
            <a:solidFill>
              <a:srgbClr val="E3E5E8"/>
            </a:solidFill>
            <a:prstDash val="solid"/>
          </a:ln>
        </p:spPr>
      </p:sp>
      <p:sp>
        <p:nvSpPr>
          <p:cNvPr id="5" name="shape-792"/>
          <p:cNvSpPr/>
          <p:nvPr/>
        </p:nvSpPr>
        <p:spPr>
          <a:xfrm>
            <a:off x="685800" y="1481328"/>
            <a:ext cx="1097280" cy="365760"/>
          </a:xfrm>
          <a:prstGeom prst="roundRect">
            <a:avLst>
              <a:gd name="adj" fmla="val 15000"/>
            </a:avLst>
          </a:prstGeom>
          <a:solidFill>
            <a:schemeClr val="accent1"/>
          </a:solidFill>
          <a:ln/>
        </p:spPr>
      </p:sp>
      <p:sp>
        <p:nvSpPr>
          <p:cNvPr id="6" name="text-793"/>
          <p:cNvSpPr txBox="1"/>
          <p:nvPr/>
        </p:nvSpPr>
        <p:spPr>
          <a:xfrm>
            <a:off x="685800" y="1481328"/>
            <a:ext cx="109728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RDRAD</a:t>
            </a:r>
            <a:endParaRPr lang="en-US" sz="1300" dirty="0"/>
          </a:p>
        </p:txBody>
      </p:sp>
      <p:sp>
        <p:nvSpPr>
          <p:cNvPr id="7" name="text-794"/>
          <p:cNvSpPr txBox="1"/>
          <p:nvPr/>
        </p:nvSpPr>
        <p:spPr>
          <a:xfrm>
            <a:off x="1920240" y="1508760"/>
            <a:ext cx="2743200" cy="32004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Every curve</a:t>
            </a:r>
            <a:endParaRPr lang="en-US" sz="1400" dirty="0"/>
          </a:p>
        </p:txBody>
      </p:sp>
      <p:sp>
        <p:nvSpPr>
          <p:cNvPr id="8" name="shape-795"/>
          <p:cNvSpPr/>
          <p:nvPr/>
        </p:nvSpPr>
        <p:spPr>
          <a:xfrm>
            <a:off x="685800" y="2011680"/>
            <a:ext cx="2514600" cy="1828800"/>
          </a:xfrm>
          <a:prstGeom prst="rect">
            <a:avLst/>
          </a:prstGeom>
          <a:solidFill>
            <a:srgbClr val="FFFFFF"/>
          </a:solidFill>
          <a:ln w="9525">
            <a:solidFill>
              <a:srgbClr val="DDE0E4"/>
            </a:solidFill>
            <a:prstDash val="solid"/>
          </a:ln>
        </p:spPr>
      </p:sp>
      <p:sp>
        <p:nvSpPr>
          <p:cNvPr id="9" name="text-796"/>
          <p:cNvSpPr txBox="1"/>
          <p:nvPr/>
        </p:nvSpPr>
        <p:spPr>
          <a:xfrm>
            <a:off x="777240" y="2084832"/>
            <a:ext cx="2377440" cy="1691640"/>
          </a:xfrm>
          <a:prstGeom prst="rect">
            <a:avLst/>
          </a:prstGeom>
          <a:noFill/>
          <a:ln/>
        </p:spPr>
        <p:txBody>
          <a:bodyPr wrap="square" lIns="0" tIns="0" rIns="0" bIns="0" rtlCol="0" anchor="t"/>
          <a:lstStyle/>
          <a:p>
            <a:pPr indent="0" marL="0">
              <a:buNone/>
            </a:pPr>
            <a:r>
              <a:rPr lang="en-US" sz="950" b="1" dirty="0">
                <a:solidFill>
                  <a:schemeClr val="accent6"/>
                </a:solidFill>
                <a:latin typeface="Courier New" pitchFamily="34" charset="0"/>
                <a:ea typeface="Courier New" pitchFamily="34" charset="-122"/>
                <a:cs typeface="Courier New" pitchFamily="34" charset="-120"/>
              </a:rPr>
              <a:t>C1</a:t>
            </a:r>
            <a:endParaRPr lang="en-US" sz="950" dirty="0"/>
          </a:p>
          <a:p>
            <a:pPr indent="0" marL="0">
              <a:buNone/>
            </a:pPr>
            <a:r>
              <a:rPr lang="en-US" sz="950" b="1" dirty="0">
                <a:solidFill>
                  <a:schemeClr val="accent6"/>
                </a:solidFill>
                <a:latin typeface="Courier New" pitchFamily="34" charset="0"/>
                <a:ea typeface="Courier New" pitchFamily="34" charset="-122"/>
                <a:cs typeface="Courier New" pitchFamily="34" charset="-120"/>
              </a:rPr>
              <a:t>R inner = 10.000 m</a:t>
            </a:r>
            <a:endParaRPr lang="en-US" sz="950" dirty="0"/>
          </a:p>
          <a:p>
            <a:pPr indent="0" marL="0">
              <a:buNone/>
            </a:pPr>
            <a:r>
              <a:rPr lang="en-US" sz="950" b="1" dirty="0">
                <a:solidFill>
                  <a:schemeClr val="accent6"/>
                </a:solidFill>
                <a:latin typeface="Courier New" pitchFamily="34" charset="0"/>
                <a:ea typeface="Courier New" pitchFamily="34" charset="-122"/>
                <a:cs typeface="Courier New" pitchFamily="34" charset="-120"/>
              </a:rPr>
              <a:t>R CL    = 13.650 m</a:t>
            </a:r>
            <a:endParaRPr lang="en-US" sz="950" dirty="0"/>
          </a:p>
          <a:p>
            <a:pPr indent="0" marL="0">
              <a:buNone/>
            </a:pPr>
            <a:r>
              <a:rPr lang="en-US" sz="950" b="1" dirty="0">
                <a:solidFill>
                  <a:schemeClr val="accent6"/>
                </a:solidFill>
                <a:latin typeface="Courier New" pitchFamily="34" charset="0"/>
                <a:ea typeface="Courier New" pitchFamily="34" charset="-122"/>
                <a:cs typeface="Courier New" pitchFamily="34" charset="-120"/>
              </a:rPr>
              <a:t>R outer = 17.300 m</a:t>
            </a:r>
            <a:endParaRPr lang="en-US" sz="950" dirty="0"/>
          </a:p>
          <a:p>
            <a:pPr indent="0" marL="0">
              <a:buNone/>
            </a:pPr>
            <a:r>
              <a:rPr lang="en-US" sz="950" b="1" dirty="0">
                <a:solidFill>
                  <a:schemeClr val="accent6"/>
                </a:solidFill>
                <a:latin typeface="Courier New" pitchFamily="34" charset="0"/>
                <a:ea typeface="Courier New" pitchFamily="34" charset="-122"/>
                <a:cs typeface="Courier New" pitchFamily="34" charset="-120"/>
              </a:rPr>
              <a:t>L (CL)  = 21.441 m</a:t>
            </a:r>
            <a:endParaRPr lang="en-US" sz="950" dirty="0"/>
          </a:p>
          <a:p>
            <a:pPr indent="0" marL="0">
              <a:buNone/>
            </a:pPr>
            <a:r>
              <a:rPr lang="en-US" sz="950" b="1" dirty="0">
                <a:solidFill>
                  <a:schemeClr val="accent6"/>
                </a:solidFill>
                <a:latin typeface="Courier New" pitchFamily="34" charset="0"/>
                <a:ea typeface="Courier New" pitchFamily="34" charset="-122"/>
                <a:cs typeface="Courier New" pitchFamily="34" charset="-120"/>
              </a:rPr>
              <a:t>A       = 156.52 m²</a:t>
            </a:r>
            <a:endParaRPr lang="en-US" sz="950" dirty="0"/>
          </a:p>
          <a:p>
            <a:pPr indent="0" marL="0">
              <a:buNone/>
            </a:pPr>
            <a:r>
              <a:rPr lang="en-US" sz="950" b="1" dirty="0">
                <a:solidFill>
                  <a:schemeClr val="accent6"/>
                </a:solidFill>
                <a:latin typeface="Courier New" pitchFamily="34" charset="0"/>
                <a:ea typeface="Courier New" pitchFamily="34" charset="-122"/>
                <a:cs typeface="Courier New" pitchFamily="34" charset="-120"/>
              </a:rPr>
              <a:t>Δ       = 90°00'00"</a:t>
            </a:r>
            <a:endParaRPr lang="en-US" sz="950" dirty="0"/>
          </a:p>
        </p:txBody>
      </p:sp>
      <p:sp>
        <p:nvSpPr>
          <p:cNvPr id="10" name="text-797"/>
          <p:cNvSpPr txBox="1"/>
          <p:nvPr/>
        </p:nvSpPr>
        <p:spPr>
          <a:xfrm>
            <a:off x="3383280" y="2057400"/>
            <a:ext cx="2423160" cy="2377440"/>
          </a:xfrm>
          <a:prstGeom prst="rect">
            <a:avLst/>
          </a:prstGeom>
          <a:noFill/>
          <a:ln/>
        </p:spPr>
        <p:txBody>
          <a:bodyPr wrap="square" lIns="0" tIns="0" rIns="0" bIns="0" rtlCol="0" anchor="t"/>
          <a:lstStyle/>
          <a:p>
            <a:pPr indent="0" marL="0">
              <a:buNone/>
            </a:pPr>
            <a:r>
              <a:rPr lang="en-US" sz="1100" dirty="0">
                <a:solidFill>
                  <a:srgbClr val="3A3F45"/>
                </a:solidFill>
                <a:latin typeface="Calibri" pitchFamily="34" charset="0"/>
                <a:ea typeface="Calibri" pitchFamily="34" charset="-122"/>
                <a:cs typeface="Calibri" pitchFamily="34" charset="-120"/>
              </a:rPr>
              <a:t>Radius line with arrow from the centre point, R on the line, TC and CT ticks across the road with chainage. Layer ROAD-CURVE.</a:t>
            </a:r>
            <a:endParaRPr lang="en-US" sz="1100" dirty="0"/>
          </a:p>
        </p:txBody>
      </p:sp>
      <p:sp>
        <p:nvSpPr>
          <p:cNvPr id="11" name="shape-798"/>
          <p:cNvSpPr/>
          <p:nvPr/>
        </p:nvSpPr>
        <p:spPr>
          <a:xfrm>
            <a:off x="6144768" y="1325880"/>
            <a:ext cx="5486400" cy="3337560"/>
          </a:xfrm>
          <a:prstGeom prst="roundRect">
            <a:avLst>
              <a:gd name="adj" fmla="val 2192"/>
            </a:avLst>
          </a:prstGeom>
          <a:solidFill>
            <a:srgbClr val="F4F5F7"/>
          </a:solidFill>
          <a:ln w="9525">
            <a:solidFill>
              <a:srgbClr val="E3E5E8"/>
            </a:solidFill>
            <a:prstDash val="solid"/>
          </a:ln>
        </p:spPr>
      </p:sp>
      <p:sp>
        <p:nvSpPr>
          <p:cNvPr id="12" name="shape-799"/>
          <p:cNvSpPr/>
          <p:nvPr/>
        </p:nvSpPr>
        <p:spPr>
          <a:xfrm>
            <a:off x="6327648" y="1481328"/>
            <a:ext cx="1097280" cy="365760"/>
          </a:xfrm>
          <a:prstGeom prst="roundRect">
            <a:avLst>
              <a:gd name="adj" fmla="val 15000"/>
            </a:avLst>
          </a:prstGeom>
          <a:solidFill>
            <a:schemeClr val="accent1"/>
          </a:solidFill>
          <a:ln/>
        </p:spPr>
      </p:sp>
      <p:sp>
        <p:nvSpPr>
          <p:cNvPr id="13" name="text-800"/>
          <p:cNvSpPr txBox="1"/>
          <p:nvPr/>
        </p:nvSpPr>
        <p:spPr>
          <a:xfrm>
            <a:off x="6327648" y="1481328"/>
            <a:ext cx="109728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RDSEC</a:t>
            </a:r>
            <a:endParaRPr lang="en-US" sz="1300" dirty="0"/>
          </a:p>
        </p:txBody>
      </p:sp>
      <p:sp>
        <p:nvSpPr>
          <p:cNvPr id="14" name="text-801"/>
          <p:cNvSpPr txBox="1"/>
          <p:nvPr/>
        </p:nvSpPr>
        <p:spPr>
          <a:xfrm>
            <a:off x="7562088" y="1508760"/>
            <a:ext cx="2743200" cy="32004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Every straight</a:t>
            </a:r>
            <a:endParaRPr lang="en-US" sz="1400" dirty="0"/>
          </a:p>
        </p:txBody>
      </p:sp>
      <p:sp>
        <p:nvSpPr>
          <p:cNvPr id="15" name="shape-802"/>
          <p:cNvSpPr/>
          <p:nvPr/>
        </p:nvSpPr>
        <p:spPr>
          <a:xfrm>
            <a:off x="6327648" y="2011680"/>
            <a:ext cx="2514600" cy="1828800"/>
          </a:xfrm>
          <a:prstGeom prst="rect">
            <a:avLst/>
          </a:prstGeom>
          <a:solidFill>
            <a:srgbClr val="FFFFFF"/>
          </a:solidFill>
          <a:ln w="9525">
            <a:solidFill>
              <a:srgbClr val="DDE0E4"/>
            </a:solidFill>
            <a:prstDash val="solid"/>
          </a:ln>
        </p:spPr>
      </p:sp>
      <p:sp>
        <p:nvSpPr>
          <p:cNvPr id="16" name="text-803"/>
          <p:cNvSpPr txBox="1"/>
          <p:nvPr/>
        </p:nvSpPr>
        <p:spPr>
          <a:xfrm>
            <a:off x="6419088" y="2084832"/>
            <a:ext cx="2377440" cy="1691640"/>
          </a:xfrm>
          <a:prstGeom prst="rect">
            <a:avLst/>
          </a:prstGeom>
          <a:noFill/>
          <a:ln/>
        </p:spPr>
        <p:txBody>
          <a:bodyPr wrap="square" lIns="0" tIns="0" rIns="0" bIns="0" rtlCol="0" anchor="t"/>
          <a:lstStyle/>
          <a:p>
            <a:pPr indent="0" marL="0">
              <a:buNone/>
            </a:pPr>
            <a:r>
              <a:rPr lang="en-US" sz="950" b="1" dirty="0">
                <a:solidFill>
                  <a:schemeClr val="accent6"/>
                </a:solidFill>
                <a:latin typeface="Courier New" pitchFamily="34" charset="0"/>
                <a:ea typeface="Courier New" pitchFamily="34" charset="-122"/>
                <a:cs typeface="Courier New" pitchFamily="34" charset="-120"/>
              </a:rPr>
              <a:t>S1  STRAIGHT</a:t>
            </a:r>
            <a:endParaRPr lang="en-US" sz="950" dirty="0"/>
          </a:p>
          <a:p>
            <a:pPr indent="0" marL="0">
              <a:buNone/>
            </a:pPr>
            <a:r>
              <a:rPr lang="en-US" sz="950" b="1" dirty="0">
                <a:solidFill>
                  <a:schemeClr val="accent6"/>
                </a:solidFill>
                <a:latin typeface="Courier New" pitchFamily="34" charset="0"/>
                <a:ea typeface="Courier New" pitchFamily="34" charset="-122"/>
                <a:cs typeface="Courier New" pitchFamily="34" charset="-120"/>
              </a:rPr>
              <a:t>L   = 45.230 m</a:t>
            </a:r>
            <a:endParaRPr lang="en-US" sz="950" dirty="0"/>
          </a:p>
          <a:p>
            <a:pPr indent="0" marL="0">
              <a:buNone/>
            </a:pPr>
            <a:r>
              <a:rPr lang="en-US" sz="950" b="1" dirty="0">
                <a:solidFill>
                  <a:schemeClr val="accent6"/>
                </a:solidFill>
                <a:latin typeface="Courier New" pitchFamily="34" charset="0"/>
                <a:ea typeface="Courier New" pitchFamily="34" charset="-122"/>
                <a:cs typeface="Courier New" pitchFamily="34" charset="-120"/>
              </a:rPr>
              <a:t>A   = 330.18 m²</a:t>
            </a:r>
            <a:endParaRPr lang="en-US" sz="950" dirty="0"/>
          </a:p>
          <a:p>
            <a:pPr indent="0" marL="0">
              <a:buNone/>
            </a:pPr>
            <a:r>
              <a:rPr lang="en-US" sz="950" b="1" dirty="0">
                <a:solidFill>
                  <a:schemeClr val="accent6"/>
                </a:solidFill>
                <a:latin typeface="Courier New" pitchFamily="34" charset="0"/>
                <a:ea typeface="Courier New" pitchFamily="34" charset="-122"/>
                <a:cs typeface="Courier New" pitchFamily="34" charset="-120"/>
              </a:rPr>
              <a:t>CH  0+012.000 - 0+057.230</a:t>
            </a:r>
            <a:endParaRPr lang="en-US" sz="950" dirty="0"/>
          </a:p>
          <a:p>
            <a:pPr indent="0" marL="0">
              <a:buNone/>
            </a:pPr>
            <a:r>
              <a:rPr lang="en-US" sz="950" b="1" dirty="0">
                <a:solidFill>
                  <a:schemeClr val="accent6"/>
                </a:solidFill>
                <a:latin typeface="Courier New" pitchFamily="34" charset="0"/>
                <a:ea typeface="Courier New" pitchFamily="34" charset="-122"/>
                <a:cs typeface="Courier New" pitchFamily="34" charset="-120"/>
              </a:rPr>
              <a:t>BRG 45°12'30"</a:t>
            </a:r>
            <a:endParaRPr lang="en-US" sz="950" dirty="0"/>
          </a:p>
        </p:txBody>
      </p:sp>
      <p:sp>
        <p:nvSpPr>
          <p:cNvPr id="17" name="text-804"/>
          <p:cNvSpPr txBox="1"/>
          <p:nvPr/>
        </p:nvSpPr>
        <p:spPr>
          <a:xfrm>
            <a:off x="9025128" y="2057400"/>
            <a:ext cx="2423160" cy="2377440"/>
          </a:xfrm>
          <a:prstGeom prst="rect">
            <a:avLst/>
          </a:prstGeom>
          <a:noFill/>
          <a:ln/>
        </p:spPr>
        <p:txBody>
          <a:bodyPr wrap="square" lIns="0" tIns="0" rIns="0" bIns="0" rtlCol="0" anchor="t"/>
          <a:lstStyle/>
          <a:p>
            <a:pPr indent="0" marL="0">
              <a:buNone/>
            </a:pPr>
            <a:r>
              <a:rPr lang="en-US" sz="1100" dirty="0">
                <a:solidFill>
                  <a:srgbClr val="3A3F45"/>
                </a:solidFill>
                <a:latin typeface="Calibri" pitchFamily="34" charset="0"/>
                <a:ea typeface="Calibri" pitchFamily="34" charset="-122"/>
                <a:cs typeface="Calibri" pitchFamily="34" charset="-120"/>
              </a:rPr>
              <a:t>Extent bar with end ticks, label parallel to the road. Bearing is whole-circle from North. Layer ROAD-SECTION.</a:t>
            </a:r>
            <a:endParaRPr lang="en-US" sz="1100" dirty="0"/>
          </a:p>
        </p:txBody>
      </p:sp>
      <p:sp>
        <p:nvSpPr>
          <p:cNvPr id="18" name="shape-805"/>
          <p:cNvSpPr/>
          <p:nvPr/>
        </p:nvSpPr>
        <p:spPr>
          <a:xfrm>
            <a:off x="502920" y="4846320"/>
            <a:ext cx="329184" cy="329184"/>
          </a:xfrm>
          <a:prstGeom prst="ellipse">
            <a:avLst/>
          </a:prstGeom>
          <a:solidFill>
            <a:schemeClr val="accent1"/>
          </a:solidFill>
          <a:ln/>
        </p:spPr>
      </p:sp>
      <p:sp>
        <p:nvSpPr>
          <p:cNvPr id="19" name="text-806"/>
          <p:cNvSpPr txBox="1"/>
          <p:nvPr/>
        </p:nvSpPr>
        <p:spPr>
          <a:xfrm>
            <a:off x="502920" y="48463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20" name="text-807"/>
          <p:cNvSpPr txBox="1"/>
          <p:nvPr/>
        </p:nvSpPr>
        <p:spPr>
          <a:xfrm>
            <a:off x="978408" y="4828032"/>
            <a:ext cx="5010912" cy="62179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Type RDRAD (or RDSEC)</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Select the road centre line on layer ROAD-CL.</a:t>
            </a:r>
            <a:endParaRPr lang="en-US" sz="1200" dirty="0"/>
          </a:p>
        </p:txBody>
      </p:sp>
      <p:sp>
        <p:nvSpPr>
          <p:cNvPr id="21" name="shape-808"/>
          <p:cNvSpPr/>
          <p:nvPr/>
        </p:nvSpPr>
        <p:spPr>
          <a:xfrm>
            <a:off x="502920" y="5504688"/>
            <a:ext cx="329184" cy="329184"/>
          </a:xfrm>
          <a:prstGeom prst="ellipse">
            <a:avLst/>
          </a:prstGeom>
          <a:solidFill>
            <a:schemeClr val="accent1"/>
          </a:solidFill>
          <a:ln/>
        </p:spPr>
      </p:sp>
      <p:sp>
        <p:nvSpPr>
          <p:cNvPr id="22" name="text-809"/>
          <p:cNvSpPr txBox="1"/>
          <p:nvPr/>
        </p:nvSpPr>
        <p:spPr>
          <a:xfrm>
            <a:off x="502920" y="5504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23" name="text-810"/>
          <p:cNvSpPr txBox="1"/>
          <p:nvPr/>
        </p:nvSpPr>
        <p:spPr>
          <a:xfrm>
            <a:off x="978408" y="5486400"/>
            <a:ext cx="5010912" cy="62179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Labels are added</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The command line says how many curves / straights were labelled.</a:t>
            </a:r>
            <a:endParaRPr lang="en-US" sz="1200" dirty="0"/>
          </a:p>
        </p:txBody>
      </p:sp>
      <p:sp>
        <p:nvSpPr>
          <p:cNvPr id="24" name="shape-811"/>
          <p:cNvSpPr/>
          <p:nvPr/>
        </p:nvSpPr>
        <p:spPr>
          <a:xfrm>
            <a:off x="6144768" y="4846320"/>
            <a:ext cx="5513832" cy="1325880"/>
          </a:xfrm>
          <a:prstGeom prst="roundRect">
            <a:avLst>
              <a:gd name="adj" fmla="val 5517"/>
            </a:avLst>
          </a:prstGeom>
          <a:solidFill>
            <a:srgbClr val="FFF6D6"/>
          </a:solidFill>
          <a:ln w="9525">
            <a:solidFill>
              <a:srgbClr val="F2D27A"/>
            </a:solidFill>
            <a:prstDash val="solid"/>
          </a:ln>
        </p:spPr>
      </p:sp>
      <p:sp>
        <p:nvSpPr>
          <p:cNvPr id="25" name="text-812"/>
          <p:cNvSpPr txBox="1"/>
          <p:nvPr/>
        </p:nvSpPr>
        <p:spPr>
          <a:xfrm>
            <a:off x="6291072" y="4919472"/>
            <a:ext cx="5221224" cy="1179576"/>
          </a:xfrm>
          <a:prstGeom prst="rect">
            <a:avLst/>
          </a:prstGeom>
          <a:noFill/>
          <a:ln/>
        </p:spPr>
        <p:txBody>
          <a:bodyPr wrap="square" lIns="0" tIns="0" rIns="0" bIns="0" rtlCol="0" anchor="ctr"/>
          <a:lstStyle/>
          <a:p>
            <a:pPr indent="0" marL="0">
              <a:buNone/>
            </a:pPr>
            <a:r>
              <a:rPr lang="en-US" sz="1100" b="1" dirty="0">
                <a:solidFill>
                  <a:srgbClr val="A65F00"/>
                </a:solidFill>
                <a:latin typeface="Calibri" pitchFamily="34" charset="0"/>
                <a:ea typeface="Calibri" pitchFamily="34" charset="-122"/>
                <a:cs typeface="Calibri" pitchFamily="34" charset="-120"/>
              </a:rPr>
              <a:t>When to use  </a:t>
            </a:r>
            <a:pPr indent="0" marL="0">
              <a:buNone/>
            </a:pPr>
            <a:r>
              <a:rPr lang="en-US" sz="1100" dirty="0">
                <a:solidFill>
                  <a:srgbClr val="3A3F45"/>
                </a:solidFill>
                <a:latin typeface="Calibri" pitchFamily="34" charset="0"/>
                <a:ea typeface="Calibri" pitchFamily="34" charset="-122"/>
                <a:cs typeface="Calibri" pitchFamily="34" charset="-120"/>
              </a:rPr>
              <a:t>If you switched the labels off in RDP, deleted them, or changed the road with RDW / RDT. Erase the old labels on ROAD-CURVE / ROAD-SECTION first so they are not doubled.</a:t>
            </a:r>
            <a:endParaRPr lang="en-US" sz="110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C  ·  SIGNS</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Signage placed automatically, traffic keeps right</a:t>
            </a:r>
            <a:endParaRPr lang="en-US" sz="2600" dirty="0"/>
          </a:p>
        </p:txBody>
      </p:sp>
      <p:sp>
        <p:nvSpPr>
          <p:cNvPr id="4" name="shape-813"/>
          <p:cNvSpPr/>
          <p:nvPr/>
        </p:nvSpPr>
        <p:spPr>
          <a:xfrm>
            <a:off x="1078992" y="1371600"/>
            <a:ext cx="777240" cy="683971"/>
          </a:xfrm>
          <a:prstGeom prst="triangle">
            <a:avLst/>
          </a:prstGeom>
          <a:solidFill>
            <a:schemeClr val="accent1"/>
          </a:solidFill>
          <a:ln w="6350">
            <a:solidFill>
              <a:srgbClr val="1F2326"/>
            </a:solidFill>
            <a:prstDash val="solid"/>
          </a:ln>
        </p:spPr>
      </p:sp>
      <p:sp>
        <p:nvSpPr>
          <p:cNvPr id="5" name="shape-814"/>
          <p:cNvSpPr/>
          <p:nvPr/>
        </p:nvSpPr>
        <p:spPr>
          <a:xfrm>
            <a:off x="1211123" y="1556272"/>
            <a:ext cx="512978" cy="424062"/>
          </a:xfrm>
          <a:prstGeom prst="triangle">
            <a:avLst/>
          </a:prstGeom>
          <a:solidFill>
            <a:schemeClr val="accent2"/>
          </a:solidFill>
          <a:ln/>
        </p:spPr>
      </p:sp>
      <p:sp>
        <p:nvSpPr>
          <p:cNvPr id="6" name="text-815"/>
          <p:cNvSpPr txBox="1"/>
          <p:nvPr/>
        </p:nvSpPr>
        <p:spPr>
          <a:xfrm>
            <a:off x="1078992" y="1658868"/>
            <a:ext cx="777240" cy="341986"/>
          </a:xfrm>
          <a:prstGeom prst="rect">
            <a:avLst/>
          </a:prstGeom>
          <a:noFill/>
          <a:ln/>
        </p:spPr>
        <p:txBody>
          <a:bodyPr wrap="square" lIns="0" tIns="0" rIns="0" bIns="0" rtlCol="0" anchor="ctr"/>
          <a:lstStyle/>
          <a:p>
            <a:pPr algn="ctr" indent="0" marL="0">
              <a:buNone/>
            </a:pPr>
            <a:r>
              <a:rPr lang="en-US" sz="1900" b="1" dirty="0">
                <a:solidFill>
                  <a:srgbClr val="1F2326"/>
                </a:solidFill>
                <a:latin typeface="Arial" pitchFamily="34" charset="0"/>
                <a:ea typeface="Arial" pitchFamily="34" charset="-122"/>
                <a:cs typeface="Arial" pitchFamily="34" charset="-120"/>
              </a:rPr>
              <a:t>!</a:t>
            </a:r>
            <a:endParaRPr lang="en-US" sz="1900" dirty="0"/>
          </a:p>
        </p:txBody>
      </p:sp>
      <p:sp>
        <p:nvSpPr>
          <p:cNvPr id="7" name="text-816"/>
          <p:cNvSpPr txBox="1"/>
          <p:nvPr/>
        </p:nvSpPr>
        <p:spPr>
          <a:xfrm>
            <a:off x="594360" y="2240280"/>
            <a:ext cx="1554480" cy="256032"/>
          </a:xfrm>
          <a:prstGeom prst="rect">
            <a:avLst/>
          </a:prstGeom>
          <a:noFill/>
          <a:ln/>
        </p:spPr>
        <p:txBody>
          <a:bodyPr wrap="square" lIns="0" tIns="0" rIns="0" bIns="0" rtlCol="0" anchor="t"/>
          <a:lstStyle/>
          <a:p>
            <a:pPr algn="ctr" indent="0" marL="0">
              <a:buNone/>
            </a:pPr>
            <a:r>
              <a:rPr lang="en-US" sz="1150" b="1" dirty="0">
                <a:solidFill>
                  <a:schemeClr val="tx1"/>
                </a:solidFill>
                <a:latin typeface="Calibri" pitchFamily="34" charset="0"/>
                <a:ea typeface="Calibri" pitchFamily="34" charset="-122"/>
                <a:cs typeface="Calibri" pitchFamily="34" charset="-120"/>
              </a:rPr>
              <a:t>Road works ahead</a:t>
            </a:r>
            <a:endParaRPr lang="en-US" sz="1150" dirty="0"/>
          </a:p>
        </p:txBody>
      </p:sp>
      <p:sp>
        <p:nvSpPr>
          <p:cNvPr id="8" name="text-817"/>
          <p:cNvSpPr txBox="1"/>
          <p:nvPr/>
        </p:nvSpPr>
        <p:spPr>
          <a:xfrm>
            <a:off x="594360" y="2487168"/>
            <a:ext cx="1554480" cy="228600"/>
          </a:xfrm>
          <a:prstGeom prst="rect">
            <a:avLst/>
          </a:prstGeom>
          <a:noFill/>
          <a:ln/>
        </p:spPr>
        <p:txBody>
          <a:bodyPr wrap="square" lIns="0" tIns="0" rIns="0" bIns="0" rtlCol="0" anchor="t"/>
          <a:lstStyle/>
          <a:p>
            <a:pPr algn="ctr" indent="0" marL="0">
              <a:buNone/>
            </a:pPr>
            <a:r>
              <a:rPr lang="en-US" sz="950" dirty="0">
                <a:solidFill>
                  <a:srgbClr val="5B6169"/>
                </a:solidFill>
                <a:latin typeface="Calibri" pitchFamily="34" charset="0"/>
                <a:ea typeface="Calibri" pitchFamily="34" charset="-122"/>
                <a:cs typeface="Calibri" pitchFamily="34" charset="-120"/>
              </a:rPr>
              <a:t>Entry of each direction</a:t>
            </a:r>
            <a:endParaRPr lang="en-US" sz="950" dirty="0"/>
          </a:p>
        </p:txBody>
      </p:sp>
      <p:sp>
        <p:nvSpPr>
          <p:cNvPr id="9" name="shape-818"/>
          <p:cNvSpPr/>
          <p:nvPr/>
        </p:nvSpPr>
        <p:spPr>
          <a:xfrm>
            <a:off x="2697480" y="1371600"/>
            <a:ext cx="731520" cy="731520"/>
          </a:xfrm>
          <a:prstGeom prst="ellipse">
            <a:avLst/>
          </a:prstGeom>
          <a:solidFill>
            <a:schemeClr val="accent1"/>
          </a:solidFill>
          <a:ln w="6350">
            <a:solidFill>
              <a:srgbClr val="1F2326"/>
            </a:solidFill>
            <a:prstDash val="solid"/>
          </a:ln>
        </p:spPr>
      </p:sp>
      <p:sp>
        <p:nvSpPr>
          <p:cNvPr id="10" name="shape-819"/>
          <p:cNvSpPr/>
          <p:nvPr/>
        </p:nvSpPr>
        <p:spPr>
          <a:xfrm>
            <a:off x="2807208" y="1481328"/>
            <a:ext cx="512064" cy="512064"/>
          </a:xfrm>
          <a:prstGeom prst="ellipse">
            <a:avLst/>
          </a:prstGeom>
          <a:solidFill>
            <a:srgbClr val="FFFFFF"/>
          </a:solidFill>
          <a:ln/>
        </p:spPr>
      </p:sp>
      <p:sp>
        <p:nvSpPr>
          <p:cNvPr id="11" name="text-820"/>
          <p:cNvSpPr txBox="1"/>
          <p:nvPr/>
        </p:nvSpPr>
        <p:spPr>
          <a:xfrm>
            <a:off x="2697480" y="1371600"/>
            <a:ext cx="731520" cy="731520"/>
          </a:xfrm>
          <a:prstGeom prst="rect">
            <a:avLst/>
          </a:prstGeom>
          <a:noFill/>
          <a:ln/>
        </p:spPr>
        <p:txBody>
          <a:bodyPr wrap="square" lIns="0" tIns="0" rIns="0" bIns="0" rtlCol="0" anchor="ctr"/>
          <a:lstStyle/>
          <a:p>
            <a:pPr algn="ctr" indent="0" marL="0">
              <a:buNone/>
            </a:pPr>
            <a:r>
              <a:rPr lang="en-US" sz="1900" b="1" dirty="0">
                <a:solidFill>
                  <a:srgbClr val="1F2326"/>
                </a:solidFill>
                <a:latin typeface="Arial" pitchFamily="34" charset="0"/>
                <a:ea typeface="Arial" pitchFamily="34" charset="-122"/>
                <a:cs typeface="Arial" pitchFamily="34" charset="-120"/>
              </a:rPr>
              <a:t>30</a:t>
            </a:r>
            <a:endParaRPr lang="en-US" sz="1900" dirty="0"/>
          </a:p>
        </p:txBody>
      </p:sp>
      <p:sp>
        <p:nvSpPr>
          <p:cNvPr id="12" name="text-821"/>
          <p:cNvSpPr txBox="1"/>
          <p:nvPr/>
        </p:nvSpPr>
        <p:spPr>
          <a:xfrm>
            <a:off x="2194560" y="2240280"/>
            <a:ext cx="1554480" cy="256032"/>
          </a:xfrm>
          <a:prstGeom prst="rect">
            <a:avLst/>
          </a:prstGeom>
          <a:noFill/>
          <a:ln/>
        </p:spPr>
        <p:txBody>
          <a:bodyPr wrap="square" lIns="0" tIns="0" rIns="0" bIns="0" rtlCol="0" anchor="t"/>
          <a:lstStyle/>
          <a:p>
            <a:pPr algn="ctr" indent="0" marL="0">
              <a:buNone/>
            </a:pPr>
            <a:r>
              <a:rPr lang="en-US" sz="1150" b="1" dirty="0">
                <a:solidFill>
                  <a:schemeClr val="tx1"/>
                </a:solidFill>
                <a:latin typeface="Calibri" pitchFamily="34" charset="0"/>
                <a:ea typeface="Calibri" pitchFamily="34" charset="-122"/>
                <a:cs typeface="Calibri" pitchFamily="34" charset="-120"/>
              </a:rPr>
              <a:t>Speed limit</a:t>
            </a:r>
            <a:endParaRPr lang="en-US" sz="1150" dirty="0"/>
          </a:p>
        </p:txBody>
      </p:sp>
      <p:sp>
        <p:nvSpPr>
          <p:cNvPr id="13" name="text-822"/>
          <p:cNvSpPr txBox="1"/>
          <p:nvPr/>
        </p:nvSpPr>
        <p:spPr>
          <a:xfrm>
            <a:off x="2194560" y="2487168"/>
            <a:ext cx="1554480" cy="228600"/>
          </a:xfrm>
          <a:prstGeom prst="rect">
            <a:avLst/>
          </a:prstGeom>
          <a:noFill/>
          <a:ln/>
        </p:spPr>
        <p:txBody>
          <a:bodyPr wrap="square" lIns="0" tIns="0" rIns="0" bIns="0" rtlCol="0" anchor="t"/>
          <a:lstStyle/>
          <a:p>
            <a:pPr algn="ctr" indent="0" marL="0">
              <a:buNone/>
            </a:pPr>
            <a:r>
              <a:rPr lang="en-US" sz="950" dirty="0">
                <a:solidFill>
                  <a:srgbClr val="5B6169"/>
                </a:solidFill>
                <a:latin typeface="Calibri" pitchFamily="34" charset="0"/>
                <a:ea typeface="Calibri" pitchFamily="34" charset="-122"/>
                <a:cs typeface="Calibri" pitchFamily="34" charset="-120"/>
              </a:rPr>
              <a:t>One spacing after entry</a:t>
            </a:r>
            <a:endParaRPr lang="en-US" sz="950" dirty="0"/>
          </a:p>
        </p:txBody>
      </p:sp>
      <p:sp>
        <p:nvSpPr>
          <p:cNvPr id="14" name="shape-823"/>
          <p:cNvSpPr/>
          <p:nvPr/>
        </p:nvSpPr>
        <p:spPr>
          <a:xfrm>
            <a:off x="4279392" y="1371600"/>
            <a:ext cx="777240" cy="683971"/>
          </a:xfrm>
          <a:prstGeom prst="triangle">
            <a:avLst/>
          </a:prstGeom>
          <a:solidFill>
            <a:schemeClr val="accent1"/>
          </a:solidFill>
          <a:ln w="6350">
            <a:solidFill>
              <a:srgbClr val="1F2326"/>
            </a:solidFill>
            <a:prstDash val="solid"/>
          </a:ln>
        </p:spPr>
      </p:sp>
      <p:sp>
        <p:nvSpPr>
          <p:cNvPr id="15" name="shape-824"/>
          <p:cNvSpPr/>
          <p:nvPr/>
        </p:nvSpPr>
        <p:spPr>
          <a:xfrm>
            <a:off x="4411523" y="1556272"/>
            <a:ext cx="512978" cy="424062"/>
          </a:xfrm>
          <a:prstGeom prst="triangle">
            <a:avLst/>
          </a:prstGeom>
          <a:solidFill>
            <a:schemeClr val="accent2"/>
          </a:solidFill>
          <a:ln/>
        </p:spPr>
      </p:sp>
      <p:sp>
        <p:nvSpPr>
          <p:cNvPr id="16" name="text-825"/>
          <p:cNvSpPr txBox="1"/>
          <p:nvPr/>
        </p:nvSpPr>
        <p:spPr>
          <a:xfrm>
            <a:off x="4279392" y="1658868"/>
            <a:ext cx="777240" cy="341986"/>
          </a:xfrm>
          <a:prstGeom prst="rect">
            <a:avLst/>
          </a:prstGeom>
          <a:noFill/>
          <a:ln/>
        </p:spPr>
        <p:txBody>
          <a:bodyPr wrap="square" lIns="0" tIns="0" rIns="0" bIns="0" rtlCol="0" anchor="ctr"/>
          <a:lstStyle/>
          <a:p>
            <a:pPr algn="ctr" indent="0" marL="0">
              <a:buNone/>
            </a:pPr>
            <a:r>
              <a:rPr lang="en-US" sz="1900" b="1" dirty="0">
                <a:solidFill>
                  <a:srgbClr val="1F2326"/>
                </a:solidFill>
                <a:latin typeface="Arial" pitchFamily="34" charset="0"/>
                <a:ea typeface="Arial" pitchFamily="34" charset="-122"/>
                <a:cs typeface="Arial" pitchFamily="34" charset="-120"/>
              </a:rPr>
              <a:t>↱</a:t>
            </a:r>
            <a:endParaRPr lang="en-US" sz="1900" dirty="0"/>
          </a:p>
        </p:txBody>
      </p:sp>
      <p:sp>
        <p:nvSpPr>
          <p:cNvPr id="17" name="text-826"/>
          <p:cNvSpPr txBox="1"/>
          <p:nvPr/>
        </p:nvSpPr>
        <p:spPr>
          <a:xfrm>
            <a:off x="3794760" y="2240280"/>
            <a:ext cx="1554480" cy="256032"/>
          </a:xfrm>
          <a:prstGeom prst="rect">
            <a:avLst/>
          </a:prstGeom>
          <a:noFill/>
          <a:ln/>
        </p:spPr>
        <p:txBody>
          <a:bodyPr wrap="square" lIns="0" tIns="0" rIns="0" bIns="0" rtlCol="0" anchor="t"/>
          <a:lstStyle/>
          <a:p>
            <a:pPr algn="ctr" indent="0" marL="0">
              <a:buNone/>
            </a:pPr>
            <a:r>
              <a:rPr lang="en-US" sz="1150" b="1" dirty="0">
                <a:solidFill>
                  <a:schemeClr val="tx1"/>
                </a:solidFill>
                <a:latin typeface="Calibri" pitchFamily="34" charset="0"/>
                <a:ea typeface="Calibri" pitchFamily="34" charset="-122"/>
                <a:cs typeface="Calibri" pitchFamily="34" charset="-120"/>
              </a:rPr>
              <a:t>Bend ahead</a:t>
            </a:r>
            <a:endParaRPr lang="en-US" sz="1150" dirty="0"/>
          </a:p>
        </p:txBody>
      </p:sp>
      <p:sp>
        <p:nvSpPr>
          <p:cNvPr id="18" name="text-827"/>
          <p:cNvSpPr txBox="1"/>
          <p:nvPr/>
        </p:nvSpPr>
        <p:spPr>
          <a:xfrm>
            <a:off x="3794760" y="2487168"/>
            <a:ext cx="1554480" cy="228600"/>
          </a:xfrm>
          <a:prstGeom prst="rect">
            <a:avLst/>
          </a:prstGeom>
          <a:noFill/>
          <a:ln/>
        </p:spPr>
        <p:txBody>
          <a:bodyPr wrap="square" lIns="0" tIns="0" rIns="0" bIns="0" rtlCol="0" anchor="t"/>
          <a:lstStyle/>
          <a:p>
            <a:pPr algn="ctr" indent="0" marL="0">
              <a:buNone/>
            </a:pPr>
            <a:r>
              <a:rPr lang="en-US" sz="950" dirty="0">
                <a:solidFill>
                  <a:srgbClr val="5B6169"/>
                </a:solidFill>
                <a:latin typeface="Calibri" pitchFamily="34" charset="0"/>
                <a:ea typeface="Calibri" pitchFamily="34" charset="-122"/>
                <a:cs typeface="Calibri" pitchFamily="34" charset="-120"/>
              </a:rPr>
              <a:t>Distance by speed</a:t>
            </a:r>
            <a:endParaRPr lang="en-US" sz="950" dirty="0"/>
          </a:p>
        </p:txBody>
      </p:sp>
      <p:sp>
        <p:nvSpPr>
          <p:cNvPr id="19" name="shape-828"/>
          <p:cNvSpPr/>
          <p:nvPr/>
        </p:nvSpPr>
        <p:spPr>
          <a:xfrm>
            <a:off x="5897880" y="1371600"/>
            <a:ext cx="731520" cy="731520"/>
          </a:xfrm>
          <a:prstGeom prst="octagon">
            <a:avLst/>
          </a:prstGeom>
          <a:solidFill>
            <a:schemeClr val="accent1"/>
          </a:solidFill>
          <a:ln w="19050">
            <a:solidFill>
              <a:srgbClr val="FFFFFF"/>
            </a:solidFill>
            <a:prstDash val="solid"/>
          </a:ln>
        </p:spPr>
      </p:sp>
      <p:sp>
        <p:nvSpPr>
          <p:cNvPr id="20" name="text-829"/>
          <p:cNvSpPr txBox="1"/>
          <p:nvPr/>
        </p:nvSpPr>
        <p:spPr>
          <a:xfrm>
            <a:off x="5897880" y="1371600"/>
            <a:ext cx="731520" cy="7315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STOP</a:t>
            </a:r>
            <a:endParaRPr lang="en-US" sz="1200" dirty="0"/>
          </a:p>
        </p:txBody>
      </p:sp>
      <p:sp>
        <p:nvSpPr>
          <p:cNvPr id="21" name="text-830"/>
          <p:cNvSpPr txBox="1"/>
          <p:nvPr/>
        </p:nvSpPr>
        <p:spPr>
          <a:xfrm>
            <a:off x="5394960" y="2240280"/>
            <a:ext cx="1554480" cy="256032"/>
          </a:xfrm>
          <a:prstGeom prst="rect">
            <a:avLst/>
          </a:prstGeom>
          <a:noFill/>
          <a:ln/>
        </p:spPr>
        <p:txBody>
          <a:bodyPr wrap="square" lIns="0" tIns="0" rIns="0" bIns="0" rtlCol="0" anchor="t"/>
          <a:lstStyle/>
          <a:p>
            <a:pPr algn="ctr" indent="0" marL="0">
              <a:buNone/>
            </a:pPr>
            <a:r>
              <a:rPr lang="en-US" sz="1150" b="1" dirty="0">
                <a:solidFill>
                  <a:schemeClr val="tx1"/>
                </a:solidFill>
                <a:latin typeface="Calibri" pitchFamily="34" charset="0"/>
                <a:ea typeface="Calibri" pitchFamily="34" charset="-122"/>
                <a:cs typeface="Calibri" pitchFamily="34" charset="-120"/>
              </a:rPr>
              <a:t>STOP</a:t>
            </a:r>
            <a:endParaRPr lang="en-US" sz="1150" dirty="0"/>
          </a:p>
        </p:txBody>
      </p:sp>
      <p:sp>
        <p:nvSpPr>
          <p:cNvPr id="22" name="text-831"/>
          <p:cNvSpPr txBox="1"/>
          <p:nvPr/>
        </p:nvSpPr>
        <p:spPr>
          <a:xfrm>
            <a:off x="5394960" y="2487168"/>
            <a:ext cx="1554480" cy="228600"/>
          </a:xfrm>
          <a:prstGeom prst="rect">
            <a:avLst/>
          </a:prstGeom>
          <a:noFill/>
          <a:ln/>
        </p:spPr>
        <p:txBody>
          <a:bodyPr wrap="square" lIns="0" tIns="0" rIns="0" bIns="0" rtlCol="0" anchor="t"/>
          <a:lstStyle/>
          <a:p>
            <a:pPr algn="ctr" indent="0" marL="0">
              <a:buNone/>
            </a:pPr>
            <a:r>
              <a:rPr lang="en-US" sz="950" dirty="0">
                <a:solidFill>
                  <a:srgbClr val="5B6169"/>
                </a:solidFill>
                <a:latin typeface="Calibri" pitchFamily="34" charset="0"/>
                <a:ea typeface="Calibri" pitchFamily="34" charset="-122"/>
                <a:cs typeface="Calibri" pitchFamily="34" charset="-120"/>
              </a:rPr>
              <a:t>Before each tie-in</a:t>
            </a:r>
            <a:endParaRPr lang="en-US" sz="950" dirty="0"/>
          </a:p>
        </p:txBody>
      </p:sp>
      <p:sp>
        <p:nvSpPr>
          <p:cNvPr id="23" name="shape-832"/>
          <p:cNvSpPr/>
          <p:nvPr/>
        </p:nvSpPr>
        <p:spPr>
          <a:xfrm flipV="1">
            <a:off x="7479792" y="1399032"/>
            <a:ext cx="777240" cy="683971"/>
          </a:xfrm>
          <a:prstGeom prst="triangle">
            <a:avLst/>
          </a:prstGeom>
          <a:solidFill>
            <a:schemeClr val="accent1"/>
          </a:solidFill>
          <a:ln w="6350">
            <a:solidFill>
              <a:srgbClr val="1F2326"/>
            </a:solidFill>
            <a:prstDash val="solid"/>
          </a:ln>
        </p:spPr>
      </p:sp>
      <p:sp>
        <p:nvSpPr>
          <p:cNvPr id="24" name="shape-833"/>
          <p:cNvSpPr/>
          <p:nvPr/>
        </p:nvSpPr>
        <p:spPr>
          <a:xfrm flipV="1">
            <a:off x="7635240" y="1487948"/>
            <a:ext cx="466344" cy="376184"/>
          </a:xfrm>
          <a:prstGeom prst="triangle">
            <a:avLst/>
          </a:prstGeom>
          <a:solidFill>
            <a:srgbClr val="FFFFFF"/>
          </a:solidFill>
          <a:ln/>
        </p:spPr>
      </p:sp>
      <p:sp>
        <p:nvSpPr>
          <p:cNvPr id="25" name="text-834"/>
          <p:cNvSpPr txBox="1"/>
          <p:nvPr/>
        </p:nvSpPr>
        <p:spPr>
          <a:xfrm>
            <a:off x="6995160" y="2240280"/>
            <a:ext cx="1554480" cy="256032"/>
          </a:xfrm>
          <a:prstGeom prst="rect">
            <a:avLst/>
          </a:prstGeom>
          <a:noFill/>
          <a:ln/>
        </p:spPr>
        <p:txBody>
          <a:bodyPr wrap="square" lIns="0" tIns="0" rIns="0" bIns="0" rtlCol="0" anchor="t"/>
          <a:lstStyle/>
          <a:p>
            <a:pPr algn="ctr" indent="0" marL="0">
              <a:buNone/>
            </a:pPr>
            <a:r>
              <a:rPr lang="en-US" sz="1150" b="1" dirty="0">
                <a:solidFill>
                  <a:schemeClr val="tx1"/>
                </a:solidFill>
                <a:latin typeface="Calibri" pitchFamily="34" charset="0"/>
                <a:ea typeface="Calibri" pitchFamily="34" charset="-122"/>
                <a:cs typeface="Calibri" pitchFamily="34" charset="-120"/>
              </a:rPr>
              <a:t>Give way</a:t>
            </a:r>
            <a:endParaRPr lang="en-US" sz="1150" dirty="0"/>
          </a:p>
        </p:txBody>
      </p:sp>
      <p:sp>
        <p:nvSpPr>
          <p:cNvPr id="26" name="text-835"/>
          <p:cNvSpPr txBox="1"/>
          <p:nvPr/>
        </p:nvSpPr>
        <p:spPr>
          <a:xfrm>
            <a:off x="6995160" y="2487168"/>
            <a:ext cx="1554480" cy="228600"/>
          </a:xfrm>
          <a:prstGeom prst="rect">
            <a:avLst/>
          </a:prstGeom>
          <a:noFill/>
          <a:ln/>
        </p:spPr>
        <p:txBody>
          <a:bodyPr wrap="square" lIns="0" tIns="0" rIns="0" bIns="0" rtlCol="0" anchor="t"/>
          <a:lstStyle/>
          <a:p>
            <a:pPr algn="ctr" indent="0" marL="0">
              <a:buNone/>
            </a:pPr>
            <a:r>
              <a:rPr lang="en-US" sz="950" dirty="0">
                <a:solidFill>
                  <a:srgbClr val="5B6169"/>
                </a:solidFill>
                <a:latin typeface="Calibri" pitchFamily="34" charset="0"/>
                <a:ea typeface="Calibri" pitchFamily="34" charset="-122"/>
                <a:cs typeface="Calibri" pitchFamily="34" charset="-120"/>
              </a:rPr>
              <a:t>Option at tie-ins</a:t>
            </a:r>
            <a:endParaRPr lang="en-US" sz="950" dirty="0"/>
          </a:p>
        </p:txBody>
      </p:sp>
      <p:sp>
        <p:nvSpPr>
          <p:cNvPr id="27" name="shape-836"/>
          <p:cNvSpPr/>
          <p:nvPr/>
        </p:nvSpPr>
        <p:spPr>
          <a:xfrm>
            <a:off x="9098280" y="1371600"/>
            <a:ext cx="731520" cy="731520"/>
          </a:xfrm>
          <a:prstGeom prst="ellipse">
            <a:avLst/>
          </a:prstGeom>
          <a:solidFill>
            <a:schemeClr val="accent1"/>
          </a:solidFill>
          <a:ln w="6350">
            <a:solidFill>
              <a:srgbClr val="1F2326"/>
            </a:solidFill>
            <a:prstDash val="solid"/>
          </a:ln>
        </p:spPr>
      </p:sp>
      <p:sp>
        <p:nvSpPr>
          <p:cNvPr id="28" name="shape-837"/>
          <p:cNvSpPr/>
          <p:nvPr/>
        </p:nvSpPr>
        <p:spPr>
          <a:xfrm>
            <a:off x="9229954" y="1671523"/>
            <a:ext cx="468173" cy="131674"/>
          </a:xfrm>
          <a:prstGeom prst="rect">
            <a:avLst/>
          </a:prstGeom>
          <a:solidFill>
            <a:srgbClr val="FFFFFF"/>
          </a:solidFill>
          <a:ln/>
        </p:spPr>
      </p:sp>
      <p:sp>
        <p:nvSpPr>
          <p:cNvPr id="29" name="text-838"/>
          <p:cNvSpPr txBox="1"/>
          <p:nvPr/>
        </p:nvSpPr>
        <p:spPr>
          <a:xfrm>
            <a:off x="8595360" y="2240280"/>
            <a:ext cx="1554480" cy="256032"/>
          </a:xfrm>
          <a:prstGeom prst="rect">
            <a:avLst/>
          </a:prstGeom>
          <a:noFill/>
          <a:ln/>
        </p:spPr>
        <p:txBody>
          <a:bodyPr wrap="square" lIns="0" tIns="0" rIns="0" bIns="0" rtlCol="0" anchor="t"/>
          <a:lstStyle/>
          <a:p>
            <a:pPr algn="ctr" indent="0" marL="0">
              <a:buNone/>
            </a:pPr>
            <a:r>
              <a:rPr lang="en-US" sz="1150" b="1" dirty="0">
                <a:solidFill>
                  <a:schemeClr val="tx1"/>
                </a:solidFill>
                <a:latin typeface="Calibri" pitchFamily="34" charset="0"/>
                <a:ea typeface="Calibri" pitchFamily="34" charset="-122"/>
                <a:cs typeface="Calibri" pitchFamily="34" charset="-120"/>
              </a:rPr>
              <a:t>No entry</a:t>
            </a:r>
            <a:endParaRPr lang="en-US" sz="1150" dirty="0"/>
          </a:p>
        </p:txBody>
      </p:sp>
      <p:sp>
        <p:nvSpPr>
          <p:cNvPr id="30" name="text-839"/>
          <p:cNvSpPr txBox="1"/>
          <p:nvPr/>
        </p:nvSpPr>
        <p:spPr>
          <a:xfrm>
            <a:off x="8595360" y="2487168"/>
            <a:ext cx="1554480" cy="228600"/>
          </a:xfrm>
          <a:prstGeom prst="rect">
            <a:avLst/>
          </a:prstGeom>
          <a:noFill/>
          <a:ln/>
        </p:spPr>
        <p:txBody>
          <a:bodyPr wrap="square" lIns="0" tIns="0" rIns="0" bIns="0" rtlCol="0" anchor="t"/>
          <a:lstStyle/>
          <a:p>
            <a:pPr algn="ctr" indent="0" marL="0">
              <a:buNone/>
            </a:pPr>
            <a:r>
              <a:rPr lang="en-US" sz="950" dirty="0">
                <a:solidFill>
                  <a:srgbClr val="5B6169"/>
                </a:solidFill>
                <a:latin typeface="Calibri" pitchFamily="34" charset="0"/>
                <a:ea typeface="Calibri" pitchFamily="34" charset="-122"/>
                <a:cs typeface="Calibri" pitchFamily="34" charset="-120"/>
              </a:rPr>
              <a:t>Far end, one-way road</a:t>
            </a:r>
            <a:endParaRPr lang="en-US" sz="950" dirty="0"/>
          </a:p>
        </p:txBody>
      </p:sp>
      <p:sp>
        <p:nvSpPr>
          <p:cNvPr id="31" name="shape-840"/>
          <p:cNvSpPr/>
          <p:nvPr/>
        </p:nvSpPr>
        <p:spPr>
          <a:xfrm>
            <a:off x="10698480" y="1371600"/>
            <a:ext cx="731520" cy="731520"/>
          </a:xfrm>
          <a:prstGeom prst="ellipse">
            <a:avLst/>
          </a:prstGeom>
          <a:solidFill>
            <a:schemeClr val="accent3"/>
          </a:solidFill>
          <a:ln w="6350">
            <a:solidFill>
              <a:srgbClr val="1F2326"/>
            </a:solidFill>
            <a:prstDash val="solid"/>
          </a:ln>
        </p:spPr>
      </p:sp>
      <p:sp>
        <p:nvSpPr>
          <p:cNvPr id="32" name="text-841"/>
          <p:cNvSpPr txBox="1"/>
          <p:nvPr/>
        </p:nvSpPr>
        <p:spPr>
          <a:xfrm>
            <a:off x="10698480" y="13716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a:t>
            </a:r>
            <a:endParaRPr lang="en-US" sz="2400" dirty="0"/>
          </a:p>
        </p:txBody>
      </p:sp>
      <p:sp>
        <p:nvSpPr>
          <p:cNvPr id="33" name="text-842"/>
          <p:cNvSpPr txBox="1"/>
          <p:nvPr/>
        </p:nvSpPr>
        <p:spPr>
          <a:xfrm>
            <a:off x="10195560" y="2240280"/>
            <a:ext cx="1554480" cy="256032"/>
          </a:xfrm>
          <a:prstGeom prst="rect">
            <a:avLst/>
          </a:prstGeom>
          <a:noFill/>
          <a:ln/>
        </p:spPr>
        <p:txBody>
          <a:bodyPr wrap="square" lIns="0" tIns="0" rIns="0" bIns="0" rtlCol="0" anchor="t"/>
          <a:lstStyle/>
          <a:p>
            <a:pPr algn="ctr" indent="0" marL="0">
              <a:buNone/>
            </a:pPr>
            <a:r>
              <a:rPr lang="en-US" sz="1150" b="1" dirty="0">
                <a:solidFill>
                  <a:schemeClr val="tx1"/>
                </a:solidFill>
                <a:latin typeface="Calibri" pitchFamily="34" charset="0"/>
                <a:ea typeface="Calibri" pitchFamily="34" charset="-122"/>
                <a:cs typeface="Calibri" pitchFamily="34" charset="-120"/>
              </a:rPr>
              <a:t>Keep right</a:t>
            </a:r>
            <a:endParaRPr lang="en-US" sz="1150" dirty="0"/>
          </a:p>
        </p:txBody>
      </p:sp>
      <p:sp>
        <p:nvSpPr>
          <p:cNvPr id="34" name="text-843"/>
          <p:cNvSpPr txBox="1"/>
          <p:nvPr/>
        </p:nvSpPr>
        <p:spPr>
          <a:xfrm>
            <a:off x="10195560" y="2487168"/>
            <a:ext cx="1554480" cy="228600"/>
          </a:xfrm>
          <a:prstGeom prst="rect">
            <a:avLst/>
          </a:prstGeom>
          <a:noFill/>
          <a:ln/>
        </p:spPr>
        <p:txBody>
          <a:bodyPr wrap="square" lIns="0" tIns="0" rIns="0" bIns="0" rtlCol="0" anchor="t"/>
          <a:lstStyle/>
          <a:p>
            <a:pPr algn="ctr" indent="0" marL="0">
              <a:buNone/>
            </a:pPr>
            <a:r>
              <a:rPr lang="en-US" sz="950" dirty="0">
                <a:solidFill>
                  <a:srgbClr val="5B6169"/>
                </a:solidFill>
                <a:latin typeface="Calibri" pitchFamily="34" charset="0"/>
                <a:ea typeface="Calibri" pitchFamily="34" charset="-122"/>
                <a:cs typeface="Calibri" pitchFamily="34" charset="-120"/>
              </a:rPr>
              <a:t>Median nose</a:t>
            </a:r>
            <a:endParaRPr lang="en-US" sz="950" dirty="0"/>
          </a:p>
        </p:txBody>
      </p:sp>
      <p:sp>
        <p:nvSpPr>
          <p:cNvPr id="35" name="shape-844"/>
          <p:cNvSpPr/>
          <p:nvPr/>
        </p:nvSpPr>
        <p:spPr>
          <a:xfrm>
            <a:off x="502920" y="2971800"/>
            <a:ext cx="5486400" cy="3200400"/>
          </a:xfrm>
          <a:prstGeom prst="roundRect">
            <a:avLst>
              <a:gd name="adj" fmla="val 2286"/>
            </a:avLst>
          </a:prstGeom>
          <a:solidFill>
            <a:srgbClr val="F4F5F7"/>
          </a:solidFill>
          <a:ln w="9525">
            <a:solidFill>
              <a:srgbClr val="E3E5E8"/>
            </a:solidFill>
            <a:prstDash val="solid"/>
          </a:ln>
        </p:spPr>
      </p:sp>
      <p:sp>
        <p:nvSpPr>
          <p:cNvPr id="36" name="text-845"/>
          <p:cNvSpPr txBox="1"/>
          <p:nvPr/>
        </p:nvSpPr>
        <p:spPr>
          <a:xfrm>
            <a:off x="667512" y="3108960"/>
            <a:ext cx="515721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How each sign is drawn on the plan</a:t>
            </a:r>
            <a:endParaRPr lang="en-US" sz="1300" dirty="0"/>
          </a:p>
        </p:txBody>
      </p:sp>
      <p:sp>
        <p:nvSpPr>
          <p:cNvPr id="37" name="shape-846"/>
          <p:cNvSpPr/>
          <p:nvPr/>
        </p:nvSpPr>
        <p:spPr>
          <a:xfrm>
            <a:off x="868680" y="3840480"/>
            <a:ext cx="0" cy="685800"/>
          </a:xfrm>
          <a:prstGeom prst="line">
            <a:avLst/>
          </a:prstGeom>
          <a:noFill/>
          <a:ln w="31750">
            <a:solidFill>
              <a:srgbClr val="1F2326"/>
            </a:solidFill>
            <a:prstDash val="solid"/>
          </a:ln>
        </p:spPr>
      </p:sp>
      <p:sp>
        <p:nvSpPr>
          <p:cNvPr id="38" name="shape-847"/>
          <p:cNvSpPr/>
          <p:nvPr/>
        </p:nvSpPr>
        <p:spPr>
          <a:xfrm>
            <a:off x="804672" y="4114800"/>
            <a:ext cx="128016" cy="128016"/>
          </a:xfrm>
          <a:prstGeom prst="ellipse">
            <a:avLst/>
          </a:prstGeom>
          <a:solidFill>
            <a:srgbClr val="1F2326"/>
          </a:solidFill>
          <a:ln/>
        </p:spPr>
      </p:sp>
      <p:sp>
        <p:nvSpPr>
          <p:cNvPr id="39" name="shape-848"/>
          <p:cNvSpPr/>
          <p:nvPr/>
        </p:nvSpPr>
        <p:spPr>
          <a:xfrm>
            <a:off x="932688" y="4178808"/>
            <a:ext cx="896112" cy="0"/>
          </a:xfrm>
          <a:prstGeom prst="line">
            <a:avLst/>
          </a:prstGeom>
          <a:noFill/>
          <a:ln w="9525">
            <a:solidFill>
              <a:srgbClr val="1F2326"/>
            </a:solidFill>
            <a:prstDash val="solid"/>
          </a:ln>
        </p:spPr>
      </p:sp>
      <p:sp>
        <p:nvSpPr>
          <p:cNvPr id="40" name="shape-849"/>
          <p:cNvSpPr/>
          <p:nvPr/>
        </p:nvSpPr>
        <p:spPr>
          <a:xfrm>
            <a:off x="1828800" y="3886200"/>
            <a:ext cx="594360" cy="594360"/>
          </a:xfrm>
          <a:prstGeom prst="ellipse">
            <a:avLst/>
          </a:prstGeom>
          <a:solidFill>
            <a:schemeClr val="accent1"/>
          </a:solidFill>
          <a:ln w="6350">
            <a:solidFill>
              <a:srgbClr val="1F2326"/>
            </a:solidFill>
            <a:prstDash val="solid"/>
          </a:ln>
        </p:spPr>
      </p:sp>
      <p:sp>
        <p:nvSpPr>
          <p:cNvPr id="41" name="shape-850"/>
          <p:cNvSpPr/>
          <p:nvPr/>
        </p:nvSpPr>
        <p:spPr>
          <a:xfrm>
            <a:off x="1917954" y="3975354"/>
            <a:ext cx="416052" cy="416052"/>
          </a:xfrm>
          <a:prstGeom prst="ellipse">
            <a:avLst/>
          </a:prstGeom>
          <a:solidFill>
            <a:srgbClr val="FFFFFF"/>
          </a:solidFill>
          <a:ln/>
        </p:spPr>
      </p:sp>
      <p:sp>
        <p:nvSpPr>
          <p:cNvPr id="42" name="text-851"/>
          <p:cNvSpPr txBox="1"/>
          <p:nvPr/>
        </p:nvSpPr>
        <p:spPr>
          <a:xfrm>
            <a:off x="1828800" y="3886200"/>
            <a:ext cx="594360" cy="594360"/>
          </a:xfrm>
          <a:prstGeom prst="rect">
            <a:avLst/>
          </a:prstGeom>
          <a:noFill/>
          <a:ln/>
        </p:spPr>
        <p:txBody>
          <a:bodyPr wrap="square" lIns="0" tIns="0" rIns="0" bIns="0" rtlCol="0" anchor="ctr"/>
          <a:lstStyle/>
          <a:p>
            <a:pPr algn="ctr" indent="0" marL="0">
              <a:buNone/>
            </a:pPr>
            <a:r>
              <a:rPr lang="en-US" sz="1600" b="1" dirty="0">
                <a:solidFill>
                  <a:srgbClr val="1F2326"/>
                </a:solidFill>
                <a:latin typeface="Arial" pitchFamily="34" charset="0"/>
                <a:ea typeface="Arial" pitchFamily="34" charset="-122"/>
                <a:cs typeface="Arial" pitchFamily="34" charset="-120"/>
              </a:rPr>
              <a:t>30</a:t>
            </a:r>
            <a:endParaRPr lang="en-US" sz="1600" dirty="0"/>
          </a:p>
        </p:txBody>
      </p:sp>
      <p:sp>
        <p:nvSpPr>
          <p:cNvPr id="43" name="text-852"/>
          <p:cNvSpPr txBox="1"/>
          <p:nvPr/>
        </p:nvSpPr>
        <p:spPr>
          <a:xfrm>
            <a:off x="1737360" y="4526280"/>
            <a:ext cx="777240" cy="201168"/>
          </a:xfrm>
          <a:prstGeom prst="rect">
            <a:avLst/>
          </a:prstGeom>
          <a:noFill/>
          <a:ln/>
        </p:spPr>
        <p:txBody>
          <a:bodyPr wrap="square" lIns="0" tIns="0" rIns="0" bIns="0" rtlCol="0" anchor="t"/>
          <a:lstStyle/>
          <a:p>
            <a:pPr algn="ctr" indent="0" marL="0">
              <a:buNone/>
            </a:pPr>
            <a:r>
              <a:rPr lang="en-US" sz="900" b="1" dirty="0">
                <a:solidFill>
                  <a:schemeClr val="tx1"/>
                </a:solidFill>
                <a:latin typeface="Calibri" pitchFamily="34" charset="0"/>
                <a:ea typeface="Calibri" pitchFamily="34" charset="-122"/>
                <a:cs typeface="Calibri" pitchFamily="34" charset="-120"/>
              </a:rPr>
              <a:t>SG-01</a:t>
            </a:r>
            <a:endParaRPr lang="en-US" sz="900" dirty="0"/>
          </a:p>
        </p:txBody>
      </p:sp>
      <p:sp>
        <p:nvSpPr>
          <p:cNvPr id="44" name="text-853"/>
          <p:cNvSpPr txBox="1"/>
          <p:nvPr/>
        </p:nvSpPr>
        <p:spPr>
          <a:xfrm>
            <a:off x="2697480" y="3566160"/>
            <a:ext cx="3154680" cy="2468880"/>
          </a:xfrm>
          <a:prstGeom prst="rect">
            <a:avLst/>
          </a:prstGeom>
          <a:noFill/>
          <a:ln/>
        </p:spPr>
        <p:txBody>
          <a:bodyPr wrap="square" lIns="0" tIns="0" rIns="0" bIns="0" rtlCol="0" anchor="t"/>
          <a:lstStyle/>
          <a:p>
            <a:pPr marL="152400" indent="-152400">
              <a:spcAft>
                <a:spcPts val="400"/>
              </a:spcAft>
              <a:buSzPct val="100000"/>
              <a:buChar char="•"/>
            </a:pPr>
            <a:r>
              <a:rPr lang="en-US" sz="1050" b="1" dirty="0">
                <a:solidFill>
                  <a:srgbClr val="3A3F45"/>
                </a:solidFill>
                <a:latin typeface="Calibri" pitchFamily="34" charset="0"/>
                <a:ea typeface="Calibri" pitchFamily="34" charset="-122"/>
                <a:cs typeface="Calibri" pitchFamily="34" charset="-120"/>
              </a:rPr>
              <a:t>Post and plate. </a:t>
            </a:r>
            <a:pPr indent="0" marL="0">
              <a:spcAft>
                <a:spcPts val="400"/>
              </a:spcAft>
              <a:buNone/>
            </a:pPr>
            <a:r>
              <a:rPr lang="en-US" sz="1050" dirty="0">
                <a:solidFill>
                  <a:srgbClr val="3A3F45"/>
                </a:solidFill>
                <a:latin typeface="Calibri" pitchFamily="34" charset="0"/>
                <a:ea typeface="Calibri" pitchFamily="34" charset="-122"/>
                <a:cs typeface="Calibri" pitchFamily="34" charset="-120"/>
              </a:rPr>
              <a:t>Black dot outside the edge treatment; plate faces the traffic.</a:t>
            </a:r>
            <a:endParaRPr lang="en-US" sz="1050" dirty="0"/>
          </a:p>
          <a:p>
            <a:pPr marL="152400" indent="-152400">
              <a:spcAft>
                <a:spcPts val="400"/>
              </a:spcAft>
              <a:buSzPct val="100000"/>
              <a:buChar char="•"/>
            </a:pPr>
            <a:r>
              <a:rPr lang="en-US" sz="1050" b="1" dirty="0">
                <a:solidFill>
                  <a:srgbClr val="3A3F45"/>
                </a:solidFill>
                <a:latin typeface="Calibri" pitchFamily="34" charset="0"/>
                <a:ea typeface="Calibri" pitchFamily="34" charset="-122"/>
                <a:cs typeface="Calibri" pitchFamily="34" charset="-120"/>
              </a:rPr>
              <a:t>Leader, symbol and ID. </a:t>
            </a:r>
            <a:pPr indent="0" marL="0">
              <a:spcAft>
                <a:spcPts val="400"/>
              </a:spcAft>
              <a:buNone/>
            </a:pPr>
            <a:r>
              <a:rPr lang="en-US" sz="1050" dirty="0">
                <a:solidFill>
                  <a:srgbClr val="3A3F45"/>
                </a:solidFill>
                <a:latin typeface="Calibri" pitchFamily="34" charset="0"/>
                <a:ea typeface="Calibri" pitchFamily="34" charset="-122"/>
                <a:cs typeface="Calibri" pitchFamily="34" charset="-120"/>
              </a:rPr>
              <a:t>IDs SG-01, SG-02 ... follow the chainage order.</a:t>
            </a:r>
            <a:endParaRPr lang="en-US" sz="1050" dirty="0"/>
          </a:p>
          <a:p>
            <a:pPr marL="152400" indent="-152400">
              <a:spcAft>
                <a:spcPts val="400"/>
              </a:spcAft>
              <a:buSzPct val="100000"/>
              <a:buChar char="•"/>
            </a:pPr>
            <a:r>
              <a:rPr lang="en-US" sz="1050" b="1" dirty="0">
                <a:solidFill>
                  <a:srgbClr val="3A3F45"/>
                </a:solidFill>
                <a:latin typeface="Calibri" pitchFamily="34" charset="0"/>
                <a:ea typeface="Calibri" pitchFamily="34" charset="-122"/>
                <a:cs typeface="Calibri" pitchFamily="34" charset="-120"/>
              </a:rPr>
              <a:t>Sizes. </a:t>
            </a:r>
            <a:pPr indent="0" marL="0">
              <a:spcAft>
                <a:spcPts val="400"/>
              </a:spcAft>
              <a:buNone/>
            </a:pPr>
            <a:r>
              <a:rPr lang="en-US" sz="1050" dirty="0">
                <a:solidFill>
                  <a:srgbClr val="3A3F45"/>
                </a:solidFill>
                <a:latin typeface="Calibri" pitchFamily="34" charset="0"/>
                <a:ea typeface="Calibri" pitchFamily="34" charset="-122"/>
                <a:cs typeface="Calibri" pitchFamily="34" charset="-120"/>
              </a:rPr>
              <a:t>By speed (HDS) or your Symbol size.</a:t>
            </a:r>
            <a:endParaRPr lang="en-US" sz="1050" dirty="0"/>
          </a:p>
        </p:txBody>
      </p:sp>
      <p:sp>
        <p:nvSpPr>
          <p:cNvPr id="45" name="shape-854"/>
          <p:cNvSpPr/>
          <p:nvPr/>
        </p:nvSpPr>
        <p:spPr>
          <a:xfrm>
            <a:off x="6144768" y="2971800"/>
            <a:ext cx="5513832" cy="3200400"/>
          </a:xfrm>
          <a:prstGeom prst="roundRect">
            <a:avLst>
              <a:gd name="adj" fmla="val 2286"/>
            </a:avLst>
          </a:prstGeom>
          <a:solidFill>
            <a:srgbClr val="F4F5F7"/>
          </a:solidFill>
          <a:ln w="9525">
            <a:solidFill>
              <a:srgbClr val="E3E5E8"/>
            </a:solidFill>
            <a:prstDash val="solid"/>
          </a:ln>
        </p:spPr>
      </p:sp>
      <p:sp>
        <p:nvSpPr>
          <p:cNvPr id="46" name="text-855"/>
          <p:cNvSpPr txBox="1"/>
          <p:nvPr/>
        </p:nvSpPr>
        <p:spPr>
          <a:xfrm>
            <a:off x="6309360" y="3108960"/>
            <a:ext cx="5184648"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Also drawn and reported</a:t>
            </a:r>
            <a:endParaRPr lang="en-US" sz="1300" dirty="0"/>
          </a:p>
        </p:txBody>
      </p:sp>
      <p:sp>
        <p:nvSpPr>
          <p:cNvPr id="47" name="text-856"/>
          <p:cNvSpPr txBox="1"/>
          <p:nvPr/>
        </p:nvSpPr>
        <p:spPr>
          <a:xfrm>
            <a:off x="6309360" y="3474720"/>
            <a:ext cx="5184648" cy="2587752"/>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3A3F45"/>
                </a:solidFill>
                <a:latin typeface="Calibri" pitchFamily="34" charset="0"/>
                <a:ea typeface="Calibri" pitchFamily="34" charset="-122"/>
                <a:cs typeface="Calibri" pitchFamily="34" charset="-120"/>
              </a:rPr>
              <a:t>Chevron boards on the outside of bends (permanent yellow / black, temporary black / yellow)</a:t>
            </a:r>
            <a:endParaRPr lang="en-US" sz="1100" dirty="0"/>
          </a:p>
          <a:p>
            <a:pPr marL="152400" indent="-152400">
              <a:spcAft>
                <a:spcPts val="500"/>
              </a:spcAft>
              <a:buSzPct val="100000"/>
              <a:buChar char="•"/>
            </a:pPr>
            <a:r>
              <a:rPr lang="en-US" sz="1100" dirty="0">
                <a:solidFill>
                  <a:srgbClr val="3A3F45"/>
                </a:solidFill>
                <a:latin typeface="Calibri" pitchFamily="34" charset="0"/>
                <a:ea typeface="Calibri" pitchFamily="34" charset="-122"/>
                <a:cs typeface="Calibri" pitchFamily="34" charset="-120"/>
              </a:rPr>
              <a:t>ROAD CLOSED boards at closed ends</a:t>
            </a:r>
            <a:endParaRPr lang="en-US" sz="1100" dirty="0"/>
          </a:p>
          <a:p>
            <a:pPr marL="152400" indent="-152400">
              <a:spcAft>
                <a:spcPts val="500"/>
              </a:spcAft>
              <a:buSzPct val="100000"/>
              <a:buChar char="•"/>
            </a:pPr>
            <a:r>
              <a:rPr lang="en-US" sz="1100" dirty="0">
                <a:solidFill>
                  <a:srgbClr val="3A3F45"/>
                </a:solidFill>
                <a:latin typeface="Calibri" pitchFamily="34" charset="0"/>
                <a:ea typeface="Calibri" pitchFamily="34" charset="-122"/>
                <a:cs typeface="Calibri" pitchFamily="34" charset="-120"/>
              </a:rPr>
              <a:t>White lane arrows on the straights, delineator posts on curves</a:t>
            </a:r>
            <a:endParaRPr lang="en-US" sz="1100" dirty="0"/>
          </a:p>
          <a:p>
            <a:pPr marL="152400" indent="-152400">
              <a:spcAft>
                <a:spcPts val="500"/>
              </a:spcAft>
              <a:buSzPct val="100000"/>
              <a:buChar char="•"/>
            </a:pPr>
            <a:r>
              <a:rPr lang="en-US" sz="1100" dirty="0">
                <a:solidFill>
                  <a:srgbClr val="3A3F45"/>
                </a:solidFill>
                <a:latin typeface="Calibri" pitchFamily="34" charset="0"/>
                <a:ea typeface="Calibri" pitchFamily="34" charset="-122"/>
                <a:cs typeface="Calibri" pitchFamily="34" charset="-120"/>
              </a:rPr>
              <a:t>STOP / GIVE WAY on every junction branch (RDJ)</a:t>
            </a:r>
            <a:endParaRPr lang="en-US" sz="1100" dirty="0"/>
          </a:p>
          <a:p>
            <a:pPr marL="152400" indent="-152400">
              <a:spcAft>
                <a:spcPts val="500"/>
              </a:spcAft>
              <a:buSzPct val="100000"/>
              <a:buChar char="•"/>
            </a:pPr>
            <a:r>
              <a:rPr lang="en-US" sz="1100" dirty="0">
                <a:solidFill>
                  <a:srgbClr val="3A3F45"/>
                </a:solidFill>
                <a:latin typeface="Calibri" pitchFamily="34" charset="0"/>
                <a:ea typeface="Calibri" pitchFamily="34" charset="-122"/>
                <a:cs typeface="Calibri" pitchFamily="34" charset="-120"/>
              </a:rPr>
              <a:t>Sign schedule in the report: ID, sign, plate size, chainage, side, facing, post E / N</a:t>
            </a:r>
            <a:endParaRPr lang="en-US" sz="110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C  ·  RDM</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Road markings: draw, remove and quantities</a:t>
            </a:r>
            <a:endParaRPr lang="en-US" sz="2600" dirty="0"/>
          </a:p>
        </p:txBody>
      </p:sp>
      <p:sp>
        <p:nvSpPr>
          <p:cNvPr id="4" name="shape-857"/>
          <p:cNvSpPr/>
          <p:nvPr/>
        </p:nvSpPr>
        <p:spPr>
          <a:xfrm>
            <a:off x="502920" y="1325880"/>
            <a:ext cx="329184" cy="329184"/>
          </a:xfrm>
          <a:prstGeom prst="ellipse">
            <a:avLst/>
          </a:prstGeom>
          <a:solidFill>
            <a:schemeClr val="accent1"/>
          </a:solidFill>
          <a:ln/>
        </p:spPr>
      </p:sp>
      <p:sp>
        <p:nvSpPr>
          <p:cNvPr id="5" name="text-858"/>
          <p:cNvSpPr txBox="1"/>
          <p:nvPr/>
        </p:nvSpPr>
        <p:spPr>
          <a:xfrm>
            <a:off x="502920" y="13258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859"/>
          <p:cNvSpPr txBox="1"/>
          <p:nvPr/>
        </p:nvSpPr>
        <p:spPr>
          <a:xfrm>
            <a:off x="978408" y="1307592"/>
            <a:ext cx="4096512" cy="768096"/>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Type RDM</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Select the road centre line.</a:t>
            </a:r>
            <a:endParaRPr lang="en-US" sz="1200" dirty="0"/>
          </a:p>
        </p:txBody>
      </p:sp>
      <p:sp>
        <p:nvSpPr>
          <p:cNvPr id="7" name="shape-860"/>
          <p:cNvSpPr/>
          <p:nvPr/>
        </p:nvSpPr>
        <p:spPr>
          <a:xfrm>
            <a:off x="502920" y="2130552"/>
            <a:ext cx="329184" cy="329184"/>
          </a:xfrm>
          <a:prstGeom prst="ellipse">
            <a:avLst/>
          </a:prstGeom>
          <a:solidFill>
            <a:schemeClr val="accent1"/>
          </a:solidFill>
          <a:ln/>
        </p:spPr>
      </p:sp>
      <p:sp>
        <p:nvSpPr>
          <p:cNvPr id="8" name="text-861"/>
          <p:cNvSpPr txBox="1"/>
          <p:nvPr/>
        </p:nvSpPr>
        <p:spPr>
          <a:xfrm>
            <a:off x="502920" y="21305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9" name="text-862"/>
          <p:cNvSpPr txBox="1"/>
          <p:nvPr/>
        </p:nvSpPr>
        <p:spPr>
          <a:xfrm>
            <a:off x="978408" y="2112264"/>
            <a:ext cx="4096512" cy="768096"/>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Choose Draw or Remove</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Road markings [Draw/Remove] &lt;Draw&gt;: press Enter to draw.</a:t>
            </a:r>
            <a:endParaRPr lang="en-US" sz="1200" dirty="0"/>
          </a:p>
        </p:txBody>
      </p:sp>
      <p:sp>
        <p:nvSpPr>
          <p:cNvPr id="10" name="shape-863"/>
          <p:cNvSpPr/>
          <p:nvPr/>
        </p:nvSpPr>
        <p:spPr>
          <a:xfrm>
            <a:off x="502920" y="2935224"/>
            <a:ext cx="329184" cy="329184"/>
          </a:xfrm>
          <a:prstGeom prst="ellipse">
            <a:avLst/>
          </a:prstGeom>
          <a:solidFill>
            <a:schemeClr val="accent1"/>
          </a:solidFill>
          <a:ln/>
        </p:spPr>
      </p:sp>
      <p:sp>
        <p:nvSpPr>
          <p:cNvPr id="11" name="text-864"/>
          <p:cNvSpPr txBox="1"/>
          <p:nvPr/>
        </p:nvSpPr>
        <p:spPr>
          <a:xfrm>
            <a:off x="502920" y="2935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2" name="text-865"/>
          <p:cNvSpPr txBox="1"/>
          <p:nvPr/>
        </p:nvSpPr>
        <p:spPr>
          <a:xfrm>
            <a:off x="978408" y="2916936"/>
            <a:ext cx="4096512" cy="768096"/>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Markings are drawn</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Centre line by your Centre marking setting, yellow L4 edge lines, bend warnings, arrows, SLOW (if on).</a:t>
            </a:r>
            <a:endParaRPr lang="en-US" sz="1200" dirty="0"/>
          </a:p>
        </p:txBody>
      </p:sp>
      <p:sp>
        <p:nvSpPr>
          <p:cNvPr id="13" name="shape-866"/>
          <p:cNvSpPr/>
          <p:nvPr/>
        </p:nvSpPr>
        <p:spPr>
          <a:xfrm>
            <a:off x="502920" y="3739896"/>
            <a:ext cx="329184" cy="329184"/>
          </a:xfrm>
          <a:prstGeom prst="ellipse">
            <a:avLst/>
          </a:prstGeom>
          <a:solidFill>
            <a:schemeClr val="accent1"/>
          </a:solidFill>
          <a:ln/>
        </p:spPr>
      </p:sp>
      <p:sp>
        <p:nvSpPr>
          <p:cNvPr id="14" name="text-867"/>
          <p:cNvSpPr txBox="1"/>
          <p:nvPr/>
        </p:nvSpPr>
        <p:spPr>
          <a:xfrm>
            <a:off x="502920" y="3739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5" name="text-868"/>
          <p:cNvSpPr txBox="1"/>
          <p:nvPr/>
        </p:nvSpPr>
        <p:spPr>
          <a:xfrm>
            <a:off x="978408" y="3721608"/>
            <a:ext cx="4096512" cy="768096"/>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Remove</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Deletes the markings RDM drew and clears their quantities from the report.</a:t>
            </a:r>
            <a:endParaRPr lang="en-US" sz="1200" dirty="0"/>
          </a:p>
        </p:txBody>
      </p:sp>
      <p:sp>
        <p:nvSpPr>
          <p:cNvPr id="16" name="shape-869"/>
          <p:cNvSpPr/>
          <p:nvPr/>
        </p:nvSpPr>
        <p:spPr>
          <a:xfrm>
            <a:off x="502920" y="4709160"/>
            <a:ext cx="4572000" cy="1463040"/>
          </a:xfrm>
          <a:prstGeom prst="roundRect">
            <a:avLst>
              <a:gd name="adj" fmla="val 5000"/>
            </a:avLst>
          </a:prstGeom>
          <a:solidFill>
            <a:srgbClr val="FFF6D6"/>
          </a:solidFill>
          <a:ln w="9525">
            <a:solidFill>
              <a:srgbClr val="F2D27A"/>
            </a:solidFill>
            <a:prstDash val="solid"/>
          </a:ln>
        </p:spPr>
      </p:sp>
      <p:sp>
        <p:nvSpPr>
          <p:cNvPr id="17" name="text-870"/>
          <p:cNvSpPr txBox="1"/>
          <p:nvPr/>
        </p:nvSpPr>
        <p:spPr>
          <a:xfrm>
            <a:off x="649224" y="4782312"/>
            <a:ext cx="4279392" cy="1316736"/>
          </a:xfrm>
          <a:prstGeom prst="rect">
            <a:avLst/>
          </a:prstGeom>
          <a:noFill/>
          <a:ln/>
        </p:spPr>
        <p:txBody>
          <a:bodyPr wrap="square" lIns="0" tIns="0" rIns="0" bIns="0" rtlCol="0" anchor="ctr"/>
          <a:lstStyle/>
          <a:p>
            <a:pPr indent="0" marL="0">
              <a:buNone/>
            </a:pPr>
            <a:r>
              <a:rPr lang="en-US" sz="1100" b="1" dirty="0">
                <a:solidFill>
                  <a:srgbClr val="A65F00"/>
                </a:solidFill>
                <a:latin typeface="Calibri" pitchFamily="34" charset="0"/>
                <a:ea typeface="Calibri" pitchFamily="34" charset="-122"/>
                <a:cs typeface="Calibri" pitchFamily="34" charset="-120"/>
              </a:rPr>
              <a:t>Good to know  </a:t>
            </a:r>
            <a:pPr indent="0" marL="0">
              <a:buNone/>
            </a:pPr>
            <a:r>
              <a:rPr lang="en-US" sz="1100" dirty="0">
                <a:solidFill>
                  <a:srgbClr val="3A3F45"/>
                </a:solidFill>
                <a:latin typeface="Calibri" pitchFamily="34" charset="0"/>
                <a:ea typeface="Calibri" pitchFamily="34" charset="-122"/>
                <a:cs typeface="Calibri" pitchFamily="34" charset="-120"/>
              </a:rPr>
              <a:t>New roads: tick Road markings in RDP and you do not need RDM. RDJ redraws the markings of both roads with the junction gaps and adds turning-area markings.</a:t>
            </a:r>
            <a:endParaRPr lang="en-US" sz="1100" dirty="0"/>
          </a:p>
        </p:txBody>
      </p:sp>
      <p:graphicFrame>
        <p:nvGraphicFramePr>
          <p:cNvPr id="22" name="table-871"/>
          <p:cNvGraphicFramePr>
            <a:graphicFrameLocks noGrp="1"/>
          </p:cNvGraphicFramePr>
          <p:nvPr>
            <p:extLst>
              <p:ext uri="{D42A27DB-BD31-4B8C-83A1-F6EECF244321}">
                <p14:modId xmlns:p14="http://schemas.microsoft.com/office/powerpoint/2010/main" val="1579011935"/>
              </p:ext>
            </p:extLst>
          </p:nvPr>
        </p:nvGraphicFramePr>
        <p:xfrm>
          <a:off x="5349240" y="1325880"/>
          <a:ext cx="6309360" cy="914400"/>
        </p:xfrm>
        <a:graphic>
          <a:graphicData uri="http://schemas.openxmlformats.org/drawingml/2006/table">
            <a:tbl>
              <a:tblPr/>
              <a:tblGrid>
                <a:gridCol w="1005840"/>
                <a:gridCol w="2377440"/>
                <a:gridCol w="2926080"/>
              </a:tblGrid>
              <a:tr h="41148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Use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Pattern / size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41148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L1</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Lane /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2/6, 3/9, 4/12 m by speed, white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L2</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Warning before bends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6/2, 9/3, 12/4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1148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L2A</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No overtaking, bends, approaches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Continuous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L4</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Edge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Yellow, 120 mm (150 mm over 100 km/h)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1148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L5</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Beside an auxiliary lane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 m / 1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L5/3</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Across a side road mouth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600 / 300 mm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1148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L7</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Stop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Solid line + STOP text (2.1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L8</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Give way</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Double broken line + 3.75 x 1.25 m triangle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1148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Arrows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Lane direction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5.0 m or 7.5 m by speed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Report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Quantities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Length per line type and paint area in m²</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bl>
          </a:graphicData>
        </a:graphic>
      </p:graphicFrame>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C  ·  RDX</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Cross sections with widths, layers and heights</a:t>
            </a:r>
            <a:endParaRPr lang="en-US" sz="2600" dirty="0"/>
          </a:p>
        </p:txBody>
      </p:sp>
      <p:sp>
        <p:nvSpPr>
          <p:cNvPr id="4" name="shape-872"/>
          <p:cNvSpPr/>
          <p:nvPr/>
        </p:nvSpPr>
        <p:spPr>
          <a:xfrm>
            <a:off x="502920" y="1325880"/>
            <a:ext cx="329184" cy="329184"/>
          </a:xfrm>
          <a:prstGeom prst="ellipse">
            <a:avLst/>
          </a:prstGeom>
          <a:solidFill>
            <a:schemeClr val="accent1"/>
          </a:solidFill>
          <a:ln/>
        </p:spPr>
      </p:sp>
      <p:sp>
        <p:nvSpPr>
          <p:cNvPr id="5" name="text-873"/>
          <p:cNvSpPr txBox="1"/>
          <p:nvPr/>
        </p:nvSpPr>
        <p:spPr>
          <a:xfrm>
            <a:off x="502920" y="13258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874"/>
          <p:cNvSpPr txBox="1"/>
          <p:nvPr/>
        </p:nvSpPr>
        <p:spPr>
          <a:xfrm>
            <a:off x="978408" y="1307592"/>
            <a:ext cx="3685032" cy="80467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Type RDX</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Select the road centre line.</a:t>
            </a:r>
            <a:endParaRPr lang="en-US" sz="1200" dirty="0"/>
          </a:p>
        </p:txBody>
      </p:sp>
      <p:sp>
        <p:nvSpPr>
          <p:cNvPr id="7" name="shape-875"/>
          <p:cNvSpPr/>
          <p:nvPr/>
        </p:nvSpPr>
        <p:spPr>
          <a:xfrm>
            <a:off x="502920" y="2167128"/>
            <a:ext cx="329184" cy="329184"/>
          </a:xfrm>
          <a:prstGeom prst="ellipse">
            <a:avLst/>
          </a:prstGeom>
          <a:solidFill>
            <a:schemeClr val="accent1"/>
          </a:solidFill>
          <a:ln/>
        </p:spPr>
      </p:sp>
      <p:sp>
        <p:nvSpPr>
          <p:cNvPr id="8" name="text-876"/>
          <p:cNvSpPr txBox="1"/>
          <p:nvPr/>
        </p:nvSpPr>
        <p:spPr>
          <a:xfrm>
            <a:off x="502920" y="21671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9" name="text-877"/>
          <p:cNvSpPr txBox="1"/>
          <p:nvPr/>
        </p:nvSpPr>
        <p:spPr>
          <a:xfrm>
            <a:off x="978408" y="2148840"/>
            <a:ext cx="3685032" cy="80467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Fill the Cross Section dialog</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Choose what to draw and set the values (table).</a:t>
            </a:r>
            <a:endParaRPr lang="en-US" sz="1200" dirty="0"/>
          </a:p>
        </p:txBody>
      </p:sp>
      <p:sp>
        <p:nvSpPr>
          <p:cNvPr id="10" name="shape-878"/>
          <p:cNvSpPr/>
          <p:nvPr/>
        </p:nvSpPr>
        <p:spPr>
          <a:xfrm>
            <a:off x="502920" y="3008376"/>
            <a:ext cx="329184" cy="329184"/>
          </a:xfrm>
          <a:prstGeom prst="ellipse">
            <a:avLst/>
          </a:prstGeom>
          <a:solidFill>
            <a:schemeClr val="accent1"/>
          </a:solidFill>
          <a:ln/>
        </p:spPr>
      </p:sp>
      <p:sp>
        <p:nvSpPr>
          <p:cNvPr id="11" name="text-879"/>
          <p:cNvSpPr txBox="1"/>
          <p:nvPr/>
        </p:nvSpPr>
        <p:spPr>
          <a:xfrm>
            <a:off x="502920" y="30083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2" name="text-880"/>
          <p:cNvSpPr txBox="1"/>
          <p:nvPr/>
        </p:nvSpPr>
        <p:spPr>
          <a:xfrm>
            <a:off x="978408" y="2990088"/>
            <a:ext cx="3685032" cy="80467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Pick the placement point</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Typical / one chainage: point for the CL at finished level. Every interval: top-left corner of the sheet.</a:t>
            </a:r>
            <a:endParaRPr lang="en-US" sz="1200" dirty="0"/>
          </a:p>
        </p:txBody>
      </p:sp>
      <p:sp>
        <p:nvSpPr>
          <p:cNvPr id="13" name="shape-881"/>
          <p:cNvSpPr/>
          <p:nvPr/>
        </p:nvSpPr>
        <p:spPr>
          <a:xfrm>
            <a:off x="502920" y="3849624"/>
            <a:ext cx="329184" cy="329184"/>
          </a:xfrm>
          <a:prstGeom prst="ellipse">
            <a:avLst/>
          </a:prstGeom>
          <a:solidFill>
            <a:schemeClr val="accent1"/>
          </a:solidFill>
          <a:ln/>
        </p:spPr>
      </p:sp>
      <p:sp>
        <p:nvSpPr>
          <p:cNvPr id="14" name="text-882"/>
          <p:cNvSpPr txBox="1"/>
          <p:nvPr/>
        </p:nvSpPr>
        <p:spPr>
          <a:xfrm>
            <a:off x="502920" y="38496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5" name="text-883"/>
          <p:cNvSpPr txBox="1"/>
          <p:nvPr/>
        </p:nvSpPr>
        <p:spPr>
          <a:xfrm>
            <a:off x="978408" y="3831336"/>
            <a:ext cx="3685032" cy="80467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Sections are drawn</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Every interval: 3 per row, up to 60 sections. The note says curve or straight.</a:t>
            </a:r>
            <a:endParaRPr lang="en-US" sz="1200" dirty="0"/>
          </a:p>
        </p:txBody>
      </p:sp>
      <p:sp>
        <p:nvSpPr>
          <p:cNvPr id="16" name="shape-884"/>
          <p:cNvSpPr/>
          <p:nvPr/>
        </p:nvSpPr>
        <p:spPr>
          <a:xfrm>
            <a:off x="502920" y="4800600"/>
            <a:ext cx="4160520" cy="1371600"/>
          </a:xfrm>
          <a:prstGeom prst="roundRect">
            <a:avLst>
              <a:gd name="adj" fmla="val 5333"/>
            </a:avLst>
          </a:prstGeom>
          <a:solidFill>
            <a:srgbClr val="F4F5F7"/>
          </a:solidFill>
          <a:ln w="9525">
            <a:solidFill>
              <a:srgbClr val="E3E5E8"/>
            </a:solidFill>
            <a:prstDash val="solid"/>
          </a:ln>
        </p:spPr>
      </p:sp>
      <p:sp>
        <p:nvSpPr>
          <p:cNvPr id="17" name="shape-885"/>
          <p:cNvSpPr/>
          <p:nvPr/>
        </p:nvSpPr>
        <p:spPr>
          <a:xfrm>
            <a:off x="914400" y="5349240"/>
            <a:ext cx="3291840" cy="228600"/>
          </a:xfrm>
          <a:prstGeom prst="trapezoid">
            <a:avLst/>
          </a:prstGeom>
          <a:solidFill>
            <a:schemeClr val="accent5"/>
          </a:solidFill>
          <a:ln/>
        </p:spPr>
      </p:sp>
      <p:sp>
        <p:nvSpPr>
          <p:cNvPr id="18" name="shape-886"/>
          <p:cNvSpPr/>
          <p:nvPr/>
        </p:nvSpPr>
        <p:spPr>
          <a:xfrm>
            <a:off x="685800" y="5029200"/>
            <a:ext cx="292608" cy="384048"/>
          </a:xfrm>
          <a:prstGeom prst="trapezoid">
            <a:avLst/>
          </a:prstGeom>
          <a:solidFill>
            <a:schemeClr val="accent1"/>
          </a:solidFill>
          <a:ln w="7620">
            <a:solidFill>
              <a:srgbClr val="1F2326"/>
            </a:solidFill>
            <a:prstDash val="solid"/>
          </a:ln>
        </p:spPr>
      </p:sp>
      <p:sp>
        <p:nvSpPr>
          <p:cNvPr id="19" name="shape-887"/>
          <p:cNvSpPr/>
          <p:nvPr/>
        </p:nvSpPr>
        <p:spPr>
          <a:xfrm>
            <a:off x="4114800" y="5029200"/>
            <a:ext cx="292608" cy="384048"/>
          </a:xfrm>
          <a:prstGeom prst="trapezoid">
            <a:avLst/>
          </a:prstGeom>
          <a:solidFill>
            <a:schemeClr val="accent1"/>
          </a:solidFill>
          <a:ln w="7620">
            <a:solidFill>
              <a:srgbClr val="1F2326"/>
            </a:solidFill>
            <a:prstDash val="solid"/>
          </a:ln>
        </p:spPr>
      </p:sp>
      <p:sp>
        <p:nvSpPr>
          <p:cNvPr id="20" name="text-888"/>
          <p:cNvSpPr txBox="1"/>
          <p:nvPr/>
        </p:nvSpPr>
        <p:spPr>
          <a:xfrm>
            <a:off x="1463040" y="5120640"/>
            <a:ext cx="548640" cy="182880"/>
          </a:xfrm>
          <a:prstGeom prst="rect">
            <a:avLst/>
          </a:prstGeom>
          <a:noFill/>
          <a:ln/>
        </p:spPr>
        <p:txBody>
          <a:bodyPr wrap="square" lIns="0" tIns="0" rIns="0" bIns="0" rtlCol="0" anchor="t"/>
          <a:lstStyle/>
          <a:p>
            <a:pPr indent="0" marL="0">
              <a:buNone/>
            </a:pPr>
            <a:r>
              <a:rPr lang="en-US" sz="850" b="1" dirty="0">
                <a:solidFill>
                  <a:schemeClr val="tx1"/>
                </a:solidFill>
                <a:latin typeface="Calibri" pitchFamily="34" charset="0"/>
                <a:ea typeface="Calibri" pitchFamily="34" charset="-122"/>
                <a:cs typeface="Calibri" pitchFamily="34" charset="-120"/>
              </a:rPr>
              <a:t>2.5%</a:t>
            </a:r>
            <a:endParaRPr lang="en-US" sz="850" dirty="0"/>
          </a:p>
        </p:txBody>
      </p:sp>
      <p:sp>
        <p:nvSpPr>
          <p:cNvPr id="21" name="text-889"/>
          <p:cNvSpPr txBox="1"/>
          <p:nvPr/>
        </p:nvSpPr>
        <p:spPr>
          <a:xfrm>
            <a:off x="3108960" y="5120640"/>
            <a:ext cx="548640" cy="182880"/>
          </a:xfrm>
          <a:prstGeom prst="rect">
            <a:avLst/>
          </a:prstGeom>
          <a:noFill/>
          <a:ln/>
        </p:spPr>
        <p:txBody>
          <a:bodyPr wrap="square" lIns="0" tIns="0" rIns="0" bIns="0" rtlCol="0" anchor="t"/>
          <a:lstStyle/>
          <a:p>
            <a:pPr indent="0" marL="0">
              <a:buNone/>
            </a:pPr>
            <a:r>
              <a:rPr lang="en-US" sz="850" b="1" dirty="0">
                <a:solidFill>
                  <a:schemeClr val="tx1"/>
                </a:solidFill>
                <a:latin typeface="Calibri" pitchFamily="34" charset="0"/>
                <a:ea typeface="Calibri" pitchFamily="34" charset="-122"/>
                <a:cs typeface="Calibri" pitchFamily="34" charset="-120"/>
              </a:rPr>
              <a:t>2.5%</a:t>
            </a:r>
            <a:endParaRPr lang="en-US" sz="850" dirty="0"/>
          </a:p>
        </p:txBody>
      </p:sp>
      <p:sp>
        <p:nvSpPr>
          <p:cNvPr id="22" name="text-890"/>
          <p:cNvSpPr txBox="1"/>
          <p:nvPr/>
        </p:nvSpPr>
        <p:spPr>
          <a:xfrm>
            <a:off x="1645920" y="5669280"/>
            <a:ext cx="1828800" cy="201168"/>
          </a:xfrm>
          <a:prstGeom prst="rect">
            <a:avLst/>
          </a:prstGeom>
          <a:noFill/>
          <a:ln/>
        </p:spPr>
        <p:txBody>
          <a:bodyPr wrap="square" lIns="0" tIns="0" rIns="0" bIns="0" rtlCol="0" anchor="t"/>
          <a:lstStyle/>
          <a:p>
            <a:pPr algn="ctr" indent="0" marL="0">
              <a:buNone/>
            </a:pPr>
            <a:r>
              <a:rPr lang="en-US" sz="900" dirty="0">
                <a:solidFill>
                  <a:schemeClr val="tx1"/>
                </a:solidFill>
                <a:latin typeface="Calibri" pitchFamily="34" charset="0"/>
                <a:ea typeface="Calibri" pitchFamily="34" charset="-122"/>
                <a:cs typeface="Calibri" pitchFamily="34" charset="-120"/>
              </a:rPr>
              <a:t>Carriageway 7.30 m</a:t>
            </a:r>
            <a:endParaRPr lang="en-US" sz="900" dirty="0"/>
          </a:p>
        </p:txBody>
      </p:sp>
      <p:sp>
        <p:nvSpPr>
          <p:cNvPr id="23" name="text-891"/>
          <p:cNvSpPr txBox="1"/>
          <p:nvPr/>
        </p:nvSpPr>
        <p:spPr>
          <a:xfrm>
            <a:off x="548640" y="5870448"/>
            <a:ext cx="4069080" cy="228600"/>
          </a:xfrm>
          <a:prstGeom prst="rect">
            <a:avLst/>
          </a:prstGeom>
          <a:noFill/>
          <a:ln/>
        </p:spPr>
        <p:txBody>
          <a:bodyPr wrap="square" lIns="0" tIns="0" rIns="0" bIns="0" rtlCol="0" anchor="t"/>
          <a:lstStyle/>
          <a:p>
            <a:pPr algn="ctr" indent="0" marL="0">
              <a:buNone/>
            </a:pPr>
            <a:r>
              <a:rPr lang="en-US" sz="900" i="1" dirty="0">
                <a:solidFill>
                  <a:srgbClr val="5B6169"/>
                </a:solidFill>
                <a:latin typeface="Calibri" pitchFamily="34" charset="0"/>
                <a:ea typeface="Calibri" pitchFamily="34" charset="-122"/>
                <a:cs typeface="Calibri" pitchFamily="34" charset="-120"/>
              </a:rPr>
              <a:t>Shows edge treatment, and (3.4) lanes, median, sidewalks, drains, utilities</a:t>
            </a:r>
            <a:endParaRPr lang="en-US" sz="900" dirty="0"/>
          </a:p>
        </p:txBody>
      </p:sp>
      <p:graphicFrame>
        <p:nvGraphicFramePr>
          <p:cNvPr id="23" name="table-892"/>
          <p:cNvGraphicFramePr>
            <a:graphicFrameLocks noGrp="1"/>
          </p:cNvGraphicFramePr>
          <p:nvPr>
            <p:extLst>
              <p:ext uri="{D42A27DB-BD31-4B8C-83A1-F6EECF244321}">
                <p14:modId xmlns:p14="http://schemas.microsoft.com/office/powerpoint/2010/main" val="1579011935"/>
              </p:ext>
            </p:extLst>
          </p:nvPr>
        </p:nvGraphicFramePr>
        <p:xfrm>
          <a:off x="4892040" y="1325880"/>
          <a:ext cx="6766560" cy="914400"/>
        </p:xfrm>
        <a:graphic>
          <a:graphicData uri="http://schemas.openxmlformats.org/drawingml/2006/table">
            <a:tbl>
              <a:tblPr/>
              <a:tblGrid>
                <a:gridCol w="2286000"/>
                <a:gridCol w="2148840"/>
                <a:gridCol w="233172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Setting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Options  (default)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Notes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Draw</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Typical  /  At one chainage  /  At every chainage interval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Typical = one generic section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Chainage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For At one chainage; 0+150 allowed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Interval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For every interval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Crossfall (%)</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Carriageway slope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Crossfall type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Camber  /  One-way falls right  /  falls left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Camber falls both sides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Verge beyond barricade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Ground shown outside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Pavement layers 1 – 3</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Asphalt 0.05 / Base 0.20 / Sub-base 0.15</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Name + thickness; 0 = not used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Barricade profile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Water-filled  /  New Jersey,  height 1.00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Used when the edge is barricades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5720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Sign post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 clearance 1.50, sign 0.90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Post with height to the plate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D  ·  RDW</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Lane widening step by step</a:t>
            </a:r>
            <a:endParaRPr lang="en-US" sz="2600" dirty="0"/>
          </a:p>
        </p:txBody>
      </p:sp>
      <p:sp>
        <p:nvSpPr>
          <p:cNvPr id="4" name="shape-893"/>
          <p:cNvSpPr/>
          <p:nvPr/>
        </p:nvSpPr>
        <p:spPr>
          <a:xfrm>
            <a:off x="502920" y="1325880"/>
            <a:ext cx="329184" cy="329184"/>
          </a:xfrm>
          <a:prstGeom prst="ellipse">
            <a:avLst/>
          </a:prstGeom>
          <a:solidFill>
            <a:schemeClr val="accent1"/>
          </a:solidFill>
          <a:ln/>
        </p:spPr>
      </p:sp>
      <p:sp>
        <p:nvSpPr>
          <p:cNvPr id="5" name="text-894"/>
          <p:cNvSpPr txBox="1"/>
          <p:nvPr/>
        </p:nvSpPr>
        <p:spPr>
          <a:xfrm>
            <a:off x="502920" y="13258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895"/>
          <p:cNvSpPr txBox="1"/>
          <p:nvPr/>
        </p:nvSpPr>
        <p:spPr>
          <a:xfrm>
            <a:off x="978408" y="1307592"/>
            <a:ext cx="4370832" cy="69494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Type RDW, select the road CL</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The dialog shows the road chainage range and width.</a:t>
            </a:r>
            <a:endParaRPr lang="en-US" sz="1200" dirty="0"/>
          </a:p>
        </p:txBody>
      </p:sp>
      <p:sp>
        <p:nvSpPr>
          <p:cNvPr id="7" name="shape-896"/>
          <p:cNvSpPr/>
          <p:nvPr/>
        </p:nvSpPr>
        <p:spPr>
          <a:xfrm>
            <a:off x="502920" y="2057400"/>
            <a:ext cx="329184" cy="329184"/>
          </a:xfrm>
          <a:prstGeom prst="ellipse">
            <a:avLst/>
          </a:prstGeom>
          <a:solidFill>
            <a:schemeClr val="accent1"/>
          </a:solidFill>
          <a:ln/>
        </p:spPr>
      </p:sp>
      <p:sp>
        <p:nvSpPr>
          <p:cNvPr id="8" name="text-897"/>
          <p:cNvSpPr txBox="1"/>
          <p:nvPr/>
        </p:nvSpPr>
        <p:spPr>
          <a:xfrm>
            <a:off x="502920" y="20574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9" name="text-898"/>
          <p:cNvSpPr txBox="1"/>
          <p:nvPr/>
        </p:nvSpPr>
        <p:spPr>
          <a:xfrm>
            <a:off x="978408" y="2039112"/>
            <a:ext cx="4370832" cy="69494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Side and size</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Side Left / Right / Both, Extra width 3.65 m.</a:t>
            </a:r>
            <a:endParaRPr lang="en-US" sz="1200" dirty="0"/>
          </a:p>
        </p:txBody>
      </p:sp>
      <p:sp>
        <p:nvSpPr>
          <p:cNvPr id="10" name="shape-899"/>
          <p:cNvSpPr/>
          <p:nvPr/>
        </p:nvSpPr>
        <p:spPr>
          <a:xfrm>
            <a:off x="502920" y="2788920"/>
            <a:ext cx="329184" cy="329184"/>
          </a:xfrm>
          <a:prstGeom prst="ellipse">
            <a:avLst/>
          </a:prstGeom>
          <a:solidFill>
            <a:schemeClr val="accent1"/>
          </a:solidFill>
          <a:ln/>
        </p:spPr>
      </p:sp>
      <p:sp>
        <p:nvSpPr>
          <p:cNvPr id="11" name="text-900"/>
          <p:cNvSpPr txBox="1"/>
          <p:nvPr/>
        </p:nvSpPr>
        <p:spPr>
          <a:xfrm>
            <a:off x="502920" y="27889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2" name="text-901"/>
          <p:cNvSpPr txBox="1"/>
          <p:nvPr/>
        </p:nvSpPr>
        <p:spPr>
          <a:xfrm>
            <a:off x="978408" y="2770632"/>
            <a:ext cx="4370832" cy="69494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Where</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Start and End chainage of the full-width lane, Taper in 30 m, Taper out 30 m.</a:t>
            </a:r>
            <a:endParaRPr lang="en-US" sz="1200" dirty="0"/>
          </a:p>
        </p:txBody>
      </p:sp>
      <p:sp>
        <p:nvSpPr>
          <p:cNvPr id="13" name="shape-902"/>
          <p:cNvSpPr/>
          <p:nvPr/>
        </p:nvSpPr>
        <p:spPr>
          <a:xfrm>
            <a:off x="502920" y="3520440"/>
            <a:ext cx="329184" cy="329184"/>
          </a:xfrm>
          <a:prstGeom prst="ellipse">
            <a:avLst/>
          </a:prstGeom>
          <a:solidFill>
            <a:schemeClr val="accent1"/>
          </a:solidFill>
          <a:ln/>
        </p:spPr>
      </p:sp>
      <p:sp>
        <p:nvSpPr>
          <p:cNvPr id="14" name="text-903"/>
          <p:cNvSpPr txBox="1"/>
          <p:nvPr/>
        </p:nvSpPr>
        <p:spPr>
          <a:xfrm>
            <a:off x="502920" y="35204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5" name="text-904"/>
          <p:cNvSpPr txBox="1"/>
          <p:nvPr/>
        </p:nvSpPr>
        <p:spPr>
          <a:xfrm>
            <a:off x="978408" y="3502152"/>
            <a:ext cx="4370832" cy="69494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Shape</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Taper type straight or curve; Match point fillet (radius 30 m) or direct.</a:t>
            </a:r>
            <a:endParaRPr lang="en-US" sz="1200" dirty="0"/>
          </a:p>
        </p:txBody>
      </p:sp>
      <p:sp>
        <p:nvSpPr>
          <p:cNvPr id="16" name="shape-905"/>
          <p:cNvSpPr/>
          <p:nvPr/>
        </p:nvSpPr>
        <p:spPr>
          <a:xfrm>
            <a:off x="502920" y="4251960"/>
            <a:ext cx="329184" cy="329184"/>
          </a:xfrm>
          <a:prstGeom prst="ellipse">
            <a:avLst/>
          </a:prstGeom>
          <a:solidFill>
            <a:schemeClr val="accent1"/>
          </a:solidFill>
          <a:ln/>
        </p:spPr>
      </p:sp>
      <p:sp>
        <p:nvSpPr>
          <p:cNvPr id="17" name="text-906"/>
          <p:cNvSpPr txBox="1"/>
          <p:nvPr/>
        </p:nvSpPr>
        <p:spPr>
          <a:xfrm>
            <a:off x="502920" y="4251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8" name="text-907"/>
          <p:cNvSpPr txBox="1"/>
          <p:nvPr/>
        </p:nvSpPr>
        <p:spPr>
          <a:xfrm>
            <a:off x="978408" y="4233672"/>
            <a:ext cx="4370832" cy="69494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Options and OK</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Move barricades (cones and kerb too), lane arrow, labels and dimension.</a:t>
            </a:r>
            <a:endParaRPr lang="en-US" sz="1200" dirty="0"/>
          </a:p>
        </p:txBody>
      </p:sp>
      <p:sp>
        <p:nvSpPr>
          <p:cNvPr id="19" name="shape-908"/>
          <p:cNvSpPr/>
          <p:nvPr/>
        </p:nvSpPr>
        <p:spPr>
          <a:xfrm>
            <a:off x="502920" y="4983480"/>
            <a:ext cx="329184" cy="329184"/>
          </a:xfrm>
          <a:prstGeom prst="ellipse">
            <a:avLst/>
          </a:prstGeom>
          <a:solidFill>
            <a:schemeClr val="accent1"/>
          </a:solidFill>
          <a:ln/>
        </p:spPr>
      </p:sp>
      <p:sp>
        <p:nvSpPr>
          <p:cNvPr id="20" name="text-909"/>
          <p:cNvSpPr txBox="1"/>
          <p:nvPr/>
        </p:nvSpPr>
        <p:spPr>
          <a:xfrm>
            <a:off x="502920" y="4983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1" name="text-910"/>
          <p:cNvSpPr txBox="1"/>
          <p:nvPr/>
        </p:nvSpPr>
        <p:spPr>
          <a:xfrm>
            <a:off x="978408" y="4965192"/>
            <a:ext cx="4370832" cy="69494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Result</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New edge drawn, old edge trimmed, treatment moved, markings and report updated.</a:t>
            </a:r>
            <a:endParaRPr lang="en-US" sz="1200" dirty="0"/>
          </a:p>
        </p:txBody>
      </p:sp>
      <p:sp>
        <p:nvSpPr>
          <p:cNvPr id="22" name="shape-911"/>
          <p:cNvSpPr/>
          <p:nvPr/>
        </p:nvSpPr>
        <p:spPr>
          <a:xfrm>
            <a:off x="5577840" y="1325880"/>
            <a:ext cx="6080760" cy="2651760"/>
          </a:xfrm>
          <a:prstGeom prst="roundRect">
            <a:avLst>
              <a:gd name="adj" fmla="val 2759"/>
            </a:avLst>
          </a:prstGeom>
          <a:solidFill>
            <a:srgbClr val="F4F5F7"/>
          </a:solidFill>
          <a:ln w="9525">
            <a:solidFill>
              <a:srgbClr val="E3E5E8"/>
            </a:solidFill>
            <a:prstDash val="solid"/>
          </a:ln>
        </p:spPr>
      </p:sp>
      <p:sp>
        <p:nvSpPr>
          <p:cNvPr id="23" name="text-912"/>
          <p:cNvSpPr txBox="1"/>
          <p:nvPr/>
        </p:nvSpPr>
        <p:spPr>
          <a:xfrm>
            <a:off x="5760720" y="1417320"/>
            <a:ext cx="3657600" cy="27432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Right side widening</a:t>
            </a:r>
            <a:endParaRPr lang="en-US" sz="1200" dirty="0"/>
          </a:p>
        </p:txBody>
      </p:sp>
      <p:sp>
        <p:nvSpPr>
          <p:cNvPr id="24" name="shape-913"/>
          <p:cNvSpPr/>
          <p:nvPr/>
        </p:nvSpPr>
        <p:spPr>
          <a:xfrm>
            <a:off x="5760720" y="1874520"/>
            <a:ext cx="5715000" cy="777240"/>
          </a:xfrm>
          <a:prstGeom prst="rect">
            <a:avLst/>
          </a:prstGeom>
          <a:solidFill>
            <a:schemeClr val="accent5"/>
          </a:solidFill>
          <a:ln/>
        </p:spPr>
      </p:sp>
      <p:sp>
        <p:nvSpPr>
          <p:cNvPr id="25" name="shape-914"/>
          <p:cNvSpPr/>
          <p:nvPr/>
        </p:nvSpPr>
        <p:spPr>
          <a:xfrm>
            <a:off x="5760720" y="2263140"/>
            <a:ext cx="5715000" cy="0"/>
          </a:xfrm>
          <a:prstGeom prst="line">
            <a:avLst/>
          </a:prstGeom>
          <a:noFill/>
          <a:ln w="19050">
            <a:solidFill>
              <a:srgbClr val="FFFFFF"/>
            </a:solidFill>
            <a:prstDash val="dash"/>
          </a:ln>
        </p:spPr>
      </p:sp>
      <p:sp>
        <p:nvSpPr>
          <p:cNvPr id="26" name="shape-915"/>
          <p:cNvSpPr/>
          <p:nvPr/>
        </p:nvSpPr>
        <p:spPr>
          <a:xfrm flipV="1">
            <a:off x="6675120" y="2651760"/>
            <a:ext cx="4023360" cy="502920"/>
          </a:xfrm>
          <a:prstGeom prst="trapezoid">
            <a:avLst/>
          </a:prstGeom>
          <a:solidFill>
            <a:srgbClr val="A3A8AE"/>
          </a:solidFill>
          <a:ln/>
        </p:spPr>
      </p:sp>
      <p:sp>
        <p:nvSpPr>
          <p:cNvPr id="27" name="shape-916"/>
          <p:cNvSpPr/>
          <p:nvPr/>
        </p:nvSpPr>
        <p:spPr>
          <a:xfrm>
            <a:off x="6675120" y="2651760"/>
            <a:ext cx="822960" cy="502920"/>
          </a:xfrm>
          <a:prstGeom prst="line">
            <a:avLst/>
          </a:prstGeom>
          <a:noFill/>
          <a:ln w="19050">
            <a:solidFill>
              <a:schemeClr val="accent1"/>
            </a:solidFill>
            <a:prstDash val="solid"/>
          </a:ln>
        </p:spPr>
      </p:sp>
      <p:sp>
        <p:nvSpPr>
          <p:cNvPr id="28" name="shape-917"/>
          <p:cNvSpPr/>
          <p:nvPr/>
        </p:nvSpPr>
        <p:spPr>
          <a:xfrm>
            <a:off x="7498080" y="3154680"/>
            <a:ext cx="2377440" cy="0"/>
          </a:xfrm>
          <a:prstGeom prst="line">
            <a:avLst/>
          </a:prstGeom>
          <a:noFill/>
          <a:ln w="19050">
            <a:solidFill>
              <a:schemeClr val="accent1"/>
            </a:solidFill>
            <a:prstDash val="solid"/>
          </a:ln>
        </p:spPr>
      </p:sp>
      <p:sp>
        <p:nvSpPr>
          <p:cNvPr id="29" name="shape-918"/>
          <p:cNvSpPr/>
          <p:nvPr/>
        </p:nvSpPr>
        <p:spPr>
          <a:xfrm flipH="1">
            <a:off x="9875520" y="2651760"/>
            <a:ext cx="822960" cy="502920"/>
          </a:xfrm>
          <a:prstGeom prst="line">
            <a:avLst/>
          </a:prstGeom>
          <a:noFill/>
          <a:ln w="19050">
            <a:solidFill>
              <a:schemeClr val="accent1"/>
            </a:solidFill>
            <a:prstDash val="solid"/>
          </a:ln>
        </p:spPr>
      </p:sp>
      <p:sp>
        <p:nvSpPr>
          <p:cNvPr id="30" name="shape-919"/>
          <p:cNvSpPr/>
          <p:nvPr/>
        </p:nvSpPr>
        <p:spPr>
          <a:xfrm>
            <a:off x="6675120" y="3246120"/>
            <a:ext cx="0" cy="182880"/>
          </a:xfrm>
          <a:prstGeom prst="line">
            <a:avLst/>
          </a:prstGeom>
          <a:noFill/>
          <a:ln w="9525">
            <a:solidFill>
              <a:srgbClr val="1F2326"/>
            </a:solidFill>
            <a:prstDash val="solid"/>
          </a:ln>
        </p:spPr>
      </p:sp>
      <p:sp>
        <p:nvSpPr>
          <p:cNvPr id="31" name="text-920"/>
          <p:cNvSpPr txBox="1"/>
          <p:nvPr/>
        </p:nvSpPr>
        <p:spPr>
          <a:xfrm>
            <a:off x="6172200" y="3456432"/>
            <a:ext cx="1005840" cy="201168"/>
          </a:xfrm>
          <a:prstGeom prst="rect">
            <a:avLst/>
          </a:prstGeom>
          <a:noFill/>
          <a:ln/>
        </p:spPr>
        <p:txBody>
          <a:bodyPr wrap="square" lIns="0" tIns="0" rIns="0" bIns="0" rtlCol="0" anchor="t"/>
          <a:lstStyle/>
          <a:p>
            <a:pPr algn="ctr" indent="0" marL="0">
              <a:buNone/>
            </a:pPr>
            <a:r>
              <a:rPr lang="en-US" sz="900" b="1" dirty="0">
                <a:solidFill>
                  <a:srgbClr val="5B6169"/>
                </a:solidFill>
                <a:latin typeface="Calibri" pitchFamily="34" charset="0"/>
                <a:ea typeface="Calibri" pitchFamily="34" charset="-122"/>
                <a:cs typeface="Calibri" pitchFamily="34" charset="-120"/>
              </a:rPr>
              <a:t>taper in</a:t>
            </a:r>
            <a:endParaRPr lang="en-US" sz="900" dirty="0"/>
          </a:p>
        </p:txBody>
      </p:sp>
      <p:sp>
        <p:nvSpPr>
          <p:cNvPr id="32" name="shape-921"/>
          <p:cNvSpPr/>
          <p:nvPr/>
        </p:nvSpPr>
        <p:spPr>
          <a:xfrm>
            <a:off x="7498080" y="3246120"/>
            <a:ext cx="0" cy="182880"/>
          </a:xfrm>
          <a:prstGeom prst="line">
            <a:avLst/>
          </a:prstGeom>
          <a:noFill/>
          <a:ln w="9525">
            <a:solidFill>
              <a:srgbClr val="1F2326"/>
            </a:solidFill>
            <a:prstDash val="solid"/>
          </a:ln>
        </p:spPr>
      </p:sp>
      <p:sp>
        <p:nvSpPr>
          <p:cNvPr id="33" name="text-922"/>
          <p:cNvSpPr txBox="1"/>
          <p:nvPr/>
        </p:nvSpPr>
        <p:spPr>
          <a:xfrm>
            <a:off x="6995160" y="3456432"/>
            <a:ext cx="1005840" cy="201168"/>
          </a:xfrm>
          <a:prstGeom prst="rect">
            <a:avLst/>
          </a:prstGeom>
          <a:noFill/>
          <a:ln/>
        </p:spPr>
        <p:txBody>
          <a:bodyPr wrap="square" lIns="0" tIns="0" rIns="0" bIns="0" rtlCol="0" anchor="t"/>
          <a:lstStyle/>
          <a:p>
            <a:pPr algn="ctr" indent="0" marL="0">
              <a:buNone/>
            </a:pPr>
            <a:r>
              <a:rPr lang="en-US" sz="900" b="1" dirty="0">
                <a:solidFill>
                  <a:schemeClr val="accent1"/>
                </a:solidFill>
                <a:latin typeface="Calibri" pitchFamily="34" charset="0"/>
                <a:ea typeface="Calibri" pitchFamily="34" charset="-122"/>
                <a:cs typeface="Calibri" pitchFamily="34" charset="-120"/>
              </a:rPr>
              <a:t>START</a:t>
            </a:r>
            <a:endParaRPr lang="en-US" sz="900" dirty="0"/>
          </a:p>
        </p:txBody>
      </p:sp>
      <p:sp>
        <p:nvSpPr>
          <p:cNvPr id="34" name="shape-923"/>
          <p:cNvSpPr/>
          <p:nvPr/>
        </p:nvSpPr>
        <p:spPr>
          <a:xfrm>
            <a:off x="9875520" y="3246120"/>
            <a:ext cx="0" cy="182880"/>
          </a:xfrm>
          <a:prstGeom prst="line">
            <a:avLst/>
          </a:prstGeom>
          <a:noFill/>
          <a:ln w="9525">
            <a:solidFill>
              <a:srgbClr val="1F2326"/>
            </a:solidFill>
            <a:prstDash val="solid"/>
          </a:ln>
        </p:spPr>
      </p:sp>
      <p:sp>
        <p:nvSpPr>
          <p:cNvPr id="35" name="text-924"/>
          <p:cNvSpPr txBox="1"/>
          <p:nvPr/>
        </p:nvSpPr>
        <p:spPr>
          <a:xfrm>
            <a:off x="9372600" y="3456432"/>
            <a:ext cx="1005840" cy="201168"/>
          </a:xfrm>
          <a:prstGeom prst="rect">
            <a:avLst/>
          </a:prstGeom>
          <a:noFill/>
          <a:ln/>
        </p:spPr>
        <p:txBody>
          <a:bodyPr wrap="square" lIns="0" tIns="0" rIns="0" bIns="0" rtlCol="0" anchor="t"/>
          <a:lstStyle/>
          <a:p>
            <a:pPr algn="ctr" indent="0" marL="0">
              <a:buNone/>
            </a:pPr>
            <a:r>
              <a:rPr lang="en-US" sz="900" b="1" dirty="0">
                <a:solidFill>
                  <a:schemeClr val="accent1"/>
                </a:solidFill>
                <a:latin typeface="Calibri" pitchFamily="34" charset="0"/>
                <a:ea typeface="Calibri" pitchFamily="34" charset="-122"/>
                <a:cs typeface="Calibri" pitchFamily="34" charset="-120"/>
              </a:rPr>
              <a:t>END</a:t>
            </a:r>
            <a:endParaRPr lang="en-US" sz="900" dirty="0"/>
          </a:p>
        </p:txBody>
      </p:sp>
      <p:sp>
        <p:nvSpPr>
          <p:cNvPr id="36" name="shape-925"/>
          <p:cNvSpPr/>
          <p:nvPr/>
        </p:nvSpPr>
        <p:spPr>
          <a:xfrm>
            <a:off x="10698480" y="3246120"/>
            <a:ext cx="0" cy="182880"/>
          </a:xfrm>
          <a:prstGeom prst="line">
            <a:avLst/>
          </a:prstGeom>
          <a:noFill/>
          <a:ln w="9525">
            <a:solidFill>
              <a:srgbClr val="1F2326"/>
            </a:solidFill>
            <a:prstDash val="solid"/>
          </a:ln>
        </p:spPr>
      </p:sp>
      <p:sp>
        <p:nvSpPr>
          <p:cNvPr id="37" name="text-926"/>
          <p:cNvSpPr txBox="1"/>
          <p:nvPr/>
        </p:nvSpPr>
        <p:spPr>
          <a:xfrm>
            <a:off x="10195560" y="3456432"/>
            <a:ext cx="1005840" cy="201168"/>
          </a:xfrm>
          <a:prstGeom prst="rect">
            <a:avLst/>
          </a:prstGeom>
          <a:noFill/>
          <a:ln/>
        </p:spPr>
        <p:txBody>
          <a:bodyPr wrap="square" lIns="0" tIns="0" rIns="0" bIns="0" rtlCol="0" anchor="t"/>
          <a:lstStyle/>
          <a:p>
            <a:pPr algn="ctr" indent="0" marL="0">
              <a:buNone/>
            </a:pPr>
            <a:r>
              <a:rPr lang="en-US" sz="900" b="1" dirty="0">
                <a:solidFill>
                  <a:srgbClr val="5B6169"/>
                </a:solidFill>
                <a:latin typeface="Calibri" pitchFamily="34" charset="0"/>
                <a:ea typeface="Calibri" pitchFamily="34" charset="-122"/>
                <a:cs typeface="Calibri" pitchFamily="34" charset="-120"/>
              </a:rPr>
              <a:t>taper out</a:t>
            </a:r>
            <a:endParaRPr lang="en-US" sz="900" dirty="0"/>
          </a:p>
        </p:txBody>
      </p:sp>
      <p:sp>
        <p:nvSpPr>
          <p:cNvPr id="38" name="text-927"/>
          <p:cNvSpPr txBox="1"/>
          <p:nvPr/>
        </p:nvSpPr>
        <p:spPr>
          <a:xfrm>
            <a:off x="8412480" y="2697480"/>
            <a:ext cx="640080" cy="201168"/>
          </a:xfrm>
          <a:prstGeom prst="rect">
            <a:avLst/>
          </a:prstGeom>
          <a:noFill/>
          <a:ln/>
        </p:spPr>
        <p:txBody>
          <a:bodyPr wrap="square" lIns="0" tIns="0" rIns="0" bIns="0" rtlCol="0" anchor="t"/>
          <a:lstStyle/>
          <a:p>
            <a:pPr indent="0" marL="0">
              <a:buNone/>
            </a:pPr>
            <a:r>
              <a:rPr lang="en-US" sz="900" b="1" dirty="0">
                <a:solidFill>
                  <a:schemeClr val="tx1"/>
                </a:solidFill>
                <a:latin typeface="Calibri" pitchFamily="34" charset="0"/>
                <a:ea typeface="Calibri" pitchFamily="34" charset="-122"/>
                <a:cs typeface="Calibri" pitchFamily="34" charset="-120"/>
              </a:rPr>
              <a:t>+3.65</a:t>
            </a:r>
            <a:endParaRPr lang="en-US" sz="900" dirty="0"/>
          </a:p>
        </p:txBody>
      </p:sp>
      <p:graphicFrame>
        <p:nvGraphicFramePr>
          <p:cNvPr id="24" name="table-928"/>
          <p:cNvGraphicFramePr>
            <a:graphicFrameLocks noGrp="1"/>
          </p:cNvGraphicFramePr>
          <p:nvPr>
            <p:extLst>
              <p:ext uri="{D42A27DB-BD31-4B8C-83A1-F6EECF244321}">
                <p14:modId xmlns:p14="http://schemas.microsoft.com/office/powerpoint/2010/main" val="1579011935"/>
              </p:ext>
            </p:extLst>
          </p:nvPr>
        </p:nvGraphicFramePr>
        <p:xfrm>
          <a:off x="5577840" y="4114800"/>
          <a:ext cx="6080760" cy="914400"/>
        </p:xfrm>
        <a:graphic>
          <a:graphicData uri="http://schemas.openxmlformats.org/drawingml/2006/table">
            <a:tbl>
              <a:tblPr/>
              <a:tblGrid>
                <a:gridCol w="2148840"/>
                <a:gridCol w="1280160"/>
                <a:gridCol w="265176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Setting</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Default</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Notes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29184">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Side</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Right</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Left / Right / Both sides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Extra width (m)</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3.65</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Width of the new lane</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29184">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Start  /  End chainage</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100 / 200</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Full-width part, real chainage</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Taper in / out (m)</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30 / 30</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Before start and after end</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29184">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Fillet radius (m)</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Round match points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D  ·  RDW  ·  RDT</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Both sides, different chainages, taper shapes and rules</a:t>
            </a:r>
            <a:endParaRPr lang="en-US" sz="2600" dirty="0"/>
          </a:p>
        </p:txBody>
      </p:sp>
      <p:sp>
        <p:nvSpPr>
          <p:cNvPr id="4" name="shape-929"/>
          <p:cNvSpPr/>
          <p:nvPr/>
        </p:nvSpPr>
        <p:spPr>
          <a:xfrm>
            <a:off x="502920" y="1325880"/>
            <a:ext cx="5486400" cy="2331720"/>
          </a:xfrm>
          <a:prstGeom prst="roundRect">
            <a:avLst>
              <a:gd name="adj" fmla="val 3137"/>
            </a:avLst>
          </a:prstGeom>
          <a:solidFill>
            <a:srgbClr val="F4F5F7"/>
          </a:solidFill>
          <a:ln w="9525">
            <a:solidFill>
              <a:srgbClr val="E3E5E8"/>
            </a:solidFill>
            <a:prstDash val="solid"/>
          </a:ln>
        </p:spPr>
      </p:sp>
      <p:sp>
        <p:nvSpPr>
          <p:cNvPr id="5" name="text-930"/>
          <p:cNvSpPr txBox="1"/>
          <p:nvPr/>
        </p:nvSpPr>
        <p:spPr>
          <a:xfrm>
            <a:off x="667512" y="1463040"/>
            <a:ext cx="515721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Both sides with different chainage</a:t>
            </a:r>
            <a:endParaRPr lang="en-US" sz="1300" dirty="0"/>
          </a:p>
        </p:txBody>
      </p:sp>
      <p:sp>
        <p:nvSpPr>
          <p:cNvPr id="6" name="text-931"/>
          <p:cNvSpPr txBox="1"/>
          <p:nvPr/>
        </p:nvSpPr>
        <p:spPr>
          <a:xfrm>
            <a:off x="667512" y="1828800"/>
            <a:ext cx="5157216" cy="1719072"/>
          </a:xfrm>
          <a:prstGeom prst="rect">
            <a:avLst/>
          </a:prstGeom>
          <a:noFill/>
          <a:ln/>
        </p:spPr>
        <p:txBody>
          <a:bodyPr wrap="square" lIns="0" tIns="0" rIns="0" bIns="0" rtlCol="0" anchor="t"/>
          <a:lstStyle/>
          <a:p>
            <a:pPr marL="152400" indent="-152400">
              <a:spcAft>
                <a:spcPts val="400"/>
              </a:spcAft>
              <a:buSzPct val="100000"/>
              <a:buChar char="•"/>
            </a:pPr>
            <a:r>
              <a:rPr lang="en-US" sz="1250" dirty="0">
                <a:solidFill>
                  <a:srgbClr val="3A3F45"/>
                </a:solidFill>
                <a:latin typeface="Calibri" pitchFamily="34" charset="0"/>
                <a:ea typeface="Calibri" pitchFamily="34" charset="-122"/>
                <a:cs typeface="Calibri" pitchFamily="34" charset="-120"/>
              </a:rPr>
              <a:t>Set Side = Both sides. The top block becomes the LEFT side.</a:t>
            </a:r>
            <a:endParaRPr lang="en-US" sz="1250" dirty="0"/>
          </a:p>
          <a:p>
            <a:pPr marL="152400" indent="-152400">
              <a:spcAft>
                <a:spcPts val="400"/>
              </a:spcAft>
              <a:buSzPct val="100000"/>
              <a:buChar char="•"/>
            </a:pPr>
            <a:r>
              <a:rPr lang="en-US" sz="1250" dirty="0">
                <a:solidFill>
                  <a:srgbClr val="3A3F45"/>
                </a:solidFill>
                <a:latin typeface="Calibri" pitchFamily="34" charset="0"/>
                <a:ea typeface="Calibri" pitchFamily="34" charset="-122"/>
                <a:cs typeface="Calibri" pitchFamily="34" charset="-120"/>
              </a:rPr>
              <a:t>Tick Different chainage on right side: the right gets its own width, start, end, tapers and fillet radius.</a:t>
            </a:r>
            <a:endParaRPr lang="en-US" sz="1250" dirty="0"/>
          </a:p>
          <a:p>
            <a:pPr marL="152400" indent="-152400">
              <a:spcAft>
                <a:spcPts val="400"/>
              </a:spcAft>
              <a:buSzPct val="100000"/>
              <a:buChar char="•"/>
            </a:pPr>
            <a:r>
              <a:rPr lang="en-US" sz="1250" dirty="0">
                <a:solidFill>
                  <a:srgbClr val="3A3F45"/>
                </a:solidFill>
                <a:latin typeface="Calibri" pitchFamily="34" charset="0"/>
                <a:ea typeface="Calibri" pitchFamily="34" charset="-122"/>
                <a:cs typeface="Calibri" pitchFamily="34" charset="-120"/>
              </a:rPr>
              <a:t>Untick it and both sides use the same values.</a:t>
            </a:r>
            <a:endParaRPr lang="en-US" sz="1250" dirty="0"/>
          </a:p>
        </p:txBody>
      </p:sp>
      <p:sp>
        <p:nvSpPr>
          <p:cNvPr id="7" name="shape-932"/>
          <p:cNvSpPr/>
          <p:nvPr/>
        </p:nvSpPr>
        <p:spPr>
          <a:xfrm>
            <a:off x="6172200" y="1325880"/>
            <a:ext cx="5486400" cy="2331720"/>
          </a:xfrm>
          <a:prstGeom prst="roundRect">
            <a:avLst>
              <a:gd name="adj" fmla="val 3137"/>
            </a:avLst>
          </a:prstGeom>
          <a:solidFill>
            <a:srgbClr val="F4F5F7"/>
          </a:solidFill>
          <a:ln w="9525">
            <a:solidFill>
              <a:srgbClr val="E3E5E8"/>
            </a:solidFill>
            <a:prstDash val="solid"/>
          </a:ln>
        </p:spPr>
      </p:sp>
      <p:sp>
        <p:nvSpPr>
          <p:cNvPr id="8" name="text-933"/>
          <p:cNvSpPr txBox="1"/>
          <p:nvPr/>
        </p:nvSpPr>
        <p:spPr>
          <a:xfrm>
            <a:off x="6336792" y="1463040"/>
            <a:ext cx="515721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Taper type and match point</a:t>
            </a:r>
            <a:endParaRPr lang="en-US" sz="1300" dirty="0"/>
          </a:p>
        </p:txBody>
      </p:sp>
      <p:sp>
        <p:nvSpPr>
          <p:cNvPr id="9" name="text-934"/>
          <p:cNvSpPr txBox="1"/>
          <p:nvPr/>
        </p:nvSpPr>
        <p:spPr>
          <a:xfrm>
            <a:off x="6336792" y="1828800"/>
            <a:ext cx="5157216" cy="1719072"/>
          </a:xfrm>
          <a:prstGeom prst="rect">
            <a:avLst/>
          </a:prstGeom>
          <a:noFill/>
          <a:ln/>
        </p:spPr>
        <p:txBody>
          <a:bodyPr wrap="square" lIns="0" tIns="0" rIns="0" bIns="0" rtlCol="0" anchor="t"/>
          <a:lstStyle/>
          <a:p>
            <a:pPr marL="152400" indent="-152400">
              <a:spcAft>
                <a:spcPts val="400"/>
              </a:spcAft>
              <a:buSzPct val="100000"/>
              <a:buChar char="•"/>
            </a:pPr>
            <a:r>
              <a:rPr lang="en-US" sz="1250" b="1" dirty="0">
                <a:solidFill>
                  <a:srgbClr val="3A3F45"/>
                </a:solidFill>
                <a:latin typeface="Calibri" pitchFamily="34" charset="0"/>
                <a:ea typeface="Calibri" pitchFamily="34" charset="-122"/>
                <a:cs typeface="Calibri" pitchFamily="34" charset="-120"/>
              </a:rPr>
              <a:t>Straight (linear) taper: </a:t>
            </a:r>
            <a:pPr indent="0" marL="0">
              <a:spcAft>
                <a:spcPts val="400"/>
              </a:spcAft>
              <a:buNone/>
            </a:pPr>
            <a:r>
              <a:rPr lang="en-US" sz="1250" dirty="0">
                <a:solidFill>
                  <a:srgbClr val="3A3F45"/>
                </a:solidFill>
                <a:latin typeface="Calibri" pitchFamily="34" charset="0"/>
                <a:ea typeface="Calibri" pitchFamily="34" charset="-122"/>
                <a:cs typeface="Calibri" pitchFamily="34" charset="-120"/>
              </a:rPr>
              <a:t>straight line from old to new edge.</a:t>
            </a:r>
            <a:endParaRPr lang="en-US" sz="1250" dirty="0"/>
          </a:p>
          <a:p>
            <a:pPr marL="152400" indent="-152400">
              <a:spcAft>
                <a:spcPts val="400"/>
              </a:spcAft>
              <a:buSzPct val="100000"/>
              <a:buChar char="•"/>
            </a:pPr>
            <a:r>
              <a:rPr lang="en-US" sz="1250" b="1" dirty="0">
                <a:solidFill>
                  <a:srgbClr val="3A3F45"/>
                </a:solidFill>
                <a:latin typeface="Calibri" pitchFamily="34" charset="0"/>
                <a:ea typeface="Calibri" pitchFamily="34" charset="-122"/>
                <a:cs typeface="Calibri" pitchFamily="34" charset="-120"/>
              </a:rPr>
              <a:t>Curve (reverse-curve) taper: </a:t>
            </a:r>
            <a:pPr indent="0" marL="0">
              <a:spcAft>
                <a:spcPts val="400"/>
              </a:spcAft>
              <a:buNone/>
            </a:pPr>
            <a:r>
              <a:rPr lang="en-US" sz="1250" dirty="0">
                <a:solidFill>
                  <a:srgbClr val="3A3F45"/>
                </a:solidFill>
                <a:latin typeface="Calibri" pitchFamily="34" charset="0"/>
                <a:ea typeface="Calibri" pitchFamily="34" charset="-122"/>
                <a:cs typeface="Calibri" pitchFamily="34" charset="-120"/>
              </a:rPr>
              <a:t>smooth S-shape.</a:t>
            </a:r>
            <a:endParaRPr lang="en-US" sz="1250" dirty="0"/>
          </a:p>
          <a:p>
            <a:pPr marL="152400" indent="-152400">
              <a:spcAft>
                <a:spcPts val="400"/>
              </a:spcAft>
              <a:buSzPct val="100000"/>
              <a:buChar char="•"/>
            </a:pPr>
            <a:r>
              <a:rPr lang="en-US" sz="1250" b="1" dirty="0">
                <a:solidFill>
                  <a:srgbClr val="3A3F45"/>
                </a:solidFill>
                <a:latin typeface="Calibri" pitchFamily="34" charset="0"/>
                <a:ea typeface="Calibri" pitchFamily="34" charset="-122"/>
                <a:cs typeface="Calibri" pitchFamily="34" charset="-120"/>
              </a:rPr>
              <a:t>Fillet at match points: </a:t>
            </a:r>
            <a:pPr indent="0" marL="0">
              <a:spcAft>
                <a:spcPts val="400"/>
              </a:spcAft>
              <a:buNone/>
            </a:pPr>
            <a:r>
              <a:rPr lang="en-US" sz="1250" dirty="0">
                <a:solidFill>
                  <a:srgbClr val="3A3F45"/>
                </a:solidFill>
                <a:latin typeface="Calibri" pitchFamily="34" charset="0"/>
                <a:ea typeface="Calibri" pitchFamily="34" charset="-122"/>
                <a:cs typeface="Calibri" pitchFamily="34" charset="-120"/>
              </a:rPr>
              <a:t>rounds the joins with the fillet radius (labelled R=30).</a:t>
            </a:r>
            <a:endParaRPr lang="en-US" sz="1250" dirty="0"/>
          </a:p>
          <a:p>
            <a:pPr marL="152400" indent="-152400">
              <a:spcAft>
                <a:spcPts val="400"/>
              </a:spcAft>
              <a:buSzPct val="100000"/>
              <a:buChar char="•"/>
            </a:pPr>
            <a:r>
              <a:rPr lang="en-US" sz="1250" b="1" dirty="0">
                <a:solidFill>
                  <a:srgbClr val="3A3F45"/>
                </a:solidFill>
                <a:latin typeface="Calibri" pitchFamily="34" charset="0"/>
                <a:ea typeface="Calibri" pitchFamily="34" charset="-122"/>
                <a:cs typeface="Calibri" pitchFamily="34" charset="-120"/>
              </a:rPr>
              <a:t>Direct link: </a:t>
            </a:r>
            <a:pPr indent="0" marL="0">
              <a:spcAft>
                <a:spcPts val="400"/>
              </a:spcAft>
              <a:buNone/>
            </a:pPr>
            <a:r>
              <a:rPr lang="en-US" sz="1250" dirty="0">
                <a:solidFill>
                  <a:srgbClr val="3A3F45"/>
                </a:solidFill>
                <a:latin typeface="Calibri" pitchFamily="34" charset="0"/>
                <a:ea typeface="Calibri" pitchFamily="34" charset="-122"/>
                <a:cs typeface="Calibri" pitchFamily="34" charset="-120"/>
              </a:rPr>
              <a:t>sharp joins, no fillet.</a:t>
            </a:r>
            <a:endParaRPr lang="en-US" sz="1250" dirty="0"/>
          </a:p>
        </p:txBody>
      </p:sp>
      <p:sp>
        <p:nvSpPr>
          <p:cNvPr id="10" name="shape-935"/>
          <p:cNvSpPr/>
          <p:nvPr/>
        </p:nvSpPr>
        <p:spPr>
          <a:xfrm>
            <a:off x="502920" y="3794760"/>
            <a:ext cx="5486400" cy="2377440"/>
          </a:xfrm>
          <a:prstGeom prst="roundRect">
            <a:avLst>
              <a:gd name="adj" fmla="val 3077"/>
            </a:avLst>
          </a:prstGeom>
          <a:solidFill>
            <a:srgbClr val="F4F5F7"/>
          </a:solidFill>
          <a:ln w="9525">
            <a:solidFill>
              <a:srgbClr val="E3E5E8"/>
            </a:solidFill>
            <a:prstDash val="solid"/>
          </a:ln>
        </p:spPr>
      </p:sp>
      <p:sp>
        <p:nvSpPr>
          <p:cNvPr id="11" name="text-936"/>
          <p:cNvSpPr txBox="1"/>
          <p:nvPr/>
        </p:nvSpPr>
        <p:spPr>
          <a:xfrm>
            <a:off x="667512" y="3931920"/>
            <a:ext cx="515721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Rules that keep it inside the road</a:t>
            </a:r>
            <a:endParaRPr lang="en-US" sz="1300" dirty="0"/>
          </a:p>
        </p:txBody>
      </p:sp>
      <p:sp>
        <p:nvSpPr>
          <p:cNvPr id="12" name="text-937"/>
          <p:cNvSpPr txBox="1"/>
          <p:nvPr/>
        </p:nvSpPr>
        <p:spPr>
          <a:xfrm>
            <a:off x="667512" y="4297680"/>
            <a:ext cx="5157216" cy="1764792"/>
          </a:xfrm>
          <a:prstGeom prst="rect">
            <a:avLst/>
          </a:prstGeom>
          <a:noFill/>
          <a:ln/>
        </p:spPr>
        <p:txBody>
          <a:bodyPr wrap="square" lIns="0" tIns="0" rIns="0" bIns="0" rtlCol="0" anchor="t"/>
          <a:lstStyle/>
          <a:p>
            <a:pPr marL="152400" indent="-152400">
              <a:spcAft>
                <a:spcPts val="400"/>
              </a:spcAft>
              <a:buSzPct val="100000"/>
              <a:buChar char="•"/>
            </a:pPr>
            <a:r>
              <a:rPr lang="en-US" sz="1250" dirty="0">
                <a:solidFill>
                  <a:srgbClr val="3A3F45"/>
                </a:solidFill>
                <a:latin typeface="Calibri" pitchFamily="34" charset="0"/>
                <a:ea typeface="Calibri" pitchFamily="34" charset="-122"/>
                <a:cs typeface="Calibri" pitchFamily="34" charset="-120"/>
              </a:rPr>
              <a:t>Start – taper in must be at or after the road start.</a:t>
            </a:r>
            <a:endParaRPr lang="en-US" sz="1250" dirty="0"/>
          </a:p>
          <a:p>
            <a:pPr marL="152400" indent="-152400">
              <a:spcAft>
                <a:spcPts val="400"/>
              </a:spcAft>
              <a:buSzPct val="100000"/>
              <a:buChar char="•"/>
            </a:pPr>
            <a:r>
              <a:rPr lang="en-US" sz="1250" dirty="0">
                <a:solidFill>
                  <a:srgbClr val="3A3F45"/>
                </a:solidFill>
                <a:latin typeface="Calibri" pitchFamily="34" charset="0"/>
                <a:ea typeface="Calibri" pitchFamily="34" charset="-122"/>
                <a:cs typeface="Calibri" pitchFamily="34" charset="-120"/>
              </a:rPr>
              <a:t>End + taper out must be at or before the road end.</a:t>
            </a:r>
            <a:endParaRPr lang="en-US" sz="1250" dirty="0"/>
          </a:p>
          <a:p>
            <a:pPr marL="152400" indent="-152400">
              <a:spcAft>
                <a:spcPts val="400"/>
              </a:spcAft>
              <a:buSzPct val="100000"/>
              <a:buChar char="•"/>
            </a:pPr>
            <a:r>
              <a:rPr lang="en-US" sz="1250" dirty="0">
                <a:solidFill>
                  <a:srgbClr val="3A3F45"/>
                </a:solidFill>
                <a:latin typeface="Calibri" pitchFamily="34" charset="0"/>
                <a:ea typeface="Calibri" pitchFamily="34" charset="-122"/>
                <a:cs typeface="Calibri" pitchFamily="34" charset="-120"/>
              </a:rPr>
              <a:t>End must be larger than Start.</a:t>
            </a:r>
            <a:endParaRPr lang="en-US" sz="1250" dirty="0"/>
          </a:p>
          <a:p>
            <a:pPr marL="152400" indent="-152400">
              <a:spcAft>
                <a:spcPts val="400"/>
              </a:spcAft>
              <a:buSzPct val="100000"/>
              <a:buChar char="•"/>
            </a:pPr>
            <a:r>
              <a:rPr lang="en-US" sz="1250" dirty="0">
                <a:solidFill>
                  <a:srgbClr val="3A3F45"/>
                </a:solidFill>
                <a:latin typeface="Calibri" pitchFamily="34" charset="0"/>
                <a:ea typeface="Calibri" pitchFamily="34" charset="-122"/>
                <a:cs typeface="Calibri" pitchFamily="34" charset="-120"/>
              </a:rPr>
              <a:t>Keep junctions away from widened or tapered edges.</a:t>
            </a:r>
            <a:endParaRPr lang="en-US" sz="1250" dirty="0"/>
          </a:p>
        </p:txBody>
      </p:sp>
      <p:sp>
        <p:nvSpPr>
          <p:cNvPr id="13" name="shape-938"/>
          <p:cNvSpPr/>
          <p:nvPr/>
        </p:nvSpPr>
        <p:spPr>
          <a:xfrm>
            <a:off x="6172200" y="3794760"/>
            <a:ext cx="5486400" cy="2377440"/>
          </a:xfrm>
          <a:prstGeom prst="roundRect">
            <a:avLst>
              <a:gd name="adj" fmla="val 3077"/>
            </a:avLst>
          </a:prstGeom>
          <a:solidFill>
            <a:srgbClr val="F4F5F7"/>
          </a:solidFill>
          <a:ln w="9525">
            <a:solidFill>
              <a:srgbClr val="E3E5E8"/>
            </a:solidFill>
            <a:prstDash val="solid"/>
          </a:ln>
        </p:spPr>
      </p:sp>
      <p:sp>
        <p:nvSpPr>
          <p:cNvPr id="14" name="text-939"/>
          <p:cNvSpPr txBox="1"/>
          <p:nvPr/>
        </p:nvSpPr>
        <p:spPr>
          <a:xfrm>
            <a:off x="6336792" y="3931920"/>
            <a:ext cx="515721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Options at the bottom of the dialog</a:t>
            </a:r>
            <a:endParaRPr lang="en-US" sz="1300" dirty="0"/>
          </a:p>
        </p:txBody>
      </p:sp>
      <p:sp>
        <p:nvSpPr>
          <p:cNvPr id="15" name="text-940"/>
          <p:cNvSpPr txBox="1"/>
          <p:nvPr/>
        </p:nvSpPr>
        <p:spPr>
          <a:xfrm>
            <a:off x="6336792" y="4297680"/>
            <a:ext cx="5157216" cy="1764792"/>
          </a:xfrm>
          <a:prstGeom prst="rect">
            <a:avLst/>
          </a:prstGeom>
          <a:noFill/>
          <a:ln/>
        </p:spPr>
        <p:txBody>
          <a:bodyPr wrap="square" lIns="0" tIns="0" rIns="0" bIns="0" rtlCol="0" anchor="t"/>
          <a:lstStyle/>
          <a:p>
            <a:pPr marL="152400" indent="-152400">
              <a:spcAft>
                <a:spcPts val="400"/>
              </a:spcAft>
              <a:buSzPct val="100000"/>
              <a:buChar char="•"/>
            </a:pPr>
            <a:r>
              <a:rPr lang="en-US" sz="1250" b="1" dirty="0">
                <a:solidFill>
                  <a:srgbClr val="3A3F45"/>
                </a:solidFill>
                <a:latin typeface="Calibri" pitchFamily="34" charset="0"/>
                <a:ea typeface="Calibri" pitchFamily="34" charset="-122"/>
                <a:cs typeface="Calibri" pitchFamily="34" charset="-120"/>
              </a:rPr>
              <a:t>Move barricades to the new edge: </a:t>
            </a:r>
            <a:pPr indent="0" marL="0">
              <a:spcAft>
                <a:spcPts val="400"/>
              </a:spcAft>
              <a:buNone/>
            </a:pPr>
            <a:r>
              <a:rPr lang="en-US" sz="1250" dirty="0">
                <a:solidFill>
                  <a:srgbClr val="3A3F45"/>
                </a:solidFill>
                <a:latin typeface="Calibri" pitchFamily="34" charset="0"/>
                <a:ea typeface="Calibri" pitchFamily="34" charset="-122"/>
                <a:cs typeface="Calibri" pitchFamily="34" charset="-120"/>
              </a:rPr>
              <a:t>barricades, cones or kerb follow the new edge.</a:t>
            </a:r>
            <a:endParaRPr lang="en-US" sz="1250" dirty="0"/>
          </a:p>
          <a:p>
            <a:pPr marL="152400" indent="-152400">
              <a:spcAft>
                <a:spcPts val="400"/>
              </a:spcAft>
              <a:buSzPct val="100000"/>
              <a:buChar char="•"/>
            </a:pPr>
            <a:r>
              <a:rPr lang="en-US" sz="1250" b="1" dirty="0">
                <a:solidFill>
                  <a:srgbClr val="3A3F45"/>
                </a:solidFill>
                <a:latin typeface="Calibri" pitchFamily="34" charset="0"/>
                <a:ea typeface="Calibri" pitchFamily="34" charset="-122"/>
                <a:cs typeface="Calibri" pitchFamily="34" charset="-120"/>
              </a:rPr>
              <a:t>Lane arrow in the new lane: </a:t>
            </a:r>
            <a:pPr indent="0" marL="0">
              <a:spcAft>
                <a:spcPts val="400"/>
              </a:spcAft>
              <a:buNone/>
            </a:pPr>
            <a:r>
              <a:rPr lang="en-US" sz="1250" dirty="0">
                <a:solidFill>
                  <a:srgbClr val="3A3F45"/>
                </a:solidFill>
                <a:latin typeface="Calibri" pitchFamily="34" charset="0"/>
                <a:ea typeface="Calibri" pitchFamily="34" charset="-122"/>
                <a:cs typeface="Calibri" pitchFamily="34" charset="-120"/>
              </a:rPr>
              <a:t>white arrow in the widened lane.</a:t>
            </a:r>
            <a:endParaRPr lang="en-US" sz="1250" dirty="0"/>
          </a:p>
          <a:p>
            <a:pPr marL="152400" indent="-152400">
              <a:spcAft>
                <a:spcPts val="400"/>
              </a:spcAft>
              <a:buSzPct val="100000"/>
              <a:buChar char="•"/>
            </a:pPr>
            <a:r>
              <a:rPr lang="en-US" sz="1250" b="1" dirty="0">
                <a:solidFill>
                  <a:srgbClr val="3A3F45"/>
                </a:solidFill>
                <a:latin typeface="Calibri" pitchFamily="34" charset="0"/>
                <a:ea typeface="Calibri" pitchFamily="34" charset="-122"/>
                <a:cs typeface="Calibri" pitchFamily="34" charset="-120"/>
              </a:rPr>
              <a:t>Labels, width dimension, match points: </a:t>
            </a:r>
            <a:pPr indent="0" marL="0">
              <a:spcAft>
                <a:spcPts val="400"/>
              </a:spcAft>
              <a:buNone/>
            </a:pPr>
            <a:r>
              <a:rPr lang="en-US" sz="1250" dirty="0">
                <a:solidFill>
                  <a:srgbClr val="3A3F45"/>
                </a:solidFill>
                <a:latin typeface="Calibri" pitchFamily="34" charset="0"/>
                <a:ea typeface="Calibri" pitchFamily="34" charset="-122"/>
                <a:cs typeface="Calibri" pitchFamily="34" charset="-120"/>
              </a:rPr>
              <a:t>text on ROAD-WIDENING with chainages.</a:t>
            </a:r>
            <a:endParaRPr lang="en-US" sz="12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D  ·  RDT</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Road taper: change the width from a chainage onward</a:t>
            </a:r>
            <a:endParaRPr lang="en-US" sz="2600" dirty="0"/>
          </a:p>
        </p:txBody>
      </p:sp>
      <p:sp>
        <p:nvSpPr>
          <p:cNvPr id="4" name="shape-941"/>
          <p:cNvSpPr/>
          <p:nvPr/>
        </p:nvSpPr>
        <p:spPr>
          <a:xfrm>
            <a:off x="502920" y="1325880"/>
            <a:ext cx="329184" cy="329184"/>
          </a:xfrm>
          <a:prstGeom prst="ellipse">
            <a:avLst/>
          </a:prstGeom>
          <a:solidFill>
            <a:schemeClr val="accent1"/>
          </a:solidFill>
          <a:ln/>
        </p:spPr>
      </p:sp>
      <p:sp>
        <p:nvSpPr>
          <p:cNvPr id="5" name="text-942"/>
          <p:cNvSpPr txBox="1"/>
          <p:nvPr/>
        </p:nvSpPr>
        <p:spPr>
          <a:xfrm>
            <a:off x="502920" y="13258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943"/>
          <p:cNvSpPr txBox="1"/>
          <p:nvPr/>
        </p:nvSpPr>
        <p:spPr>
          <a:xfrm>
            <a:off x="978408" y="1307592"/>
            <a:ext cx="4370832" cy="74066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Type RDT, select the road CL</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The dialog shows the chainage range and the design width.</a:t>
            </a:r>
            <a:endParaRPr lang="en-US" sz="1200" dirty="0"/>
          </a:p>
        </p:txBody>
      </p:sp>
      <p:sp>
        <p:nvSpPr>
          <p:cNvPr id="7" name="shape-944"/>
          <p:cNvSpPr/>
          <p:nvPr/>
        </p:nvSpPr>
        <p:spPr>
          <a:xfrm>
            <a:off x="502920" y="2103120"/>
            <a:ext cx="329184" cy="329184"/>
          </a:xfrm>
          <a:prstGeom prst="ellipse">
            <a:avLst/>
          </a:prstGeom>
          <a:solidFill>
            <a:schemeClr val="accent1"/>
          </a:solidFill>
          <a:ln/>
        </p:spPr>
      </p:sp>
      <p:sp>
        <p:nvSpPr>
          <p:cNvPr id="8" name="text-945"/>
          <p:cNvSpPr txBox="1"/>
          <p:nvPr/>
        </p:nvSpPr>
        <p:spPr>
          <a:xfrm>
            <a:off x="502920" y="21031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9" name="text-946"/>
          <p:cNvSpPr txBox="1"/>
          <p:nvPr/>
        </p:nvSpPr>
        <p:spPr>
          <a:xfrm>
            <a:off x="978408" y="2084832"/>
            <a:ext cx="4370832" cy="74066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Side</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Left, Right or Both sides (default Both).</a:t>
            </a:r>
            <a:endParaRPr lang="en-US" sz="1200" dirty="0"/>
          </a:p>
        </p:txBody>
      </p:sp>
      <p:sp>
        <p:nvSpPr>
          <p:cNvPr id="10" name="shape-947"/>
          <p:cNvSpPr/>
          <p:nvPr/>
        </p:nvSpPr>
        <p:spPr>
          <a:xfrm>
            <a:off x="502920" y="2880360"/>
            <a:ext cx="329184" cy="329184"/>
          </a:xfrm>
          <a:prstGeom prst="ellipse">
            <a:avLst/>
          </a:prstGeom>
          <a:solidFill>
            <a:schemeClr val="accent1"/>
          </a:solidFill>
          <a:ln/>
        </p:spPr>
      </p:sp>
      <p:sp>
        <p:nvSpPr>
          <p:cNvPr id="11" name="text-948"/>
          <p:cNvSpPr txBox="1"/>
          <p:nvPr/>
        </p:nvSpPr>
        <p:spPr>
          <a:xfrm>
            <a:off x="502920" y="28803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2" name="text-949"/>
          <p:cNvSpPr txBox="1"/>
          <p:nvPr/>
        </p:nvSpPr>
        <p:spPr>
          <a:xfrm>
            <a:off x="978408" y="2862072"/>
            <a:ext cx="4370832" cy="74066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Taper start and end chainage</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Default 100 and 130: the width changes over these 30 m.</a:t>
            </a:r>
            <a:endParaRPr lang="en-US" sz="1200" dirty="0"/>
          </a:p>
        </p:txBody>
      </p:sp>
      <p:sp>
        <p:nvSpPr>
          <p:cNvPr id="13" name="shape-950"/>
          <p:cNvSpPr/>
          <p:nvPr/>
        </p:nvSpPr>
        <p:spPr>
          <a:xfrm>
            <a:off x="502920" y="3657600"/>
            <a:ext cx="329184" cy="329184"/>
          </a:xfrm>
          <a:prstGeom prst="ellipse">
            <a:avLst/>
          </a:prstGeom>
          <a:solidFill>
            <a:schemeClr val="accent1"/>
          </a:solidFill>
          <a:ln/>
        </p:spPr>
      </p:sp>
      <p:sp>
        <p:nvSpPr>
          <p:cNvPr id="14" name="text-951"/>
          <p:cNvSpPr txBox="1"/>
          <p:nvPr/>
        </p:nvSpPr>
        <p:spPr>
          <a:xfrm>
            <a:off x="502920" y="3657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5" name="text-952"/>
          <p:cNvSpPr txBox="1"/>
          <p:nvPr/>
        </p:nvSpPr>
        <p:spPr>
          <a:xfrm>
            <a:off x="978408" y="3639312"/>
            <a:ext cx="4370832" cy="74066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Edge shift per side (m)</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 = wider road, – = narrower road. +1.00 both sides makes 7.30 → 9.30 m.</a:t>
            </a:r>
            <a:endParaRPr lang="en-US" sz="1200" dirty="0"/>
          </a:p>
        </p:txBody>
      </p:sp>
      <p:sp>
        <p:nvSpPr>
          <p:cNvPr id="16" name="shape-953"/>
          <p:cNvSpPr/>
          <p:nvPr/>
        </p:nvSpPr>
        <p:spPr>
          <a:xfrm>
            <a:off x="502920" y="4434840"/>
            <a:ext cx="329184" cy="329184"/>
          </a:xfrm>
          <a:prstGeom prst="ellipse">
            <a:avLst/>
          </a:prstGeom>
          <a:solidFill>
            <a:schemeClr val="accent1"/>
          </a:solidFill>
          <a:ln/>
        </p:spPr>
      </p:sp>
      <p:sp>
        <p:nvSpPr>
          <p:cNvPr id="17" name="text-954"/>
          <p:cNvSpPr txBox="1"/>
          <p:nvPr/>
        </p:nvSpPr>
        <p:spPr>
          <a:xfrm>
            <a:off x="502920" y="44348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8" name="text-955"/>
          <p:cNvSpPr txBox="1"/>
          <p:nvPr/>
        </p:nvSpPr>
        <p:spPr>
          <a:xfrm>
            <a:off x="978408" y="4416552"/>
            <a:ext cx="4370832" cy="74066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Shape and options, OK</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Taper type, match point, fillet radius, barricades follow, labels.</a:t>
            </a:r>
            <a:endParaRPr lang="en-US" sz="1200" dirty="0"/>
          </a:p>
        </p:txBody>
      </p:sp>
      <p:sp>
        <p:nvSpPr>
          <p:cNvPr id="19" name="shape-956"/>
          <p:cNvSpPr/>
          <p:nvPr/>
        </p:nvSpPr>
        <p:spPr>
          <a:xfrm>
            <a:off x="5577840" y="1325880"/>
            <a:ext cx="6080760" cy="2377440"/>
          </a:xfrm>
          <a:prstGeom prst="roundRect">
            <a:avLst>
              <a:gd name="adj" fmla="val 3077"/>
            </a:avLst>
          </a:prstGeom>
          <a:solidFill>
            <a:srgbClr val="F4F5F7"/>
          </a:solidFill>
          <a:ln w="9525">
            <a:solidFill>
              <a:srgbClr val="E3E5E8"/>
            </a:solidFill>
            <a:prstDash val="solid"/>
          </a:ln>
        </p:spPr>
      </p:sp>
      <p:sp>
        <p:nvSpPr>
          <p:cNvPr id="20" name="text-957"/>
          <p:cNvSpPr txBox="1"/>
          <p:nvPr/>
        </p:nvSpPr>
        <p:spPr>
          <a:xfrm>
            <a:off x="5760720" y="1417320"/>
            <a:ext cx="4572000" cy="27432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Edge shift +1.00 m both sides</a:t>
            </a:r>
            <a:endParaRPr lang="en-US" sz="1200" dirty="0"/>
          </a:p>
        </p:txBody>
      </p:sp>
      <p:sp>
        <p:nvSpPr>
          <p:cNvPr id="21" name="shape-958"/>
          <p:cNvSpPr/>
          <p:nvPr/>
        </p:nvSpPr>
        <p:spPr>
          <a:xfrm>
            <a:off x="5760720" y="2148840"/>
            <a:ext cx="2011680" cy="822960"/>
          </a:xfrm>
          <a:prstGeom prst="rect">
            <a:avLst/>
          </a:prstGeom>
          <a:solidFill>
            <a:schemeClr val="accent5"/>
          </a:solidFill>
          <a:ln/>
        </p:spPr>
      </p:sp>
      <p:sp>
        <p:nvSpPr>
          <p:cNvPr id="22" name="shape-959"/>
          <p:cNvSpPr/>
          <p:nvPr/>
        </p:nvSpPr>
        <p:spPr>
          <a:xfrm rot="16200000">
            <a:off x="7772400" y="1920240"/>
            <a:ext cx="1188720" cy="1280160"/>
          </a:xfrm>
          <a:prstGeom prst="trapezoid">
            <a:avLst/>
          </a:prstGeom>
          <a:solidFill>
            <a:schemeClr val="accent5"/>
          </a:solidFill>
          <a:ln/>
        </p:spPr>
      </p:sp>
      <p:sp>
        <p:nvSpPr>
          <p:cNvPr id="23" name="shape-960"/>
          <p:cNvSpPr/>
          <p:nvPr/>
        </p:nvSpPr>
        <p:spPr>
          <a:xfrm>
            <a:off x="8595360" y="1920240"/>
            <a:ext cx="2880360" cy="1280160"/>
          </a:xfrm>
          <a:prstGeom prst="rect">
            <a:avLst/>
          </a:prstGeom>
          <a:solidFill>
            <a:schemeClr val="accent5"/>
          </a:solidFill>
          <a:ln/>
        </p:spPr>
      </p:sp>
      <p:sp>
        <p:nvSpPr>
          <p:cNvPr id="24" name="shape-961"/>
          <p:cNvSpPr/>
          <p:nvPr/>
        </p:nvSpPr>
        <p:spPr>
          <a:xfrm>
            <a:off x="5760720" y="2560320"/>
            <a:ext cx="5715000" cy="0"/>
          </a:xfrm>
          <a:prstGeom prst="line">
            <a:avLst/>
          </a:prstGeom>
          <a:noFill/>
          <a:ln w="15875">
            <a:solidFill>
              <a:srgbClr val="FFFFFF"/>
            </a:solidFill>
            <a:prstDash val="dash"/>
          </a:ln>
        </p:spPr>
      </p:sp>
      <p:sp>
        <p:nvSpPr>
          <p:cNvPr id="25" name="text-962"/>
          <p:cNvSpPr txBox="1"/>
          <p:nvPr/>
        </p:nvSpPr>
        <p:spPr>
          <a:xfrm>
            <a:off x="6309360" y="2212848"/>
            <a:ext cx="731520" cy="228600"/>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7.30</a:t>
            </a:r>
            <a:endParaRPr lang="en-US" sz="1000" dirty="0"/>
          </a:p>
        </p:txBody>
      </p:sp>
      <p:sp>
        <p:nvSpPr>
          <p:cNvPr id="26" name="text-963"/>
          <p:cNvSpPr txBox="1"/>
          <p:nvPr/>
        </p:nvSpPr>
        <p:spPr>
          <a:xfrm>
            <a:off x="9144000" y="1993392"/>
            <a:ext cx="2194560" cy="228600"/>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9.30 to the road end</a:t>
            </a:r>
            <a:endParaRPr lang="en-US" sz="1000" dirty="0"/>
          </a:p>
        </p:txBody>
      </p:sp>
      <p:sp>
        <p:nvSpPr>
          <p:cNvPr id="27" name="text-964"/>
          <p:cNvSpPr txBox="1"/>
          <p:nvPr/>
        </p:nvSpPr>
        <p:spPr>
          <a:xfrm>
            <a:off x="7315200" y="3246120"/>
            <a:ext cx="1005840" cy="201168"/>
          </a:xfrm>
          <a:prstGeom prst="rect">
            <a:avLst/>
          </a:prstGeom>
          <a:noFill/>
          <a:ln/>
        </p:spPr>
        <p:txBody>
          <a:bodyPr wrap="square" lIns="0" tIns="0" rIns="0" bIns="0" rtlCol="0" anchor="t"/>
          <a:lstStyle/>
          <a:p>
            <a:pPr algn="ctr" indent="0" marL="0">
              <a:buNone/>
            </a:pPr>
            <a:r>
              <a:rPr lang="en-US" sz="900" b="1" dirty="0">
                <a:solidFill>
                  <a:schemeClr val="accent1"/>
                </a:solidFill>
                <a:latin typeface="Calibri" pitchFamily="34" charset="0"/>
                <a:ea typeface="Calibri" pitchFamily="34" charset="-122"/>
                <a:cs typeface="Calibri" pitchFamily="34" charset="-120"/>
              </a:rPr>
              <a:t>START 0+100</a:t>
            </a:r>
            <a:endParaRPr lang="en-US" sz="900" dirty="0"/>
          </a:p>
        </p:txBody>
      </p:sp>
      <p:sp>
        <p:nvSpPr>
          <p:cNvPr id="28" name="text-965"/>
          <p:cNvSpPr txBox="1"/>
          <p:nvPr/>
        </p:nvSpPr>
        <p:spPr>
          <a:xfrm>
            <a:off x="8229600" y="3246120"/>
            <a:ext cx="1005840" cy="201168"/>
          </a:xfrm>
          <a:prstGeom prst="rect">
            <a:avLst/>
          </a:prstGeom>
          <a:noFill/>
          <a:ln/>
        </p:spPr>
        <p:txBody>
          <a:bodyPr wrap="square" lIns="0" tIns="0" rIns="0" bIns="0" rtlCol="0" anchor="t"/>
          <a:lstStyle/>
          <a:p>
            <a:pPr algn="ctr" indent="0" marL="0">
              <a:buNone/>
            </a:pPr>
            <a:r>
              <a:rPr lang="en-US" sz="900" b="1" dirty="0">
                <a:solidFill>
                  <a:schemeClr val="accent1"/>
                </a:solidFill>
                <a:latin typeface="Calibri" pitchFamily="34" charset="0"/>
                <a:ea typeface="Calibri" pitchFamily="34" charset="-122"/>
                <a:cs typeface="Calibri" pitchFamily="34" charset="-120"/>
              </a:rPr>
              <a:t>END 0+130</a:t>
            </a:r>
            <a:endParaRPr lang="en-US" sz="900" dirty="0"/>
          </a:p>
        </p:txBody>
      </p:sp>
      <p:graphicFrame>
        <p:nvGraphicFramePr>
          <p:cNvPr id="26" name="table-966"/>
          <p:cNvGraphicFramePr>
            <a:graphicFrameLocks noGrp="1"/>
          </p:cNvGraphicFramePr>
          <p:nvPr>
            <p:extLst>
              <p:ext uri="{D42A27DB-BD31-4B8C-83A1-F6EECF244321}">
                <p14:modId xmlns:p14="http://schemas.microsoft.com/office/powerpoint/2010/main" val="1579011935"/>
              </p:ext>
            </p:extLst>
          </p:nvPr>
        </p:nvGraphicFramePr>
        <p:xfrm>
          <a:off x="5577840" y="3840480"/>
          <a:ext cx="6080760" cy="914400"/>
        </p:xfrm>
        <a:graphic>
          <a:graphicData uri="http://schemas.openxmlformats.org/drawingml/2006/table">
            <a:tbl>
              <a:tblPr/>
              <a:tblGrid>
                <a:gridCol w="2377440"/>
                <a:gridCol w="1188720"/>
                <a:gridCol w="251460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Setting</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Default</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Notes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29184">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Edge shift per side (m)</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 values narrow the road</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Different chainage on right</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Off</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Own start, end, shift, radius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29184">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Taper type / match point</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Straight / fillet</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Fillet radius 30 m</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29184">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Barricades follow new edge</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On</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Cones and kerb too</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29184">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Labels and match points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On</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On ROAD-WIDENING</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30" name="shape-967"/>
          <p:cNvSpPr/>
          <p:nvPr/>
        </p:nvSpPr>
        <p:spPr>
          <a:xfrm>
            <a:off x="502920" y="5349240"/>
            <a:ext cx="4846320" cy="822960"/>
          </a:xfrm>
          <a:prstGeom prst="roundRect">
            <a:avLst>
              <a:gd name="adj" fmla="val 8889"/>
            </a:avLst>
          </a:prstGeom>
          <a:solidFill>
            <a:srgbClr val="FFF6D6"/>
          </a:solidFill>
          <a:ln w="9525">
            <a:solidFill>
              <a:srgbClr val="F2D27A"/>
            </a:solidFill>
            <a:prstDash val="solid"/>
          </a:ln>
        </p:spPr>
      </p:sp>
      <p:sp>
        <p:nvSpPr>
          <p:cNvPr id="31" name="text-968"/>
          <p:cNvSpPr txBox="1"/>
          <p:nvPr/>
        </p:nvSpPr>
        <p:spPr>
          <a:xfrm>
            <a:off x="649224" y="5422392"/>
            <a:ext cx="4553712" cy="676656"/>
          </a:xfrm>
          <a:prstGeom prst="rect">
            <a:avLst/>
          </a:prstGeom>
          <a:noFill/>
          <a:ln/>
        </p:spPr>
        <p:txBody>
          <a:bodyPr wrap="square" lIns="0" tIns="0" rIns="0" bIns="0" rtlCol="0" anchor="ctr"/>
          <a:lstStyle/>
          <a:p>
            <a:pPr indent="0" marL="0">
              <a:buNone/>
            </a:pPr>
            <a:r>
              <a:rPr lang="en-US" sz="1050" b="1" dirty="0">
                <a:solidFill>
                  <a:srgbClr val="A65F00"/>
                </a:solidFill>
                <a:latin typeface="Calibri" pitchFamily="34" charset="0"/>
                <a:ea typeface="Calibri" pitchFamily="34" charset="-122"/>
                <a:cs typeface="Calibri" pitchFamily="34" charset="-120"/>
              </a:rPr>
              <a:t>More tapers?  </a:t>
            </a:r>
            <a:pPr indent="0" marL="0">
              <a:buNone/>
            </a:pPr>
            <a:r>
              <a:rPr lang="en-US" sz="1050" dirty="0">
                <a:solidFill>
                  <a:srgbClr val="3A3F45"/>
                </a:solidFill>
                <a:latin typeface="Calibri" pitchFamily="34" charset="0"/>
                <a:ea typeface="Calibri" pitchFamily="34" charset="-122"/>
                <a:cs typeface="Calibri" pitchFamily="34" charset="-120"/>
              </a:rPr>
              <a:t>The new width continues to the road end. Run RDT again at another chainage to change it again (e.g. back to 7.30).</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E  ·  RDJ</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Junction / tie-in step by step</a:t>
            </a:r>
            <a:endParaRPr lang="en-US" sz="2600" dirty="0"/>
          </a:p>
        </p:txBody>
      </p:sp>
      <p:sp>
        <p:nvSpPr>
          <p:cNvPr id="4" name="shape-969"/>
          <p:cNvSpPr/>
          <p:nvPr/>
        </p:nvSpPr>
        <p:spPr>
          <a:xfrm>
            <a:off x="502920" y="1325880"/>
            <a:ext cx="329184" cy="329184"/>
          </a:xfrm>
          <a:prstGeom prst="ellipse">
            <a:avLst/>
          </a:prstGeom>
          <a:solidFill>
            <a:schemeClr val="accent1"/>
          </a:solidFill>
          <a:ln/>
        </p:spPr>
      </p:sp>
      <p:sp>
        <p:nvSpPr>
          <p:cNvPr id="5" name="text-970"/>
          <p:cNvSpPr txBox="1"/>
          <p:nvPr/>
        </p:nvSpPr>
        <p:spPr>
          <a:xfrm>
            <a:off x="502920" y="13258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971"/>
          <p:cNvSpPr txBox="1"/>
          <p:nvPr/>
        </p:nvSpPr>
        <p:spPr>
          <a:xfrm>
            <a:off x="978408" y="1307592"/>
            <a:ext cx="5285232" cy="640080"/>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Build the main road first with RDP</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The branch uses your RDP settings for barricades, signs and chainage.</a:t>
            </a:r>
            <a:endParaRPr lang="en-US" sz="1200" dirty="0"/>
          </a:p>
        </p:txBody>
      </p:sp>
      <p:sp>
        <p:nvSpPr>
          <p:cNvPr id="7" name="shape-972"/>
          <p:cNvSpPr/>
          <p:nvPr/>
        </p:nvSpPr>
        <p:spPr>
          <a:xfrm>
            <a:off x="502920" y="2002536"/>
            <a:ext cx="329184" cy="329184"/>
          </a:xfrm>
          <a:prstGeom prst="ellipse">
            <a:avLst/>
          </a:prstGeom>
          <a:solidFill>
            <a:schemeClr val="accent1"/>
          </a:solidFill>
          <a:ln/>
        </p:spPr>
      </p:sp>
      <p:sp>
        <p:nvSpPr>
          <p:cNvPr id="8" name="text-973"/>
          <p:cNvSpPr txBox="1"/>
          <p:nvPr/>
        </p:nvSpPr>
        <p:spPr>
          <a:xfrm>
            <a:off x="502920" y="20025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9" name="text-974"/>
          <p:cNvSpPr txBox="1"/>
          <p:nvPr/>
        </p:nvSpPr>
        <p:spPr>
          <a:xfrm>
            <a:off x="978408" y="1984248"/>
            <a:ext cx="5285232" cy="640080"/>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Type RDJ, select the MAIN road CL</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The Road Junction dialog opens and shows the main road range and width.</a:t>
            </a:r>
            <a:endParaRPr lang="en-US" sz="1200" dirty="0"/>
          </a:p>
        </p:txBody>
      </p:sp>
      <p:sp>
        <p:nvSpPr>
          <p:cNvPr id="10" name="shape-975"/>
          <p:cNvSpPr/>
          <p:nvPr/>
        </p:nvSpPr>
        <p:spPr>
          <a:xfrm>
            <a:off x="502920" y="2679192"/>
            <a:ext cx="329184" cy="329184"/>
          </a:xfrm>
          <a:prstGeom prst="ellipse">
            <a:avLst/>
          </a:prstGeom>
          <a:solidFill>
            <a:schemeClr val="accent1"/>
          </a:solidFill>
          <a:ln/>
        </p:spPr>
      </p:sp>
      <p:sp>
        <p:nvSpPr>
          <p:cNvPr id="11" name="text-976"/>
          <p:cNvSpPr txBox="1"/>
          <p:nvPr/>
        </p:nvSpPr>
        <p:spPr>
          <a:xfrm>
            <a:off x="502920" y="26791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2" name="text-977"/>
          <p:cNvSpPr txBox="1"/>
          <p:nvPr/>
        </p:nvSpPr>
        <p:spPr>
          <a:xfrm>
            <a:off x="978408" y="2660904"/>
            <a:ext cx="5285232" cy="640080"/>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Joining road (branch)</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Branch name ROAD-02, width 7.30, Branch centre line: Draw new or Select existing.</a:t>
            </a:r>
            <a:endParaRPr lang="en-US" sz="1200" dirty="0"/>
          </a:p>
        </p:txBody>
      </p:sp>
      <p:sp>
        <p:nvSpPr>
          <p:cNvPr id="13" name="shape-978"/>
          <p:cNvSpPr/>
          <p:nvPr/>
        </p:nvSpPr>
        <p:spPr>
          <a:xfrm>
            <a:off x="502920" y="3355848"/>
            <a:ext cx="329184" cy="329184"/>
          </a:xfrm>
          <a:prstGeom prst="ellipse">
            <a:avLst/>
          </a:prstGeom>
          <a:solidFill>
            <a:schemeClr val="accent1"/>
          </a:solidFill>
          <a:ln/>
        </p:spPr>
      </p:sp>
      <p:sp>
        <p:nvSpPr>
          <p:cNvPr id="14" name="text-979"/>
          <p:cNvSpPr txBox="1"/>
          <p:nvPr/>
        </p:nvSpPr>
        <p:spPr>
          <a:xfrm>
            <a:off x="502920" y="33558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5" name="text-980"/>
          <p:cNvSpPr txBox="1"/>
          <p:nvPr/>
        </p:nvSpPr>
        <p:spPr>
          <a:xfrm>
            <a:off x="978408" y="3337560"/>
            <a:ext cx="5285232" cy="640080"/>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Junction settings</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Corner radius 10, control STOP / GIVE WAY, corner treatment, turning-area markings.</a:t>
            </a:r>
            <a:endParaRPr lang="en-US" sz="1200" dirty="0"/>
          </a:p>
        </p:txBody>
      </p:sp>
      <p:sp>
        <p:nvSpPr>
          <p:cNvPr id="16" name="shape-981"/>
          <p:cNvSpPr/>
          <p:nvPr/>
        </p:nvSpPr>
        <p:spPr>
          <a:xfrm>
            <a:off x="502920" y="4032504"/>
            <a:ext cx="329184" cy="329184"/>
          </a:xfrm>
          <a:prstGeom prst="ellipse">
            <a:avLst/>
          </a:prstGeom>
          <a:solidFill>
            <a:schemeClr val="accent1"/>
          </a:solidFill>
          <a:ln/>
        </p:spPr>
      </p:sp>
      <p:sp>
        <p:nvSpPr>
          <p:cNvPr id="17" name="text-982"/>
          <p:cNvSpPr txBox="1"/>
          <p:nvPr/>
        </p:nvSpPr>
        <p:spPr>
          <a:xfrm>
            <a:off x="502920" y="40325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8" name="text-983"/>
          <p:cNvSpPr txBox="1"/>
          <p:nvPr/>
        </p:nvSpPr>
        <p:spPr>
          <a:xfrm>
            <a:off x="978408" y="4014216"/>
            <a:ext cx="5285232" cy="640080"/>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Aux lane and island, then OK</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Auxiliary lane on the main road, splitter island on the branch.</a:t>
            </a:r>
            <a:endParaRPr lang="en-US" sz="1200" dirty="0"/>
          </a:p>
        </p:txBody>
      </p:sp>
      <p:sp>
        <p:nvSpPr>
          <p:cNvPr id="19" name="shape-984"/>
          <p:cNvSpPr/>
          <p:nvPr/>
        </p:nvSpPr>
        <p:spPr>
          <a:xfrm>
            <a:off x="502920" y="4709160"/>
            <a:ext cx="329184" cy="329184"/>
          </a:xfrm>
          <a:prstGeom prst="ellipse">
            <a:avLst/>
          </a:prstGeom>
          <a:solidFill>
            <a:schemeClr val="accent1"/>
          </a:solidFill>
          <a:ln/>
        </p:spPr>
      </p:sp>
      <p:sp>
        <p:nvSpPr>
          <p:cNvPr id="20" name="text-985"/>
          <p:cNvSpPr txBox="1"/>
          <p:nvPr/>
        </p:nvSpPr>
        <p:spPr>
          <a:xfrm>
            <a:off x="502920" y="47091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1" name="text-986"/>
          <p:cNvSpPr txBox="1"/>
          <p:nvPr/>
        </p:nvSpPr>
        <p:spPr>
          <a:xfrm>
            <a:off x="978408" y="4690872"/>
            <a:ext cx="5285232" cy="640080"/>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Draw the branch CL</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First point ON the main road CL (snap Nearest), then draw outward and press Enter.</a:t>
            </a:r>
            <a:endParaRPr lang="en-US" sz="1200" dirty="0"/>
          </a:p>
        </p:txBody>
      </p:sp>
      <p:sp>
        <p:nvSpPr>
          <p:cNvPr id="22" name="shape-987"/>
          <p:cNvSpPr/>
          <p:nvPr/>
        </p:nvSpPr>
        <p:spPr>
          <a:xfrm>
            <a:off x="502920" y="5385816"/>
            <a:ext cx="329184" cy="329184"/>
          </a:xfrm>
          <a:prstGeom prst="ellipse">
            <a:avLst/>
          </a:prstGeom>
          <a:solidFill>
            <a:schemeClr val="accent1"/>
          </a:solidFill>
          <a:ln/>
        </p:spPr>
      </p:sp>
      <p:sp>
        <p:nvSpPr>
          <p:cNvPr id="23" name="text-988"/>
          <p:cNvSpPr txBox="1"/>
          <p:nvPr/>
        </p:nvSpPr>
        <p:spPr>
          <a:xfrm>
            <a:off x="502920" y="5385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24" name="text-989"/>
          <p:cNvSpPr txBox="1"/>
          <p:nvPr/>
        </p:nvSpPr>
        <p:spPr>
          <a:xfrm>
            <a:off x="978408" y="5367528"/>
            <a:ext cx="5285232" cy="640080"/>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Junction is built</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Branch road, main edges cut, kerb returns, corners, signs, markings, summary printed.</a:t>
            </a:r>
            <a:endParaRPr lang="en-US" sz="1200" dirty="0"/>
          </a:p>
        </p:txBody>
      </p:sp>
      <p:sp>
        <p:nvSpPr>
          <p:cNvPr id="25" name="shape-990"/>
          <p:cNvSpPr/>
          <p:nvPr/>
        </p:nvSpPr>
        <p:spPr>
          <a:xfrm>
            <a:off x="6492240" y="1325880"/>
            <a:ext cx="5166360" cy="3703320"/>
          </a:xfrm>
          <a:prstGeom prst="roundRect">
            <a:avLst>
              <a:gd name="adj" fmla="val 1975"/>
            </a:avLst>
          </a:prstGeom>
          <a:solidFill>
            <a:srgbClr val="F4F5F7"/>
          </a:solidFill>
          <a:ln w="9525">
            <a:solidFill>
              <a:srgbClr val="E3E5E8"/>
            </a:solidFill>
            <a:prstDash val="solid"/>
          </a:ln>
        </p:spPr>
      </p:sp>
      <p:sp>
        <p:nvSpPr>
          <p:cNvPr id="26" name="shape-991"/>
          <p:cNvSpPr/>
          <p:nvPr/>
        </p:nvSpPr>
        <p:spPr>
          <a:xfrm>
            <a:off x="8663940" y="1691640"/>
            <a:ext cx="822960" cy="1645920"/>
          </a:xfrm>
          <a:prstGeom prst="rect">
            <a:avLst/>
          </a:prstGeom>
          <a:solidFill>
            <a:schemeClr val="accent5"/>
          </a:solidFill>
          <a:ln/>
        </p:spPr>
      </p:sp>
      <p:sp>
        <p:nvSpPr>
          <p:cNvPr id="27" name="shape-992"/>
          <p:cNvSpPr/>
          <p:nvPr/>
        </p:nvSpPr>
        <p:spPr>
          <a:xfrm>
            <a:off x="8161020" y="2834640"/>
            <a:ext cx="502920" cy="502920"/>
          </a:xfrm>
          <a:prstGeom prst="rect">
            <a:avLst/>
          </a:prstGeom>
          <a:solidFill>
            <a:schemeClr val="accent5"/>
          </a:solidFill>
          <a:ln/>
        </p:spPr>
      </p:sp>
      <p:sp>
        <p:nvSpPr>
          <p:cNvPr id="28" name="shape-993"/>
          <p:cNvSpPr/>
          <p:nvPr/>
        </p:nvSpPr>
        <p:spPr>
          <a:xfrm>
            <a:off x="9486900" y="2834640"/>
            <a:ext cx="502920" cy="502920"/>
          </a:xfrm>
          <a:prstGeom prst="rect">
            <a:avLst/>
          </a:prstGeom>
          <a:solidFill>
            <a:schemeClr val="accent5"/>
          </a:solidFill>
          <a:ln/>
        </p:spPr>
      </p:sp>
      <p:sp>
        <p:nvSpPr>
          <p:cNvPr id="29" name="shape-994"/>
          <p:cNvSpPr/>
          <p:nvPr/>
        </p:nvSpPr>
        <p:spPr>
          <a:xfrm>
            <a:off x="7658100" y="2331720"/>
            <a:ext cx="1005840" cy="1005840"/>
          </a:xfrm>
          <a:prstGeom prst="ellipse">
            <a:avLst/>
          </a:prstGeom>
          <a:solidFill>
            <a:srgbClr val="F4F5F7"/>
          </a:solidFill>
          <a:ln/>
        </p:spPr>
      </p:sp>
      <p:sp>
        <p:nvSpPr>
          <p:cNvPr id="30" name="shape-995"/>
          <p:cNvSpPr/>
          <p:nvPr/>
        </p:nvSpPr>
        <p:spPr>
          <a:xfrm>
            <a:off x="9486900" y="2331720"/>
            <a:ext cx="1005840" cy="1005840"/>
          </a:xfrm>
          <a:prstGeom prst="ellipse">
            <a:avLst/>
          </a:prstGeom>
          <a:solidFill>
            <a:srgbClr val="F4F5F7"/>
          </a:solidFill>
          <a:ln/>
        </p:spPr>
      </p:sp>
      <p:sp>
        <p:nvSpPr>
          <p:cNvPr id="31" name="shape-996"/>
          <p:cNvSpPr/>
          <p:nvPr/>
        </p:nvSpPr>
        <p:spPr>
          <a:xfrm>
            <a:off x="6766560" y="3337560"/>
            <a:ext cx="4617720" cy="822960"/>
          </a:xfrm>
          <a:prstGeom prst="rect">
            <a:avLst/>
          </a:prstGeom>
          <a:solidFill>
            <a:schemeClr val="accent5"/>
          </a:solidFill>
          <a:ln/>
        </p:spPr>
      </p:sp>
      <p:sp>
        <p:nvSpPr>
          <p:cNvPr id="32" name="shape-997"/>
          <p:cNvSpPr/>
          <p:nvPr/>
        </p:nvSpPr>
        <p:spPr>
          <a:xfrm>
            <a:off x="6766560" y="3383280"/>
            <a:ext cx="4617720" cy="0"/>
          </a:xfrm>
          <a:prstGeom prst="line">
            <a:avLst/>
          </a:prstGeom>
          <a:noFill/>
          <a:ln w="15875">
            <a:solidFill>
              <a:schemeClr val="accent2"/>
            </a:solidFill>
            <a:prstDash val="solid"/>
          </a:ln>
        </p:spPr>
      </p:sp>
      <p:sp>
        <p:nvSpPr>
          <p:cNvPr id="33" name="shape-998"/>
          <p:cNvSpPr/>
          <p:nvPr/>
        </p:nvSpPr>
        <p:spPr>
          <a:xfrm>
            <a:off x="6766560" y="4114800"/>
            <a:ext cx="4617720" cy="0"/>
          </a:xfrm>
          <a:prstGeom prst="line">
            <a:avLst/>
          </a:prstGeom>
          <a:noFill/>
          <a:ln w="15875">
            <a:solidFill>
              <a:schemeClr val="accent2"/>
            </a:solidFill>
            <a:prstDash val="solid"/>
          </a:ln>
        </p:spPr>
      </p:sp>
      <p:sp>
        <p:nvSpPr>
          <p:cNvPr id="34" name="shape-999"/>
          <p:cNvSpPr/>
          <p:nvPr/>
        </p:nvSpPr>
        <p:spPr>
          <a:xfrm>
            <a:off x="6766560" y="3749040"/>
            <a:ext cx="4617720" cy="0"/>
          </a:xfrm>
          <a:prstGeom prst="line">
            <a:avLst/>
          </a:prstGeom>
          <a:noFill/>
          <a:ln w="19050">
            <a:solidFill>
              <a:srgbClr val="FFFFFF"/>
            </a:solidFill>
            <a:prstDash val="dash"/>
          </a:ln>
        </p:spPr>
      </p:sp>
      <p:sp>
        <p:nvSpPr>
          <p:cNvPr id="35" name="shape-1000"/>
          <p:cNvSpPr/>
          <p:nvPr/>
        </p:nvSpPr>
        <p:spPr>
          <a:xfrm>
            <a:off x="9075420" y="1737360"/>
            <a:ext cx="0" cy="2011680"/>
          </a:xfrm>
          <a:prstGeom prst="line">
            <a:avLst/>
          </a:prstGeom>
          <a:noFill/>
          <a:ln w="15875">
            <a:solidFill>
              <a:schemeClr val="accent2"/>
            </a:solidFill>
            <a:prstDash val="dash"/>
          </a:ln>
        </p:spPr>
      </p:sp>
      <p:sp>
        <p:nvSpPr>
          <p:cNvPr id="36" name="shape-1001"/>
          <p:cNvSpPr/>
          <p:nvPr/>
        </p:nvSpPr>
        <p:spPr>
          <a:xfrm>
            <a:off x="6766560" y="3182112"/>
            <a:ext cx="232410" cy="82296"/>
          </a:xfrm>
          <a:prstGeom prst="rect">
            <a:avLst/>
          </a:prstGeom>
          <a:solidFill>
            <a:schemeClr val="accent1"/>
          </a:solidFill>
          <a:ln w="7620">
            <a:solidFill>
              <a:srgbClr val="1F2326"/>
            </a:solidFill>
            <a:prstDash val="solid"/>
          </a:ln>
        </p:spPr>
      </p:sp>
      <p:sp>
        <p:nvSpPr>
          <p:cNvPr id="37" name="shape-1002"/>
          <p:cNvSpPr/>
          <p:nvPr/>
        </p:nvSpPr>
        <p:spPr>
          <a:xfrm>
            <a:off x="6998970" y="3182112"/>
            <a:ext cx="232410" cy="82296"/>
          </a:xfrm>
          <a:prstGeom prst="rect">
            <a:avLst/>
          </a:prstGeom>
          <a:solidFill>
            <a:srgbClr val="FFFFFF"/>
          </a:solidFill>
          <a:ln w="7620">
            <a:solidFill>
              <a:srgbClr val="1F2326"/>
            </a:solidFill>
            <a:prstDash val="solid"/>
          </a:ln>
        </p:spPr>
      </p:sp>
      <p:sp>
        <p:nvSpPr>
          <p:cNvPr id="38" name="shape-1003"/>
          <p:cNvSpPr/>
          <p:nvPr/>
        </p:nvSpPr>
        <p:spPr>
          <a:xfrm>
            <a:off x="7231380" y="3182112"/>
            <a:ext cx="232410" cy="82296"/>
          </a:xfrm>
          <a:prstGeom prst="rect">
            <a:avLst/>
          </a:prstGeom>
          <a:solidFill>
            <a:schemeClr val="accent1"/>
          </a:solidFill>
          <a:ln w="7620">
            <a:solidFill>
              <a:srgbClr val="1F2326"/>
            </a:solidFill>
            <a:prstDash val="solid"/>
          </a:ln>
        </p:spPr>
      </p:sp>
      <p:sp>
        <p:nvSpPr>
          <p:cNvPr id="39" name="shape-1004"/>
          <p:cNvSpPr/>
          <p:nvPr/>
        </p:nvSpPr>
        <p:spPr>
          <a:xfrm>
            <a:off x="7463790" y="3182112"/>
            <a:ext cx="232410" cy="82296"/>
          </a:xfrm>
          <a:prstGeom prst="rect">
            <a:avLst/>
          </a:prstGeom>
          <a:solidFill>
            <a:srgbClr val="FFFFFF"/>
          </a:solidFill>
          <a:ln w="7620">
            <a:solidFill>
              <a:srgbClr val="1F2326"/>
            </a:solidFill>
            <a:prstDash val="solid"/>
          </a:ln>
        </p:spPr>
      </p:sp>
      <p:sp>
        <p:nvSpPr>
          <p:cNvPr id="40" name="shape-1005"/>
          <p:cNvSpPr/>
          <p:nvPr/>
        </p:nvSpPr>
        <p:spPr>
          <a:xfrm>
            <a:off x="7696200" y="3182112"/>
            <a:ext cx="232410" cy="82296"/>
          </a:xfrm>
          <a:prstGeom prst="rect">
            <a:avLst/>
          </a:prstGeom>
          <a:solidFill>
            <a:schemeClr val="accent1"/>
          </a:solidFill>
          <a:ln w="7620">
            <a:solidFill>
              <a:srgbClr val="1F2326"/>
            </a:solidFill>
            <a:prstDash val="solid"/>
          </a:ln>
        </p:spPr>
      </p:sp>
      <p:sp>
        <p:nvSpPr>
          <p:cNvPr id="41" name="shape-1006"/>
          <p:cNvSpPr/>
          <p:nvPr/>
        </p:nvSpPr>
        <p:spPr>
          <a:xfrm>
            <a:off x="7928610" y="3182112"/>
            <a:ext cx="232410" cy="82296"/>
          </a:xfrm>
          <a:prstGeom prst="rect">
            <a:avLst/>
          </a:prstGeom>
          <a:solidFill>
            <a:srgbClr val="FFFFFF"/>
          </a:solidFill>
          <a:ln w="7620">
            <a:solidFill>
              <a:srgbClr val="1F2326"/>
            </a:solidFill>
            <a:prstDash val="solid"/>
          </a:ln>
        </p:spPr>
      </p:sp>
      <p:sp>
        <p:nvSpPr>
          <p:cNvPr id="42" name="shape-1007"/>
          <p:cNvSpPr/>
          <p:nvPr/>
        </p:nvSpPr>
        <p:spPr>
          <a:xfrm>
            <a:off x="9989820" y="3182112"/>
            <a:ext cx="232410" cy="82296"/>
          </a:xfrm>
          <a:prstGeom prst="rect">
            <a:avLst/>
          </a:prstGeom>
          <a:solidFill>
            <a:schemeClr val="accent1"/>
          </a:solidFill>
          <a:ln w="7620">
            <a:solidFill>
              <a:srgbClr val="1F2326"/>
            </a:solidFill>
            <a:prstDash val="solid"/>
          </a:ln>
        </p:spPr>
      </p:sp>
      <p:sp>
        <p:nvSpPr>
          <p:cNvPr id="43" name="shape-1008"/>
          <p:cNvSpPr/>
          <p:nvPr/>
        </p:nvSpPr>
        <p:spPr>
          <a:xfrm>
            <a:off x="10222230" y="3182112"/>
            <a:ext cx="232410" cy="82296"/>
          </a:xfrm>
          <a:prstGeom prst="rect">
            <a:avLst/>
          </a:prstGeom>
          <a:solidFill>
            <a:srgbClr val="FFFFFF"/>
          </a:solidFill>
          <a:ln w="7620">
            <a:solidFill>
              <a:srgbClr val="1F2326"/>
            </a:solidFill>
            <a:prstDash val="solid"/>
          </a:ln>
        </p:spPr>
      </p:sp>
      <p:sp>
        <p:nvSpPr>
          <p:cNvPr id="44" name="shape-1009"/>
          <p:cNvSpPr/>
          <p:nvPr/>
        </p:nvSpPr>
        <p:spPr>
          <a:xfrm>
            <a:off x="10454640" y="3182112"/>
            <a:ext cx="232410" cy="82296"/>
          </a:xfrm>
          <a:prstGeom prst="rect">
            <a:avLst/>
          </a:prstGeom>
          <a:solidFill>
            <a:schemeClr val="accent1"/>
          </a:solidFill>
          <a:ln w="7620">
            <a:solidFill>
              <a:srgbClr val="1F2326"/>
            </a:solidFill>
            <a:prstDash val="solid"/>
          </a:ln>
        </p:spPr>
      </p:sp>
      <p:sp>
        <p:nvSpPr>
          <p:cNvPr id="45" name="shape-1010"/>
          <p:cNvSpPr/>
          <p:nvPr/>
        </p:nvSpPr>
        <p:spPr>
          <a:xfrm>
            <a:off x="10687050" y="3182112"/>
            <a:ext cx="232410" cy="82296"/>
          </a:xfrm>
          <a:prstGeom prst="rect">
            <a:avLst/>
          </a:prstGeom>
          <a:solidFill>
            <a:srgbClr val="FFFFFF"/>
          </a:solidFill>
          <a:ln w="7620">
            <a:solidFill>
              <a:srgbClr val="1F2326"/>
            </a:solidFill>
            <a:prstDash val="solid"/>
          </a:ln>
        </p:spPr>
      </p:sp>
      <p:sp>
        <p:nvSpPr>
          <p:cNvPr id="46" name="shape-1011"/>
          <p:cNvSpPr/>
          <p:nvPr/>
        </p:nvSpPr>
        <p:spPr>
          <a:xfrm>
            <a:off x="10919460" y="3182112"/>
            <a:ext cx="232410" cy="82296"/>
          </a:xfrm>
          <a:prstGeom prst="rect">
            <a:avLst/>
          </a:prstGeom>
          <a:solidFill>
            <a:schemeClr val="accent1"/>
          </a:solidFill>
          <a:ln w="7620">
            <a:solidFill>
              <a:srgbClr val="1F2326"/>
            </a:solidFill>
            <a:prstDash val="solid"/>
          </a:ln>
        </p:spPr>
      </p:sp>
      <p:sp>
        <p:nvSpPr>
          <p:cNvPr id="47" name="shape-1012"/>
          <p:cNvSpPr/>
          <p:nvPr/>
        </p:nvSpPr>
        <p:spPr>
          <a:xfrm>
            <a:off x="11151870" y="3182112"/>
            <a:ext cx="232410" cy="82296"/>
          </a:xfrm>
          <a:prstGeom prst="rect">
            <a:avLst/>
          </a:prstGeom>
          <a:solidFill>
            <a:srgbClr val="FFFFFF"/>
          </a:solidFill>
          <a:ln w="7620">
            <a:solidFill>
              <a:srgbClr val="1F2326"/>
            </a:solidFill>
            <a:prstDash val="solid"/>
          </a:ln>
        </p:spPr>
      </p:sp>
      <p:sp>
        <p:nvSpPr>
          <p:cNvPr id="48" name="shape-1013"/>
          <p:cNvSpPr/>
          <p:nvPr/>
        </p:nvSpPr>
        <p:spPr>
          <a:xfrm>
            <a:off x="8508492" y="1691640"/>
            <a:ext cx="82296" cy="228600"/>
          </a:xfrm>
          <a:prstGeom prst="rect">
            <a:avLst/>
          </a:prstGeom>
          <a:solidFill>
            <a:schemeClr val="accent1"/>
          </a:solidFill>
          <a:ln w="7620">
            <a:solidFill>
              <a:srgbClr val="1F2326"/>
            </a:solidFill>
            <a:prstDash val="solid"/>
          </a:ln>
        </p:spPr>
      </p:sp>
      <p:sp>
        <p:nvSpPr>
          <p:cNvPr id="49" name="shape-1014"/>
          <p:cNvSpPr/>
          <p:nvPr/>
        </p:nvSpPr>
        <p:spPr>
          <a:xfrm>
            <a:off x="8508492" y="1920240"/>
            <a:ext cx="82296" cy="228600"/>
          </a:xfrm>
          <a:prstGeom prst="rect">
            <a:avLst/>
          </a:prstGeom>
          <a:solidFill>
            <a:srgbClr val="FFFFFF"/>
          </a:solidFill>
          <a:ln w="7620">
            <a:solidFill>
              <a:srgbClr val="1F2326"/>
            </a:solidFill>
            <a:prstDash val="solid"/>
          </a:ln>
        </p:spPr>
      </p:sp>
      <p:sp>
        <p:nvSpPr>
          <p:cNvPr id="50" name="shape-1015"/>
          <p:cNvSpPr/>
          <p:nvPr/>
        </p:nvSpPr>
        <p:spPr>
          <a:xfrm>
            <a:off x="8508492" y="2148840"/>
            <a:ext cx="82296" cy="228600"/>
          </a:xfrm>
          <a:prstGeom prst="rect">
            <a:avLst/>
          </a:prstGeom>
          <a:solidFill>
            <a:schemeClr val="accent1"/>
          </a:solidFill>
          <a:ln w="7620">
            <a:solidFill>
              <a:srgbClr val="1F2326"/>
            </a:solidFill>
            <a:prstDash val="solid"/>
          </a:ln>
        </p:spPr>
      </p:sp>
      <p:sp>
        <p:nvSpPr>
          <p:cNvPr id="51" name="shape-1016"/>
          <p:cNvSpPr/>
          <p:nvPr/>
        </p:nvSpPr>
        <p:spPr>
          <a:xfrm>
            <a:off x="8508492" y="2377440"/>
            <a:ext cx="82296" cy="228600"/>
          </a:xfrm>
          <a:prstGeom prst="rect">
            <a:avLst/>
          </a:prstGeom>
          <a:solidFill>
            <a:srgbClr val="FFFFFF"/>
          </a:solidFill>
          <a:ln w="7620">
            <a:solidFill>
              <a:srgbClr val="1F2326"/>
            </a:solidFill>
            <a:prstDash val="solid"/>
          </a:ln>
        </p:spPr>
      </p:sp>
      <p:sp>
        <p:nvSpPr>
          <p:cNvPr id="52" name="shape-1017"/>
          <p:cNvSpPr/>
          <p:nvPr/>
        </p:nvSpPr>
        <p:spPr>
          <a:xfrm>
            <a:off x="8508492" y="2606040"/>
            <a:ext cx="82296" cy="228600"/>
          </a:xfrm>
          <a:prstGeom prst="rect">
            <a:avLst/>
          </a:prstGeom>
          <a:solidFill>
            <a:schemeClr val="accent1"/>
          </a:solidFill>
          <a:ln w="7620">
            <a:solidFill>
              <a:srgbClr val="1F2326"/>
            </a:solidFill>
            <a:prstDash val="solid"/>
          </a:ln>
        </p:spPr>
      </p:sp>
      <p:sp>
        <p:nvSpPr>
          <p:cNvPr id="53" name="shape-1018"/>
          <p:cNvSpPr/>
          <p:nvPr/>
        </p:nvSpPr>
        <p:spPr>
          <a:xfrm>
            <a:off x="9560052" y="1691640"/>
            <a:ext cx="82296" cy="228600"/>
          </a:xfrm>
          <a:prstGeom prst="rect">
            <a:avLst/>
          </a:prstGeom>
          <a:solidFill>
            <a:schemeClr val="accent1"/>
          </a:solidFill>
          <a:ln w="7620">
            <a:solidFill>
              <a:srgbClr val="1F2326"/>
            </a:solidFill>
            <a:prstDash val="solid"/>
          </a:ln>
        </p:spPr>
      </p:sp>
      <p:sp>
        <p:nvSpPr>
          <p:cNvPr id="54" name="shape-1019"/>
          <p:cNvSpPr/>
          <p:nvPr/>
        </p:nvSpPr>
        <p:spPr>
          <a:xfrm>
            <a:off x="9560052" y="1920240"/>
            <a:ext cx="82296" cy="228600"/>
          </a:xfrm>
          <a:prstGeom prst="rect">
            <a:avLst/>
          </a:prstGeom>
          <a:solidFill>
            <a:srgbClr val="FFFFFF"/>
          </a:solidFill>
          <a:ln w="7620">
            <a:solidFill>
              <a:srgbClr val="1F2326"/>
            </a:solidFill>
            <a:prstDash val="solid"/>
          </a:ln>
        </p:spPr>
      </p:sp>
      <p:sp>
        <p:nvSpPr>
          <p:cNvPr id="55" name="shape-1020"/>
          <p:cNvSpPr/>
          <p:nvPr/>
        </p:nvSpPr>
        <p:spPr>
          <a:xfrm>
            <a:off x="9560052" y="2148840"/>
            <a:ext cx="82296" cy="228600"/>
          </a:xfrm>
          <a:prstGeom prst="rect">
            <a:avLst/>
          </a:prstGeom>
          <a:solidFill>
            <a:schemeClr val="accent1"/>
          </a:solidFill>
          <a:ln w="7620">
            <a:solidFill>
              <a:srgbClr val="1F2326"/>
            </a:solidFill>
            <a:prstDash val="solid"/>
          </a:ln>
        </p:spPr>
      </p:sp>
      <p:sp>
        <p:nvSpPr>
          <p:cNvPr id="56" name="shape-1021"/>
          <p:cNvSpPr/>
          <p:nvPr/>
        </p:nvSpPr>
        <p:spPr>
          <a:xfrm>
            <a:off x="9560052" y="2377440"/>
            <a:ext cx="82296" cy="228600"/>
          </a:xfrm>
          <a:prstGeom prst="rect">
            <a:avLst/>
          </a:prstGeom>
          <a:solidFill>
            <a:srgbClr val="FFFFFF"/>
          </a:solidFill>
          <a:ln w="7620">
            <a:solidFill>
              <a:srgbClr val="1F2326"/>
            </a:solidFill>
            <a:prstDash val="solid"/>
          </a:ln>
        </p:spPr>
      </p:sp>
      <p:sp>
        <p:nvSpPr>
          <p:cNvPr id="57" name="shape-1022"/>
          <p:cNvSpPr/>
          <p:nvPr/>
        </p:nvSpPr>
        <p:spPr>
          <a:xfrm>
            <a:off x="9560052" y="2606040"/>
            <a:ext cx="82296" cy="228600"/>
          </a:xfrm>
          <a:prstGeom prst="rect">
            <a:avLst/>
          </a:prstGeom>
          <a:solidFill>
            <a:schemeClr val="accent1"/>
          </a:solidFill>
          <a:ln w="7620">
            <a:solidFill>
              <a:srgbClr val="1F2326"/>
            </a:solidFill>
            <a:prstDash val="solid"/>
          </a:ln>
        </p:spPr>
      </p:sp>
      <p:sp>
        <p:nvSpPr>
          <p:cNvPr id="58" name="shape-1023"/>
          <p:cNvSpPr/>
          <p:nvPr/>
        </p:nvSpPr>
        <p:spPr>
          <a:xfrm rot="5940000">
            <a:off x="8631915" y="2882179"/>
            <a:ext cx="178106" cy="82296"/>
          </a:xfrm>
          <a:prstGeom prst="rect">
            <a:avLst/>
          </a:prstGeom>
          <a:solidFill>
            <a:schemeClr val="accent1"/>
          </a:solidFill>
          <a:ln w="6350">
            <a:solidFill>
              <a:srgbClr val="1F2326"/>
            </a:solidFill>
            <a:prstDash val="solid"/>
          </a:ln>
        </p:spPr>
      </p:sp>
      <p:sp>
        <p:nvSpPr>
          <p:cNvPr id="59" name="shape-1024"/>
          <p:cNvSpPr/>
          <p:nvPr/>
        </p:nvSpPr>
        <p:spPr>
          <a:xfrm rot="7020000">
            <a:off x="8577104" y="3050872"/>
            <a:ext cx="178106" cy="82296"/>
          </a:xfrm>
          <a:prstGeom prst="rect">
            <a:avLst/>
          </a:prstGeom>
          <a:solidFill>
            <a:srgbClr val="FFFFFF"/>
          </a:solidFill>
          <a:ln w="6350">
            <a:solidFill>
              <a:srgbClr val="1F2326"/>
            </a:solidFill>
            <a:prstDash val="solid"/>
          </a:ln>
        </p:spPr>
      </p:sp>
      <p:sp>
        <p:nvSpPr>
          <p:cNvPr id="60" name="shape-1025"/>
          <p:cNvSpPr/>
          <p:nvPr/>
        </p:nvSpPr>
        <p:spPr>
          <a:xfrm rot="8100000">
            <a:off x="8472846" y="3194371"/>
            <a:ext cx="178106" cy="82296"/>
          </a:xfrm>
          <a:prstGeom prst="rect">
            <a:avLst/>
          </a:prstGeom>
          <a:solidFill>
            <a:schemeClr val="accent1"/>
          </a:solidFill>
          <a:ln w="6350">
            <a:solidFill>
              <a:srgbClr val="1F2326"/>
            </a:solidFill>
            <a:prstDash val="solid"/>
          </a:ln>
        </p:spPr>
      </p:sp>
      <p:sp>
        <p:nvSpPr>
          <p:cNvPr id="61" name="shape-1026"/>
          <p:cNvSpPr/>
          <p:nvPr/>
        </p:nvSpPr>
        <p:spPr>
          <a:xfrm rot="9180000">
            <a:off x="8329347" y="3298629"/>
            <a:ext cx="178106" cy="82296"/>
          </a:xfrm>
          <a:prstGeom prst="rect">
            <a:avLst/>
          </a:prstGeom>
          <a:solidFill>
            <a:srgbClr val="FFFFFF"/>
          </a:solidFill>
          <a:ln w="6350">
            <a:solidFill>
              <a:srgbClr val="1F2326"/>
            </a:solidFill>
            <a:prstDash val="solid"/>
          </a:ln>
        </p:spPr>
      </p:sp>
      <p:sp>
        <p:nvSpPr>
          <p:cNvPr id="62" name="shape-1027"/>
          <p:cNvSpPr/>
          <p:nvPr/>
        </p:nvSpPr>
        <p:spPr>
          <a:xfrm rot="10260000">
            <a:off x="8160654" y="3353440"/>
            <a:ext cx="178106" cy="82296"/>
          </a:xfrm>
          <a:prstGeom prst="rect">
            <a:avLst/>
          </a:prstGeom>
          <a:solidFill>
            <a:schemeClr val="accent1"/>
          </a:solidFill>
          <a:ln w="6350">
            <a:solidFill>
              <a:srgbClr val="1F2326"/>
            </a:solidFill>
            <a:prstDash val="solid"/>
          </a:ln>
        </p:spPr>
      </p:sp>
      <p:sp>
        <p:nvSpPr>
          <p:cNvPr id="63" name="shape-1028"/>
          <p:cNvSpPr/>
          <p:nvPr/>
        </p:nvSpPr>
        <p:spPr>
          <a:xfrm rot="-5940000">
            <a:off x="9340819" y="2882179"/>
            <a:ext cx="178106" cy="82296"/>
          </a:xfrm>
          <a:prstGeom prst="rect">
            <a:avLst/>
          </a:prstGeom>
          <a:solidFill>
            <a:schemeClr val="accent1"/>
          </a:solidFill>
          <a:ln w="6350">
            <a:solidFill>
              <a:srgbClr val="1F2326"/>
            </a:solidFill>
            <a:prstDash val="solid"/>
          </a:ln>
        </p:spPr>
      </p:sp>
      <p:sp>
        <p:nvSpPr>
          <p:cNvPr id="64" name="shape-1029"/>
          <p:cNvSpPr/>
          <p:nvPr/>
        </p:nvSpPr>
        <p:spPr>
          <a:xfrm rot="-7020000">
            <a:off x="9395631" y="3050872"/>
            <a:ext cx="178106" cy="82296"/>
          </a:xfrm>
          <a:prstGeom prst="rect">
            <a:avLst/>
          </a:prstGeom>
          <a:solidFill>
            <a:srgbClr val="FFFFFF"/>
          </a:solidFill>
          <a:ln w="6350">
            <a:solidFill>
              <a:srgbClr val="1F2326"/>
            </a:solidFill>
            <a:prstDash val="solid"/>
          </a:ln>
        </p:spPr>
      </p:sp>
      <p:sp>
        <p:nvSpPr>
          <p:cNvPr id="65" name="shape-1030"/>
          <p:cNvSpPr/>
          <p:nvPr/>
        </p:nvSpPr>
        <p:spPr>
          <a:xfrm rot="-8100000">
            <a:off x="9499889" y="3194371"/>
            <a:ext cx="178106" cy="82296"/>
          </a:xfrm>
          <a:prstGeom prst="rect">
            <a:avLst/>
          </a:prstGeom>
          <a:solidFill>
            <a:schemeClr val="accent1"/>
          </a:solidFill>
          <a:ln w="6350">
            <a:solidFill>
              <a:srgbClr val="1F2326"/>
            </a:solidFill>
            <a:prstDash val="solid"/>
          </a:ln>
        </p:spPr>
      </p:sp>
      <p:sp>
        <p:nvSpPr>
          <p:cNvPr id="66" name="shape-1031"/>
          <p:cNvSpPr/>
          <p:nvPr/>
        </p:nvSpPr>
        <p:spPr>
          <a:xfrm rot="-9180000">
            <a:off x="9643387" y="3298629"/>
            <a:ext cx="178106" cy="82296"/>
          </a:xfrm>
          <a:prstGeom prst="rect">
            <a:avLst/>
          </a:prstGeom>
          <a:solidFill>
            <a:srgbClr val="FFFFFF"/>
          </a:solidFill>
          <a:ln w="6350">
            <a:solidFill>
              <a:srgbClr val="1F2326"/>
            </a:solidFill>
            <a:prstDash val="solid"/>
          </a:ln>
        </p:spPr>
      </p:sp>
      <p:sp>
        <p:nvSpPr>
          <p:cNvPr id="67" name="shape-1032"/>
          <p:cNvSpPr/>
          <p:nvPr/>
        </p:nvSpPr>
        <p:spPr>
          <a:xfrm rot="-10260000">
            <a:off x="9812080" y="3353440"/>
            <a:ext cx="178106" cy="82296"/>
          </a:xfrm>
          <a:prstGeom prst="rect">
            <a:avLst/>
          </a:prstGeom>
          <a:solidFill>
            <a:schemeClr val="accent1"/>
          </a:solidFill>
          <a:ln w="6350">
            <a:solidFill>
              <a:srgbClr val="1F2326"/>
            </a:solidFill>
            <a:prstDash val="solid"/>
          </a:ln>
        </p:spPr>
      </p:sp>
      <p:sp>
        <p:nvSpPr>
          <p:cNvPr id="68" name="shape-1033"/>
          <p:cNvSpPr/>
          <p:nvPr/>
        </p:nvSpPr>
        <p:spPr>
          <a:xfrm>
            <a:off x="9692640" y="1828800"/>
            <a:ext cx="384048" cy="384048"/>
          </a:xfrm>
          <a:prstGeom prst="octagon">
            <a:avLst/>
          </a:prstGeom>
          <a:solidFill>
            <a:schemeClr val="accent1"/>
          </a:solidFill>
          <a:ln w="19050">
            <a:solidFill>
              <a:srgbClr val="FFFFFF"/>
            </a:solidFill>
            <a:prstDash val="solid"/>
          </a:ln>
        </p:spPr>
      </p:sp>
      <p:sp>
        <p:nvSpPr>
          <p:cNvPr id="69" name="text-1034"/>
          <p:cNvSpPr txBox="1"/>
          <p:nvPr/>
        </p:nvSpPr>
        <p:spPr>
          <a:xfrm>
            <a:off x="9692640" y="1828800"/>
            <a:ext cx="384048" cy="384048"/>
          </a:xfrm>
          <a:prstGeom prst="rect">
            <a:avLst/>
          </a:prstGeom>
          <a:noFill/>
          <a:ln/>
        </p:spPr>
        <p:txBody>
          <a:bodyPr wrap="square" lIns="0" tIns="0" rIns="0" bIns="0" rtlCol="0" anchor="ctr"/>
          <a:lstStyle/>
          <a:p>
            <a:pPr algn="ctr" indent="0" marL="0">
              <a:buNone/>
            </a:pPr>
            <a:r>
              <a:rPr lang="en-US" sz="600" b="1" dirty="0">
                <a:solidFill>
                  <a:srgbClr val="FFFFFF"/>
                </a:solidFill>
                <a:latin typeface="Arial" pitchFamily="34" charset="0"/>
                <a:ea typeface="Arial" pitchFamily="34" charset="-122"/>
                <a:cs typeface="Arial" pitchFamily="34" charset="-120"/>
              </a:rPr>
              <a:t>STOP</a:t>
            </a:r>
            <a:endParaRPr lang="en-US" sz="600" dirty="0"/>
          </a:p>
        </p:txBody>
      </p:sp>
      <p:sp>
        <p:nvSpPr>
          <p:cNvPr id="70" name="text-1035"/>
          <p:cNvSpPr txBox="1"/>
          <p:nvPr/>
        </p:nvSpPr>
        <p:spPr>
          <a:xfrm>
            <a:off x="8229600" y="1463040"/>
            <a:ext cx="914400" cy="201168"/>
          </a:xfrm>
          <a:prstGeom prst="rect">
            <a:avLst/>
          </a:prstGeom>
          <a:noFill/>
          <a:ln/>
        </p:spPr>
        <p:txBody>
          <a:bodyPr wrap="square" lIns="0" tIns="0" rIns="0" bIns="0" rtlCol="0" anchor="t"/>
          <a:lstStyle/>
          <a:p>
            <a:pPr indent="0" marL="0">
              <a:buNone/>
            </a:pPr>
            <a:r>
              <a:rPr lang="en-US" sz="900" b="1" dirty="0">
                <a:solidFill>
                  <a:schemeClr val="tx1"/>
                </a:solidFill>
                <a:latin typeface="Calibri" pitchFamily="34" charset="0"/>
                <a:ea typeface="Calibri" pitchFamily="34" charset="-122"/>
                <a:cs typeface="Calibri" pitchFamily="34" charset="-120"/>
              </a:rPr>
              <a:t>ROAD-02</a:t>
            </a:r>
            <a:endParaRPr lang="en-US" sz="900" dirty="0"/>
          </a:p>
        </p:txBody>
      </p:sp>
      <p:sp>
        <p:nvSpPr>
          <p:cNvPr id="71" name="text-1036"/>
          <p:cNvSpPr txBox="1"/>
          <p:nvPr/>
        </p:nvSpPr>
        <p:spPr>
          <a:xfrm>
            <a:off x="6812280" y="4251960"/>
            <a:ext cx="1828800" cy="201168"/>
          </a:xfrm>
          <a:prstGeom prst="rect">
            <a:avLst/>
          </a:prstGeom>
          <a:noFill/>
          <a:ln/>
        </p:spPr>
        <p:txBody>
          <a:bodyPr wrap="square" lIns="0" tIns="0" rIns="0" bIns="0" rtlCol="0" anchor="t"/>
          <a:lstStyle/>
          <a:p>
            <a:pPr indent="0" marL="0">
              <a:buNone/>
            </a:pPr>
            <a:r>
              <a:rPr lang="en-US" sz="900" b="1" dirty="0">
                <a:solidFill>
                  <a:schemeClr val="tx1"/>
                </a:solidFill>
                <a:latin typeface="Calibri" pitchFamily="34" charset="0"/>
                <a:ea typeface="Calibri" pitchFamily="34" charset="-122"/>
                <a:cs typeface="Calibri" pitchFamily="34" charset="-120"/>
              </a:rPr>
              <a:t>ROAD-01 (main)</a:t>
            </a:r>
            <a:endParaRPr lang="en-US" sz="900" dirty="0"/>
          </a:p>
        </p:txBody>
      </p:sp>
      <p:sp>
        <p:nvSpPr>
          <p:cNvPr id="72" name="text-1037"/>
          <p:cNvSpPr txBox="1"/>
          <p:nvPr/>
        </p:nvSpPr>
        <p:spPr>
          <a:xfrm>
            <a:off x="8001000" y="2697480"/>
            <a:ext cx="457200" cy="182880"/>
          </a:xfrm>
          <a:prstGeom prst="rect">
            <a:avLst/>
          </a:prstGeom>
          <a:noFill/>
          <a:ln/>
        </p:spPr>
        <p:txBody>
          <a:bodyPr wrap="square" lIns="0" tIns="0" rIns="0" bIns="0" rtlCol="0" anchor="t"/>
          <a:lstStyle/>
          <a:p>
            <a:pPr indent="0" marL="0">
              <a:buNone/>
            </a:pPr>
            <a:r>
              <a:rPr lang="en-US" sz="850" b="1" dirty="0">
                <a:solidFill>
                  <a:schemeClr val="accent6"/>
                </a:solidFill>
                <a:latin typeface="Calibri" pitchFamily="34" charset="0"/>
                <a:ea typeface="Calibri" pitchFamily="34" charset="-122"/>
                <a:cs typeface="Calibri" pitchFamily="34" charset="-120"/>
              </a:rPr>
              <a:t>R=10</a:t>
            </a:r>
            <a:endParaRPr lang="en-US" sz="850" dirty="0"/>
          </a:p>
        </p:txBody>
      </p:sp>
      <p:sp>
        <p:nvSpPr>
          <p:cNvPr id="73" name="text-1038"/>
          <p:cNvSpPr txBox="1"/>
          <p:nvPr/>
        </p:nvSpPr>
        <p:spPr>
          <a:xfrm>
            <a:off x="9692640" y="2697480"/>
            <a:ext cx="457200" cy="182880"/>
          </a:xfrm>
          <a:prstGeom prst="rect">
            <a:avLst/>
          </a:prstGeom>
          <a:noFill/>
          <a:ln/>
        </p:spPr>
        <p:txBody>
          <a:bodyPr wrap="square" lIns="0" tIns="0" rIns="0" bIns="0" rtlCol="0" anchor="t"/>
          <a:lstStyle/>
          <a:p>
            <a:pPr indent="0" marL="0">
              <a:buNone/>
            </a:pPr>
            <a:r>
              <a:rPr lang="en-US" sz="850" b="1" dirty="0">
                <a:solidFill>
                  <a:schemeClr val="accent6"/>
                </a:solidFill>
                <a:latin typeface="Calibri" pitchFamily="34" charset="0"/>
                <a:ea typeface="Calibri" pitchFamily="34" charset="-122"/>
                <a:cs typeface="Calibri" pitchFamily="34" charset="-120"/>
              </a:rPr>
              <a:t>R=10</a:t>
            </a:r>
            <a:endParaRPr lang="en-US" sz="850" dirty="0"/>
          </a:p>
        </p:txBody>
      </p:sp>
      <p:sp>
        <p:nvSpPr>
          <p:cNvPr id="74" name="shape-1039"/>
          <p:cNvSpPr/>
          <p:nvPr/>
        </p:nvSpPr>
        <p:spPr>
          <a:xfrm>
            <a:off x="9020556" y="3694176"/>
            <a:ext cx="109728" cy="109728"/>
          </a:xfrm>
          <a:prstGeom prst="ellipse">
            <a:avLst/>
          </a:prstGeom>
          <a:solidFill>
            <a:schemeClr val="accent1"/>
          </a:solidFill>
          <a:ln/>
        </p:spPr>
      </p:sp>
      <p:sp>
        <p:nvSpPr>
          <p:cNvPr id="75" name="text-1040"/>
          <p:cNvSpPr txBox="1"/>
          <p:nvPr/>
        </p:nvSpPr>
        <p:spPr>
          <a:xfrm>
            <a:off x="9189720" y="3794760"/>
            <a:ext cx="2194560" cy="228600"/>
          </a:xfrm>
          <a:prstGeom prst="rect">
            <a:avLst/>
          </a:prstGeom>
          <a:noFill/>
          <a:ln/>
        </p:spPr>
        <p:txBody>
          <a:bodyPr wrap="square" lIns="0" tIns="0" rIns="0" bIns="0" rtlCol="0" anchor="t"/>
          <a:lstStyle/>
          <a:p>
            <a:pPr indent="0" marL="0">
              <a:buNone/>
            </a:pPr>
            <a:r>
              <a:rPr lang="en-US" sz="850" b="1" dirty="0">
                <a:solidFill>
                  <a:srgbClr val="FFFFFF"/>
                </a:solidFill>
                <a:latin typeface="Calibri" pitchFamily="34" charset="0"/>
                <a:ea typeface="Calibri" pitchFamily="34" charset="-122"/>
                <a:cs typeface="Calibri" pitchFamily="34" charset="-120"/>
              </a:rPr>
              <a:t>start the branch here, ON the main CL</a:t>
            </a:r>
            <a:endParaRPr lang="en-US" sz="850" dirty="0"/>
          </a:p>
        </p:txBody>
      </p:sp>
      <p:sp>
        <p:nvSpPr>
          <p:cNvPr id="76" name="shape-1041"/>
          <p:cNvSpPr/>
          <p:nvPr/>
        </p:nvSpPr>
        <p:spPr>
          <a:xfrm>
            <a:off x="6492240" y="5166360"/>
            <a:ext cx="5166360" cy="1005840"/>
          </a:xfrm>
          <a:prstGeom prst="roundRect">
            <a:avLst>
              <a:gd name="adj" fmla="val 7273"/>
            </a:avLst>
          </a:prstGeom>
          <a:solidFill>
            <a:srgbClr val="FFF6D6"/>
          </a:solidFill>
          <a:ln w="9525">
            <a:solidFill>
              <a:srgbClr val="F2D27A"/>
            </a:solidFill>
            <a:prstDash val="solid"/>
          </a:ln>
        </p:spPr>
      </p:sp>
      <p:sp>
        <p:nvSpPr>
          <p:cNvPr id="77" name="text-1042"/>
          <p:cNvSpPr txBox="1"/>
          <p:nvPr/>
        </p:nvSpPr>
        <p:spPr>
          <a:xfrm>
            <a:off x="6638544" y="5239512"/>
            <a:ext cx="4873752" cy="859536"/>
          </a:xfrm>
          <a:prstGeom prst="rect">
            <a:avLst/>
          </a:prstGeom>
          <a:noFill/>
          <a:ln/>
        </p:spPr>
        <p:txBody>
          <a:bodyPr wrap="square" lIns="0" tIns="0" rIns="0" bIns="0" rtlCol="0" anchor="ctr"/>
          <a:lstStyle/>
          <a:p>
            <a:pPr indent="0" marL="0">
              <a:buNone/>
            </a:pPr>
            <a:r>
              <a:rPr lang="en-US" sz="1050" b="1" dirty="0">
                <a:solidFill>
                  <a:srgbClr val="A65F00"/>
                </a:solidFill>
                <a:latin typeface="Calibri" pitchFamily="34" charset="0"/>
                <a:ea typeface="Calibri" pitchFamily="34" charset="-122"/>
                <a:cs typeface="Calibri" pitchFamily="34" charset="-120"/>
              </a:rPr>
              <a:t>Crossroads?  </a:t>
            </a:r>
            <a:pPr indent="0" marL="0">
              <a:buNone/>
            </a:pPr>
            <a:r>
              <a:rPr lang="en-US" sz="1050" dirty="0">
                <a:solidFill>
                  <a:srgbClr val="3A3F45"/>
                </a:solidFill>
                <a:latin typeface="Calibri" pitchFamily="34" charset="0"/>
                <a:ea typeface="Calibri" pitchFamily="34" charset="-122"/>
                <a:cs typeface="Calibri" pitchFamily="34" charset="-120"/>
              </a:rPr>
              <a:t>Run RDJ once for each side at the same chainage. Several branches (J1, J2 ...) can join the same main road.</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E  ·  RDJ</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Road Junction dialog: every setting</a:t>
            </a:r>
            <a:endParaRPr lang="en-US" sz="2600" dirty="0"/>
          </a:p>
        </p:txBody>
      </p:sp>
      <p:graphicFrame>
        <p:nvGraphicFramePr>
          <p:cNvPr id="28" name="table-1043"/>
          <p:cNvGraphicFramePr>
            <a:graphicFrameLocks noGrp="1"/>
          </p:cNvGraphicFramePr>
          <p:nvPr>
            <p:extLst>
              <p:ext uri="{D42A27DB-BD31-4B8C-83A1-F6EECF244321}">
                <p14:modId xmlns:p14="http://schemas.microsoft.com/office/powerpoint/2010/main" val="1579011935"/>
              </p:ext>
            </p:extLst>
          </p:nvPr>
        </p:nvGraphicFramePr>
        <p:xfrm>
          <a:off x="502920" y="1298448"/>
          <a:ext cx="11155680" cy="914400"/>
        </p:xfrm>
        <a:graphic>
          <a:graphicData uri="http://schemas.openxmlformats.org/drawingml/2006/table">
            <a:tbl>
              <a:tblPr/>
              <a:tblGrid>
                <a:gridCol w="2743200"/>
                <a:gridCol w="2834640"/>
                <a:gridCol w="55778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Setting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Options  (default)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Branch road name / ID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ROAD-02</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Name of the joining road (labels, report).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Branch road width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7.30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Carriageway width of the branch.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Branch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Draw new (from main road CL)  /  Select existing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Draw after OK, or click a line that starts on the main CL.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Corner (kerb return) radius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Radius of both kerb returns.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Control on the branch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STOP  /  GIVE WAY  /  No sign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Sign and L7 stop line or L8 give-way line on the branch.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Edge treatment around the corners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Places a treatment along both kerb returns.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6576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Corner treatment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Same as main road  /  Barricades  /  Traffic cones  /  Kerb stone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NEW in 3.3: choose what goes around the corners (slide 28).</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Road markings in the turning area</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L5/3 across the mouth, L2A approach, turn arrow, STOP / triangle.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Add auxiliary lane (two taper lines)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Extra lane on the main road at the junction.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Lane width  /  long  /  short  /  storage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3.65  /  60  /  30  /  30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Width, approach taper (long), departure taper (short), storage length.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Island  /  width  /  length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No island / Kerbed / Painted,  1.5  /  15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Splitter island on the branch.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HOW TO  ·  RDJ</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How to add barricades, cones or kerb stone at junction corners</a:t>
            </a:r>
            <a:endParaRPr lang="en-US" sz="2600" dirty="0"/>
          </a:p>
        </p:txBody>
      </p:sp>
      <p:sp>
        <p:nvSpPr>
          <p:cNvPr id="4" name="shape-1044"/>
          <p:cNvSpPr/>
          <p:nvPr/>
        </p:nvSpPr>
        <p:spPr>
          <a:xfrm>
            <a:off x="502920" y="1325880"/>
            <a:ext cx="2670048" cy="3063240"/>
          </a:xfrm>
          <a:prstGeom prst="roundRect">
            <a:avLst>
              <a:gd name="adj" fmla="val 2740"/>
            </a:avLst>
          </a:prstGeom>
          <a:solidFill>
            <a:srgbClr val="F4F5F7"/>
          </a:solidFill>
          <a:ln w="9525">
            <a:solidFill>
              <a:srgbClr val="E3E5E8"/>
            </a:solidFill>
            <a:prstDash val="solid"/>
          </a:ln>
        </p:spPr>
      </p:sp>
      <p:sp>
        <p:nvSpPr>
          <p:cNvPr id="5" name="text-1045"/>
          <p:cNvSpPr txBox="1"/>
          <p:nvPr/>
        </p:nvSpPr>
        <p:spPr>
          <a:xfrm>
            <a:off x="640080" y="1417320"/>
            <a:ext cx="2395728" cy="274320"/>
          </a:xfrm>
          <a:prstGeom prst="rect">
            <a:avLst/>
          </a:prstGeom>
          <a:noFill/>
          <a:ln/>
        </p:spPr>
        <p:txBody>
          <a:bodyPr wrap="square" lIns="0" tIns="0" rIns="0" bIns="0" rtlCol="0" anchor="t"/>
          <a:lstStyle/>
          <a:p>
            <a:pPr indent="0" marL="0">
              <a:buNone/>
            </a:pPr>
            <a:r>
              <a:rPr lang="en-US" sz="1250" b="1" dirty="0">
                <a:solidFill>
                  <a:schemeClr val="tx1"/>
                </a:solidFill>
                <a:latin typeface="Calibri" pitchFamily="34" charset="0"/>
                <a:ea typeface="Calibri" pitchFamily="34" charset="-122"/>
                <a:cs typeface="Calibri" pitchFamily="34" charset="-120"/>
              </a:rPr>
              <a:t>Same as main road</a:t>
            </a:r>
            <a:endParaRPr lang="en-US" sz="1250" dirty="0"/>
          </a:p>
        </p:txBody>
      </p:sp>
      <p:sp>
        <p:nvSpPr>
          <p:cNvPr id="6" name="shape-1046"/>
          <p:cNvSpPr/>
          <p:nvPr/>
        </p:nvSpPr>
        <p:spPr>
          <a:xfrm>
            <a:off x="1426464" y="1783080"/>
            <a:ext cx="822960" cy="1645920"/>
          </a:xfrm>
          <a:prstGeom prst="rect">
            <a:avLst/>
          </a:prstGeom>
          <a:solidFill>
            <a:schemeClr val="accent5"/>
          </a:solidFill>
          <a:ln/>
        </p:spPr>
      </p:sp>
      <p:sp>
        <p:nvSpPr>
          <p:cNvPr id="7" name="shape-1047"/>
          <p:cNvSpPr/>
          <p:nvPr/>
        </p:nvSpPr>
        <p:spPr>
          <a:xfrm>
            <a:off x="1042416" y="3044952"/>
            <a:ext cx="384048" cy="384048"/>
          </a:xfrm>
          <a:prstGeom prst="rect">
            <a:avLst/>
          </a:prstGeom>
          <a:solidFill>
            <a:schemeClr val="accent5"/>
          </a:solidFill>
          <a:ln/>
        </p:spPr>
      </p:sp>
      <p:sp>
        <p:nvSpPr>
          <p:cNvPr id="8" name="shape-1048"/>
          <p:cNvSpPr/>
          <p:nvPr/>
        </p:nvSpPr>
        <p:spPr>
          <a:xfrm>
            <a:off x="2249424" y="3044952"/>
            <a:ext cx="384048" cy="384048"/>
          </a:xfrm>
          <a:prstGeom prst="rect">
            <a:avLst/>
          </a:prstGeom>
          <a:solidFill>
            <a:schemeClr val="accent5"/>
          </a:solidFill>
          <a:ln/>
        </p:spPr>
      </p:sp>
      <p:sp>
        <p:nvSpPr>
          <p:cNvPr id="9" name="shape-1049"/>
          <p:cNvSpPr/>
          <p:nvPr/>
        </p:nvSpPr>
        <p:spPr>
          <a:xfrm>
            <a:off x="658368" y="2660904"/>
            <a:ext cx="768096" cy="768096"/>
          </a:xfrm>
          <a:prstGeom prst="ellipse">
            <a:avLst/>
          </a:prstGeom>
          <a:solidFill>
            <a:srgbClr val="F4F5F7"/>
          </a:solidFill>
          <a:ln/>
        </p:spPr>
      </p:sp>
      <p:sp>
        <p:nvSpPr>
          <p:cNvPr id="10" name="shape-1050"/>
          <p:cNvSpPr/>
          <p:nvPr/>
        </p:nvSpPr>
        <p:spPr>
          <a:xfrm>
            <a:off x="2249424" y="2660904"/>
            <a:ext cx="768096" cy="768096"/>
          </a:xfrm>
          <a:prstGeom prst="ellipse">
            <a:avLst/>
          </a:prstGeom>
          <a:solidFill>
            <a:srgbClr val="F4F5F7"/>
          </a:solidFill>
          <a:ln/>
        </p:spPr>
      </p:sp>
      <p:sp>
        <p:nvSpPr>
          <p:cNvPr id="11" name="shape-1051"/>
          <p:cNvSpPr/>
          <p:nvPr/>
        </p:nvSpPr>
        <p:spPr>
          <a:xfrm>
            <a:off x="685800" y="3429000"/>
            <a:ext cx="2304288" cy="822960"/>
          </a:xfrm>
          <a:prstGeom prst="rect">
            <a:avLst/>
          </a:prstGeom>
          <a:solidFill>
            <a:schemeClr val="accent5"/>
          </a:solidFill>
          <a:ln/>
        </p:spPr>
      </p:sp>
      <p:sp>
        <p:nvSpPr>
          <p:cNvPr id="12" name="shape-1052"/>
          <p:cNvSpPr/>
          <p:nvPr/>
        </p:nvSpPr>
        <p:spPr>
          <a:xfrm>
            <a:off x="685800" y="3474720"/>
            <a:ext cx="2304288" cy="0"/>
          </a:xfrm>
          <a:prstGeom prst="line">
            <a:avLst/>
          </a:prstGeom>
          <a:noFill/>
          <a:ln w="15875">
            <a:solidFill>
              <a:schemeClr val="accent2"/>
            </a:solidFill>
            <a:prstDash val="solid"/>
          </a:ln>
        </p:spPr>
      </p:sp>
      <p:sp>
        <p:nvSpPr>
          <p:cNvPr id="13" name="shape-1053"/>
          <p:cNvSpPr/>
          <p:nvPr/>
        </p:nvSpPr>
        <p:spPr>
          <a:xfrm>
            <a:off x="685800" y="4206240"/>
            <a:ext cx="2304288" cy="0"/>
          </a:xfrm>
          <a:prstGeom prst="line">
            <a:avLst/>
          </a:prstGeom>
          <a:noFill/>
          <a:ln w="15875">
            <a:solidFill>
              <a:schemeClr val="accent2"/>
            </a:solidFill>
            <a:prstDash val="solid"/>
          </a:ln>
        </p:spPr>
      </p:sp>
      <p:sp>
        <p:nvSpPr>
          <p:cNvPr id="14" name="shape-1054"/>
          <p:cNvSpPr/>
          <p:nvPr/>
        </p:nvSpPr>
        <p:spPr>
          <a:xfrm>
            <a:off x="685800" y="3840480"/>
            <a:ext cx="2304288" cy="0"/>
          </a:xfrm>
          <a:prstGeom prst="line">
            <a:avLst/>
          </a:prstGeom>
          <a:noFill/>
          <a:ln w="19050">
            <a:solidFill>
              <a:srgbClr val="FFFFFF"/>
            </a:solidFill>
            <a:prstDash val="dash"/>
          </a:ln>
        </p:spPr>
      </p:sp>
      <p:sp>
        <p:nvSpPr>
          <p:cNvPr id="15" name="shape-1055"/>
          <p:cNvSpPr/>
          <p:nvPr/>
        </p:nvSpPr>
        <p:spPr>
          <a:xfrm>
            <a:off x="1837944" y="1828800"/>
            <a:ext cx="0" cy="2011680"/>
          </a:xfrm>
          <a:prstGeom prst="line">
            <a:avLst/>
          </a:prstGeom>
          <a:noFill/>
          <a:ln w="15875">
            <a:solidFill>
              <a:schemeClr val="accent2"/>
            </a:solidFill>
            <a:prstDash val="dash"/>
          </a:ln>
        </p:spPr>
      </p:sp>
      <p:sp>
        <p:nvSpPr>
          <p:cNvPr id="16" name="shape-1056"/>
          <p:cNvSpPr/>
          <p:nvPr/>
        </p:nvSpPr>
        <p:spPr>
          <a:xfrm>
            <a:off x="685800" y="3273552"/>
            <a:ext cx="59436" cy="82296"/>
          </a:xfrm>
          <a:prstGeom prst="rect">
            <a:avLst/>
          </a:prstGeom>
          <a:solidFill>
            <a:schemeClr val="accent1"/>
          </a:solidFill>
          <a:ln w="7620">
            <a:solidFill>
              <a:srgbClr val="1F2326"/>
            </a:solidFill>
            <a:prstDash val="solid"/>
          </a:ln>
        </p:spPr>
      </p:sp>
      <p:sp>
        <p:nvSpPr>
          <p:cNvPr id="17" name="shape-1057"/>
          <p:cNvSpPr/>
          <p:nvPr/>
        </p:nvSpPr>
        <p:spPr>
          <a:xfrm>
            <a:off x="745236" y="3273552"/>
            <a:ext cx="59436" cy="82296"/>
          </a:xfrm>
          <a:prstGeom prst="rect">
            <a:avLst/>
          </a:prstGeom>
          <a:solidFill>
            <a:srgbClr val="FFFFFF"/>
          </a:solidFill>
          <a:ln w="7620">
            <a:solidFill>
              <a:srgbClr val="1F2326"/>
            </a:solidFill>
            <a:prstDash val="solid"/>
          </a:ln>
        </p:spPr>
      </p:sp>
      <p:sp>
        <p:nvSpPr>
          <p:cNvPr id="18" name="shape-1058"/>
          <p:cNvSpPr/>
          <p:nvPr/>
        </p:nvSpPr>
        <p:spPr>
          <a:xfrm>
            <a:off x="804672" y="3273552"/>
            <a:ext cx="59436" cy="82296"/>
          </a:xfrm>
          <a:prstGeom prst="rect">
            <a:avLst/>
          </a:prstGeom>
          <a:solidFill>
            <a:schemeClr val="accent1"/>
          </a:solidFill>
          <a:ln w="7620">
            <a:solidFill>
              <a:srgbClr val="1F2326"/>
            </a:solidFill>
            <a:prstDash val="solid"/>
          </a:ln>
        </p:spPr>
      </p:sp>
      <p:sp>
        <p:nvSpPr>
          <p:cNvPr id="19" name="shape-1059"/>
          <p:cNvSpPr/>
          <p:nvPr/>
        </p:nvSpPr>
        <p:spPr>
          <a:xfrm>
            <a:off x="864108" y="3273552"/>
            <a:ext cx="59436" cy="82296"/>
          </a:xfrm>
          <a:prstGeom prst="rect">
            <a:avLst/>
          </a:prstGeom>
          <a:solidFill>
            <a:srgbClr val="FFFFFF"/>
          </a:solidFill>
          <a:ln w="7620">
            <a:solidFill>
              <a:srgbClr val="1F2326"/>
            </a:solidFill>
            <a:prstDash val="solid"/>
          </a:ln>
        </p:spPr>
      </p:sp>
      <p:sp>
        <p:nvSpPr>
          <p:cNvPr id="20" name="shape-1060"/>
          <p:cNvSpPr/>
          <p:nvPr/>
        </p:nvSpPr>
        <p:spPr>
          <a:xfrm>
            <a:off x="923544" y="3273552"/>
            <a:ext cx="59436" cy="82296"/>
          </a:xfrm>
          <a:prstGeom prst="rect">
            <a:avLst/>
          </a:prstGeom>
          <a:solidFill>
            <a:schemeClr val="accent1"/>
          </a:solidFill>
          <a:ln w="7620">
            <a:solidFill>
              <a:srgbClr val="1F2326"/>
            </a:solidFill>
            <a:prstDash val="solid"/>
          </a:ln>
        </p:spPr>
      </p:sp>
      <p:sp>
        <p:nvSpPr>
          <p:cNvPr id="21" name="shape-1061"/>
          <p:cNvSpPr/>
          <p:nvPr/>
        </p:nvSpPr>
        <p:spPr>
          <a:xfrm>
            <a:off x="982980" y="3273552"/>
            <a:ext cx="59436" cy="82296"/>
          </a:xfrm>
          <a:prstGeom prst="rect">
            <a:avLst/>
          </a:prstGeom>
          <a:solidFill>
            <a:srgbClr val="FFFFFF"/>
          </a:solidFill>
          <a:ln w="7620">
            <a:solidFill>
              <a:srgbClr val="1F2326"/>
            </a:solidFill>
            <a:prstDash val="solid"/>
          </a:ln>
        </p:spPr>
      </p:sp>
      <p:sp>
        <p:nvSpPr>
          <p:cNvPr id="22" name="shape-1062"/>
          <p:cNvSpPr/>
          <p:nvPr/>
        </p:nvSpPr>
        <p:spPr>
          <a:xfrm>
            <a:off x="2633472" y="3273552"/>
            <a:ext cx="59436" cy="82296"/>
          </a:xfrm>
          <a:prstGeom prst="rect">
            <a:avLst/>
          </a:prstGeom>
          <a:solidFill>
            <a:schemeClr val="accent1"/>
          </a:solidFill>
          <a:ln w="7620">
            <a:solidFill>
              <a:srgbClr val="1F2326"/>
            </a:solidFill>
            <a:prstDash val="solid"/>
          </a:ln>
        </p:spPr>
      </p:sp>
      <p:sp>
        <p:nvSpPr>
          <p:cNvPr id="23" name="shape-1063"/>
          <p:cNvSpPr/>
          <p:nvPr/>
        </p:nvSpPr>
        <p:spPr>
          <a:xfrm>
            <a:off x="2692908" y="3273552"/>
            <a:ext cx="59436" cy="82296"/>
          </a:xfrm>
          <a:prstGeom prst="rect">
            <a:avLst/>
          </a:prstGeom>
          <a:solidFill>
            <a:srgbClr val="FFFFFF"/>
          </a:solidFill>
          <a:ln w="7620">
            <a:solidFill>
              <a:srgbClr val="1F2326"/>
            </a:solidFill>
            <a:prstDash val="solid"/>
          </a:ln>
        </p:spPr>
      </p:sp>
      <p:sp>
        <p:nvSpPr>
          <p:cNvPr id="24" name="shape-1064"/>
          <p:cNvSpPr/>
          <p:nvPr/>
        </p:nvSpPr>
        <p:spPr>
          <a:xfrm>
            <a:off x="2752344" y="3273552"/>
            <a:ext cx="59436" cy="82296"/>
          </a:xfrm>
          <a:prstGeom prst="rect">
            <a:avLst/>
          </a:prstGeom>
          <a:solidFill>
            <a:schemeClr val="accent1"/>
          </a:solidFill>
          <a:ln w="7620">
            <a:solidFill>
              <a:srgbClr val="1F2326"/>
            </a:solidFill>
            <a:prstDash val="solid"/>
          </a:ln>
        </p:spPr>
      </p:sp>
      <p:sp>
        <p:nvSpPr>
          <p:cNvPr id="25" name="shape-1065"/>
          <p:cNvSpPr/>
          <p:nvPr/>
        </p:nvSpPr>
        <p:spPr>
          <a:xfrm>
            <a:off x="2811780" y="3273552"/>
            <a:ext cx="59436" cy="82296"/>
          </a:xfrm>
          <a:prstGeom prst="rect">
            <a:avLst/>
          </a:prstGeom>
          <a:solidFill>
            <a:srgbClr val="FFFFFF"/>
          </a:solidFill>
          <a:ln w="7620">
            <a:solidFill>
              <a:srgbClr val="1F2326"/>
            </a:solidFill>
            <a:prstDash val="solid"/>
          </a:ln>
        </p:spPr>
      </p:sp>
      <p:sp>
        <p:nvSpPr>
          <p:cNvPr id="26" name="shape-1066"/>
          <p:cNvSpPr/>
          <p:nvPr/>
        </p:nvSpPr>
        <p:spPr>
          <a:xfrm>
            <a:off x="2871216" y="3273552"/>
            <a:ext cx="59436" cy="82296"/>
          </a:xfrm>
          <a:prstGeom prst="rect">
            <a:avLst/>
          </a:prstGeom>
          <a:solidFill>
            <a:schemeClr val="accent1"/>
          </a:solidFill>
          <a:ln w="7620">
            <a:solidFill>
              <a:srgbClr val="1F2326"/>
            </a:solidFill>
            <a:prstDash val="solid"/>
          </a:ln>
        </p:spPr>
      </p:sp>
      <p:sp>
        <p:nvSpPr>
          <p:cNvPr id="27" name="shape-1067"/>
          <p:cNvSpPr/>
          <p:nvPr/>
        </p:nvSpPr>
        <p:spPr>
          <a:xfrm>
            <a:off x="2930652" y="3273552"/>
            <a:ext cx="59436" cy="82296"/>
          </a:xfrm>
          <a:prstGeom prst="rect">
            <a:avLst/>
          </a:prstGeom>
          <a:solidFill>
            <a:srgbClr val="FFFFFF"/>
          </a:solidFill>
          <a:ln w="7620">
            <a:solidFill>
              <a:srgbClr val="1F2326"/>
            </a:solidFill>
            <a:prstDash val="solid"/>
          </a:ln>
        </p:spPr>
      </p:sp>
      <p:sp>
        <p:nvSpPr>
          <p:cNvPr id="28" name="shape-1068"/>
          <p:cNvSpPr/>
          <p:nvPr/>
        </p:nvSpPr>
        <p:spPr>
          <a:xfrm>
            <a:off x="1271016" y="1783080"/>
            <a:ext cx="82296" cy="252374"/>
          </a:xfrm>
          <a:prstGeom prst="rect">
            <a:avLst/>
          </a:prstGeom>
          <a:solidFill>
            <a:schemeClr val="accent1"/>
          </a:solidFill>
          <a:ln w="7620">
            <a:solidFill>
              <a:srgbClr val="1F2326"/>
            </a:solidFill>
            <a:prstDash val="solid"/>
          </a:ln>
        </p:spPr>
      </p:sp>
      <p:sp>
        <p:nvSpPr>
          <p:cNvPr id="29" name="shape-1069"/>
          <p:cNvSpPr/>
          <p:nvPr/>
        </p:nvSpPr>
        <p:spPr>
          <a:xfrm>
            <a:off x="1271016" y="2035454"/>
            <a:ext cx="82296" cy="252374"/>
          </a:xfrm>
          <a:prstGeom prst="rect">
            <a:avLst/>
          </a:prstGeom>
          <a:solidFill>
            <a:srgbClr val="FFFFFF"/>
          </a:solidFill>
          <a:ln w="7620">
            <a:solidFill>
              <a:srgbClr val="1F2326"/>
            </a:solidFill>
            <a:prstDash val="solid"/>
          </a:ln>
        </p:spPr>
      </p:sp>
      <p:sp>
        <p:nvSpPr>
          <p:cNvPr id="30" name="shape-1070"/>
          <p:cNvSpPr/>
          <p:nvPr/>
        </p:nvSpPr>
        <p:spPr>
          <a:xfrm>
            <a:off x="1271016" y="2287829"/>
            <a:ext cx="82296" cy="252374"/>
          </a:xfrm>
          <a:prstGeom prst="rect">
            <a:avLst/>
          </a:prstGeom>
          <a:solidFill>
            <a:schemeClr val="accent1"/>
          </a:solidFill>
          <a:ln w="7620">
            <a:solidFill>
              <a:srgbClr val="1F2326"/>
            </a:solidFill>
            <a:prstDash val="solid"/>
          </a:ln>
        </p:spPr>
      </p:sp>
      <p:sp>
        <p:nvSpPr>
          <p:cNvPr id="31" name="shape-1071"/>
          <p:cNvSpPr/>
          <p:nvPr/>
        </p:nvSpPr>
        <p:spPr>
          <a:xfrm>
            <a:off x="1271016" y="2540203"/>
            <a:ext cx="82296" cy="252374"/>
          </a:xfrm>
          <a:prstGeom prst="rect">
            <a:avLst/>
          </a:prstGeom>
          <a:solidFill>
            <a:srgbClr val="FFFFFF"/>
          </a:solidFill>
          <a:ln w="7620">
            <a:solidFill>
              <a:srgbClr val="1F2326"/>
            </a:solidFill>
            <a:prstDash val="solid"/>
          </a:ln>
        </p:spPr>
      </p:sp>
      <p:sp>
        <p:nvSpPr>
          <p:cNvPr id="32" name="shape-1072"/>
          <p:cNvSpPr/>
          <p:nvPr/>
        </p:nvSpPr>
        <p:spPr>
          <a:xfrm>
            <a:off x="1271016" y="2792578"/>
            <a:ext cx="82296" cy="252374"/>
          </a:xfrm>
          <a:prstGeom prst="rect">
            <a:avLst/>
          </a:prstGeom>
          <a:solidFill>
            <a:schemeClr val="accent1"/>
          </a:solidFill>
          <a:ln w="7620">
            <a:solidFill>
              <a:srgbClr val="1F2326"/>
            </a:solidFill>
            <a:prstDash val="solid"/>
          </a:ln>
        </p:spPr>
      </p:sp>
      <p:sp>
        <p:nvSpPr>
          <p:cNvPr id="33" name="shape-1073"/>
          <p:cNvSpPr/>
          <p:nvPr/>
        </p:nvSpPr>
        <p:spPr>
          <a:xfrm>
            <a:off x="2322576" y="1783080"/>
            <a:ext cx="82296" cy="252374"/>
          </a:xfrm>
          <a:prstGeom prst="rect">
            <a:avLst/>
          </a:prstGeom>
          <a:solidFill>
            <a:schemeClr val="accent1"/>
          </a:solidFill>
          <a:ln w="7620">
            <a:solidFill>
              <a:srgbClr val="1F2326"/>
            </a:solidFill>
            <a:prstDash val="solid"/>
          </a:ln>
        </p:spPr>
      </p:sp>
      <p:sp>
        <p:nvSpPr>
          <p:cNvPr id="34" name="shape-1074"/>
          <p:cNvSpPr/>
          <p:nvPr/>
        </p:nvSpPr>
        <p:spPr>
          <a:xfrm>
            <a:off x="2322576" y="2035454"/>
            <a:ext cx="82296" cy="252374"/>
          </a:xfrm>
          <a:prstGeom prst="rect">
            <a:avLst/>
          </a:prstGeom>
          <a:solidFill>
            <a:srgbClr val="FFFFFF"/>
          </a:solidFill>
          <a:ln w="7620">
            <a:solidFill>
              <a:srgbClr val="1F2326"/>
            </a:solidFill>
            <a:prstDash val="solid"/>
          </a:ln>
        </p:spPr>
      </p:sp>
      <p:sp>
        <p:nvSpPr>
          <p:cNvPr id="35" name="shape-1075"/>
          <p:cNvSpPr/>
          <p:nvPr/>
        </p:nvSpPr>
        <p:spPr>
          <a:xfrm>
            <a:off x="2322576" y="2287829"/>
            <a:ext cx="82296" cy="252374"/>
          </a:xfrm>
          <a:prstGeom prst="rect">
            <a:avLst/>
          </a:prstGeom>
          <a:solidFill>
            <a:schemeClr val="accent1"/>
          </a:solidFill>
          <a:ln w="7620">
            <a:solidFill>
              <a:srgbClr val="1F2326"/>
            </a:solidFill>
            <a:prstDash val="solid"/>
          </a:ln>
        </p:spPr>
      </p:sp>
      <p:sp>
        <p:nvSpPr>
          <p:cNvPr id="36" name="shape-1076"/>
          <p:cNvSpPr/>
          <p:nvPr/>
        </p:nvSpPr>
        <p:spPr>
          <a:xfrm>
            <a:off x="2322576" y="2540203"/>
            <a:ext cx="82296" cy="252374"/>
          </a:xfrm>
          <a:prstGeom prst="rect">
            <a:avLst/>
          </a:prstGeom>
          <a:solidFill>
            <a:srgbClr val="FFFFFF"/>
          </a:solidFill>
          <a:ln w="7620">
            <a:solidFill>
              <a:srgbClr val="1F2326"/>
            </a:solidFill>
            <a:prstDash val="solid"/>
          </a:ln>
        </p:spPr>
      </p:sp>
      <p:sp>
        <p:nvSpPr>
          <p:cNvPr id="37" name="shape-1077"/>
          <p:cNvSpPr/>
          <p:nvPr/>
        </p:nvSpPr>
        <p:spPr>
          <a:xfrm>
            <a:off x="2322576" y="2792578"/>
            <a:ext cx="82296" cy="252374"/>
          </a:xfrm>
          <a:prstGeom prst="rect">
            <a:avLst/>
          </a:prstGeom>
          <a:solidFill>
            <a:schemeClr val="accent1"/>
          </a:solidFill>
          <a:ln w="7620">
            <a:solidFill>
              <a:srgbClr val="1F2326"/>
            </a:solidFill>
            <a:prstDash val="solid"/>
          </a:ln>
        </p:spPr>
      </p:sp>
      <p:sp>
        <p:nvSpPr>
          <p:cNvPr id="38" name="shape-1078"/>
          <p:cNvSpPr/>
          <p:nvPr/>
        </p:nvSpPr>
        <p:spPr>
          <a:xfrm rot="5940000">
            <a:off x="1414575" y="3073895"/>
            <a:ext cx="140761" cy="82296"/>
          </a:xfrm>
          <a:prstGeom prst="rect">
            <a:avLst/>
          </a:prstGeom>
          <a:solidFill>
            <a:schemeClr val="accent1"/>
          </a:solidFill>
          <a:ln w="6350">
            <a:solidFill>
              <a:srgbClr val="1F2326"/>
            </a:solidFill>
            <a:prstDash val="solid"/>
          </a:ln>
        </p:spPr>
      </p:sp>
      <p:sp>
        <p:nvSpPr>
          <p:cNvPr id="39" name="shape-1079"/>
          <p:cNvSpPr/>
          <p:nvPr/>
        </p:nvSpPr>
        <p:spPr>
          <a:xfrm rot="7020000">
            <a:off x="1371256" y="3207217"/>
            <a:ext cx="140761" cy="82296"/>
          </a:xfrm>
          <a:prstGeom prst="rect">
            <a:avLst/>
          </a:prstGeom>
          <a:solidFill>
            <a:srgbClr val="FFFFFF"/>
          </a:solidFill>
          <a:ln w="6350">
            <a:solidFill>
              <a:srgbClr val="1F2326"/>
            </a:solidFill>
            <a:prstDash val="solid"/>
          </a:ln>
        </p:spPr>
      </p:sp>
      <p:sp>
        <p:nvSpPr>
          <p:cNvPr id="40" name="shape-1080"/>
          <p:cNvSpPr/>
          <p:nvPr/>
        </p:nvSpPr>
        <p:spPr>
          <a:xfrm rot="8100000">
            <a:off x="1288859" y="3320627"/>
            <a:ext cx="140761" cy="82296"/>
          </a:xfrm>
          <a:prstGeom prst="rect">
            <a:avLst/>
          </a:prstGeom>
          <a:solidFill>
            <a:schemeClr val="accent1"/>
          </a:solidFill>
          <a:ln w="6350">
            <a:solidFill>
              <a:srgbClr val="1F2326"/>
            </a:solidFill>
            <a:prstDash val="solid"/>
          </a:ln>
        </p:spPr>
      </p:sp>
      <p:sp>
        <p:nvSpPr>
          <p:cNvPr id="41" name="shape-1081"/>
          <p:cNvSpPr/>
          <p:nvPr/>
        </p:nvSpPr>
        <p:spPr>
          <a:xfrm rot="9180000">
            <a:off x="1175449" y="3403025"/>
            <a:ext cx="140761" cy="82296"/>
          </a:xfrm>
          <a:prstGeom prst="rect">
            <a:avLst/>
          </a:prstGeom>
          <a:solidFill>
            <a:srgbClr val="FFFFFF"/>
          </a:solidFill>
          <a:ln w="6350">
            <a:solidFill>
              <a:srgbClr val="1F2326"/>
            </a:solidFill>
            <a:prstDash val="solid"/>
          </a:ln>
        </p:spPr>
      </p:sp>
      <p:sp>
        <p:nvSpPr>
          <p:cNvPr id="42" name="shape-1082"/>
          <p:cNvSpPr/>
          <p:nvPr/>
        </p:nvSpPr>
        <p:spPr>
          <a:xfrm rot="10260000">
            <a:off x="1042127" y="3446344"/>
            <a:ext cx="140761" cy="82296"/>
          </a:xfrm>
          <a:prstGeom prst="rect">
            <a:avLst/>
          </a:prstGeom>
          <a:solidFill>
            <a:schemeClr val="accent1"/>
          </a:solidFill>
          <a:ln w="6350">
            <a:solidFill>
              <a:srgbClr val="1F2326"/>
            </a:solidFill>
            <a:prstDash val="solid"/>
          </a:ln>
        </p:spPr>
      </p:sp>
      <p:sp>
        <p:nvSpPr>
          <p:cNvPr id="43" name="shape-1083"/>
          <p:cNvSpPr/>
          <p:nvPr/>
        </p:nvSpPr>
        <p:spPr>
          <a:xfrm rot="-5940000">
            <a:off x="2120552" y="3073895"/>
            <a:ext cx="140761" cy="82296"/>
          </a:xfrm>
          <a:prstGeom prst="rect">
            <a:avLst/>
          </a:prstGeom>
          <a:solidFill>
            <a:schemeClr val="accent1"/>
          </a:solidFill>
          <a:ln w="6350">
            <a:solidFill>
              <a:srgbClr val="1F2326"/>
            </a:solidFill>
            <a:prstDash val="solid"/>
          </a:ln>
        </p:spPr>
      </p:sp>
      <p:sp>
        <p:nvSpPr>
          <p:cNvPr id="44" name="shape-1084"/>
          <p:cNvSpPr/>
          <p:nvPr/>
        </p:nvSpPr>
        <p:spPr>
          <a:xfrm rot="-7020000">
            <a:off x="2163871" y="3207217"/>
            <a:ext cx="140761" cy="82296"/>
          </a:xfrm>
          <a:prstGeom prst="rect">
            <a:avLst/>
          </a:prstGeom>
          <a:solidFill>
            <a:srgbClr val="FFFFFF"/>
          </a:solidFill>
          <a:ln w="6350">
            <a:solidFill>
              <a:srgbClr val="1F2326"/>
            </a:solidFill>
            <a:prstDash val="solid"/>
          </a:ln>
        </p:spPr>
      </p:sp>
      <p:sp>
        <p:nvSpPr>
          <p:cNvPr id="45" name="shape-1085"/>
          <p:cNvSpPr/>
          <p:nvPr/>
        </p:nvSpPr>
        <p:spPr>
          <a:xfrm rot="-8100000">
            <a:off x="2246268" y="3320627"/>
            <a:ext cx="140761" cy="82296"/>
          </a:xfrm>
          <a:prstGeom prst="rect">
            <a:avLst/>
          </a:prstGeom>
          <a:solidFill>
            <a:schemeClr val="accent1"/>
          </a:solidFill>
          <a:ln w="6350">
            <a:solidFill>
              <a:srgbClr val="1F2326"/>
            </a:solidFill>
            <a:prstDash val="solid"/>
          </a:ln>
        </p:spPr>
      </p:sp>
      <p:sp>
        <p:nvSpPr>
          <p:cNvPr id="46" name="shape-1086"/>
          <p:cNvSpPr/>
          <p:nvPr/>
        </p:nvSpPr>
        <p:spPr>
          <a:xfrm rot="-9180000">
            <a:off x="2359678" y="3403025"/>
            <a:ext cx="140761" cy="82296"/>
          </a:xfrm>
          <a:prstGeom prst="rect">
            <a:avLst/>
          </a:prstGeom>
          <a:solidFill>
            <a:srgbClr val="FFFFFF"/>
          </a:solidFill>
          <a:ln w="6350">
            <a:solidFill>
              <a:srgbClr val="1F2326"/>
            </a:solidFill>
            <a:prstDash val="solid"/>
          </a:ln>
        </p:spPr>
      </p:sp>
      <p:sp>
        <p:nvSpPr>
          <p:cNvPr id="47" name="shape-1087"/>
          <p:cNvSpPr/>
          <p:nvPr/>
        </p:nvSpPr>
        <p:spPr>
          <a:xfrm rot="-10260000">
            <a:off x="2493000" y="3446344"/>
            <a:ext cx="140761" cy="82296"/>
          </a:xfrm>
          <a:prstGeom prst="rect">
            <a:avLst/>
          </a:prstGeom>
          <a:solidFill>
            <a:schemeClr val="accent1"/>
          </a:solidFill>
          <a:ln w="6350">
            <a:solidFill>
              <a:srgbClr val="1F2326"/>
            </a:solidFill>
            <a:prstDash val="solid"/>
          </a:ln>
        </p:spPr>
      </p:sp>
      <p:sp>
        <p:nvSpPr>
          <p:cNvPr id="48" name="shape-1088"/>
          <p:cNvSpPr/>
          <p:nvPr/>
        </p:nvSpPr>
        <p:spPr>
          <a:xfrm>
            <a:off x="3319272" y="1325880"/>
            <a:ext cx="2670048" cy="3063240"/>
          </a:xfrm>
          <a:prstGeom prst="roundRect">
            <a:avLst>
              <a:gd name="adj" fmla="val 2740"/>
            </a:avLst>
          </a:prstGeom>
          <a:solidFill>
            <a:srgbClr val="F4F5F7"/>
          </a:solidFill>
          <a:ln w="9525">
            <a:solidFill>
              <a:srgbClr val="E3E5E8"/>
            </a:solidFill>
            <a:prstDash val="solid"/>
          </a:ln>
        </p:spPr>
      </p:sp>
      <p:sp>
        <p:nvSpPr>
          <p:cNvPr id="49" name="text-1089"/>
          <p:cNvSpPr txBox="1"/>
          <p:nvPr/>
        </p:nvSpPr>
        <p:spPr>
          <a:xfrm>
            <a:off x="3456432" y="1417320"/>
            <a:ext cx="2395728" cy="274320"/>
          </a:xfrm>
          <a:prstGeom prst="rect">
            <a:avLst/>
          </a:prstGeom>
          <a:noFill/>
          <a:ln/>
        </p:spPr>
        <p:txBody>
          <a:bodyPr wrap="square" lIns="0" tIns="0" rIns="0" bIns="0" rtlCol="0" anchor="t"/>
          <a:lstStyle/>
          <a:p>
            <a:pPr indent="0" marL="0">
              <a:buNone/>
            </a:pPr>
            <a:r>
              <a:rPr lang="en-US" sz="1250" b="1" dirty="0">
                <a:solidFill>
                  <a:schemeClr val="accent1"/>
                </a:solidFill>
                <a:latin typeface="Calibri" pitchFamily="34" charset="0"/>
                <a:ea typeface="Calibri" pitchFamily="34" charset="-122"/>
                <a:cs typeface="Calibri" pitchFamily="34" charset="-120"/>
              </a:rPr>
              <a:t>Barricades</a:t>
            </a:r>
            <a:endParaRPr lang="en-US" sz="1250" dirty="0"/>
          </a:p>
        </p:txBody>
      </p:sp>
      <p:sp>
        <p:nvSpPr>
          <p:cNvPr id="50" name="shape-1090"/>
          <p:cNvSpPr/>
          <p:nvPr/>
        </p:nvSpPr>
        <p:spPr>
          <a:xfrm>
            <a:off x="4242816" y="1783080"/>
            <a:ext cx="822960" cy="1645920"/>
          </a:xfrm>
          <a:prstGeom prst="rect">
            <a:avLst/>
          </a:prstGeom>
          <a:solidFill>
            <a:schemeClr val="accent5"/>
          </a:solidFill>
          <a:ln/>
        </p:spPr>
      </p:sp>
      <p:sp>
        <p:nvSpPr>
          <p:cNvPr id="51" name="shape-1091"/>
          <p:cNvSpPr/>
          <p:nvPr/>
        </p:nvSpPr>
        <p:spPr>
          <a:xfrm>
            <a:off x="3858768" y="3044952"/>
            <a:ext cx="384048" cy="384048"/>
          </a:xfrm>
          <a:prstGeom prst="rect">
            <a:avLst/>
          </a:prstGeom>
          <a:solidFill>
            <a:schemeClr val="accent5"/>
          </a:solidFill>
          <a:ln/>
        </p:spPr>
      </p:sp>
      <p:sp>
        <p:nvSpPr>
          <p:cNvPr id="52" name="shape-1092"/>
          <p:cNvSpPr/>
          <p:nvPr/>
        </p:nvSpPr>
        <p:spPr>
          <a:xfrm>
            <a:off x="5065776" y="3044952"/>
            <a:ext cx="384048" cy="384048"/>
          </a:xfrm>
          <a:prstGeom prst="rect">
            <a:avLst/>
          </a:prstGeom>
          <a:solidFill>
            <a:schemeClr val="accent5"/>
          </a:solidFill>
          <a:ln/>
        </p:spPr>
      </p:sp>
      <p:sp>
        <p:nvSpPr>
          <p:cNvPr id="53" name="shape-1093"/>
          <p:cNvSpPr/>
          <p:nvPr/>
        </p:nvSpPr>
        <p:spPr>
          <a:xfrm>
            <a:off x="3474720" y="2660904"/>
            <a:ext cx="768096" cy="768096"/>
          </a:xfrm>
          <a:prstGeom prst="ellipse">
            <a:avLst/>
          </a:prstGeom>
          <a:solidFill>
            <a:srgbClr val="F4F5F7"/>
          </a:solidFill>
          <a:ln/>
        </p:spPr>
      </p:sp>
      <p:sp>
        <p:nvSpPr>
          <p:cNvPr id="54" name="shape-1094"/>
          <p:cNvSpPr/>
          <p:nvPr/>
        </p:nvSpPr>
        <p:spPr>
          <a:xfrm>
            <a:off x="5065776" y="2660904"/>
            <a:ext cx="768096" cy="768096"/>
          </a:xfrm>
          <a:prstGeom prst="ellipse">
            <a:avLst/>
          </a:prstGeom>
          <a:solidFill>
            <a:srgbClr val="F4F5F7"/>
          </a:solidFill>
          <a:ln/>
        </p:spPr>
      </p:sp>
      <p:sp>
        <p:nvSpPr>
          <p:cNvPr id="55" name="shape-1095"/>
          <p:cNvSpPr/>
          <p:nvPr/>
        </p:nvSpPr>
        <p:spPr>
          <a:xfrm>
            <a:off x="3502152" y="3429000"/>
            <a:ext cx="2304288" cy="822960"/>
          </a:xfrm>
          <a:prstGeom prst="rect">
            <a:avLst/>
          </a:prstGeom>
          <a:solidFill>
            <a:schemeClr val="accent5"/>
          </a:solidFill>
          <a:ln/>
        </p:spPr>
      </p:sp>
      <p:sp>
        <p:nvSpPr>
          <p:cNvPr id="56" name="shape-1096"/>
          <p:cNvSpPr/>
          <p:nvPr/>
        </p:nvSpPr>
        <p:spPr>
          <a:xfrm>
            <a:off x="3502152" y="3474720"/>
            <a:ext cx="2304288" cy="0"/>
          </a:xfrm>
          <a:prstGeom prst="line">
            <a:avLst/>
          </a:prstGeom>
          <a:noFill/>
          <a:ln w="15875">
            <a:solidFill>
              <a:schemeClr val="accent2"/>
            </a:solidFill>
            <a:prstDash val="solid"/>
          </a:ln>
        </p:spPr>
      </p:sp>
      <p:sp>
        <p:nvSpPr>
          <p:cNvPr id="57" name="shape-1097"/>
          <p:cNvSpPr/>
          <p:nvPr/>
        </p:nvSpPr>
        <p:spPr>
          <a:xfrm>
            <a:off x="3502152" y="4206240"/>
            <a:ext cx="2304288" cy="0"/>
          </a:xfrm>
          <a:prstGeom prst="line">
            <a:avLst/>
          </a:prstGeom>
          <a:noFill/>
          <a:ln w="15875">
            <a:solidFill>
              <a:schemeClr val="accent2"/>
            </a:solidFill>
            <a:prstDash val="solid"/>
          </a:ln>
        </p:spPr>
      </p:sp>
      <p:sp>
        <p:nvSpPr>
          <p:cNvPr id="58" name="shape-1098"/>
          <p:cNvSpPr/>
          <p:nvPr/>
        </p:nvSpPr>
        <p:spPr>
          <a:xfrm>
            <a:off x="3502152" y="3840480"/>
            <a:ext cx="2304288" cy="0"/>
          </a:xfrm>
          <a:prstGeom prst="line">
            <a:avLst/>
          </a:prstGeom>
          <a:noFill/>
          <a:ln w="19050">
            <a:solidFill>
              <a:srgbClr val="FFFFFF"/>
            </a:solidFill>
            <a:prstDash val="dash"/>
          </a:ln>
        </p:spPr>
      </p:sp>
      <p:sp>
        <p:nvSpPr>
          <p:cNvPr id="59" name="shape-1099"/>
          <p:cNvSpPr/>
          <p:nvPr/>
        </p:nvSpPr>
        <p:spPr>
          <a:xfrm>
            <a:off x="4654296" y="1828800"/>
            <a:ext cx="0" cy="2011680"/>
          </a:xfrm>
          <a:prstGeom prst="line">
            <a:avLst/>
          </a:prstGeom>
          <a:noFill/>
          <a:ln w="15875">
            <a:solidFill>
              <a:schemeClr val="accent2"/>
            </a:solidFill>
            <a:prstDash val="dash"/>
          </a:ln>
        </p:spPr>
      </p:sp>
      <p:sp>
        <p:nvSpPr>
          <p:cNvPr id="60" name="shape-1100"/>
          <p:cNvSpPr/>
          <p:nvPr/>
        </p:nvSpPr>
        <p:spPr>
          <a:xfrm>
            <a:off x="3502152" y="3273552"/>
            <a:ext cx="59436" cy="82296"/>
          </a:xfrm>
          <a:prstGeom prst="rect">
            <a:avLst/>
          </a:prstGeom>
          <a:solidFill>
            <a:schemeClr val="accent1"/>
          </a:solidFill>
          <a:ln w="7620">
            <a:solidFill>
              <a:srgbClr val="1F2326"/>
            </a:solidFill>
            <a:prstDash val="solid"/>
          </a:ln>
        </p:spPr>
      </p:sp>
      <p:sp>
        <p:nvSpPr>
          <p:cNvPr id="61" name="shape-1101"/>
          <p:cNvSpPr/>
          <p:nvPr/>
        </p:nvSpPr>
        <p:spPr>
          <a:xfrm>
            <a:off x="3561588" y="3273552"/>
            <a:ext cx="59436" cy="82296"/>
          </a:xfrm>
          <a:prstGeom prst="rect">
            <a:avLst/>
          </a:prstGeom>
          <a:solidFill>
            <a:srgbClr val="FFFFFF"/>
          </a:solidFill>
          <a:ln w="7620">
            <a:solidFill>
              <a:srgbClr val="1F2326"/>
            </a:solidFill>
            <a:prstDash val="solid"/>
          </a:ln>
        </p:spPr>
      </p:sp>
      <p:sp>
        <p:nvSpPr>
          <p:cNvPr id="62" name="shape-1102"/>
          <p:cNvSpPr/>
          <p:nvPr/>
        </p:nvSpPr>
        <p:spPr>
          <a:xfrm>
            <a:off x="3621024" y="3273552"/>
            <a:ext cx="59436" cy="82296"/>
          </a:xfrm>
          <a:prstGeom prst="rect">
            <a:avLst/>
          </a:prstGeom>
          <a:solidFill>
            <a:schemeClr val="accent1"/>
          </a:solidFill>
          <a:ln w="7620">
            <a:solidFill>
              <a:srgbClr val="1F2326"/>
            </a:solidFill>
            <a:prstDash val="solid"/>
          </a:ln>
        </p:spPr>
      </p:sp>
      <p:sp>
        <p:nvSpPr>
          <p:cNvPr id="63" name="shape-1103"/>
          <p:cNvSpPr/>
          <p:nvPr/>
        </p:nvSpPr>
        <p:spPr>
          <a:xfrm>
            <a:off x="3680460" y="3273552"/>
            <a:ext cx="59436" cy="82296"/>
          </a:xfrm>
          <a:prstGeom prst="rect">
            <a:avLst/>
          </a:prstGeom>
          <a:solidFill>
            <a:srgbClr val="FFFFFF"/>
          </a:solidFill>
          <a:ln w="7620">
            <a:solidFill>
              <a:srgbClr val="1F2326"/>
            </a:solidFill>
            <a:prstDash val="solid"/>
          </a:ln>
        </p:spPr>
      </p:sp>
      <p:sp>
        <p:nvSpPr>
          <p:cNvPr id="64" name="shape-1104"/>
          <p:cNvSpPr/>
          <p:nvPr/>
        </p:nvSpPr>
        <p:spPr>
          <a:xfrm>
            <a:off x="3739896" y="3273552"/>
            <a:ext cx="59436" cy="82296"/>
          </a:xfrm>
          <a:prstGeom prst="rect">
            <a:avLst/>
          </a:prstGeom>
          <a:solidFill>
            <a:schemeClr val="accent1"/>
          </a:solidFill>
          <a:ln w="7620">
            <a:solidFill>
              <a:srgbClr val="1F2326"/>
            </a:solidFill>
            <a:prstDash val="solid"/>
          </a:ln>
        </p:spPr>
      </p:sp>
      <p:sp>
        <p:nvSpPr>
          <p:cNvPr id="65" name="shape-1105"/>
          <p:cNvSpPr/>
          <p:nvPr/>
        </p:nvSpPr>
        <p:spPr>
          <a:xfrm>
            <a:off x="3799332" y="3273552"/>
            <a:ext cx="59436" cy="82296"/>
          </a:xfrm>
          <a:prstGeom prst="rect">
            <a:avLst/>
          </a:prstGeom>
          <a:solidFill>
            <a:srgbClr val="FFFFFF"/>
          </a:solidFill>
          <a:ln w="7620">
            <a:solidFill>
              <a:srgbClr val="1F2326"/>
            </a:solidFill>
            <a:prstDash val="solid"/>
          </a:ln>
        </p:spPr>
      </p:sp>
      <p:sp>
        <p:nvSpPr>
          <p:cNvPr id="66" name="shape-1106"/>
          <p:cNvSpPr/>
          <p:nvPr/>
        </p:nvSpPr>
        <p:spPr>
          <a:xfrm>
            <a:off x="5449824" y="3273552"/>
            <a:ext cx="59436" cy="82296"/>
          </a:xfrm>
          <a:prstGeom prst="rect">
            <a:avLst/>
          </a:prstGeom>
          <a:solidFill>
            <a:schemeClr val="accent1"/>
          </a:solidFill>
          <a:ln w="7620">
            <a:solidFill>
              <a:srgbClr val="1F2326"/>
            </a:solidFill>
            <a:prstDash val="solid"/>
          </a:ln>
        </p:spPr>
      </p:sp>
      <p:sp>
        <p:nvSpPr>
          <p:cNvPr id="67" name="shape-1107"/>
          <p:cNvSpPr/>
          <p:nvPr/>
        </p:nvSpPr>
        <p:spPr>
          <a:xfrm>
            <a:off x="5509260" y="3273552"/>
            <a:ext cx="59436" cy="82296"/>
          </a:xfrm>
          <a:prstGeom prst="rect">
            <a:avLst/>
          </a:prstGeom>
          <a:solidFill>
            <a:srgbClr val="FFFFFF"/>
          </a:solidFill>
          <a:ln w="7620">
            <a:solidFill>
              <a:srgbClr val="1F2326"/>
            </a:solidFill>
            <a:prstDash val="solid"/>
          </a:ln>
        </p:spPr>
      </p:sp>
      <p:sp>
        <p:nvSpPr>
          <p:cNvPr id="68" name="shape-1108"/>
          <p:cNvSpPr/>
          <p:nvPr/>
        </p:nvSpPr>
        <p:spPr>
          <a:xfrm>
            <a:off x="5568696" y="3273552"/>
            <a:ext cx="59436" cy="82296"/>
          </a:xfrm>
          <a:prstGeom prst="rect">
            <a:avLst/>
          </a:prstGeom>
          <a:solidFill>
            <a:schemeClr val="accent1"/>
          </a:solidFill>
          <a:ln w="7620">
            <a:solidFill>
              <a:srgbClr val="1F2326"/>
            </a:solidFill>
            <a:prstDash val="solid"/>
          </a:ln>
        </p:spPr>
      </p:sp>
      <p:sp>
        <p:nvSpPr>
          <p:cNvPr id="69" name="shape-1109"/>
          <p:cNvSpPr/>
          <p:nvPr/>
        </p:nvSpPr>
        <p:spPr>
          <a:xfrm>
            <a:off x="5628132" y="3273552"/>
            <a:ext cx="59436" cy="82296"/>
          </a:xfrm>
          <a:prstGeom prst="rect">
            <a:avLst/>
          </a:prstGeom>
          <a:solidFill>
            <a:srgbClr val="FFFFFF"/>
          </a:solidFill>
          <a:ln w="7620">
            <a:solidFill>
              <a:srgbClr val="1F2326"/>
            </a:solidFill>
            <a:prstDash val="solid"/>
          </a:ln>
        </p:spPr>
      </p:sp>
      <p:sp>
        <p:nvSpPr>
          <p:cNvPr id="70" name="shape-1110"/>
          <p:cNvSpPr/>
          <p:nvPr/>
        </p:nvSpPr>
        <p:spPr>
          <a:xfrm>
            <a:off x="5687568" y="3273552"/>
            <a:ext cx="59436" cy="82296"/>
          </a:xfrm>
          <a:prstGeom prst="rect">
            <a:avLst/>
          </a:prstGeom>
          <a:solidFill>
            <a:schemeClr val="accent1"/>
          </a:solidFill>
          <a:ln w="7620">
            <a:solidFill>
              <a:srgbClr val="1F2326"/>
            </a:solidFill>
            <a:prstDash val="solid"/>
          </a:ln>
        </p:spPr>
      </p:sp>
      <p:sp>
        <p:nvSpPr>
          <p:cNvPr id="71" name="shape-1111"/>
          <p:cNvSpPr/>
          <p:nvPr/>
        </p:nvSpPr>
        <p:spPr>
          <a:xfrm>
            <a:off x="5747004" y="3273552"/>
            <a:ext cx="59436" cy="82296"/>
          </a:xfrm>
          <a:prstGeom prst="rect">
            <a:avLst/>
          </a:prstGeom>
          <a:solidFill>
            <a:srgbClr val="FFFFFF"/>
          </a:solidFill>
          <a:ln w="7620">
            <a:solidFill>
              <a:srgbClr val="1F2326"/>
            </a:solidFill>
            <a:prstDash val="solid"/>
          </a:ln>
        </p:spPr>
      </p:sp>
      <p:sp>
        <p:nvSpPr>
          <p:cNvPr id="72" name="shape-1112"/>
          <p:cNvSpPr/>
          <p:nvPr/>
        </p:nvSpPr>
        <p:spPr>
          <a:xfrm>
            <a:off x="4087368" y="1783080"/>
            <a:ext cx="82296" cy="252374"/>
          </a:xfrm>
          <a:prstGeom prst="rect">
            <a:avLst/>
          </a:prstGeom>
          <a:solidFill>
            <a:schemeClr val="accent1"/>
          </a:solidFill>
          <a:ln w="7620">
            <a:solidFill>
              <a:srgbClr val="1F2326"/>
            </a:solidFill>
            <a:prstDash val="solid"/>
          </a:ln>
        </p:spPr>
      </p:sp>
      <p:sp>
        <p:nvSpPr>
          <p:cNvPr id="73" name="shape-1113"/>
          <p:cNvSpPr/>
          <p:nvPr/>
        </p:nvSpPr>
        <p:spPr>
          <a:xfrm>
            <a:off x="4087368" y="2035454"/>
            <a:ext cx="82296" cy="252374"/>
          </a:xfrm>
          <a:prstGeom prst="rect">
            <a:avLst/>
          </a:prstGeom>
          <a:solidFill>
            <a:srgbClr val="FFFFFF"/>
          </a:solidFill>
          <a:ln w="7620">
            <a:solidFill>
              <a:srgbClr val="1F2326"/>
            </a:solidFill>
            <a:prstDash val="solid"/>
          </a:ln>
        </p:spPr>
      </p:sp>
      <p:sp>
        <p:nvSpPr>
          <p:cNvPr id="74" name="shape-1114"/>
          <p:cNvSpPr/>
          <p:nvPr/>
        </p:nvSpPr>
        <p:spPr>
          <a:xfrm>
            <a:off x="4087368" y="2287829"/>
            <a:ext cx="82296" cy="252374"/>
          </a:xfrm>
          <a:prstGeom prst="rect">
            <a:avLst/>
          </a:prstGeom>
          <a:solidFill>
            <a:schemeClr val="accent1"/>
          </a:solidFill>
          <a:ln w="7620">
            <a:solidFill>
              <a:srgbClr val="1F2326"/>
            </a:solidFill>
            <a:prstDash val="solid"/>
          </a:ln>
        </p:spPr>
      </p:sp>
      <p:sp>
        <p:nvSpPr>
          <p:cNvPr id="75" name="shape-1115"/>
          <p:cNvSpPr/>
          <p:nvPr/>
        </p:nvSpPr>
        <p:spPr>
          <a:xfrm>
            <a:off x="4087368" y="2540203"/>
            <a:ext cx="82296" cy="252374"/>
          </a:xfrm>
          <a:prstGeom prst="rect">
            <a:avLst/>
          </a:prstGeom>
          <a:solidFill>
            <a:srgbClr val="FFFFFF"/>
          </a:solidFill>
          <a:ln w="7620">
            <a:solidFill>
              <a:srgbClr val="1F2326"/>
            </a:solidFill>
            <a:prstDash val="solid"/>
          </a:ln>
        </p:spPr>
      </p:sp>
      <p:sp>
        <p:nvSpPr>
          <p:cNvPr id="76" name="shape-1116"/>
          <p:cNvSpPr/>
          <p:nvPr/>
        </p:nvSpPr>
        <p:spPr>
          <a:xfrm>
            <a:off x="4087368" y="2792578"/>
            <a:ext cx="82296" cy="252374"/>
          </a:xfrm>
          <a:prstGeom prst="rect">
            <a:avLst/>
          </a:prstGeom>
          <a:solidFill>
            <a:schemeClr val="accent1"/>
          </a:solidFill>
          <a:ln w="7620">
            <a:solidFill>
              <a:srgbClr val="1F2326"/>
            </a:solidFill>
            <a:prstDash val="solid"/>
          </a:ln>
        </p:spPr>
      </p:sp>
      <p:sp>
        <p:nvSpPr>
          <p:cNvPr id="77" name="shape-1117"/>
          <p:cNvSpPr/>
          <p:nvPr/>
        </p:nvSpPr>
        <p:spPr>
          <a:xfrm>
            <a:off x="5138928" y="1783080"/>
            <a:ext cx="82296" cy="252374"/>
          </a:xfrm>
          <a:prstGeom prst="rect">
            <a:avLst/>
          </a:prstGeom>
          <a:solidFill>
            <a:schemeClr val="accent1"/>
          </a:solidFill>
          <a:ln w="7620">
            <a:solidFill>
              <a:srgbClr val="1F2326"/>
            </a:solidFill>
            <a:prstDash val="solid"/>
          </a:ln>
        </p:spPr>
      </p:sp>
      <p:sp>
        <p:nvSpPr>
          <p:cNvPr id="78" name="shape-1118"/>
          <p:cNvSpPr/>
          <p:nvPr/>
        </p:nvSpPr>
        <p:spPr>
          <a:xfrm>
            <a:off x="5138928" y="2035454"/>
            <a:ext cx="82296" cy="252374"/>
          </a:xfrm>
          <a:prstGeom prst="rect">
            <a:avLst/>
          </a:prstGeom>
          <a:solidFill>
            <a:srgbClr val="FFFFFF"/>
          </a:solidFill>
          <a:ln w="7620">
            <a:solidFill>
              <a:srgbClr val="1F2326"/>
            </a:solidFill>
            <a:prstDash val="solid"/>
          </a:ln>
        </p:spPr>
      </p:sp>
      <p:sp>
        <p:nvSpPr>
          <p:cNvPr id="79" name="shape-1119"/>
          <p:cNvSpPr/>
          <p:nvPr/>
        </p:nvSpPr>
        <p:spPr>
          <a:xfrm>
            <a:off x="5138928" y="2287829"/>
            <a:ext cx="82296" cy="252374"/>
          </a:xfrm>
          <a:prstGeom prst="rect">
            <a:avLst/>
          </a:prstGeom>
          <a:solidFill>
            <a:schemeClr val="accent1"/>
          </a:solidFill>
          <a:ln w="7620">
            <a:solidFill>
              <a:srgbClr val="1F2326"/>
            </a:solidFill>
            <a:prstDash val="solid"/>
          </a:ln>
        </p:spPr>
      </p:sp>
      <p:sp>
        <p:nvSpPr>
          <p:cNvPr id="80" name="shape-1120"/>
          <p:cNvSpPr/>
          <p:nvPr/>
        </p:nvSpPr>
        <p:spPr>
          <a:xfrm>
            <a:off x="5138928" y="2540203"/>
            <a:ext cx="82296" cy="252374"/>
          </a:xfrm>
          <a:prstGeom prst="rect">
            <a:avLst/>
          </a:prstGeom>
          <a:solidFill>
            <a:srgbClr val="FFFFFF"/>
          </a:solidFill>
          <a:ln w="7620">
            <a:solidFill>
              <a:srgbClr val="1F2326"/>
            </a:solidFill>
            <a:prstDash val="solid"/>
          </a:ln>
        </p:spPr>
      </p:sp>
      <p:sp>
        <p:nvSpPr>
          <p:cNvPr id="81" name="shape-1121"/>
          <p:cNvSpPr/>
          <p:nvPr/>
        </p:nvSpPr>
        <p:spPr>
          <a:xfrm>
            <a:off x="5138928" y="2792578"/>
            <a:ext cx="82296" cy="252374"/>
          </a:xfrm>
          <a:prstGeom prst="rect">
            <a:avLst/>
          </a:prstGeom>
          <a:solidFill>
            <a:schemeClr val="accent1"/>
          </a:solidFill>
          <a:ln w="7620">
            <a:solidFill>
              <a:srgbClr val="1F2326"/>
            </a:solidFill>
            <a:prstDash val="solid"/>
          </a:ln>
        </p:spPr>
      </p:sp>
      <p:sp>
        <p:nvSpPr>
          <p:cNvPr id="82" name="shape-1122"/>
          <p:cNvSpPr/>
          <p:nvPr/>
        </p:nvSpPr>
        <p:spPr>
          <a:xfrm rot="5940000">
            <a:off x="4230927" y="3073895"/>
            <a:ext cx="140761" cy="82296"/>
          </a:xfrm>
          <a:prstGeom prst="rect">
            <a:avLst/>
          </a:prstGeom>
          <a:solidFill>
            <a:schemeClr val="accent1"/>
          </a:solidFill>
          <a:ln w="6350">
            <a:solidFill>
              <a:srgbClr val="1F2326"/>
            </a:solidFill>
            <a:prstDash val="solid"/>
          </a:ln>
        </p:spPr>
      </p:sp>
      <p:sp>
        <p:nvSpPr>
          <p:cNvPr id="83" name="shape-1123"/>
          <p:cNvSpPr/>
          <p:nvPr/>
        </p:nvSpPr>
        <p:spPr>
          <a:xfrm rot="7020000">
            <a:off x="4187608" y="3207217"/>
            <a:ext cx="140761" cy="82296"/>
          </a:xfrm>
          <a:prstGeom prst="rect">
            <a:avLst/>
          </a:prstGeom>
          <a:solidFill>
            <a:srgbClr val="FFFFFF"/>
          </a:solidFill>
          <a:ln w="6350">
            <a:solidFill>
              <a:srgbClr val="1F2326"/>
            </a:solidFill>
            <a:prstDash val="solid"/>
          </a:ln>
        </p:spPr>
      </p:sp>
      <p:sp>
        <p:nvSpPr>
          <p:cNvPr id="84" name="shape-1124"/>
          <p:cNvSpPr/>
          <p:nvPr/>
        </p:nvSpPr>
        <p:spPr>
          <a:xfrm rot="8100000">
            <a:off x="4105211" y="3320627"/>
            <a:ext cx="140761" cy="82296"/>
          </a:xfrm>
          <a:prstGeom prst="rect">
            <a:avLst/>
          </a:prstGeom>
          <a:solidFill>
            <a:schemeClr val="accent1"/>
          </a:solidFill>
          <a:ln w="6350">
            <a:solidFill>
              <a:srgbClr val="1F2326"/>
            </a:solidFill>
            <a:prstDash val="solid"/>
          </a:ln>
        </p:spPr>
      </p:sp>
      <p:sp>
        <p:nvSpPr>
          <p:cNvPr id="85" name="shape-1125"/>
          <p:cNvSpPr/>
          <p:nvPr/>
        </p:nvSpPr>
        <p:spPr>
          <a:xfrm rot="9180000">
            <a:off x="3991801" y="3403025"/>
            <a:ext cx="140761" cy="82296"/>
          </a:xfrm>
          <a:prstGeom prst="rect">
            <a:avLst/>
          </a:prstGeom>
          <a:solidFill>
            <a:srgbClr val="FFFFFF"/>
          </a:solidFill>
          <a:ln w="6350">
            <a:solidFill>
              <a:srgbClr val="1F2326"/>
            </a:solidFill>
            <a:prstDash val="solid"/>
          </a:ln>
        </p:spPr>
      </p:sp>
      <p:sp>
        <p:nvSpPr>
          <p:cNvPr id="86" name="shape-1126"/>
          <p:cNvSpPr/>
          <p:nvPr/>
        </p:nvSpPr>
        <p:spPr>
          <a:xfrm rot="10260000">
            <a:off x="3858479" y="3446344"/>
            <a:ext cx="140761" cy="82296"/>
          </a:xfrm>
          <a:prstGeom prst="rect">
            <a:avLst/>
          </a:prstGeom>
          <a:solidFill>
            <a:schemeClr val="accent1"/>
          </a:solidFill>
          <a:ln w="6350">
            <a:solidFill>
              <a:srgbClr val="1F2326"/>
            </a:solidFill>
            <a:prstDash val="solid"/>
          </a:ln>
        </p:spPr>
      </p:sp>
      <p:sp>
        <p:nvSpPr>
          <p:cNvPr id="87" name="shape-1127"/>
          <p:cNvSpPr/>
          <p:nvPr/>
        </p:nvSpPr>
        <p:spPr>
          <a:xfrm rot="-5940000">
            <a:off x="4936904" y="3073895"/>
            <a:ext cx="140761" cy="82296"/>
          </a:xfrm>
          <a:prstGeom prst="rect">
            <a:avLst/>
          </a:prstGeom>
          <a:solidFill>
            <a:schemeClr val="accent1"/>
          </a:solidFill>
          <a:ln w="6350">
            <a:solidFill>
              <a:srgbClr val="1F2326"/>
            </a:solidFill>
            <a:prstDash val="solid"/>
          </a:ln>
        </p:spPr>
      </p:sp>
      <p:sp>
        <p:nvSpPr>
          <p:cNvPr id="88" name="shape-1128"/>
          <p:cNvSpPr/>
          <p:nvPr/>
        </p:nvSpPr>
        <p:spPr>
          <a:xfrm rot="-7020000">
            <a:off x="4980223" y="3207217"/>
            <a:ext cx="140761" cy="82296"/>
          </a:xfrm>
          <a:prstGeom prst="rect">
            <a:avLst/>
          </a:prstGeom>
          <a:solidFill>
            <a:srgbClr val="FFFFFF"/>
          </a:solidFill>
          <a:ln w="6350">
            <a:solidFill>
              <a:srgbClr val="1F2326"/>
            </a:solidFill>
            <a:prstDash val="solid"/>
          </a:ln>
        </p:spPr>
      </p:sp>
      <p:sp>
        <p:nvSpPr>
          <p:cNvPr id="89" name="shape-1129"/>
          <p:cNvSpPr/>
          <p:nvPr/>
        </p:nvSpPr>
        <p:spPr>
          <a:xfrm rot="-8100000">
            <a:off x="5062620" y="3320627"/>
            <a:ext cx="140761" cy="82296"/>
          </a:xfrm>
          <a:prstGeom prst="rect">
            <a:avLst/>
          </a:prstGeom>
          <a:solidFill>
            <a:schemeClr val="accent1"/>
          </a:solidFill>
          <a:ln w="6350">
            <a:solidFill>
              <a:srgbClr val="1F2326"/>
            </a:solidFill>
            <a:prstDash val="solid"/>
          </a:ln>
        </p:spPr>
      </p:sp>
      <p:sp>
        <p:nvSpPr>
          <p:cNvPr id="90" name="shape-1130"/>
          <p:cNvSpPr/>
          <p:nvPr/>
        </p:nvSpPr>
        <p:spPr>
          <a:xfrm rot="-9180000">
            <a:off x="5176030" y="3403025"/>
            <a:ext cx="140761" cy="82296"/>
          </a:xfrm>
          <a:prstGeom prst="rect">
            <a:avLst/>
          </a:prstGeom>
          <a:solidFill>
            <a:srgbClr val="FFFFFF"/>
          </a:solidFill>
          <a:ln w="6350">
            <a:solidFill>
              <a:srgbClr val="1F2326"/>
            </a:solidFill>
            <a:prstDash val="solid"/>
          </a:ln>
        </p:spPr>
      </p:sp>
      <p:sp>
        <p:nvSpPr>
          <p:cNvPr id="91" name="shape-1131"/>
          <p:cNvSpPr/>
          <p:nvPr/>
        </p:nvSpPr>
        <p:spPr>
          <a:xfrm rot="-10260000">
            <a:off x="5309352" y="3446344"/>
            <a:ext cx="140761" cy="82296"/>
          </a:xfrm>
          <a:prstGeom prst="rect">
            <a:avLst/>
          </a:prstGeom>
          <a:solidFill>
            <a:schemeClr val="accent1"/>
          </a:solidFill>
          <a:ln w="6350">
            <a:solidFill>
              <a:srgbClr val="1F2326"/>
            </a:solidFill>
            <a:prstDash val="solid"/>
          </a:ln>
        </p:spPr>
      </p:sp>
      <p:sp>
        <p:nvSpPr>
          <p:cNvPr id="92" name="shape-1132"/>
          <p:cNvSpPr/>
          <p:nvPr/>
        </p:nvSpPr>
        <p:spPr>
          <a:xfrm>
            <a:off x="6135624" y="1325880"/>
            <a:ext cx="2670048" cy="3063240"/>
          </a:xfrm>
          <a:prstGeom prst="roundRect">
            <a:avLst>
              <a:gd name="adj" fmla="val 2740"/>
            </a:avLst>
          </a:prstGeom>
          <a:solidFill>
            <a:srgbClr val="F4F5F7"/>
          </a:solidFill>
          <a:ln w="9525">
            <a:solidFill>
              <a:srgbClr val="E3E5E8"/>
            </a:solidFill>
            <a:prstDash val="solid"/>
          </a:ln>
        </p:spPr>
      </p:sp>
      <p:sp>
        <p:nvSpPr>
          <p:cNvPr id="93" name="text-1133"/>
          <p:cNvSpPr txBox="1"/>
          <p:nvPr/>
        </p:nvSpPr>
        <p:spPr>
          <a:xfrm>
            <a:off x="6272784" y="1417320"/>
            <a:ext cx="2395728" cy="274320"/>
          </a:xfrm>
          <a:prstGeom prst="rect">
            <a:avLst/>
          </a:prstGeom>
          <a:noFill/>
          <a:ln/>
        </p:spPr>
        <p:txBody>
          <a:bodyPr wrap="square" lIns="0" tIns="0" rIns="0" bIns="0" rtlCol="0" anchor="t"/>
          <a:lstStyle/>
          <a:p>
            <a:pPr indent="0" marL="0">
              <a:buNone/>
            </a:pPr>
            <a:r>
              <a:rPr lang="en-US" sz="1250" b="1" dirty="0">
                <a:solidFill>
                  <a:schemeClr val="accent1"/>
                </a:solidFill>
                <a:latin typeface="Calibri" pitchFamily="34" charset="0"/>
                <a:ea typeface="Calibri" pitchFamily="34" charset="-122"/>
                <a:cs typeface="Calibri" pitchFamily="34" charset="-120"/>
              </a:rPr>
              <a:t>Traffic cones</a:t>
            </a:r>
            <a:endParaRPr lang="en-US" sz="1250" dirty="0"/>
          </a:p>
        </p:txBody>
      </p:sp>
      <p:sp>
        <p:nvSpPr>
          <p:cNvPr id="94" name="shape-1134"/>
          <p:cNvSpPr/>
          <p:nvPr/>
        </p:nvSpPr>
        <p:spPr>
          <a:xfrm>
            <a:off x="7059168" y="1783080"/>
            <a:ext cx="822960" cy="1645920"/>
          </a:xfrm>
          <a:prstGeom prst="rect">
            <a:avLst/>
          </a:prstGeom>
          <a:solidFill>
            <a:schemeClr val="accent5"/>
          </a:solidFill>
          <a:ln/>
        </p:spPr>
      </p:sp>
      <p:sp>
        <p:nvSpPr>
          <p:cNvPr id="95" name="shape-1135"/>
          <p:cNvSpPr/>
          <p:nvPr/>
        </p:nvSpPr>
        <p:spPr>
          <a:xfrm>
            <a:off x="6675120" y="3044952"/>
            <a:ext cx="384048" cy="384048"/>
          </a:xfrm>
          <a:prstGeom prst="rect">
            <a:avLst/>
          </a:prstGeom>
          <a:solidFill>
            <a:schemeClr val="accent5"/>
          </a:solidFill>
          <a:ln/>
        </p:spPr>
      </p:sp>
      <p:sp>
        <p:nvSpPr>
          <p:cNvPr id="96" name="shape-1136"/>
          <p:cNvSpPr/>
          <p:nvPr/>
        </p:nvSpPr>
        <p:spPr>
          <a:xfrm>
            <a:off x="7882128" y="3044952"/>
            <a:ext cx="384048" cy="384048"/>
          </a:xfrm>
          <a:prstGeom prst="rect">
            <a:avLst/>
          </a:prstGeom>
          <a:solidFill>
            <a:schemeClr val="accent5"/>
          </a:solidFill>
          <a:ln/>
        </p:spPr>
      </p:sp>
      <p:sp>
        <p:nvSpPr>
          <p:cNvPr id="97" name="shape-1137"/>
          <p:cNvSpPr/>
          <p:nvPr/>
        </p:nvSpPr>
        <p:spPr>
          <a:xfrm>
            <a:off x="6291072" y="2660904"/>
            <a:ext cx="768096" cy="768096"/>
          </a:xfrm>
          <a:prstGeom prst="ellipse">
            <a:avLst/>
          </a:prstGeom>
          <a:solidFill>
            <a:srgbClr val="F4F5F7"/>
          </a:solidFill>
          <a:ln/>
        </p:spPr>
      </p:sp>
      <p:sp>
        <p:nvSpPr>
          <p:cNvPr id="98" name="shape-1138"/>
          <p:cNvSpPr/>
          <p:nvPr/>
        </p:nvSpPr>
        <p:spPr>
          <a:xfrm>
            <a:off x="7882128" y="2660904"/>
            <a:ext cx="768096" cy="768096"/>
          </a:xfrm>
          <a:prstGeom prst="ellipse">
            <a:avLst/>
          </a:prstGeom>
          <a:solidFill>
            <a:srgbClr val="F4F5F7"/>
          </a:solidFill>
          <a:ln/>
        </p:spPr>
      </p:sp>
      <p:sp>
        <p:nvSpPr>
          <p:cNvPr id="99" name="shape-1139"/>
          <p:cNvSpPr/>
          <p:nvPr/>
        </p:nvSpPr>
        <p:spPr>
          <a:xfrm>
            <a:off x="6318504" y="3429000"/>
            <a:ext cx="2304288" cy="822960"/>
          </a:xfrm>
          <a:prstGeom prst="rect">
            <a:avLst/>
          </a:prstGeom>
          <a:solidFill>
            <a:schemeClr val="accent5"/>
          </a:solidFill>
          <a:ln/>
        </p:spPr>
      </p:sp>
      <p:sp>
        <p:nvSpPr>
          <p:cNvPr id="100" name="shape-1140"/>
          <p:cNvSpPr/>
          <p:nvPr/>
        </p:nvSpPr>
        <p:spPr>
          <a:xfrm>
            <a:off x="6318504" y="3474720"/>
            <a:ext cx="2304288" cy="0"/>
          </a:xfrm>
          <a:prstGeom prst="line">
            <a:avLst/>
          </a:prstGeom>
          <a:noFill/>
          <a:ln w="15875">
            <a:solidFill>
              <a:schemeClr val="accent2"/>
            </a:solidFill>
            <a:prstDash val="solid"/>
          </a:ln>
        </p:spPr>
      </p:sp>
      <p:sp>
        <p:nvSpPr>
          <p:cNvPr id="101" name="shape-1141"/>
          <p:cNvSpPr/>
          <p:nvPr/>
        </p:nvSpPr>
        <p:spPr>
          <a:xfrm>
            <a:off x="6318504" y="4206240"/>
            <a:ext cx="2304288" cy="0"/>
          </a:xfrm>
          <a:prstGeom prst="line">
            <a:avLst/>
          </a:prstGeom>
          <a:noFill/>
          <a:ln w="15875">
            <a:solidFill>
              <a:schemeClr val="accent2"/>
            </a:solidFill>
            <a:prstDash val="solid"/>
          </a:ln>
        </p:spPr>
      </p:sp>
      <p:sp>
        <p:nvSpPr>
          <p:cNvPr id="102" name="shape-1142"/>
          <p:cNvSpPr/>
          <p:nvPr/>
        </p:nvSpPr>
        <p:spPr>
          <a:xfrm>
            <a:off x="6318504" y="3840480"/>
            <a:ext cx="2304288" cy="0"/>
          </a:xfrm>
          <a:prstGeom prst="line">
            <a:avLst/>
          </a:prstGeom>
          <a:noFill/>
          <a:ln w="19050">
            <a:solidFill>
              <a:srgbClr val="FFFFFF"/>
            </a:solidFill>
            <a:prstDash val="dash"/>
          </a:ln>
        </p:spPr>
      </p:sp>
      <p:sp>
        <p:nvSpPr>
          <p:cNvPr id="103" name="shape-1143"/>
          <p:cNvSpPr/>
          <p:nvPr/>
        </p:nvSpPr>
        <p:spPr>
          <a:xfrm>
            <a:off x="7470648" y="1828800"/>
            <a:ext cx="0" cy="2011680"/>
          </a:xfrm>
          <a:prstGeom prst="line">
            <a:avLst/>
          </a:prstGeom>
          <a:noFill/>
          <a:ln w="15875">
            <a:solidFill>
              <a:schemeClr val="accent2"/>
            </a:solidFill>
            <a:prstDash val="dash"/>
          </a:ln>
        </p:spPr>
      </p:sp>
      <p:sp>
        <p:nvSpPr>
          <p:cNvPr id="104" name="shape-1144"/>
          <p:cNvSpPr/>
          <p:nvPr/>
        </p:nvSpPr>
        <p:spPr>
          <a:xfrm>
            <a:off x="6368796" y="3296412"/>
            <a:ext cx="82296" cy="82296"/>
          </a:xfrm>
          <a:prstGeom prst="ellipse">
            <a:avLst/>
          </a:prstGeom>
          <a:solidFill>
            <a:schemeClr val="accent1"/>
          </a:solidFill>
          <a:ln w="5080">
            <a:solidFill>
              <a:srgbClr val="1F2326"/>
            </a:solidFill>
            <a:prstDash val="solid"/>
          </a:ln>
        </p:spPr>
      </p:sp>
      <p:sp>
        <p:nvSpPr>
          <p:cNvPr id="105" name="shape-1145"/>
          <p:cNvSpPr/>
          <p:nvPr/>
        </p:nvSpPr>
        <p:spPr>
          <a:xfrm>
            <a:off x="6385255" y="3312871"/>
            <a:ext cx="49378" cy="49378"/>
          </a:xfrm>
          <a:prstGeom prst="ellipse">
            <a:avLst/>
          </a:prstGeom>
          <a:solidFill>
            <a:srgbClr val="FFFFFF"/>
          </a:solidFill>
          <a:ln/>
        </p:spPr>
      </p:sp>
      <p:sp>
        <p:nvSpPr>
          <p:cNvPr id="106" name="shape-1146"/>
          <p:cNvSpPr/>
          <p:nvPr/>
        </p:nvSpPr>
        <p:spPr>
          <a:xfrm>
            <a:off x="6396777" y="3324393"/>
            <a:ext cx="26335" cy="26335"/>
          </a:xfrm>
          <a:prstGeom prst="ellipse">
            <a:avLst/>
          </a:prstGeom>
          <a:solidFill>
            <a:schemeClr val="accent1"/>
          </a:solidFill>
          <a:ln/>
        </p:spPr>
      </p:sp>
      <p:sp>
        <p:nvSpPr>
          <p:cNvPr id="107" name="shape-1147"/>
          <p:cNvSpPr/>
          <p:nvPr/>
        </p:nvSpPr>
        <p:spPr>
          <a:xfrm>
            <a:off x="6394399" y="3296412"/>
            <a:ext cx="82296" cy="82296"/>
          </a:xfrm>
          <a:prstGeom prst="ellipse">
            <a:avLst/>
          </a:prstGeom>
          <a:solidFill>
            <a:schemeClr val="accent1"/>
          </a:solidFill>
          <a:ln w="5080">
            <a:solidFill>
              <a:srgbClr val="1F2326"/>
            </a:solidFill>
            <a:prstDash val="solid"/>
          </a:ln>
        </p:spPr>
      </p:sp>
      <p:sp>
        <p:nvSpPr>
          <p:cNvPr id="108" name="shape-1148"/>
          <p:cNvSpPr/>
          <p:nvPr/>
        </p:nvSpPr>
        <p:spPr>
          <a:xfrm>
            <a:off x="6410858" y="3312871"/>
            <a:ext cx="49378" cy="49378"/>
          </a:xfrm>
          <a:prstGeom prst="ellipse">
            <a:avLst/>
          </a:prstGeom>
          <a:solidFill>
            <a:srgbClr val="FFFFFF"/>
          </a:solidFill>
          <a:ln/>
        </p:spPr>
      </p:sp>
      <p:sp>
        <p:nvSpPr>
          <p:cNvPr id="109" name="shape-1149"/>
          <p:cNvSpPr/>
          <p:nvPr/>
        </p:nvSpPr>
        <p:spPr>
          <a:xfrm>
            <a:off x="6422380" y="3324393"/>
            <a:ext cx="26335" cy="26335"/>
          </a:xfrm>
          <a:prstGeom prst="ellipse">
            <a:avLst/>
          </a:prstGeom>
          <a:solidFill>
            <a:schemeClr val="accent1"/>
          </a:solidFill>
          <a:ln/>
        </p:spPr>
      </p:sp>
      <p:sp>
        <p:nvSpPr>
          <p:cNvPr id="110" name="shape-1150"/>
          <p:cNvSpPr/>
          <p:nvPr/>
        </p:nvSpPr>
        <p:spPr>
          <a:xfrm>
            <a:off x="6420002" y="3296412"/>
            <a:ext cx="82296" cy="82296"/>
          </a:xfrm>
          <a:prstGeom prst="ellipse">
            <a:avLst/>
          </a:prstGeom>
          <a:solidFill>
            <a:schemeClr val="accent1"/>
          </a:solidFill>
          <a:ln w="5080">
            <a:solidFill>
              <a:srgbClr val="1F2326"/>
            </a:solidFill>
            <a:prstDash val="solid"/>
          </a:ln>
        </p:spPr>
      </p:sp>
      <p:sp>
        <p:nvSpPr>
          <p:cNvPr id="111" name="shape-1151"/>
          <p:cNvSpPr/>
          <p:nvPr/>
        </p:nvSpPr>
        <p:spPr>
          <a:xfrm>
            <a:off x="6436462" y="3312871"/>
            <a:ext cx="49378" cy="49378"/>
          </a:xfrm>
          <a:prstGeom prst="ellipse">
            <a:avLst/>
          </a:prstGeom>
          <a:solidFill>
            <a:srgbClr val="FFFFFF"/>
          </a:solidFill>
          <a:ln/>
        </p:spPr>
      </p:sp>
      <p:sp>
        <p:nvSpPr>
          <p:cNvPr id="112" name="shape-1152"/>
          <p:cNvSpPr/>
          <p:nvPr/>
        </p:nvSpPr>
        <p:spPr>
          <a:xfrm>
            <a:off x="6447983" y="3324393"/>
            <a:ext cx="26335" cy="26335"/>
          </a:xfrm>
          <a:prstGeom prst="ellipse">
            <a:avLst/>
          </a:prstGeom>
          <a:solidFill>
            <a:schemeClr val="accent1"/>
          </a:solidFill>
          <a:ln/>
        </p:spPr>
      </p:sp>
      <p:sp>
        <p:nvSpPr>
          <p:cNvPr id="113" name="shape-1153"/>
          <p:cNvSpPr/>
          <p:nvPr/>
        </p:nvSpPr>
        <p:spPr>
          <a:xfrm>
            <a:off x="6445606" y="3296412"/>
            <a:ext cx="82296" cy="82296"/>
          </a:xfrm>
          <a:prstGeom prst="ellipse">
            <a:avLst/>
          </a:prstGeom>
          <a:solidFill>
            <a:schemeClr val="accent1"/>
          </a:solidFill>
          <a:ln w="5080">
            <a:solidFill>
              <a:srgbClr val="1F2326"/>
            </a:solidFill>
            <a:prstDash val="solid"/>
          </a:ln>
        </p:spPr>
      </p:sp>
      <p:sp>
        <p:nvSpPr>
          <p:cNvPr id="114" name="shape-1154"/>
          <p:cNvSpPr/>
          <p:nvPr/>
        </p:nvSpPr>
        <p:spPr>
          <a:xfrm>
            <a:off x="6462065" y="3312871"/>
            <a:ext cx="49378" cy="49378"/>
          </a:xfrm>
          <a:prstGeom prst="ellipse">
            <a:avLst/>
          </a:prstGeom>
          <a:solidFill>
            <a:srgbClr val="FFFFFF"/>
          </a:solidFill>
          <a:ln/>
        </p:spPr>
      </p:sp>
      <p:sp>
        <p:nvSpPr>
          <p:cNvPr id="115" name="shape-1155"/>
          <p:cNvSpPr/>
          <p:nvPr/>
        </p:nvSpPr>
        <p:spPr>
          <a:xfrm>
            <a:off x="6473586" y="3324393"/>
            <a:ext cx="26335" cy="26335"/>
          </a:xfrm>
          <a:prstGeom prst="ellipse">
            <a:avLst/>
          </a:prstGeom>
          <a:solidFill>
            <a:schemeClr val="accent1"/>
          </a:solidFill>
          <a:ln/>
        </p:spPr>
      </p:sp>
      <p:sp>
        <p:nvSpPr>
          <p:cNvPr id="116" name="shape-1156"/>
          <p:cNvSpPr/>
          <p:nvPr/>
        </p:nvSpPr>
        <p:spPr>
          <a:xfrm>
            <a:off x="6471209" y="3296412"/>
            <a:ext cx="82296" cy="82296"/>
          </a:xfrm>
          <a:prstGeom prst="ellipse">
            <a:avLst/>
          </a:prstGeom>
          <a:solidFill>
            <a:schemeClr val="accent1"/>
          </a:solidFill>
          <a:ln w="5080">
            <a:solidFill>
              <a:srgbClr val="1F2326"/>
            </a:solidFill>
            <a:prstDash val="solid"/>
          </a:ln>
        </p:spPr>
      </p:sp>
      <p:sp>
        <p:nvSpPr>
          <p:cNvPr id="117" name="shape-1157"/>
          <p:cNvSpPr/>
          <p:nvPr/>
        </p:nvSpPr>
        <p:spPr>
          <a:xfrm>
            <a:off x="6487668" y="3312871"/>
            <a:ext cx="49378" cy="49378"/>
          </a:xfrm>
          <a:prstGeom prst="ellipse">
            <a:avLst/>
          </a:prstGeom>
          <a:solidFill>
            <a:srgbClr val="FFFFFF"/>
          </a:solidFill>
          <a:ln/>
        </p:spPr>
      </p:sp>
      <p:sp>
        <p:nvSpPr>
          <p:cNvPr id="118" name="shape-1158"/>
          <p:cNvSpPr/>
          <p:nvPr/>
        </p:nvSpPr>
        <p:spPr>
          <a:xfrm>
            <a:off x="6499189" y="3324393"/>
            <a:ext cx="26335" cy="26335"/>
          </a:xfrm>
          <a:prstGeom prst="ellipse">
            <a:avLst/>
          </a:prstGeom>
          <a:solidFill>
            <a:schemeClr val="accent1"/>
          </a:solidFill>
          <a:ln/>
        </p:spPr>
      </p:sp>
      <p:sp>
        <p:nvSpPr>
          <p:cNvPr id="119" name="shape-1159"/>
          <p:cNvSpPr/>
          <p:nvPr/>
        </p:nvSpPr>
        <p:spPr>
          <a:xfrm>
            <a:off x="6496812" y="3296412"/>
            <a:ext cx="82296" cy="82296"/>
          </a:xfrm>
          <a:prstGeom prst="ellipse">
            <a:avLst/>
          </a:prstGeom>
          <a:solidFill>
            <a:schemeClr val="accent1"/>
          </a:solidFill>
          <a:ln w="5080">
            <a:solidFill>
              <a:srgbClr val="1F2326"/>
            </a:solidFill>
            <a:prstDash val="solid"/>
          </a:ln>
        </p:spPr>
      </p:sp>
      <p:sp>
        <p:nvSpPr>
          <p:cNvPr id="120" name="shape-1160"/>
          <p:cNvSpPr/>
          <p:nvPr/>
        </p:nvSpPr>
        <p:spPr>
          <a:xfrm>
            <a:off x="6513271" y="3312871"/>
            <a:ext cx="49378" cy="49378"/>
          </a:xfrm>
          <a:prstGeom prst="ellipse">
            <a:avLst/>
          </a:prstGeom>
          <a:solidFill>
            <a:srgbClr val="FFFFFF"/>
          </a:solidFill>
          <a:ln/>
        </p:spPr>
      </p:sp>
      <p:sp>
        <p:nvSpPr>
          <p:cNvPr id="121" name="shape-1161"/>
          <p:cNvSpPr/>
          <p:nvPr/>
        </p:nvSpPr>
        <p:spPr>
          <a:xfrm>
            <a:off x="6524793" y="3324393"/>
            <a:ext cx="26335" cy="26335"/>
          </a:xfrm>
          <a:prstGeom prst="ellipse">
            <a:avLst/>
          </a:prstGeom>
          <a:solidFill>
            <a:schemeClr val="accent1"/>
          </a:solidFill>
          <a:ln/>
        </p:spPr>
      </p:sp>
      <p:sp>
        <p:nvSpPr>
          <p:cNvPr id="122" name="shape-1162"/>
          <p:cNvSpPr/>
          <p:nvPr/>
        </p:nvSpPr>
        <p:spPr>
          <a:xfrm>
            <a:off x="8362188" y="3296412"/>
            <a:ext cx="82296" cy="82296"/>
          </a:xfrm>
          <a:prstGeom prst="ellipse">
            <a:avLst/>
          </a:prstGeom>
          <a:solidFill>
            <a:schemeClr val="accent1"/>
          </a:solidFill>
          <a:ln w="5080">
            <a:solidFill>
              <a:srgbClr val="1F2326"/>
            </a:solidFill>
            <a:prstDash val="solid"/>
          </a:ln>
        </p:spPr>
      </p:sp>
      <p:sp>
        <p:nvSpPr>
          <p:cNvPr id="123" name="shape-1163"/>
          <p:cNvSpPr/>
          <p:nvPr/>
        </p:nvSpPr>
        <p:spPr>
          <a:xfrm>
            <a:off x="8378647" y="3312871"/>
            <a:ext cx="49378" cy="49378"/>
          </a:xfrm>
          <a:prstGeom prst="ellipse">
            <a:avLst/>
          </a:prstGeom>
          <a:solidFill>
            <a:srgbClr val="FFFFFF"/>
          </a:solidFill>
          <a:ln/>
        </p:spPr>
      </p:sp>
      <p:sp>
        <p:nvSpPr>
          <p:cNvPr id="124" name="shape-1164"/>
          <p:cNvSpPr/>
          <p:nvPr/>
        </p:nvSpPr>
        <p:spPr>
          <a:xfrm>
            <a:off x="8390169" y="3324393"/>
            <a:ext cx="26335" cy="26335"/>
          </a:xfrm>
          <a:prstGeom prst="ellipse">
            <a:avLst/>
          </a:prstGeom>
          <a:solidFill>
            <a:schemeClr val="accent1"/>
          </a:solidFill>
          <a:ln/>
        </p:spPr>
      </p:sp>
      <p:sp>
        <p:nvSpPr>
          <p:cNvPr id="125" name="shape-1165"/>
          <p:cNvSpPr/>
          <p:nvPr/>
        </p:nvSpPr>
        <p:spPr>
          <a:xfrm>
            <a:off x="8387791" y="3296412"/>
            <a:ext cx="82296" cy="82296"/>
          </a:xfrm>
          <a:prstGeom prst="ellipse">
            <a:avLst/>
          </a:prstGeom>
          <a:solidFill>
            <a:schemeClr val="accent1"/>
          </a:solidFill>
          <a:ln w="5080">
            <a:solidFill>
              <a:srgbClr val="1F2326"/>
            </a:solidFill>
            <a:prstDash val="solid"/>
          </a:ln>
        </p:spPr>
      </p:sp>
      <p:sp>
        <p:nvSpPr>
          <p:cNvPr id="126" name="shape-1166"/>
          <p:cNvSpPr/>
          <p:nvPr/>
        </p:nvSpPr>
        <p:spPr>
          <a:xfrm>
            <a:off x="8404250" y="3312871"/>
            <a:ext cx="49378" cy="49378"/>
          </a:xfrm>
          <a:prstGeom prst="ellipse">
            <a:avLst/>
          </a:prstGeom>
          <a:solidFill>
            <a:srgbClr val="FFFFFF"/>
          </a:solidFill>
          <a:ln/>
        </p:spPr>
      </p:sp>
      <p:sp>
        <p:nvSpPr>
          <p:cNvPr id="127" name="shape-1167"/>
          <p:cNvSpPr/>
          <p:nvPr/>
        </p:nvSpPr>
        <p:spPr>
          <a:xfrm>
            <a:off x="8415772" y="3324393"/>
            <a:ext cx="26335" cy="26335"/>
          </a:xfrm>
          <a:prstGeom prst="ellipse">
            <a:avLst/>
          </a:prstGeom>
          <a:solidFill>
            <a:schemeClr val="accent1"/>
          </a:solidFill>
          <a:ln/>
        </p:spPr>
      </p:sp>
      <p:sp>
        <p:nvSpPr>
          <p:cNvPr id="128" name="shape-1168"/>
          <p:cNvSpPr/>
          <p:nvPr/>
        </p:nvSpPr>
        <p:spPr>
          <a:xfrm>
            <a:off x="8413394" y="3296412"/>
            <a:ext cx="82296" cy="82296"/>
          </a:xfrm>
          <a:prstGeom prst="ellipse">
            <a:avLst/>
          </a:prstGeom>
          <a:solidFill>
            <a:schemeClr val="accent1"/>
          </a:solidFill>
          <a:ln w="5080">
            <a:solidFill>
              <a:srgbClr val="1F2326"/>
            </a:solidFill>
            <a:prstDash val="solid"/>
          </a:ln>
        </p:spPr>
      </p:sp>
      <p:sp>
        <p:nvSpPr>
          <p:cNvPr id="129" name="shape-1169"/>
          <p:cNvSpPr/>
          <p:nvPr/>
        </p:nvSpPr>
        <p:spPr>
          <a:xfrm>
            <a:off x="8429854" y="3312871"/>
            <a:ext cx="49378" cy="49378"/>
          </a:xfrm>
          <a:prstGeom prst="ellipse">
            <a:avLst/>
          </a:prstGeom>
          <a:solidFill>
            <a:srgbClr val="FFFFFF"/>
          </a:solidFill>
          <a:ln/>
        </p:spPr>
      </p:sp>
      <p:sp>
        <p:nvSpPr>
          <p:cNvPr id="130" name="shape-1170"/>
          <p:cNvSpPr/>
          <p:nvPr/>
        </p:nvSpPr>
        <p:spPr>
          <a:xfrm>
            <a:off x="8441375" y="3324393"/>
            <a:ext cx="26335" cy="26335"/>
          </a:xfrm>
          <a:prstGeom prst="ellipse">
            <a:avLst/>
          </a:prstGeom>
          <a:solidFill>
            <a:schemeClr val="accent1"/>
          </a:solidFill>
          <a:ln/>
        </p:spPr>
      </p:sp>
      <p:sp>
        <p:nvSpPr>
          <p:cNvPr id="131" name="shape-1171"/>
          <p:cNvSpPr/>
          <p:nvPr/>
        </p:nvSpPr>
        <p:spPr>
          <a:xfrm>
            <a:off x="8438998" y="3296412"/>
            <a:ext cx="82296" cy="82296"/>
          </a:xfrm>
          <a:prstGeom prst="ellipse">
            <a:avLst/>
          </a:prstGeom>
          <a:solidFill>
            <a:schemeClr val="accent1"/>
          </a:solidFill>
          <a:ln w="5080">
            <a:solidFill>
              <a:srgbClr val="1F2326"/>
            </a:solidFill>
            <a:prstDash val="solid"/>
          </a:ln>
        </p:spPr>
      </p:sp>
      <p:sp>
        <p:nvSpPr>
          <p:cNvPr id="132" name="shape-1172"/>
          <p:cNvSpPr/>
          <p:nvPr/>
        </p:nvSpPr>
        <p:spPr>
          <a:xfrm>
            <a:off x="8455457" y="3312871"/>
            <a:ext cx="49378" cy="49378"/>
          </a:xfrm>
          <a:prstGeom prst="ellipse">
            <a:avLst/>
          </a:prstGeom>
          <a:solidFill>
            <a:srgbClr val="FFFFFF"/>
          </a:solidFill>
          <a:ln/>
        </p:spPr>
      </p:sp>
      <p:sp>
        <p:nvSpPr>
          <p:cNvPr id="133" name="shape-1173"/>
          <p:cNvSpPr/>
          <p:nvPr/>
        </p:nvSpPr>
        <p:spPr>
          <a:xfrm>
            <a:off x="8466978" y="3324393"/>
            <a:ext cx="26335" cy="26335"/>
          </a:xfrm>
          <a:prstGeom prst="ellipse">
            <a:avLst/>
          </a:prstGeom>
          <a:solidFill>
            <a:schemeClr val="accent1"/>
          </a:solidFill>
          <a:ln/>
        </p:spPr>
      </p:sp>
      <p:sp>
        <p:nvSpPr>
          <p:cNvPr id="134" name="shape-1174"/>
          <p:cNvSpPr/>
          <p:nvPr/>
        </p:nvSpPr>
        <p:spPr>
          <a:xfrm>
            <a:off x="8464601" y="3296412"/>
            <a:ext cx="82296" cy="82296"/>
          </a:xfrm>
          <a:prstGeom prst="ellipse">
            <a:avLst/>
          </a:prstGeom>
          <a:solidFill>
            <a:schemeClr val="accent1"/>
          </a:solidFill>
          <a:ln w="5080">
            <a:solidFill>
              <a:srgbClr val="1F2326"/>
            </a:solidFill>
            <a:prstDash val="solid"/>
          </a:ln>
        </p:spPr>
      </p:sp>
      <p:sp>
        <p:nvSpPr>
          <p:cNvPr id="135" name="shape-1175"/>
          <p:cNvSpPr/>
          <p:nvPr/>
        </p:nvSpPr>
        <p:spPr>
          <a:xfrm>
            <a:off x="8481060" y="3312871"/>
            <a:ext cx="49378" cy="49378"/>
          </a:xfrm>
          <a:prstGeom prst="ellipse">
            <a:avLst/>
          </a:prstGeom>
          <a:solidFill>
            <a:srgbClr val="FFFFFF"/>
          </a:solidFill>
          <a:ln/>
        </p:spPr>
      </p:sp>
      <p:sp>
        <p:nvSpPr>
          <p:cNvPr id="136" name="shape-1176"/>
          <p:cNvSpPr/>
          <p:nvPr/>
        </p:nvSpPr>
        <p:spPr>
          <a:xfrm>
            <a:off x="8492581" y="3324393"/>
            <a:ext cx="26335" cy="26335"/>
          </a:xfrm>
          <a:prstGeom prst="ellipse">
            <a:avLst/>
          </a:prstGeom>
          <a:solidFill>
            <a:schemeClr val="accent1"/>
          </a:solidFill>
          <a:ln/>
        </p:spPr>
      </p:sp>
      <p:sp>
        <p:nvSpPr>
          <p:cNvPr id="137" name="shape-1177"/>
          <p:cNvSpPr/>
          <p:nvPr/>
        </p:nvSpPr>
        <p:spPr>
          <a:xfrm>
            <a:off x="8490204" y="3296412"/>
            <a:ext cx="82296" cy="82296"/>
          </a:xfrm>
          <a:prstGeom prst="ellipse">
            <a:avLst/>
          </a:prstGeom>
          <a:solidFill>
            <a:schemeClr val="accent1"/>
          </a:solidFill>
          <a:ln w="5080">
            <a:solidFill>
              <a:srgbClr val="1F2326"/>
            </a:solidFill>
            <a:prstDash val="solid"/>
          </a:ln>
        </p:spPr>
      </p:sp>
      <p:sp>
        <p:nvSpPr>
          <p:cNvPr id="138" name="shape-1178"/>
          <p:cNvSpPr/>
          <p:nvPr/>
        </p:nvSpPr>
        <p:spPr>
          <a:xfrm>
            <a:off x="8506663" y="3312871"/>
            <a:ext cx="49378" cy="49378"/>
          </a:xfrm>
          <a:prstGeom prst="ellipse">
            <a:avLst/>
          </a:prstGeom>
          <a:solidFill>
            <a:srgbClr val="FFFFFF"/>
          </a:solidFill>
          <a:ln/>
        </p:spPr>
      </p:sp>
      <p:sp>
        <p:nvSpPr>
          <p:cNvPr id="139" name="shape-1179"/>
          <p:cNvSpPr/>
          <p:nvPr/>
        </p:nvSpPr>
        <p:spPr>
          <a:xfrm>
            <a:off x="8518185" y="3324393"/>
            <a:ext cx="26335" cy="26335"/>
          </a:xfrm>
          <a:prstGeom prst="ellipse">
            <a:avLst/>
          </a:prstGeom>
          <a:solidFill>
            <a:schemeClr val="accent1"/>
          </a:solidFill>
          <a:ln/>
        </p:spPr>
      </p:sp>
      <p:sp>
        <p:nvSpPr>
          <p:cNvPr id="140" name="shape-1180"/>
          <p:cNvSpPr/>
          <p:nvPr/>
        </p:nvSpPr>
        <p:spPr>
          <a:xfrm>
            <a:off x="6926580" y="1833372"/>
            <a:ext cx="82296" cy="82296"/>
          </a:xfrm>
          <a:prstGeom prst="ellipse">
            <a:avLst/>
          </a:prstGeom>
          <a:solidFill>
            <a:schemeClr val="accent1"/>
          </a:solidFill>
          <a:ln w="5080">
            <a:solidFill>
              <a:srgbClr val="1F2326"/>
            </a:solidFill>
            <a:prstDash val="solid"/>
          </a:ln>
        </p:spPr>
      </p:sp>
      <p:sp>
        <p:nvSpPr>
          <p:cNvPr id="141" name="shape-1181"/>
          <p:cNvSpPr/>
          <p:nvPr/>
        </p:nvSpPr>
        <p:spPr>
          <a:xfrm>
            <a:off x="6943039" y="1849831"/>
            <a:ext cx="49378" cy="49378"/>
          </a:xfrm>
          <a:prstGeom prst="ellipse">
            <a:avLst/>
          </a:prstGeom>
          <a:solidFill>
            <a:srgbClr val="FFFFFF"/>
          </a:solidFill>
          <a:ln/>
        </p:spPr>
      </p:sp>
      <p:sp>
        <p:nvSpPr>
          <p:cNvPr id="142" name="shape-1182"/>
          <p:cNvSpPr/>
          <p:nvPr/>
        </p:nvSpPr>
        <p:spPr>
          <a:xfrm>
            <a:off x="6954561" y="1861353"/>
            <a:ext cx="26335" cy="26335"/>
          </a:xfrm>
          <a:prstGeom prst="ellipse">
            <a:avLst/>
          </a:prstGeom>
          <a:solidFill>
            <a:schemeClr val="accent1"/>
          </a:solidFill>
          <a:ln/>
        </p:spPr>
      </p:sp>
      <p:sp>
        <p:nvSpPr>
          <p:cNvPr id="143" name="shape-1183"/>
          <p:cNvSpPr/>
          <p:nvPr/>
        </p:nvSpPr>
        <p:spPr>
          <a:xfrm>
            <a:off x="6926580" y="2193036"/>
            <a:ext cx="82296" cy="82296"/>
          </a:xfrm>
          <a:prstGeom prst="ellipse">
            <a:avLst/>
          </a:prstGeom>
          <a:solidFill>
            <a:schemeClr val="accent1"/>
          </a:solidFill>
          <a:ln w="5080">
            <a:solidFill>
              <a:srgbClr val="1F2326"/>
            </a:solidFill>
            <a:prstDash val="solid"/>
          </a:ln>
        </p:spPr>
      </p:sp>
      <p:sp>
        <p:nvSpPr>
          <p:cNvPr id="144" name="shape-1184"/>
          <p:cNvSpPr/>
          <p:nvPr/>
        </p:nvSpPr>
        <p:spPr>
          <a:xfrm>
            <a:off x="6943039" y="2209495"/>
            <a:ext cx="49378" cy="49378"/>
          </a:xfrm>
          <a:prstGeom prst="ellipse">
            <a:avLst/>
          </a:prstGeom>
          <a:solidFill>
            <a:srgbClr val="FFFFFF"/>
          </a:solidFill>
          <a:ln/>
        </p:spPr>
      </p:sp>
      <p:sp>
        <p:nvSpPr>
          <p:cNvPr id="145" name="shape-1185"/>
          <p:cNvSpPr/>
          <p:nvPr/>
        </p:nvSpPr>
        <p:spPr>
          <a:xfrm>
            <a:off x="6954561" y="2221017"/>
            <a:ext cx="26335" cy="26335"/>
          </a:xfrm>
          <a:prstGeom prst="ellipse">
            <a:avLst/>
          </a:prstGeom>
          <a:solidFill>
            <a:schemeClr val="accent1"/>
          </a:solidFill>
          <a:ln/>
        </p:spPr>
      </p:sp>
      <p:sp>
        <p:nvSpPr>
          <p:cNvPr id="146" name="shape-1186"/>
          <p:cNvSpPr/>
          <p:nvPr/>
        </p:nvSpPr>
        <p:spPr>
          <a:xfrm>
            <a:off x="6926580" y="2552700"/>
            <a:ext cx="82296" cy="82296"/>
          </a:xfrm>
          <a:prstGeom prst="ellipse">
            <a:avLst/>
          </a:prstGeom>
          <a:solidFill>
            <a:schemeClr val="accent1"/>
          </a:solidFill>
          <a:ln w="5080">
            <a:solidFill>
              <a:srgbClr val="1F2326"/>
            </a:solidFill>
            <a:prstDash val="solid"/>
          </a:ln>
        </p:spPr>
      </p:sp>
      <p:sp>
        <p:nvSpPr>
          <p:cNvPr id="147" name="shape-1187"/>
          <p:cNvSpPr/>
          <p:nvPr/>
        </p:nvSpPr>
        <p:spPr>
          <a:xfrm>
            <a:off x="6943039" y="2569159"/>
            <a:ext cx="49378" cy="49378"/>
          </a:xfrm>
          <a:prstGeom prst="ellipse">
            <a:avLst/>
          </a:prstGeom>
          <a:solidFill>
            <a:srgbClr val="FFFFFF"/>
          </a:solidFill>
          <a:ln/>
        </p:spPr>
      </p:sp>
      <p:sp>
        <p:nvSpPr>
          <p:cNvPr id="148" name="shape-1188"/>
          <p:cNvSpPr/>
          <p:nvPr/>
        </p:nvSpPr>
        <p:spPr>
          <a:xfrm>
            <a:off x="6954561" y="2580681"/>
            <a:ext cx="26335" cy="26335"/>
          </a:xfrm>
          <a:prstGeom prst="ellipse">
            <a:avLst/>
          </a:prstGeom>
          <a:solidFill>
            <a:schemeClr val="accent1"/>
          </a:solidFill>
          <a:ln/>
        </p:spPr>
      </p:sp>
      <p:sp>
        <p:nvSpPr>
          <p:cNvPr id="149" name="shape-1189"/>
          <p:cNvSpPr/>
          <p:nvPr/>
        </p:nvSpPr>
        <p:spPr>
          <a:xfrm>
            <a:off x="6926580" y="2912364"/>
            <a:ext cx="82296" cy="82296"/>
          </a:xfrm>
          <a:prstGeom prst="ellipse">
            <a:avLst/>
          </a:prstGeom>
          <a:solidFill>
            <a:schemeClr val="accent1"/>
          </a:solidFill>
          <a:ln w="5080">
            <a:solidFill>
              <a:srgbClr val="1F2326"/>
            </a:solidFill>
            <a:prstDash val="solid"/>
          </a:ln>
        </p:spPr>
      </p:sp>
      <p:sp>
        <p:nvSpPr>
          <p:cNvPr id="150" name="shape-1190"/>
          <p:cNvSpPr/>
          <p:nvPr/>
        </p:nvSpPr>
        <p:spPr>
          <a:xfrm>
            <a:off x="6943039" y="2928823"/>
            <a:ext cx="49378" cy="49378"/>
          </a:xfrm>
          <a:prstGeom prst="ellipse">
            <a:avLst/>
          </a:prstGeom>
          <a:solidFill>
            <a:srgbClr val="FFFFFF"/>
          </a:solidFill>
          <a:ln/>
        </p:spPr>
      </p:sp>
      <p:sp>
        <p:nvSpPr>
          <p:cNvPr id="151" name="shape-1191"/>
          <p:cNvSpPr/>
          <p:nvPr/>
        </p:nvSpPr>
        <p:spPr>
          <a:xfrm>
            <a:off x="6954561" y="2940345"/>
            <a:ext cx="26335" cy="26335"/>
          </a:xfrm>
          <a:prstGeom prst="ellipse">
            <a:avLst/>
          </a:prstGeom>
          <a:solidFill>
            <a:schemeClr val="accent1"/>
          </a:solidFill>
          <a:ln/>
        </p:spPr>
      </p:sp>
      <p:sp>
        <p:nvSpPr>
          <p:cNvPr id="152" name="shape-1192"/>
          <p:cNvSpPr/>
          <p:nvPr/>
        </p:nvSpPr>
        <p:spPr>
          <a:xfrm>
            <a:off x="7932420" y="1833372"/>
            <a:ext cx="82296" cy="82296"/>
          </a:xfrm>
          <a:prstGeom prst="ellipse">
            <a:avLst/>
          </a:prstGeom>
          <a:solidFill>
            <a:schemeClr val="accent1"/>
          </a:solidFill>
          <a:ln w="5080">
            <a:solidFill>
              <a:srgbClr val="1F2326"/>
            </a:solidFill>
            <a:prstDash val="solid"/>
          </a:ln>
        </p:spPr>
      </p:sp>
      <p:sp>
        <p:nvSpPr>
          <p:cNvPr id="153" name="shape-1193"/>
          <p:cNvSpPr/>
          <p:nvPr/>
        </p:nvSpPr>
        <p:spPr>
          <a:xfrm>
            <a:off x="7948879" y="1849831"/>
            <a:ext cx="49378" cy="49378"/>
          </a:xfrm>
          <a:prstGeom prst="ellipse">
            <a:avLst/>
          </a:prstGeom>
          <a:solidFill>
            <a:srgbClr val="FFFFFF"/>
          </a:solidFill>
          <a:ln/>
        </p:spPr>
      </p:sp>
      <p:sp>
        <p:nvSpPr>
          <p:cNvPr id="154" name="shape-1194"/>
          <p:cNvSpPr/>
          <p:nvPr/>
        </p:nvSpPr>
        <p:spPr>
          <a:xfrm>
            <a:off x="7960401" y="1861353"/>
            <a:ext cx="26335" cy="26335"/>
          </a:xfrm>
          <a:prstGeom prst="ellipse">
            <a:avLst/>
          </a:prstGeom>
          <a:solidFill>
            <a:schemeClr val="accent1"/>
          </a:solidFill>
          <a:ln/>
        </p:spPr>
      </p:sp>
      <p:sp>
        <p:nvSpPr>
          <p:cNvPr id="155" name="shape-1195"/>
          <p:cNvSpPr/>
          <p:nvPr/>
        </p:nvSpPr>
        <p:spPr>
          <a:xfrm>
            <a:off x="7932420" y="2193036"/>
            <a:ext cx="82296" cy="82296"/>
          </a:xfrm>
          <a:prstGeom prst="ellipse">
            <a:avLst/>
          </a:prstGeom>
          <a:solidFill>
            <a:schemeClr val="accent1"/>
          </a:solidFill>
          <a:ln w="5080">
            <a:solidFill>
              <a:srgbClr val="1F2326"/>
            </a:solidFill>
            <a:prstDash val="solid"/>
          </a:ln>
        </p:spPr>
      </p:sp>
      <p:sp>
        <p:nvSpPr>
          <p:cNvPr id="156" name="shape-1196"/>
          <p:cNvSpPr/>
          <p:nvPr/>
        </p:nvSpPr>
        <p:spPr>
          <a:xfrm>
            <a:off x="7948879" y="2209495"/>
            <a:ext cx="49378" cy="49378"/>
          </a:xfrm>
          <a:prstGeom prst="ellipse">
            <a:avLst/>
          </a:prstGeom>
          <a:solidFill>
            <a:srgbClr val="FFFFFF"/>
          </a:solidFill>
          <a:ln/>
        </p:spPr>
      </p:sp>
      <p:sp>
        <p:nvSpPr>
          <p:cNvPr id="157" name="shape-1197"/>
          <p:cNvSpPr/>
          <p:nvPr/>
        </p:nvSpPr>
        <p:spPr>
          <a:xfrm>
            <a:off x="7960401" y="2221017"/>
            <a:ext cx="26335" cy="26335"/>
          </a:xfrm>
          <a:prstGeom prst="ellipse">
            <a:avLst/>
          </a:prstGeom>
          <a:solidFill>
            <a:schemeClr val="accent1"/>
          </a:solidFill>
          <a:ln/>
        </p:spPr>
      </p:sp>
      <p:sp>
        <p:nvSpPr>
          <p:cNvPr id="158" name="shape-1198"/>
          <p:cNvSpPr/>
          <p:nvPr/>
        </p:nvSpPr>
        <p:spPr>
          <a:xfrm>
            <a:off x="7932420" y="2552700"/>
            <a:ext cx="82296" cy="82296"/>
          </a:xfrm>
          <a:prstGeom prst="ellipse">
            <a:avLst/>
          </a:prstGeom>
          <a:solidFill>
            <a:schemeClr val="accent1"/>
          </a:solidFill>
          <a:ln w="5080">
            <a:solidFill>
              <a:srgbClr val="1F2326"/>
            </a:solidFill>
            <a:prstDash val="solid"/>
          </a:ln>
        </p:spPr>
      </p:sp>
      <p:sp>
        <p:nvSpPr>
          <p:cNvPr id="159" name="shape-1199"/>
          <p:cNvSpPr/>
          <p:nvPr/>
        </p:nvSpPr>
        <p:spPr>
          <a:xfrm>
            <a:off x="7948879" y="2569159"/>
            <a:ext cx="49378" cy="49378"/>
          </a:xfrm>
          <a:prstGeom prst="ellipse">
            <a:avLst/>
          </a:prstGeom>
          <a:solidFill>
            <a:srgbClr val="FFFFFF"/>
          </a:solidFill>
          <a:ln/>
        </p:spPr>
      </p:sp>
      <p:sp>
        <p:nvSpPr>
          <p:cNvPr id="160" name="shape-1200"/>
          <p:cNvSpPr/>
          <p:nvPr/>
        </p:nvSpPr>
        <p:spPr>
          <a:xfrm>
            <a:off x="7960401" y="2580681"/>
            <a:ext cx="26335" cy="26335"/>
          </a:xfrm>
          <a:prstGeom prst="ellipse">
            <a:avLst/>
          </a:prstGeom>
          <a:solidFill>
            <a:schemeClr val="accent1"/>
          </a:solidFill>
          <a:ln/>
        </p:spPr>
      </p:sp>
      <p:sp>
        <p:nvSpPr>
          <p:cNvPr id="161" name="shape-1201"/>
          <p:cNvSpPr/>
          <p:nvPr/>
        </p:nvSpPr>
        <p:spPr>
          <a:xfrm>
            <a:off x="7932420" y="2912364"/>
            <a:ext cx="82296" cy="82296"/>
          </a:xfrm>
          <a:prstGeom prst="ellipse">
            <a:avLst/>
          </a:prstGeom>
          <a:solidFill>
            <a:schemeClr val="accent1"/>
          </a:solidFill>
          <a:ln w="5080">
            <a:solidFill>
              <a:srgbClr val="1F2326"/>
            </a:solidFill>
            <a:prstDash val="solid"/>
          </a:ln>
        </p:spPr>
      </p:sp>
      <p:sp>
        <p:nvSpPr>
          <p:cNvPr id="162" name="shape-1202"/>
          <p:cNvSpPr/>
          <p:nvPr/>
        </p:nvSpPr>
        <p:spPr>
          <a:xfrm>
            <a:off x="7948879" y="2928823"/>
            <a:ext cx="49378" cy="49378"/>
          </a:xfrm>
          <a:prstGeom prst="ellipse">
            <a:avLst/>
          </a:prstGeom>
          <a:solidFill>
            <a:srgbClr val="FFFFFF"/>
          </a:solidFill>
          <a:ln/>
        </p:spPr>
      </p:sp>
      <p:sp>
        <p:nvSpPr>
          <p:cNvPr id="163" name="shape-1203"/>
          <p:cNvSpPr/>
          <p:nvPr/>
        </p:nvSpPr>
        <p:spPr>
          <a:xfrm>
            <a:off x="7960401" y="2940345"/>
            <a:ext cx="26335" cy="26335"/>
          </a:xfrm>
          <a:prstGeom prst="ellipse">
            <a:avLst/>
          </a:prstGeom>
          <a:solidFill>
            <a:schemeClr val="accent1"/>
          </a:solidFill>
          <a:ln/>
        </p:spPr>
      </p:sp>
      <p:sp>
        <p:nvSpPr>
          <p:cNvPr id="164" name="shape-1204"/>
          <p:cNvSpPr/>
          <p:nvPr/>
        </p:nvSpPr>
        <p:spPr>
          <a:xfrm>
            <a:off x="7076512" y="3073895"/>
            <a:ext cx="82296" cy="82296"/>
          </a:xfrm>
          <a:prstGeom prst="ellipse">
            <a:avLst/>
          </a:prstGeom>
          <a:solidFill>
            <a:schemeClr val="accent1"/>
          </a:solidFill>
          <a:ln w="5080">
            <a:solidFill>
              <a:srgbClr val="1F2326"/>
            </a:solidFill>
            <a:prstDash val="solid"/>
          </a:ln>
        </p:spPr>
      </p:sp>
      <p:sp>
        <p:nvSpPr>
          <p:cNvPr id="165" name="shape-1205"/>
          <p:cNvSpPr/>
          <p:nvPr/>
        </p:nvSpPr>
        <p:spPr>
          <a:xfrm>
            <a:off x="7092971" y="3090355"/>
            <a:ext cx="49378" cy="49378"/>
          </a:xfrm>
          <a:prstGeom prst="ellipse">
            <a:avLst/>
          </a:prstGeom>
          <a:solidFill>
            <a:srgbClr val="FFFFFF"/>
          </a:solidFill>
          <a:ln/>
        </p:spPr>
      </p:sp>
      <p:sp>
        <p:nvSpPr>
          <p:cNvPr id="166" name="shape-1206"/>
          <p:cNvSpPr/>
          <p:nvPr/>
        </p:nvSpPr>
        <p:spPr>
          <a:xfrm>
            <a:off x="7104492" y="3101876"/>
            <a:ext cx="26335" cy="26335"/>
          </a:xfrm>
          <a:prstGeom prst="ellipse">
            <a:avLst/>
          </a:prstGeom>
          <a:solidFill>
            <a:schemeClr val="accent1"/>
          </a:solidFill>
          <a:ln/>
        </p:spPr>
      </p:sp>
      <p:sp>
        <p:nvSpPr>
          <p:cNvPr id="167" name="shape-1207"/>
          <p:cNvSpPr/>
          <p:nvPr/>
        </p:nvSpPr>
        <p:spPr>
          <a:xfrm>
            <a:off x="7033193" y="3207217"/>
            <a:ext cx="82296" cy="82296"/>
          </a:xfrm>
          <a:prstGeom prst="ellipse">
            <a:avLst/>
          </a:prstGeom>
          <a:solidFill>
            <a:schemeClr val="accent1"/>
          </a:solidFill>
          <a:ln w="5080">
            <a:solidFill>
              <a:srgbClr val="1F2326"/>
            </a:solidFill>
            <a:prstDash val="solid"/>
          </a:ln>
        </p:spPr>
      </p:sp>
      <p:sp>
        <p:nvSpPr>
          <p:cNvPr id="168" name="shape-1208"/>
          <p:cNvSpPr/>
          <p:nvPr/>
        </p:nvSpPr>
        <p:spPr>
          <a:xfrm>
            <a:off x="7049652" y="3223676"/>
            <a:ext cx="49378" cy="49378"/>
          </a:xfrm>
          <a:prstGeom prst="ellipse">
            <a:avLst/>
          </a:prstGeom>
          <a:solidFill>
            <a:srgbClr val="FFFFFF"/>
          </a:solidFill>
          <a:ln/>
        </p:spPr>
      </p:sp>
      <p:sp>
        <p:nvSpPr>
          <p:cNvPr id="169" name="shape-1209"/>
          <p:cNvSpPr/>
          <p:nvPr/>
        </p:nvSpPr>
        <p:spPr>
          <a:xfrm>
            <a:off x="7061173" y="3235198"/>
            <a:ext cx="26335" cy="26335"/>
          </a:xfrm>
          <a:prstGeom prst="ellipse">
            <a:avLst/>
          </a:prstGeom>
          <a:solidFill>
            <a:schemeClr val="accent1"/>
          </a:solidFill>
          <a:ln/>
        </p:spPr>
      </p:sp>
      <p:sp>
        <p:nvSpPr>
          <p:cNvPr id="170" name="shape-1210"/>
          <p:cNvSpPr/>
          <p:nvPr/>
        </p:nvSpPr>
        <p:spPr>
          <a:xfrm>
            <a:off x="6950795" y="3320627"/>
            <a:ext cx="82296" cy="82296"/>
          </a:xfrm>
          <a:prstGeom prst="ellipse">
            <a:avLst/>
          </a:prstGeom>
          <a:solidFill>
            <a:schemeClr val="accent1"/>
          </a:solidFill>
          <a:ln w="5080">
            <a:solidFill>
              <a:srgbClr val="1F2326"/>
            </a:solidFill>
            <a:prstDash val="solid"/>
          </a:ln>
        </p:spPr>
      </p:sp>
      <p:sp>
        <p:nvSpPr>
          <p:cNvPr id="171" name="shape-1211"/>
          <p:cNvSpPr/>
          <p:nvPr/>
        </p:nvSpPr>
        <p:spPr>
          <a:xfrm>
            <a:off x="6967255" y="3337087"/>
            <a:ext cx="49378" cy="49378"/>
          </a:xfrm>
          <a:prstGeom prst="ellipse">
            <a:avLst/>
          </a:prstGeom>
          <a:solidFill>
            <a:srgbClr val="FFFFFF"/>
          </a:solidFill>
          <a:ln/>
        </p:spPr>
      </p:sp>
      <p:sp>
        <p:nvSpPr>
          <p:cNvPr id="172" name="shape-1212"/>
          <p:cNvSpPr/>
          <p:nvPr/>
        </p:nvSpPr>
        <p:spPr>
          <a:xfrm>
            <a:off x="6978776" y="3348608"/>
            <a:ext cx="26335" cy="26335"/>
          </a:xfrm>
          <a:prstGeom prst="ellipse">
            <a:avLst/>
          </a:prstGeom>
          <a:solidFill>
            <a:schemeClr val="accent1"/>
          </a:solidFill>
          <a:ln/>
        </p:spPr>
      </p:sp>
      <p:sp>
        <p:nvSpPr>
          <p:cNvPr id="173" name="shape-1213"/>
          <p:cNvSpPr/>
          <p:nvPr/>
        </p:nvSpPr>
        <p:spPr>
          <a:xfrm>
            <a:off x="6837385" y="3403025"/>
            <a:ext cx="82296" cy="82296"/>
          </a:xfrm>
          <a:prstGeom prst="ellipse">
            <a:avLst/>
          </a:prstGeom>
          <a:solidFill>
            <a:schemeClr val="accent1"/>
          </a:solidFill>
          <a:ln w="5080">
            <a:solidFill>
              <a:srgbClr val="1F2326"/>
            </a:solidFill>
            <a:prstDash val="solid"/>
          </a:ln>
        </p:spPr>
      </p:sp>
      <p:sp>
        <p:nvSpPr>
          <p:cNvPr id="174" name="shape-1214"/>
          <p:cNvSpPr/>
          <p:nvPr/>
        </p:nvSpPr>
        <p:spPr>
          <a:xfrm>
            <a:off x="6853844" y="3419484"/>
            <a:ext cx="49378" cy="49378"/>
          </a:xfrm>
          <a:prstGeom prst="ellipse">
            <a:avLst/>
          </a:prstGeom>
          <a:solidFill>
            <a:srgbClr val="FFFFFF"/>
          </a:solidFill>
          <a:ln/>
        </p:spPr>
      </p:sp>
      <p:sp>
        <p:nvSpPr>
          <p:cNvPr id="175" name="shape-1215"/>
          <p:cNvSpPr/>
          <p:nvPr/>
        </p:nvSpPr>
        <p:spPr>
          <a:xfrm>
            <a:off x="6865366" y="3431005"/>
            <a:ext cx="26335" cy="26335"/>
          </a:xfrm>
          <a:prstGeom prst="ellipse">
            <a:avLst/>
          </a:prstGeom>
          <a:solidFill>
            <a:schemeClr val="accent1"/>
          </a:solidFill>
          <a:ln/>
        </p:spPr>
      </p:sp>
      <p:sp>
        <p:nvSpPr>
          <p:cNvPr id="176" name="shape-1216"/>
          <p:cNvSpPr/>
          <p:nvPr/>
        </p:nvSpPr>
        <p:spPr>
          <a:xfrm>
            <a:off x="6704063" y="3446344"/>
            <a:ext cx="82296" cy="82296"/>
          </a:xfrm>
          <a:prstGeom prst="ellipse">
            <a:avLst/>
          </a:prstGeom>
          <a:solidFill>
            <a:schemeClr val="accent1"/>
          </a:solidFill>
          <a:ln w="5080">
            <a:solidFill>
              <a:srgbClr val="1F2326"/>
            </a:solidFill>
            <a:prstDash val="solid"/>
          </a:ln>
        </p:spPr>
      </p:sp>
      <p:sp>
        <p:nvSpPr>
          <p:cNvPr id="177" name="shape-1217"/>
          <p:cNvSpPr/>
          <p:nvPr/>
        </p:nvSpPr>
        <p:spPr>
          <a:xfrm>
            <a:off x="6720523" y="3462803"/>
            <a:ext cx="49378" cy="49378"/>
          </a:xfrm>
          <a:prstGeom prst="ellipse">
            <a:avLst/>
          </a:prstGeom>
          <a:solidFill>
            <a:srgbClr val="FFFFFF"/>
          </a:solidFill>
          <a:ln/>
        </p:spPr>
      </p:sp>
      <p:sp>
        <p:nvSpPr>
          <p:cNvPr id="178" name="shape-1218"/>
          <p:cNvSpPr/>
          <p:nvPr/>
        </p:nvSpPr>
        <p:spPr>
          <a:xfrm>
            <a:off x="6732044" y="3474324"/>
            <a:ext cx="26335" cy="26335"/>
          </a:xfrm>
          <a:prstGeom prst="ellipse">
            <a:avLst/>
          </a:prstGeom>
          <a:solidFill>
            <a:schemeClr val="accent1"/>
          </a:solidFill>
          <a:ln/>
        </p:spPr>
      </p:sp>
      <p:sp>
        <p:nvSpPr>
          <p:cNvPr id="179" name="shape-1219"/>
          <p:cNvSpPr/>
          <p:nvPr/>
        </p:nvSpPr>
        <p:spPr>
          <a:xfrm>
            <a:off x="7782488" y="3073895"/>
            <a:ext cx="82296" cy="82296"/>
          </a:xfrm>
          <a:prstGeom prst="ellipse">
            <a:avLst/>
          </a:prstGeom>
          <a:solidFill>
            <a:schemeClr val="accent1"/>
          </a:solidFill>
          <a:ln w="5080">
            <a:solidFill>
              <a:srgbClr val="1F2326"/>
            </a:solidFill>
            <a:prstDash val="solid"/>
          </a:ln>
        </p:spPr>
      </p:sp>
      <p:sp>
        <p:nvSpPr>
          <p:cNvPr id="180" name="shape-1220"/>
          <p:cNvSpPr/>
          <p:nvPr/>
        </p:nvSpPr>
        <p:spPr>
          <a:xfrm>
            <a:off x="7798948" y="3090355"/>
            <a:ext cx="49378" cy="49378"/>
          </a:xfrm>
          <a:prstGeom prst="ellipse">
            <a:avLst/>
          </a:prstGeom>
          <a:solidFill>
            <a:srgbClr val="FFFFFF"/>
          </a:solidFill>
          <a:ln/>
        </p:spPr>
      </p:sp>
      <p:sp>
        <p:nvSpPr>
          <p:cNvPr id="181" name="shape-1221"/>
          <p:cNvSpPr/>
          <p:nvPr/>
        </p:nvSpPr>
        <p:spPr>
          <a:xfrm>
            <a:off x="7810469" y="3101876"/>
            <a:ext cx="26335" cy="26335"/>
          </a:xfrm>
          <a:prstGeom prst="ellipse">
            <a:avLst/>
          </a:prstGeom>
          <a:solidFill>
            <a:schemeClr val="accent1"/>
          </a:solidFill>
          <a:ln/>
        </p:spPr>
      </p:sp>
      <p:sp>
        <p:nvSpPr>
          <p:cNvPr id="182" name="shape-1222"/>
          <p:cNvSpPr/>
          <p:nvPr/>
        </p:nvSpPr>
        <p:spPr>
          <a:xfrm>
            <a:off x="7825807" y="3207217"/>
            <a:ext cx="82296" cy="82296"/>
          </a:xfrm>
          <a:prstGeom prst="ellipse">
            <a:avLst/>
          </a:prstGeom>
          <a:solidFill>
            <a:schemeClr val="accent1"/>
          </a:solidFill>
          <a:ln w="5080">
            <a:solidFill>
              <a:srgbClr val="1F2326"/>
            </a:solidFill>
            <a:prstDash val="solid"/>
          </a:ln>
        </p:spPr>
      </p:sp>
      <p:sp>
        <p:nvSpPr>
          <p:cNvPr id="183" name="shape-1223"/>
          <p:cNvSpPr/>
          <p:nvPr/>
        </p:nvSpPr>
        <p:spPr>
          <a:xfrm>
            <a:off x="7842266" y="3223676"/>
            <a:ext cx="49378" cy="49378"/>
          </a:xfrm>
          <a:prstGeom prst="ellipse">
            <a:avLst/>
          </a:prstGeom>
          <a:solidFill>
            <a:srgbClr val="FFFFFF"/>
          </a:solidFill>
          <a:ln/>
        </p:spPr>
      </p:sp>
      <p:sp>
        <p:nvSpPr>
          <p:cNvPr id="184" name="shape-1224"/>
          <p:cNvSpPr/>
          <p:nvPr/>
        </p:nvSpPr>
        <p:spPr>
          <a:xfrm>
            <a:off x="7853788" y="3235198"/>
            <a:ext cx="26335" cy="26335"/>
          </a:xfrm>
          <a:prstGeom prst="ellipse">
            <a:avLst/>
          </a:prstGeom>
          <a:solidFill>
            <a:schemeClr val="accent1"/>
          </a:solidFill>
          <a:ln/>
        </p:spPr>
      </p:sp>
      <p:sp>
        <p:nvSpPr>
          <p:cNvPr id="185" name="shape-1225"/>
          <p:cNvSpPr/>
          <p:nvPr/>
        </p:nvSpPr>
        <p:spPr>
          <a:xfrm>
            <a:off x="7908205" y="3320627"/>
            <a:ext cx="82296" cy="82296"/>
          </a:xfrm>
          <a:prstGeom prst="ellipse">
            <a:avLst/>
          </a:prstGeom>
          <a:solidFill>
            <a:schemeClr val="accent1"/>
          </a:solidFill>
          <a:ln w="5080">
            <a:solidFill>
              <a:srgbClr val="1F2326"/>
            </a:solidFill>
            <a:prstDash val="solid"/>
          </a:ln>
        </p:spPr>
      </p:sp>
      <p:sp>
        <p:nvSpPr>
          <p:cNvPr id="186" name="shape-1226"/>
          <p:cNvSpPr/>
          <p:nvPr/>
        </p:nvSpPr>
        <p:spPr>
          <a:xfrm>
            <a:off x="7924664" y="3337087"/>
            <a:ext cx="49378" cy="49378"/>
          </a:xfrm>
          <a:prstGeom prst="ellipse">
            <a:avLst/>
          </a:prstGeom>
          <a:solidFill>
            <a:srgbClr val="FFFFFF"/>
          </a:solidFill>
          <a:ln/>
        </p:spPr>
      </p:sp>
      <p:sp>
        <p:nvSpPr>
          <p:cNvPr id="187" name="shape-1227"/>
          <p:cNvSpPr/>
          <p:nvPr/>
        </p:nvSpPr>
        <p:spPr>
          <a:xfrm>
            <a:off x="7936185" y="3348608"/>
            <a:ext cx="26335" cy="26335"/>
          </a:xfrm>
          <a:prstGeom prst="ellipse">
            <a:avLst/>
          </a:prstGeom>
          <a:solidFill>
            <a:schemeClr val="accent1"/>
          </a:solidFill>
          <a:ln/>
        </p:spPr>
      </p:sp>
      <p:sp>
        <p:nvSpPr>
          <p:cNvPr id="188" name="shape-1228"/>
          <p:cNvSpPr/>
          <p:nvPr/>
        </p:nvSpPr>
        <p:spPr>
          <a:xfrm>
            <a:off x="8021615" y="3403025"/>
            <a:ext cx="82296" cy="82296"/>
          </a:xfrm>
          <a:prstGeom prst="ellipse">
            <a:avLst/>
          </a:prstGeom>
          <a:solidFill>
            <a:schemeClr val="accent1"/>
          </a:solidFill>
          <a:ln w="5080">
            <a:solidFill>
              <a:srgbClr val="1F2326"/>
            </a:solidFill>
            <a:prstDash val="solid"/>
          </a:ln>
        </p:spPr>
      </p:sp>
      <p:sp>
        <p:nvSpPr>
          <p:cNvPr id="189" name="shape-1229"/>
          <p:cNvSpPr/>
          <p:nvPr/>
        </p:nvSpPr>
        <p:spPr>
          <a:xfrm>
            <a:off x="8038074" y="3419484"/>
            <a:ext cx="49378" cy="49378"/>
          </a:xfrm>
          <a:prstGeom prst="ellipse">
            <a:avLst/>
          </a:prstGeom>
          <a:solidFill>
            <a:srgbClr val="FFFFFF"/>
          </a:solidFill>
          <a:ln/>
        </p:spPr>
      </p:sp>
      <p:sp>
        <p:nvSpPr>
          <p:cNvPr id="190" name="shape-1230"/>
          <p:cNvSpPr/>
          <p:nvPr/>
        </p:nvSpPr>
        <p:spPr>
          <a:xfrm>
            <a:off x="8049595" y="3431005"/>
            <a:ext cx="26335" cy="26335"/>
          </a:xfrm>
          <a:prstGeom prst="ellipse">
            <a:avLst/>
          </a:prstGeom>
          <a:solidFill>
            <a:schemeClr val="accent1"/>
          </a:solidFill>
          <a:ln/>
        </p:spPr>
      </p:sp>
      <p:sp>
        <p:nvSpPr>
          <p:cNvPr id="191" name="shape-1231"/>
          <p:cNvSpPr/>
          <p:nvPr/>
        </p:nvSpPr>
        <p:spPr>
          <a:xfrm>
            <a:off x="8154937" y="3446344"/>
            <a:ext cx="82296" cy="82296"/>
          </a:xfrm>
          <a:prstGeom prst="ellipse">
            <a:avLst/>
          </a:prstGeom>
          <a:solidFill>
            <a:schemeClr val="accent1"/>
          </a:solidFill>
          <a:ln w="5080">
            <a:solidFill>
              <a:srgbClr val="1F2326"/>
            </a:solidFill>
            <a:prstDash val="solid"/>
          </a:ln>
        </p:spPr>
      </p:sp>
      <p:sp>
        <p:nvSpPr>
          <p:cNvPr id="192" name="shape-1232"/>
          <p:cNvSpPr/>
          <p:nvPr/>
        </p:nvSpPr>
        <p:spPr>
          <a:xfrm>
            <a:off x="8171396" y="3462803"/>
            <a:ext cx="49378" cy="49378"/>
          </a:xfrm>
          <a:prstGeom prst="ellipse">
            <a:avLst/>
          </a:prstGeom>
          <a:solidFill>
            <a:srgbClr val="FFFFFF"/>
          </a:solidFill>
          <a:ln/>
        </p:spPr>
      </p:sp>
      <p:sp>
        <p:nvSpPr>
          <p:cNvPr id="193" name="shape-1233"/>
          <p:cNvSpPr/>
          <p:nvPr/>
        </p:nvSpPr>
        <p:spPr>
          <a:xfrm>
            <a:off x="8182917" y="3474324"/>
            <a:ext cx="26335" cy="26335"/>
          </a:xfrm>
          <a:prstGeom prst="ellipse">
            <a:avLst/>
          </a:prstGeom>
          <a:solidFill>
            <a:schemeClr val="accent1"/>
          </a:solidFill>
          <a:ln/>
        </p:spPr>
      </p:sp>
      <p:sp>
        <p:nvSpPr>
          <p:cNvPr id="194" name="shape-1234"/>
          <p:cNvSpPr/>
          <p:nvPr/>
        </p:nvSpPr>
        <p:spPr>
          <a:xfrm>
            <a:off x="8951976" y="1325880"/>
            <a:ext cx="2670048" cy="3063240"/>
          </a:xfrm>
          <a:prstGeom prst="roundRect">
            <a:avLst>
              <a:gd name="adj" fmla="val 2740"/>
            </a:avLst>
          </a:prstGeom>
          <a:solidFill>
            <a:srgbClr val="F4F5F7"/>
          </a:solidFill>
          <a:ln w="9525">
            <a:solidFill>
              <a:srgbClr val="E3E5E8"/>
            </a:solidFill>
            <a:prstDash val="solid"/>
          </a:ln>
        </p:spPr>
      </p:sp>
      <p:sp>
        <p:nvSpPr>
          <p:cNvPr id="195" name="text-1235"/>
          <p:cNvSpPr txBox="1"/>
          <p:nvPr/>
        </p:nvSpPr>
        <p:spPr>
          <a:xfrm>
            <a:off x="9089136" y="1417320"/>
            <a:ext cx="2395728" cy="274320"/>
          </a:xfrm>
          <a:prstGeom prst="rect">
            <a:avLst/>
          </a:prstGeom>
          <a:noFill/>
          <a:ln/>
        </p:spPr>
        <p:txBody>
          <a:bodyPr wrap="square" lIns="0" tIns="0" rIns="0" bIns="0" rtlCol="0" anchor="t"/>
          <a:lstStyle/>
          <a:p>
            <a:pPr indent="0" marL="0">
              <a:buNone/>
            </a:pPr>
            <a:r>
              <a:rPr lang="en-US" sz="1250" b="1" dirty="0">
                <a:solidFill>
                  <a:schemeClr val="accent1"/>
                </a:solidFill>
                <a:latin typeface="Calibri" pitchFamily="34" charset="0"/>
                <a:ea typeface="Calibri" pitchFamily="34" charset="-122"/>
                <a:cs typeface="Calibri" pitchFamily="34" charset="-120"/>
              </a:rPr>
              <a:t>Kerb stone</a:t>
            </a:r>
            <a:endParaRPr lang="en-US" sz="1250" dirty="0"/>
          </a:p>
        </p:txBody>
      </p:sp>
      <p:sp>
        <p:nvSpPr>
          <p:cNvPr id="196" name="shape-1236"/>
          <p:cNvSpPr/>
          <p:nvPr/>
        </p:nvSpPr>
        <p:spPr>
          <a:xfrm>
            <a:off x="9875520" y="1783080"/>
            <a:ext cx="822960" cy="1645920"/>
          </a:xfrm>
          <a:prstGeom prst="rect">
            <a:avLst/>
          </a:prstGeom>
          <a:solidFill>
            <a:schemeClr val="accent5"/>
          </a:solidFill>
          <a:ln/>
        </p:spPr>
      </p:sp>
      <p:sp>
        <p:nvSpPr>
          <p:cNvPr id="197" name="shape-1237"/>
          <p:cNvSpPr/>
          <p:nvPr/>
        </p:nvSpPr>
        <p:spPr>
          <a:xfrm>
            <a:off x="9491472" y="3044952"/>
            <a:ext cx="384048" cy="384048"/>
          </a:xfrm>
          <a:prstGeom prst="rect">
            <a:avLst/>
          </a:prstGeom>
          <a:solidFill>
            <a:schemeClr val="accent5"/>
          </a:solidFill>
          <a:ln/>
        </p:spPr>
      </p:sp>
      <p:sp>
        <p:nvSpPr>
          <p:cNvPr id="198" name="shape-1238"/>
          <p:cNvSpPr/>
          <p:nvPr/>
        </p:nvSpPr>
        <p:spPr>
          <a:xfrm>
            <a:off x="10698480" y="3044952"/>
            <a:ext cx="384048" cy="384048"/>
          </a:xfrm>
          <a:prstGeom prst="rect">
            <a:avLst/>
          </a:prstGeom>
          <a:solidFill>
            <a:schemeClr val="accent5"/>
          </a:solidFill>
          <a:ln/>
        </p:spPr>
      </p:sp>
      <p:sp>
        <p:nvSpPr>
          <p:cNvPr id="199" name="shape-1239"/>
          <p:cNvSpPr/>
          <p:nvPr/>
        </p:nvSpPr>
        <p:spPr>
          <a:xfrm>
            <a:off x="9107424" y="2660904"/>
            <a:ext cx="768096" cy="768096"/>
          </a:xfrm>
          <a:prstGeom prst="ellipse">
            <a:avLst/>
          </a:prstGeom>
          <a:solidFill>
            <a:srgbClr val="F4F5F7"/>
          </a:solidFill>
          <a:ln/>
        </p:spPr>
      </p:sp>
      <p:sp>
        <p:nvSpPr>
          <p:cNvPr id="200" name="shape-1240"/>
          <p:cNvSpPr/>
          <p:nvPr/>
        </p:nvSpPr>
        <p:spPr>
          <a:xfrm>
            <a:off x="10698480" y="2660904"/>
            <a:ext cx="768096" cy="768096"/>
          </a:xfrm>
          <a:prstGeom prst="ellipse">
            <a:avLst/>
          </a:prstGeom>
          <a:solidFill>
            <a:srgbClr val="F4F5F7"/>
          </a:solidFill>
          <a:ln/>
        </p:spPr>
      </p:sp>
      <p:sp>
        <p:nvSpPr>
          <p:cNvPr id="201" name="shape-1241"/>
          <p:cNvSpPr/>
          <p:nvPr/>
        </p:nvSpPr>
        <p:spPr>
          <a:xfrm>
            <a:off x="9134856" y="3429000"/>
            <a:ext cx="2304288" cy="822960"/>
          </a:xfrm>
          <a:prstGeom prst="rect">
            <a:avLst/>
          </a:prstGeom>
          <a:solidFill>
            <a:schemeClr val="accent5"/>
          </a:solidFill>
          <a:ln/>
        </p:spPr>
      </p:sp>
      <p:sp>
        <p:nvSpPr>
          <p:cNvPr id="202" name="shape-1242"/>
          <p:cNvSpPr/>
          <p:nvPr/>
        </p:nvSpPr>
        <p:spPr>
          <a:xfrm>
            <a:off x="9134856" y="3474720"/>
            <a:ext cx="2304288" cy="0"/>
          </a:xfrm>
          <a:prstGeom prst="line">
            <a:avLst/>
          </a:prstGeom>
          <a:noFill/>
          <a:ln w="15875">
            <a:solidFill>
              <a:schemeClr val="accent2"/>
            </a:solidFill>
            <a:prstDash val="solid"/>
          </a:ln>
        </p:spPr>
      </p:sp>
      <p:sp>
        <p:nvSpPr>
          <p:cNvPr id="203" name="shape-1243"/>
          <p:cNvSpPr/>
          <p:nvPr/>
        </p:nvSpPr>
        <p:spPr>
          <a:xfrm>
            <a:off x="9134856" y="4206240"/>
            <a:ext cx="2304288" cy="0"/>
          </a:xfrm>
          <a:prstGeom prst="line">
            <a:avLst/>
          </a:prstGeom>
          <a:noFill/>
          <a:ln w="15875">
            <a:solidFill>
              <a:schemeClr val="accent2"/>
            </a:solidFill>
            <a:prstDash val="solid"/>
          </a:ln>
        </p:spPr>
      </p:sp>
      <p:sp>
        <p:nvSpPr>
          <p:cNvPr id="204" name="shape-1244"/>
          <p:cNvSpPr/>
          <p:nvPr/>
        </p:nvSpPr>
        <p:spPr>
          <a:xfrm>
            <a:off x="9134856" y="3840480"/>
            <a:ext cx="2304288" cy="0"/>
          </a:xfrm>
          <a:prstGeom prst="line">
            <a:avLst/>
          </a:prstGeom>
          <a:noFill/>
          <a:ln w="19050">
            <a:solidFill>
              <a:srgbClr val="FFFFFF"/>
            </a:solidFill>
            <a:prstDash val="dash"/>
          </a:ln>
        </p:spPr>
      </p:sp>
      <p:sp>
        <p:nvSpPr>
          <p:cNvPr id="205" name="shape-1245"/>
          <p:cNvSpPr/>
          <p:nvPr/>
        </p:nvSpPr>
        <p:spPr>
          <a:xfrm>
            <a:off x="10287000" y="1828800"/>
            <a:ext cx="0" cy="2011680"/>
          </a:xfrm>
          <a:prstGeom prst="line">
            <a:avLst/>
          </a:prstGeom>
          <a:noFill/>
          <a:ln w="15875">
            <a:solidFill>
              <a:schemeClr val="accent2"/>
            </a:solidFill>
            <a:prstDash val="dash"/>
          </a:ln>
        </p:spPr>
      </p:sp>
      <p:sp>
        <p:nvSpPr>
          <p:cNvPr id="206" name="shape-1246"/>
          <p:cNvSpPr/>
          <p:nvPr/>
        </p:nvSpPr>
        <p:spPr>
          <a:xfrm>
            <a:off x="9134856" y="3273552"/>
            <a:ext cx="59436" cy="82296"/>
          </a:xfrm>
          <a:prstGeom prst="rect">
            <a:avLst/>
          </a:prstGeom>
          <a:solidFill>
            <a:srgbClr val="B9BDC3"/>
          </a:solidFill>
          <a:ln w="7620">
            <a:solidFill>
              <a:srgbClr val="1F2326"/>
            </a:solidFill>
            <a:prstDash val="solid"/>
          </a:ln>
        </p:spPr>
      </p:sp>
      <p:sp>
        <p:nvSpPr>
          <p:cNvPr id="207" name="shape-1247"/>
          <p:cNvSpPr/>
          <p:nvPr/>
        </p:nvSpPr>
        <p:spPr>
          <a:xfrm>
            <a:off x="9194292" y="3273552"/>
            <a:ext cx="59436" cy="82296"/>
          </a:xfrm>
          <a:prstGeom prst="rect">
            <a:avLst/>
          </a:prstGeom>
          <a:solidFill>
            <a:srgbClr val="B9BDC3"/>
          </a:solidFill>
          <a:ln w="7620">
            <a:solidFill>
              <a:srgbClr val="1F2326"/>
            </a:solidFill>
            <a:prstDash val="solid"/>
          </a:ln>
        </p:spPr>
      </p:sp>
      <p:sp>
        <p:nvSpPr>
          <p:cNvPr id="208" name="shape-1248"/>
          <p:cNvSpPr/>
          <p:nvPr/>
        </p:nvSpPr>
        <p:spPr>
          <a:xfrm>
            <a:off x="9253728" y="3273552"/>
            <a:ext cx="59436" cy="82296"/>
          </a:xfrm>
          <a:prstGeom prst="rect">
            <a:avLst/>
          </a:prstGeom>
          <a:solidFill>
            <a:srgbClr val="B9BDC3"/>
          </a:solidFill>
          <a:ln w="7620">
            <a:solidFill>
              <a:srgbClr val="1F2326"/>
            </a:solidFill>
            <a:prstDash val="solid"/>
          </a:ln>
        </p:spPr>
      </p:sp>
      <p:sp>
        <p:nvSpPr>
          <p:cNvPr id="209" name="shape-1249"/>
          <p:cNvSpPr/>
          <p:nvPr/>
        </p:nvSpPr>
        <p:spPr>
          <a:xfrm>
            <a:off x="9313164" y="3273552"/>
            <a:ext cx="59436" cy="82296"/>
          </a:xfrm>
          <a:prstGeom prst="rect">
            <a:avLst/>
          </a:prstGeom>
          <a:solidFill>
            <a:srgbClr val="B9BDC3"/>
          </a:solidFill>
          <a:ln w="7620">
            <a:solidFill>
              <a:srgbClr val="1F2326"/>
            </a:solidFill>
            <a:prstDash val="solid"/>
          </a:ln>
        </p:spPr>
      </p:sp>
      <p:sp>
        <p:nvSpPr>
          <p:cNvPr id="210" name="shape-1250"/>
          <p:cNvSpPr/>
          <p:nvPr/>
        </p:nvSpPr>
        <p:spPr>
          <a:xfrm>
            <a:off x="9372600" y="3273552"/>
            <a:ext cx="59436" cy="82296"/>
          </a:xfrm>
          <a:prstGeom prst="rect">
            <a:avLst/>
          </a:prstGeom>
          <a:solidFill>
            <a:srgbClr val="B9BDC3"/>
          </a:solidFill>
          <a:ln w="7620">
            <a:solidFill>
              <a:srgbClr val="1F2326"/>
            </a:solidFill>
            <a:prstDash val="solid"/>
          </a:ln>
        </p:spPr>
      </p:sp>
      <p:sp>
        <p:nvSpPr>
          <p:cNvPr id="211" name="shape-1251"/>
          <p:cNvSpPr/>
          <p:nvPr/>
        </p:nvSpPr>
        <p:spPr>
          <a:xfrm>
            <a:off x="9432036" y="3273552"/>
            <a:ext cx="59436" cy="82296"/>
          </a:xfrm>
          <a:prstGeom prst="rect">
            <a:avLst/>
          </a:prstGeom>
          <a:solidFill>
            <a:srgbClr val="B9BDC3"/>
          </a:solidFill>
          <a:ln w="7620">
            <a:solidFill>
              <a:srgbClr val="1F2326"/>
            </a:solidFill>
            <a:prstDash val="solid"/>
          </a:ln>
        </p:spPr>
      </p:sp>
      <p:sp>
        <p:nvSpPr>
          <p:cNvPr id="212" name="shape-1252"/>
          <p:cNvSpPr/>
          <p:nvPr/>
        </p:nvSpPr>
        <p:spPr>
          <a:xfrm>
            <a:off x="11082528" y="3273552"/>
            <a:ext cx="59436" cy="82296"/>
          </a:xfrm>
          <a:prstGeom prst="rect">
            <a:avLst/>
          </a:prstGeom>
          <a:solidFill>
            <a:srgbClr val="B9BDC3"/>
          </a:solidFill>
          <a:ln w="7620">
            <a:solidFill>
              <a:srgbClr val="1F2326"/>
            </a:solidFill>
            <a:prstDash val="solid"/>
          </a:ln>
        </p:spPr>
      </p:sp>
      <p:sp>
        <p:nvSpPr>
          <p:cNvPr id="213" name="shape-1253"/>
          <p:cNvSpPr/>
          <p:nvPr/>
        </p:nvSpPr>
        <p:spPr>
          <a:xfrm>
            <a:off x="11141964" y="3273552"/>
            <a:ext cx="59436" cy="82296"/>
          </a:xfrm>
          <a:prstGeom prst="rect">
            <a:avLst/>
          </a:prstGeom>
          <a:solidFill>
            <a:srgbClr val="B9BDC3"/>
          </a:solidFill>
          <a:ln w="7620">
            <a:solidFill>
              <a:srgbClr val="1F2326"/>
            </a:solidFill>
            <a:prstDash val="solid"/>
          </a:ln>
        </p:spPr>
      </p:sp>
      <p:sp>
        <p:nvSpPr>
          <p:cNvPr id="214" name="shape-1254"/>
          <p:cNvSpPr/>
          <p:nvPr/>
        </p:nvSpPr>
        <p:spPr>
          <a:xfrm>
            <a:off x="11201400" y="3273552"/>
            <a:ext cx="59436" cy="82296"/>
          </a:xfrm>
          <a:prstGeom prst="rect">
            <a:avLst/>
          </a:prstGeom>
          <a:solidFill>
            <a:srgbClr val="B9BDC3"/>
          </a:solidFill>
          <a:ln w="7620">
            <a:solidFill>
              <a:srgbClr val="1F2326"/>
            </a:solidFill>
            <a:prstDash val="solid"/>
          </a:ln>
        </p:spPr>
      </p:sp>
      <p:sp>
        <p:nvSpPr>
          <p:cNvPr id="215" name="shape-1255"/>
          <p:cNvSpPr/>
          <p:nvPr/>
        </p:nvSpPr>
        <p:spPr>
          <a:xfrm>
            <a:off x="11260836" y="3273552"/>
            <a:ext cx="59436" cy="82296"/>
          </a:xfrm>
          <a:prstGeom prst="rect">
            <a:avLst/>
          </a:prstGeom>
          <a:solidFill>
            <a:srgbClr val="B9BDC3"/>
          </a:solidFill>
          <a:ln w="7620">
            <a:solidFill>
              <a:srgbClr val="1F2326"/>
            </a:solidFill>
            <a:prstDash val="solid"/>
          </a:ln>
        </p:spPr>
      </p:sp>
      <p:sp>
        <p:nvSpPr>
          <p:cNvPr id="216" name="shape-1256"/>
          <p:cNvSpPr/>
          <p:nvPr/>
        </p:nvSpPr>
        <p:spPr>
          <a:xfrm>
            <a:off x="11320272" y="3273552"/>
            <a:ext cx="59436" cy="82296"/>
          </a:xfrm>
          <a:prstGeom prst="rect">
            <a:avLst/>
          </a:prstGeom>
          <a:solidFill>
            <a:srgbClr val="B9BDC3"/>
          </a:solidFill>
          <a:ln w="7620">
            <a:solidFill>
              <a:srgbClr val="1F2326"/>
            </a:solidFill>
            <a:prstDash val="solid"/>
          </a:ln>
        </p:spPr>
      </p:sp>
      <p:sp>
        <p:nvSpPr>
          <p:cNvPr id="217" name="shape-1257"/>
          <p:cNvSpPr/>
          <p:nvPr/>
        </p:nvSpPr>
        <p:spPr>
          <a:xfrm>
            <a:off x="11379708" y="3273552"/>
            <a:ext cx="59436" cy="82296"/>
          </a:xfrm>
          <a:prstGeom prst="rect">
            <a:avLst/>
          </a:prstGeom>
          <a:solidFill>
            <a:srgbClr val="B9BDC3"/>
          </a:solidFill>
          <a:ln w="7620">
            <a:solidFill>
              <a:srgbClr val="1F2326"/>
            </a:solidFill>
            <a:prstDash val="solid"/>
          </a:ln>
        </p:spPr>
      </p:sp>
      <p:sp>
        <p:nvSpPr>
          <p:cNvPr id="218" name="shape-1258"/>
          <p:cNvSpPr/>
          <p:nvPr/>
        </p:nvSpPr>
        <p:spPr>
          <a:xfrm>
            <a:off x="9720072" y="1783080"/>
            <a:ext cx="82296" cy="252374"/>
          </a:xfrm>
          <a:prstGeom prst="rect">
            <a:avLst/>
          </a:prstGeom>
          <a:solidFill>
            <a:srgbClr val="B9BDC3"/>
          </a:solidFill>
          <a:ln w="7620">
            <a:solidFill>
              <a:srgbClr val="1F2326"/>
            </a:solidFill>
            <a:prstDash val="solid"/>
          </a:ln>
        </p:spPr>
      </p:sp>
      <p:sp>
        <p:nvSpPr>
          <p:cNvPr id="219" name="shape-1259"/>
          <p:cNvSpPr/>
          <p:nvPr/>
        </p:nvSpPr>
        <p:spPr>
          <a:xfrm>
            <a:off x="9720072" y="2035454"/>
            <a:ext cx="82296" cy="252374"/>
          </a:xfrm>
          <a:prstGeom prst="rect">
            <a:avLst/>
          </a:prstGeom>
          <a:solidFill>
            <a:srgbClr val="B9BDC3"/>
          </a:solidFill>
          <a:ln w="7620">
            <a:solidFill>
              <a:srgbClr val="1F2326"/>
            </a:solidFill>
            <a:prstDash val="solid"/>
          </a:ln>
        </p:spPr>
      </p:sp>
      <p:sp>
        <p:nvSpPr>
          <p:cNvPr id="220" name="shape-1260"/>
          <p:cNvSpPr/>
          <p:nvPr/>
        </p:nvSpPr>
        <p:spPr>
          <a:xfrm>
            <a:off x="9720072" y="2287829"/>
            <a:ext cx="82296" cy="252374"/>
          </a:xfrm>
          <a:prstGeom prst="rect">
            <a:avLst/>
          </a:prstGeom>
          <a:solidFill>
            <a:srgbClr val="B9BDC3"/>
          </a:solidFill>
          <a:ln w="7620">
            <a:solidFill>
              <a:srgbClr val="1F2326"/>
            </a:solidFill>
            <a:prstDash val="solid"/>
          </a:ln>
        </p:spPr>
      </p:sp>
      <p:sp>
        <p:nvSpPr>
          <p:cNvPr id="221" name="shape-1261"/>
          <p:cNvSpPr/>
          <p:nvPr/>
        </p:nvSpPr>
        <p:spPr>
          <a:xfrm>
            <a:off x="9720072" y="2540203"/>
            <a:ext cx="82296" cy="252374"/>
          </a:xfrm>
          <a:prstGeom prst="rect">
            <a:avLst/>
          </a:prstGeom>
          <a:solidFill>
            <a:srgbClr val="B9BDC3"/>
          </a:solidFill>
          <a:ln w="7620">
            <a:solidFill>
              <a:srgbClr val="1F2326"/>
            </a:solidFill>
            <a:prstDash val="solid"/>
          </a:ln>
        </p:spPr>
      </p:sp>
      <p:sp>
        <p:nvSpPr>
          <p:cNvPr id="222" name="shape-1262"/>
          <p:cNvSpPr/>
          <p:nvPr/>
        </p:nvSpPr>
        <p:spPr>
          <a:xfrm>
            <a:off x="9720072" y="2792578"/>
            <a:ext cx="82296" cy="252374"/>
          </a:xfrm>
          <a:prstGeom prst="rect">
            <a:avLst/>
          </a:prstGeom>
          <a:solidFill>
            <a:srgbClr val="B9BDC3"/>
          </a:solidFill>
          <a:ln w="7620">
            <a:solidFill>
              <a:srgbClr val="1F2326"/>
            </a:solidFill>
            <a:prstDash val="solid"/>
          </a:ln>
        </p:spPr>
      </p:sp>
      <p:sp>
        <p:nvSpPr>
          <p:cNvPr id="223" name="shape-1263"/>
          <p:cNvSpPr/>
          <p:nvPr/>
        </p:nvSpPr>
        <p:spPr>
          <a:xfrm>
            <a:off x="10771632" y="1783080"/>
            <a:ext cx="82296" cy="252374"/>
          </a:xfrm>
          <a:prstGeom prst="rect">
            <a:avLst/>
          </a:prstGeom>
          <a:solidFill>
            <a:srgbClr val="B9BDC3"/>
          </a:solidFill>
          <a:ln w="7620">
            <a:solidFill>
              <a:srgbClr val="1F2326"/>
            </a:solidFill>
            <a:prstDash val="solid"/>
          </a:ln>
        </p:spPr>
      </p:sp>
      <p:sp>
        <p:nvSpPr>
          <p:cNvPr id="224" name="shape-1264"/>
          <p:cNvSpPr/>
          <p:nvPr/>
        </p:nvSpPr>
        <p:spPr>
          <a:xfrm>
            <a:off x="10771632" y="2035454"/>
            <a:ext cx="82296" cy="252374"/>
          </a:xfrm>
          <a:prstGeom prst="rect">
            <a:avLst/>
          </a:prstGeom>
          <a:solidFill>
            <a:srgbClr val="B9BDC3"/>
          </a:solidFill>
          <a:ln w="7620">
            <a:solidFill>
              <a:srgbClr val="1F2326"/>
            </a:solidFill>
            <a:prstDash val="solid"/>
          </a:ln>
        </p:spPr>
      </p:sp>
      <p:sp>
        <p:nvSpPr>
          <p:cNvPr id="225" name="shape-1265"/>
          <p:cNvSpPr/>
          <p:nvPr/>
        </p:nvSpPr>
        <p:spPr>
          <a:xfrm>
            <a:off x="10771632" y="2287829"/>
            <a:ext cx="82296" cy="252374"/>
          </a:xfrm>
          <a:prstGeom prst="rect">
            <a:avLst/>
          </a:prstGeom>
          <a:solidFill>
            <a:srgbClr val="B9BDC3"/>
          </a:solidFill>
          <a:ln w="7620">
            <a:solidFill>
              <a:srgbClr val="1F2326"/>
            </a:solidFill>
            <a:prstDash val="solid"/>
          </a:ln>
        </p:spPr>
      </p:sp>
      <p:sp>
        <p:nvSpPr>
          <p:cNvPr id="226" name="shape-1266"/>
          <p:cNvSpPr/>
          <p:nvPr/>
        </p:nvSpPr>
        <p:spPr>
          <a:xfrm>
            <a:off x="10771632" y="2540203"/>
            <a:ext cx="82296" cy="252374"/>
          </a:xfrm>
          <a:prstGeom prst="rect">
            <a:avLst/>
          </a:prstGeom>
          <a:solidFill>
            <a:srgbClr val="B9BDC3"/>
          </a:solidFill>
          <a:ln w="7620">
            <a:solidFill>
              <a:srgbClr val="1F2326"/>
            </a:solidFill>
            <a:prstDash val="solid"/>
          </a:ln>
        </p:spPr>
      </p:sp>
      <p:sp>
        <p:nvSpPr>
          <p:cNvPr id="227" name="shape-1267"/>
          <p:cNvSpPr/>
          <p:nvPr/>
        </p:nvSpPr>
        <p:spPr>
          <a:xfrm>
            <a:off x="10771632" y="2792578"/>
            <a:ext cx="82296" cy="252374"/>
          </a:xfrm>
          <a:prstGeom prst="rect">
            <a:avLst/>
          </a:prstGeom>
          <a:solidFill>
            <a:srgbClr val="B9BDC3"/>
          </a:solidFill>
          <a:ln w="7620">
            <a:solidFill>
              <a:srgbClr val="1F2326"/>
            </a:solidFill>
            <a:prstDash val="solid"/>
          </a:ln>
        </p:spPr>
      </p:sp>
      <p:sp>
        <p:nvSpPr>
          <p:cNvPr id="228" name="shape-1268"/>
          <p:cNvSpPr/>
          <p:nvPr/>
        </p:nvSpPr>
        <p:spPr>
          <a:xfrm rot="5940000">
            <a:off x="9863631" y="3073895"/>
            <a:ext cx="140761" cy="82296"/>
          </a:xfrm>
          <a:prstGeom prst="rect">
            <a:avLst/>
          </a:prstGeom>
          <a:solidFill>
            <a:srgbClr val="B9BDC3"/>
          </a:solidFill>
          <a:ln w="6350">
            <a:solidFill>
              <a:srgbClr val="1F2326"/>
            </a:solidFill>
            <a:prstDash val="solid"/>
          </a:ln>
        </p:spPr>
      </p:sp>
      <p:sp>
        <p:nvSpPr>
          <p:cNvPr id="229" name="shape-1269"/>
          <p:cNvSpPr/>
          <p:nvPr/>
        </p:nvSpPr>
        <p:spPr>
          <a:xfrm rot="7020000">
            <a:off x="9820312" y="3207217"/>
            <a:ext cx="140761" cy="82296"/>
          </a:xfrm>
          <a:prstGeom prst="rect">
            <a:avLst/>
          </a:prstGeom>
          <a:solidFill>
            <a:srgbClr val="B9BDC3"/>
          </a:solidFill>
          <a:ln w="6350">
            <a:solidFill>
              <a:srgbClr val="1F2326"/>
            </a:solidFill>
            <a:prstDash val="solid"/>
          </a:ln>
        </p:spPr>
      </p:sp>
      <p:sp>
        <p:nvSpPr>
          <p:cNvPr id="230" name="shape-1270"/>
          <p:cNvSpPr/>
          <p:nvPr/>
        </p:nvSpPr>
        <p:spPr>
          <a:xfrm rot="8100000">
            <a:off x="9737915" y="3320627"/>
            <a:ext cx="140761" cy="82296"/>
          </a:xfrm>
          <a:prstGeom prst="rect">
            <a:avLst/>
          </a:prstGeom>
          <a:solidFill>
            <a:srgbClr val="B9BDC3"/>
          </a:solidFill>
          <a:ln w="6350">
            <a:solidFill>
              <a:srgbClr val="1F2326"/>
            </a:solidFill>
            <a:prstDash val="solid"/>
          </a:ln>
        </p:spPr>
      </p:sp>
      <p:sp>
        <p:nvSpPr>
          <p:cNvPr id="231" name="shape-1271"/>
          <p:cNvSpPr/>
          <p:nvPr/>
        </p:nvSpPr>
        <p:spPr>
          <a:xfrm rot="9180000">
            <a:off x="9624505" y="3403025"/>
            <a:ext cx="140761" cy="82296"/>
          </a:xfrm>
          <a:prstGeom prst="rect">
            <a:avLst/>
          </a:prstGeom>
          <a:solidFill>
            <a:srgbClr val="B9BDC3"/>
          </a:solidFill>
          <a:ln w="6350">
            <a:solidFill>
              <a:srgbClr val="1F2326"/>
            </a:solidFill>
            <a:prstDash val="solid"/>
          </a:ln>
        </p:spPr>
      </p:sp>
      <p:sp>
        <p:nvSpPr>
          <p:cNvPr id="232" name="shape-1272"/>
          <p:cNvSpPr/>
          <p:nvPr/>
        </p:nvSpPr>
        <p:spPr>
          <a:xfrm rot="10260000">
            <a:off x="9491183" y="3446344"/>
            <a:ext cx="140761" cy="82296"/>
          </a:xfrm>
          <a:prstGeom prst="rect">
            <a:avLst/>
          </a:prstGeom>
          <a:solidFill>
            <a:srgbClr val="B9BDC3"/>
          </a:solidFill>
          <a:ln w="6350">
            <a:solidFill>
              <a:srgbClr val="1F2326"/>
            </a:solidFill>
            <a:prstDash val="solid"/>
          </a:ln>
        </p:spPr>
      </p:sp>
      <p:sp>
        <p:nvSpPr>
          <p:cNvPr id="233" name="shape-1273"/>
          <p:cNvSpPr/>
          <p:nvPr/>
        </p:nvSpPr>
        <p:spPr>
          <a:xfrm rot="-5940000">
            <a:off x="10569608" y="3073895"/>
            <a:ext cx="140761" cy="82296"/>
          </a:xfrm>
          <a:prstGeom prst="rect">
            <a:avLst/>
          </a:prstGeom>
          <a:solidFill>
            <a:srgbClr val="B9BDC3"/>
          </a:solidFill>
          <a:ln w="6350">
            <a:solidFill>
              <a:srgbClr val="1F2326"/>
            </a:solidFill>
            <a:prstDash val="solid"/>
          </a:ln>
        </p:spPr>
      </p:sp>
      <p:sp>
        <p:nvSpPr>
          <p:cNvPr id="234" name="shape-1274"/>
          <p:cNvSpPr/>
          <p:nvPr/>
        </p:nvSpPr>
        <p:spPr>
          <a:xfrm rot="-7020000">
            <a:off x="10612927" y="3207217"/>
            <a:ext cx="140761" cy="82296"/>
          </a:xfrm>
          <a:prstGeom prst="rect">
            <a:avLst/>
          </a:prstGeom>
          <a:solidFill>
            <a:srgbClr val="B9BDC3"/>
          </a:solidFill>
          <a:ln w="6350">
            <a:solidFill>
              <a:srgbClr val="1F2326"/>
            </a:solidFill>
            <a:prstDash val="solid"/>
          </a:ln>
        </p:spPr>
      </p:sp>
      <p:sp>
        <p:nvSpPr>
          <p:cNvPr id="235" name="shape-1275"/>
          <p:cNvSpPr/>
          <p:nvPr/>
        </p:nvSpPr>
        <p:spPr>
          <a:xfrm rot="-8100000">
            <a:off x="10695324" y="3320627"/>
            <a:ext cx="140761" cy="82296"/>
          </a:xfrm>
          <a:prstGeom prst="rect">
            <a:avLst/>
          </a:prstGeom>
          <a:solidFill>
            <a:srgbClr val="B9BDC3"/>
          </a:solidFill>
          <a:ln w="6350">
            <a:solidFill>
              <a:srgbClr val="1F2326"/>
            </a:solidFill>
            <a:prstDash val="solid"/>
          </a:ln>
        </p:spPr>
      </p:sp>
      <p:sp>
        <p:nvSpPr>
          <p:cNvPr id="236" name="shape-1276"/>
          <p:cNvSpPr/>
          <p:nvPr/>
        </p:nvSpPr>
        <p:spPr>
          <a:xfrm rot="-9180000">
            <a:off x="10808734" y="3403025"/>
            <a:ext cx="140761" cy="82296"/>
          </a:xfrm>
          <a:prstGeom prst="rect">
            <a:avLst/>
          </a:prstGeom>
          <a:solidFill>
            <a:srgbClr val="B9BDC3"/>
          </a:solidFill>
          <a:ln w="6350">
            <a:solidFill>
              <a:srgbClr val="1F2326"/>
            </a:solidFill>
            <a:prstDash val="solid"/>
          </a:ln>
        </p:spPr>
      </p:sp>
      <p:sp>
        <p:nvSpPr>
          <p:cNvPr id="237" name="shape-1277"/>
          <p:cNvSpPr/>
          <p:nvPr/>
        </p:nvSpPr>
        <p:spPr>
          <a:xfrm rot="-10260000">
            <a:off x="10942056" y="3446344"/>
            <a:ext cx="140761" cy="82296"/>
          </a:xfrm>
          <a:prstGeom prst="rect">
            <a:avLst/>
          </a:prstGeom>
          <a:solidFill>
            <a:srgbClr val="B9BDC3"/>
          </a:solidFill>
          <a:ln w="6350">
            <a:solidFill>
              <a:srgbClr val="1F2326"/>
            </a:solidFill>
            <a:prstDash val="solid"/>
          </a:ln>
        </p:spPr>
      </p:sp>
      <p:sp>
        <p:nvSpPr>
          <p:cNvPr id="238" name="shape-1278"/>
          <p:cNvSpPr/>
          <p:nvPr/>
        </p:nvSpPr>
        <p:spPr>
          <a:xfrm>
            <a:off x="502920" y="4572000"/>
            <a:ext cx="329184" cy="329184"/>
          </a:xfrm>
          <a:prstGeom prst="ellipse">
            <a:avLst/>
          </a:prstGeom>
          <a:solidFill>
            <a:schemeClr val="accent1"/>
          </a:solidFill>
          <a:ln/>
        </p:spPr>
      </p:sp>
      <p:sp>
        <p:nvSpPr>
          <p:cNvPr id="239" name="text-1279"/>
          <p:cNvSpPr txBox="1"/>
          <p:nvPr/>
        </p:nvSpPr>
        <p:spPr>
          <a:xfrm>
            <a:off x="502920" y="45720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240" name="text-1280"/>
          <p:cNvSpPr txBox="1"/>
          <p:nvPr/>
        </p:nvSpPr>
        <p:spPr>
          <a:xfrm>
            <a:off x="978408" y="4553712"/>
            <a:ext cx="5376672" cy="51206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RDJ → select main CL</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Open the Road Junction dialog.</a:t>
            </a:r>
            <a:endParaRPr lang="en-US" sz="1200" dirty="0"/>
          </a:p>
        </p:txBody>
      </p:sp>
      <p:sp>
        <p:nvSpPr>
          <p:cNvPr id="241" name="shape-1281"/>
          <p:cNvSpPr/>
          <p:nvPr/>
        </p:nvSpPr>
        <p:spPr>
          <a:xfrm>
            <a:off x="502920" y="5120640"/>
            <a:ext cx="329184" cy="329184"/>
          </a:xfrm>
          <a:prstGeom prst="ellipse">
            <a:avLst/>
          </a:prstGeom>
          <a:solidFill>
            <a:schemeClr val="accent1"/>
          </a:solidFill>
          <a:ln/>
        </p:spPr>
      </p:sp>
      <p:sp>
        <p:nvSpPr>
          <p:cNvPr id="242" name="text-1282"/>
          <p:cNvSpPr txBox="1"/>
          <p:nvPr/>
        </p:nvSpPr>
        <p:spPr>
          <a:xfrm>
            <a:off x="502920" y="51206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243" name="text-1283"/>
          <p:cNvSpPr txBox="1"/>
          <p:nvPr/>
        </p:nvSpPr>
        <p:spPr>
          <a:xfrm>
            <a:off x="978408" y="5102352"/>
            <a:ext cx="5376672" cy="51206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Tick Edge treatment around the corners</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Untick to leave the corners open.</a:t>
            </a:r>
            <a:endParaRPr lang="en-US" sz="1200" dirty="0"/>
          </a:p>
        </p:txBody>
      </p:sp>
      <p:sp>
        <p:nvSpPr>
          <p:cNvPr id="244" name="shape-1284"/>
          <p:cNvSpPr/>
          <p:nvPr/>
        </p:nvSpPr>
        <p:spPr>
          <a:xfrm>
            <a:off x="502920" y="5669280"/>
            <a:ext cx="329184" cy="329184"/>
          </a:xfrm>
          <a:prstGeom prst="ellipse">
            <a:avLst/>
          </a:prstGeom>
          <a:solidFill>
            <a:schemeClr val="accent1"/>
          </a:solidFill>
          <a:ln/>
        </p:spPr>
      </p:sp>
      <p:sp>
        <p:nvSpPr>
          <p:cNvPr id="245" name="text-1285"/>
          <p:cNvSpPr txBox="1"/>
          <p:nvPr/>
        </p:nvSpPr>
        <p:spPr>
          <a:xfrm>
            <a:off x="502920" y="56692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46" name="text-1286"/>
          <p:cNvSpPr txBox="1"/>
          <p:nvPr/>
        </p:nvSpPr>
        <p:spPr>
          <a:xfrm>
            <a:off x="978408" y="5650992"/>
            <a:ext cx="5376672" cy="51206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Choose Corner treatment and press OK</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Same as main road uses the main road Edge; size = RDP Unit length / cone spacing and width.</a:t>
            </a:r>
            <a:endParaRPr lang="en-US" sz="1200" dirty="0"/>
          </a:p>
        </p:txBody>
      </p:sp>
      <p:sp>
        <p:nvSpPr>
          <p:cNvPr id="247" name="shape-1287"/>
          <p:cNvSpPr/>
          <p:nvPr/>
        </p:nvSpPr>
        <p:spPr>
          <a:xfrm>
            <a:off x="6583680" y="4572000"/>
            <a:ext cx="5074920" cy="1627632"/>
          </a:xfrm>
          <a:prstGeom prst="roundRect">
            <a:avLst>
              <a:gd name="adj" fmla="val 3371"/>
            </a:avLst>
          </a:prstGeom>
          <a:solidFill>
            <a:srgbClr val="1F2326"/>
          </a:solidFill>
          <a:ln/>
        </p:spPr>
      </p:sp>
      <p:sp>
        <p:nvSpPr>
          <p:cNvPr id="248" name="text-1288"/>
          <p:cNvSpPr txBox="1"/>
          <p:nvPr/>
        </p:nvSpPr>
        <p:spPr>
          <a:xfrm>
            <a:off x="6748272" y="4700016"/>
            <a:ext cx="4745736" cy="1371600"/>
          </a:xfrm>
          <a:prstGeom prst="rect">
            <a:avLst/>
          </a:prstGeom>
          <a:noFill/>
          <a:ln/>
        </p:spPr>
        <p:txBody>
          <a:bodyPr wrap="square" lIns="0" tIns="0" rIns="0" bIns="0" rtlCol="0" anchor="t"/>
          <a:lstStyle/>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ROAD PRO - JUNCTION J1 =======</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Branch      : ROAD-02  width 7.30 m</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Corner R    : 10.00 m</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Corners     : 14 traffic cones</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around the corners</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Control     : STOP sign</a:t>
            </a:r>
            <a:endParaRPr lang="en-US" sz="9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E  ·  RDJ</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Auxiliary lane and splitter island</a:t>
            </a:r>
            <a:endParaRPr lang="en-US" sz="2600" dirty="0"/>
          </a:p>
        </p:txBody>
      </p:sp>
      <p:sp>
        <p:nvSpPr>
          <p:cNvPr id="4" name="shape-1289"/>
          <p:cNvSpPr/>
          <p:nvPr/>
        </p:nvSpPr>
        <p:spPr>
          <a:xfrm>
            <a:off x="502920" y="1325880"/>
            <a:ext cx="6400800" cy="2743200"/>
          </a:xfrm>
          <a:prstGeom prst="roundRect">
            <a:avLst>
              <a:gd name="adj" fmla="val 2667"/>
            </a:avLst>
          </a:prstGeom>
          <a:solidFill>
            <a:srgbClr val="F4F5F7"/>
          </a:solidFill>
          <a:ln w="9525">
            <a:solidFill>
              <a:srgbClr val="E3E5E8"/>
            </a:solidFill>
            <a:prstDash val="solid"/>
          </a:ln>
        </p:spPr>
      </p:sp>
      <p:sp>
        <p:nvSpPr>
          <p:cNvPr id="5" name="text-1290"/>
          <p:cNvSpPr txBox="1"/>
          <p:nvPr/>
        </p:nvSpPr>
        <p:spPr>
          <a:xfrm>
            <a:off x="685800" y="1417320"/>
            <a:ext cx="4572000" cy="274320"/>
          </a:xfrm>
          <a:prstGeom prst="rect">
            <a:avLst/>
          </a:prstGeom>
          <a:noFill/>
          <a:ln/>
        </p:spPr>
        <p:txBody>
          <a:bodyPr wrap="square" lIns="0" tIns="0" rIns="0" bIns="0" rtlCol="0" anchor="t"/>
          <a:lstStyle/>
          <a:p>
            <a:pPr indent="0" marL="0">
              <a:buNone/>
            </a:pPr>
            <a:r>
              <a:rPr lang="en-US" sz="1250" b="1" dirty="0">
                <a:solidFill>
                  <a:schemeClr val="tx1"/>
                </a:solidFill>
                <a:latin typeface="Calibri" pitchFamily="34" charset="0"/>
                <a:ea typeface="Calibri" pitchFamily="34" charset="-122"/>
                <a:cs typeface="Calibri" pitchFamily="34" charset="-120"/>
              </a:rPr>
              <a:t>Auxiliary lane on the main road</a:t>
            </a:r>
            <a:endParaRPr lang="en-US" sz="1250" dirty="0"/>
          </a:p>
        </p:txBody>
      </p:sp>
      <p:sp>
        <p:nvSpPr>
          <p:cNvPr id="6" name="shape-1291"/>
          <p:cNvSpPr/>
          <p:nvPr/>
        </p:nvSpPr>
        <p:spPr>
          <a:xfrm>
            <a:off x="685800" y="2377440"/>
            <a:ext cx="6035040" cy="777240"/>
          </a:xfrm>
          <a:prstGeom prst="rect">
            <a:avLst/>
          </a:prstGeom>
          <a:solidFill>
            <a:schemeClr val="accent5"/>
          </a:solidFill>
          <a:ln/>
        </p:spPr>
      </p:sp>
      <p:sp>
        <p:nvSpPr>
          <p:cNvPr id="7" name="shape-1292"/>
          <p:cNvSpPr/>
          <p:nvPr/>
        </p:nvSpPr>
        <p:spPr>
          <a:xfrm>
            <a:off x="685800" y="2423160"/>
            <a:ext cx="6035040" cy="0"/>
          </a:xfrm>
          <a:prstGeom prst="line">
            <a:avLst/>
          </a:prstGeom>
          <a:noFill/>
          <a:ln w="15875">
            <a:solidFill>
              <a:schemeClr val="accent2"/>
            </a:solidFill>
            <a:prstDash val="solid"/>
          </a:ln>
        </p:spPr>
      </p:sp>
      <p:sp>
        <p:nvSpPr>
          <p:cNvPr id="8" name="shape-1293"/>
          <p:cNvSpPr/>
          <p:nvPr/>
        </p:nvSpPr>
        <p:spPr>
          <a:xfrm>
            <a:off x="685800" y="3108960"/>
            <a:ext cx="6035040" cy="0"/>
          </a:xfrm>
          <a:prstGeom prst="line">
            <a:avLst/>
          </a:prstGeom>
          <a:noFill/>
          <a:ln w="15875">
            <a:solidFill>
              <a:schemeClr val="accent2"/>
            </a:solidFill>
            <a:prstDash val="solid"/>
          </a:ln>
        </p:spPr>
      </p:sp>
      <p:sp>
        <p:nvSpPr>
          <p:cNvPr id="9" name="shape-1294"/>
          <p:cNvSpPr/>
          <p:nvPr/>
        </p:nvSpPr>
        <p:spPr>
          <a:xfrm>
            <a:off x="685800" y="2766060"/>
            <a:ext cx="6035040" cy="0"/>
          </a:xfrm>
          <a:prstGeom prst="line">
            <a:avLst/>
          </a:prstGeom>
          <a:noFill/>
          <a:ln w="19050">
            <a:solidFill>
              <a:srgbClr val="FFFFFF"/>
            </a:solidFill>
            <a:prstDash val="dash"/>
          </a:ln>
        </p:spPr>
      </p:sp>
      <p:sp>
        <p:nvSpPr>
          <p:cNvPr id="10" name="shape-1295"/>
          <p:cNvSpPr/>
          <p:nvPr/>
        </p:nvSpPr>
        <p:spPr>
          <a:xfrm>
            <a:off x="3291840" y="1828800"/>
            <a:ext cx="731520" cy="548640"/>
          </a:xfrm>
          <a:prstGeom prst="rect">
            <a:avLst/>
          </a:prstGeom>
          <a:solidFill>
            <a:schemeClr val="accent5"/>
          </a:solidFill>
          <a:ln/>
        </p:spPr>
      </p:sp>
      <p:sp>
        <p:nvSpPr>
          <p:cNvPr id="11" name="shape-1296"/>
          <p:cNvSpPr/>
          <p:nvPr/>
        </p:nvSpPr>
        <p:spPr>
          <a:xfrm>
            <a:off x="1234440" y="2057400"/>
            <a:ext cx="4069080" cy="320040"/>
          </a:xfrm>
          <a:prstGeom prst="trapezoid">
            <a:avLst/>
          </a:prstGeom>
          <a:solidFill>
            <a:srgbClr val="A3A8AE"/>
          </a:solidFill>
          <a:ln/>
        </p:spPr>
      </p:sp>
      <p:sp>
        <p:nvSpPr>
          <p:cNvPr id="12" name="shape-1297"/>
          <p:cNvSpPr/>
          <p:nvPr/>
        </p:nvSpPr>
        <p:spPr>
          <a:xfrm flipH="1">
            <a:off x="1234440" y="2057400"/>
            <a:ext cx="1188720" cy="320040"/>
          </a:xfrm>
          <a:prstGeom prst="line">
            <a:avLst/>
          </a:prstGeom>
          <a:noFill/>
          <a:ln w="19050">
            <a:solidFill>
              <a:schemeClr val="accent1"/>
            </a:solidFill>
            <a:prstDash val="solid"/>
          </a:ln>
        </p:spPr>
      </p:sp>
      <p:sp>
        <p:nvSpPr>
          <p:cNvPr id="13" name="shape-1298"/>
          <p:cNvSpPr/>
          <p:nvPr/>
        </p:nvSpPr>
        <p:spPr>
          <a:xfrm>
            <a:off x="2423160" y="2057400"/>
            <a:ext cx="2057400" cy="0"/>
          </a:xfrm>
          <a:prstGeom prst="line">
            <a:avLst/>
          </a:prstGeom>
          <a:noFill/>
          <a:ln w="19050">
            <a:solidFill>
              <a:schemeClr val="accent1"/>
            </a:solidFill>
            <a:prstDash val="solid"/>
          </a:ln>
        </p:spPr>
      </p:sp>
      <p:sp>
        <p:nvSpPr>
          <p:cNvPr id="14" name="shape-1299"/>
          <p:cNvSpPr/>
          <p:nvPr/>
        </p:nvSpPr>
        <p:spPr>
          <a:xfrm>
            <a:off x="4480560" y="2057400"/>
            <a:ext cx="822960" cy="320040"/>
          </a:xfrm>
          <a:prstGeom prst="line">
            <a:avLst/>
          </a:prstGeom>
          <a:noFill/>
          <a:ln w="19050">
            <a:solidFill>
              <a:schemeClr val="accent1"/>
            </a:solidFill>
            <a:prstDash val="solid"/>
          </a:ln>
        </p:spPr>
      </p:sp>
      <p:sp>
        <p:nvSpPr>
          <p:cNvPr id="15" name="shape-1300"/>
          <p:cNvSpPr/>
          <p:nvPr/>
        </p:nvSpPr>
        <p:spPr>
          <a:xfrm>
            <a:off x="2423160" y="2395728"/>
            <a:ext cx="2148840" cy="0"/>
          </a:xfrm>
          <a:prstGeom prst="line">
            <a:avLst/>
          </a:prstGeom>
          <a:noFill/>
          <a:ln w="15875">
            <a:solidFill>
              <a:srgbClr val="FFFFFF"/>
            </a:solidFill>
            <a:prstDash val="sysDot"/>
          </a:ln>
        </p:spPr>
      </p:sp>
      <p:sp>
        <p:nvSpPr>
          <p:cNvPr id="16" name="text-1301"/>
          <p:cNvSpPr txBox="1"/>
          <p:nvPr/>
        </p:nvSpPr>
        <p:spPr>
          <a:xfrm>
            <a:off x="1097280" y="3291840"/>
            <a:ext cx="1463040" cy="201168"/>
          </a:xfrm>
          <a:prstGeom prst="rect">
            <a:avLst/>
          </a:prstGeom>
          <a:noFill/>
          <a:ln/>
        </p:spPr>
        <p:txBody>
          <a:bodyPr wrap="square" lIns="0" tIns="0" rIns="0" bIns="0" rtlCol="0" anchor="t"/>
          <a:lstStyle/>
          <a:p>
            <a:pPr algn="ctr" indent="0" marL="0">
              <a:buNone/>
            </a:pPr>
            <a:r>
              <a:rPr lang="en-US" sz="900" b="1" dirty="0">
                <a:solidFill>
                  <a:schemeClr val="tx1"/>
                </a:solidFill>
                <a:latin typeface="Calibri" pitchFamily="34" charset="0"/>
                <a:ea typeface="Calibri" pitchFamily="34" charset="-122"/>
                <a:cs typeface="Calibri" pitchFamily="34" charset="-120"/>
              </a:rPr>
              <a:t>long taper 60</a:t>
            </a:r>
            <a:endParaRPr lang="en-US" sz="900" dirty="0"/>
          </a:p>
        </p:txBody>
      </p:sp>
      <p:sp>
        <p:nvSpPr>
          <p:cNvPr id="17" name="text-1302"/>
          <p:cNvSpPr txBox="1"/>
          <p:nvPr/>
        </p:nvSpPr>
        <p:spPr>
          <a:xfrm>
            <a:off x="2377440" y="3291840"/>
            <a:ext cx="1097280" cy="201168"/>
          </a:xfrm>
          <a:prstGeom prst="rect">
            <a:avLst/>
          </a:prstGeom>
          <a:noFill/>
          <a:ln/>
        </p:spPr>
        <p:txBody>
          <a:bodyPr wrap="square" lIns="0" tIns="0" rIns="0" bIns="0" rtlCol="0" anchor="t"/>
          <a:lstStyle/>
          <a:p>
            <a:pPr algn="ctr" indent="0" marL="0">
              <a:buNone/>
            </a:pPr>
            <a:r>
              <a:rPr lang="en-US" sz="900" b="1" dirty="0">
                <a:solidFill>
                  <a:schemeClr val="tx1"/>
                </a:solidFill>
                <a:latin typeface="Calibri" pitchFamily="34" charset="0"/>
                <a:ea typeface="Calibri" pitchFamily="34" charset="-122"/>
                <a:cs typeface="Calibri" pitchFamily="34" charset="-120"/>
              </a:rPr>
              <a:t>storage 30</a:t>
            </a:r>
            <a:endParaRPr lang="en-US" sz="900" dirty="0"/>
          </a:p>
        </p:txBody>
      </p:sp>
      <p:sp>
        <p:nvSpPr>
          <p:cNvPr id="18" name="text-1303"/>
          <p:cNvSpPr txBox="1"/>
          <p:nvPr/>
        </p:nvSpPr>
        <p:spPr>
          <a:xfrm>
            <a:off x="4297680" y="3291840"/>
            <a:ext cx="1280160" cy="201168"/>
          </a:xfrm>
          <a:prstGeom prst="rect">
            <a:avLst/>
          </a:prstGeom>
          <a:noFill/>
          <a:ln/>
        </p:spPr>
        <p:txBody>
          <a:bodyPr wrap="square" lIns="0" tIns="0" rIns="0" bIns="0" rtlCol="0" anchor="t"/>
          <a:lstStyle/>
          <a:p>
            <a:pPr algn="ctr" indent="0" marL="0">
              <a:buNone/>
            </a:pPr>
            <a:r>
              <a:rPr lang="en-US" sz="900" b="1" dirty="0">
                <a:solidFill>
                  <a:schemeClr val="tx1"/>
                </a:solidFill>
                <a:latin typeface="Calibri" pitchFamily="34" charset="0"/>
                <a:ea typeface="Calibri" pitchFamily="34" charset="-122"/>
                <a:cs typeface="Calibri" pitchFamily="34" charset="-120"/>
              </a:rPr>
              <a:t>short taper 30</a:t>
            </a:r>
            <a:endParaRPr lang="en-US" sz="900" dirty="0"/>
          </a:p>
        </p:txBody>
      </p:sp>
      <p:sp>
        <p:nvSpPr>
          <p:cNvPr id="19" name="text-1304"/>
          <p:cNvSpPr txBox="1"/>
          <p:nvPr/>
        </p:nvSpPr>
        <p:spPr>
          <a:xfrm>
            <a:off x="685800" y="3611880"/>
            <a:ext cx="3657600" cy="228600"/>
          </a:xfrm>
          <a:prstGeom prst="rect">
            <a:avLst/>
          </a:prstGeom>
          <a:noFill/>
          <a:ln/>
        </p:spPr>
        <p:txBody>
          <a:bodyPr wrap="square" lIns="0" tIns="0" rIns="0" bIns="0" rtlCol="0" anchor="t"/>
          <a:lstStyle/>
          <a:p>
            <a:pPr indent="0" marL="0">
              <a:buNone/>
            </a:pPr>
            <a:r>
              <a:rPr lang="en-US" sz="950" i="1" dirty="0">
                <a:solidFill>
                  <a:srgbClr val="5B6169"/>
                </a:solidFill>
                <a:latin typeface="Calibri" pitchFamily="34" charset="0"/>
                <a:ea typeface="Calibri" pitchFamily="34" charset="-122"/>
                <a:cs typeface="Calibri" pitchFamily="34" charset="-120"/>
              </a:rPr>
              <a:t>L5 1 m / 1 m beside the lane</a:t>
            </a:r>
            <a:endParaRPr lang="en-US" sz="950" dirty="0"/>
          </a:p>
        </p:txBody>
      </p:sp>
      <p:sp>
        <p:nvSpPr>
          <p:cNvPr id="20" name="shape-1305"/>
          <p:cNvSpPr/>
          <p:nvPr/>
        </p:nvSpPr>
        <p:spPr>
          <a:xfrm>
            <a:off x="7086600" y="1325880"/>
            <a:ext cx="4572000" cy="2743200"/>
          </a:xfrm>
          <a:prstGeom prst="roundRect">
            <a:avLst>
              <a:gd name="adj" fmla="val 2667"/>
            </a:avLst>
          </a:prstGeom>
          <a:solidFill>
            <a:srgbClr val="F4F5F7"/>
          </a:solidFill>
          <a:ln w="9525">
            <a:solidFill>
              <a:srgbClr val="E3E5E8"/>
            </a:solidFill>
            <a:prstDash val="solid"/>
          </a:ln>
        </p:spPr>
      </p:sp>
      <p:sp>
        <p:nvSpPr>
          <p:cNvPr id="21" name="text-1306"/>
          <p:cNvSpPr txBox="1"/>
          <p:nvPr/>
        </p:nvSpPr>
        <p:spPr>
          <a:xfrm>
            <a:off x="7269480" y="1417320"/>
            <a:ext cx="4114800" cy="274320"/>
          </a:xfrm>
          <a:prstGeom prst="rect">
            <a:avLst/>
          </a:prstGeom>
          <a:noFill/>
          <a:ln/>
        </p:spPr>
        <p:txBody>
          <a:bodyPr wrap="square" lIns="0" tIns="0" rIns="0" bIns="0" rtlCol="0" anchor="t"/>
          <a:lstStyle/>
          <a:p>
            <a:pPr indent="0" marL="0">
              <a:buNone/>
            </a:pPr>
            <a:r>
              <a:rPr lang="en-US" sz="1250" b="1" dirty="0">
                <a:solidFill>
                  <a:schemeClr val="tx1"/>
                </a:solidFill>
                <a:latin typeface="Calibri" pitchFamily="34" charset="0"/>
                <a:ea typeface="Calibri" pitchFamily="34" charset="-122"/>
                <a:cs typeface="Calibri" pitchFamily="34" charset="-120"/>
              </a:rPr>
              <a:t>Splitter island on the branch</a:t>
            </a:r>
            <a:endParaRPr lang="en-US" sz="1250" dirty="0"/>
          </a:p>
        </p:txBody>
      </p:sp>
      <p:sp>
        <p:nvSpPr>
          <p:cNvPr id="22" name="shape-1307"/>
          <p:cNvSpPr/>
          <p:nvPr/>
        </p:nvSpPr>
        <p:spPr>
          <a:xfrm>
            <a:off x="8778240" y="1783080"/>
            <a:ext cx="1188720" cy="2103120"/>
          </a:xfrm>
          <a:prstGeom prst="rect">
            <a:avLst/>
          </a:prstGeom>
          <a:solidFill>
            <a:schemeClr val="accent5"/>
          </a:solidFill>
          <a:ln/>
        </p:spPr>
      </p:sp>
      <p:sp>
        <p:nvSpPr>
          <p:cNvPr id="23" name="shape-1308"/>
          <p:cNvSpPr/>
          <p:nvPr/>
        </p:nvSpPr>
        <p:spPr>
          <a:xfrm>
            <a:off x="9253728" y="2103120"/>
            <a:ext cx="237744" cy="1280160"/>
          </a:xfrm>
          <a:prstGeom prst="roundRect">
            <a:avLst>
              <a:gd name="adj" fmla="val 50000"/>
            </a:avLst>
          </a:prstGeom>
          <a:solidFill>
            <a:srgbClr val="B9BDC3"/>
          </a:solidFill>
          <a:ln w="9525">
            <a:solidFill>
              <a:srgbClr val="1F2326"/>
            </a:solidFill>
            <a:prstDash val="solid"/>
          </a:ln>
        </p:spPr>
      </p:sp>
      <p:sp>
        <p:nvSpPr>
          <p:cNvPr id="24" name="text-1309"/>
          <p:cNvSpPr txBox="1"/>
          <p:nvPr/>
        </p:nvSpPr>
        <p:spPr>
          <a:xfrm>
            <a:off x="10058400" y="2560320"/>
            <a:ext cx="1097280" cy="228600"/>
          </a:xfrm>
          <a:prstGeom prst="rect">
            <a:avLst/>
          </a:prstGeom>
          <a:noFill/>
          <a:ln/>
        </p:spPr>
        <p:txBody>
          <a:bodyPr wrap="square" lIns="0" tIns="0" rIns="0" bIns="0" rtlCol="0" anchor="t"/>
          <a:lstStyle/>
          <a:p>
            <a:pPr indent="0" marL="0">
              <a:buNone/>
            </a:pPr>
            <a:r>
              <a:rPr lang="en-US" sz="1000" b="1" dirty="0">
                <a:solidFill>
                  <a:schemeClr val="tx1"/>
                </a:solidFill>
                <a:latin typeface="Calibri" pitchFamily="34" charset="0"/>
                <a:ea typeface="Calibri" pitchFamily="34" charset="-122"/>
                <a:cs typeface="Calibri" pitchFamily="34" charset="-120"/>
              </a:rPr>
              <a:t>1.5 x 15 m</a:t>
            </a:r>
            <a:endParaRPr lang="en-US" sz="1000" dirty="0"/>
          </a:p>
        </p:txBody>
      </p:sp>
      <p:sp>
        <p:nvSpPr>
          <p:cNvPr id="25" name="text-1310"/>
          <p:cNvSpPr txBox="1"/>
          <p:nvPr/>
        </p:nvSpPr>
        <p:spPr>
          <a:xfrm>
            <a:off x="10058400" y="2834640"/>
            <a:ext cx="1463040" cy="228600"/>
          </a:xfrm>
          <a:prstGeom prst="rect">
            <a:avLst/>
          </a:prstGeom>
          <a:noFill/>
          <a:ln/>
        </p:spPr>
        <p:txBody>
          <a:bodyPr wrap="square" lIns="0" tIns="0" rIns="0" bIns="0" rtlCol="0" anchor="t"/>
          <a:lstStyle/>
          <a:p>
            <a:pPr indent="0" marL="0">
              <a:buNone/>
            </a:pPr>
            <a:r>
              <a:rPr lang="en-US" sz="1000" dirty="0">
                <a:solidFill>
                  <a:srgbClr val="5B6169"/>
                </a:solidFill>
                <a:latin typeface="Calibri" pitchFamily="34" charset="0"/>
                <a:ea typeface="Calibri" pitchFamily="34" charset="-122"/>
                <a:cs typeface="Calibri" pitchFamily="34" charset="-120"/>
              </a:rPr>
              <a:t>Kerbed or painted</a:t>
            </a:r>
            <a:endParaRPr lang="en-US" sz="1000" dirty="0"/>
          </a:p>
        </p:txBody>
      </p:sp>
      <p:graphicFrame>
        <p:nvGraphicFramePr>
          <p:cNvPr id="30" name="table-1311"/>
          <p:cNvGraphicFramePr>
            <a:graphicFrameLocks noGrp="1"/>
          </p:cNvGraphicFramePr>
          <p:nvPr>
            <p:extLst>
              <p:ext uri="{D42A27DB-BD31-4B8C-83A1-F6EECF244321}">
                <p14:modId xmlns:p14="http://schemas.microsoft.com/office/powerpoint/2010/main" val="1579011935"/>
              </p:ext>
            </p:extLst>
          </p:nvPr>
        </p:nvGraphicFramePr>
        <p:xfrm>
          <a:off x="502920" y="4251960"/>
          <a:ext cx="11155680" cy="914400"/>
        </p:xfrm>
        <a:graphic>
          <a:graphicData uri="http://schemas.openxmlformats.org/drawingml/2006/table">
            <a:tbl>
              <a:tblPr/>
              <a:tblGrid>
                <a:gridCol w="3108960"/>
                <a:gridCol w="1280160"/>
                <a:gridCol w="2011680"/>
                <a:gridCol w="475488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Setting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Default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Range used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Notes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1089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Lane width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3.65</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3.0 – 3.65</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Width of the auxiliary lane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Approach taper, long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by speed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Entry into the lane, before the junction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1089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Departure taper, short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by speed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Exit back to the main road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1089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Storage length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by traffic</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Full-width part at the junction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1089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Island width / length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1.5 / 15</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Lanes beside the island under 2.75 m give a warning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F  ·  RDL  ·  NEW IN 3.3</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Single line of barricades, cones or kerb stone</a:t>
            </a:r>
            <a:endParaRPr lang="en-US" sz="2600" dirty="0"/>
          </a:p>
        </p:txBody>
      </p:sp>
      <p:sp>
        <p:nvSpPr>
          <p:cNvPr id="4" name="text-1312"/>
          <p:cNvSpPr txBox="1"/>
          <p:nvPr/>
        </p:nvSpPr>
        <p:spPr>
          <a:xfrm>
            <a:off x="502920" y="1298448"/>
            <a:ext cx="6400800" cy="274320"/>
          </a:xfrm>
          <a:prstGeom prst="rect">
            <a:avLst/>
          </a:prstGeom>
          <a:noFill/>
          <a:ln/>
        </p:spPr>
        <p:txBody>
          <a:bodyPr wrap="square" lIns="0" tIns="0" rIns="0" bIns="0" rtlCol="0" anchor="t"/>
          <a:lstStyle/>
          <a:p>
            <a:pPr indent="0" marL="0">
              <a:buNone/>
            </a:pPr>
            <a:r>
              <a:rPr lang="en-US" sz="1250" b="1" dirty="0">
                <a:solidFill>
                  <a:schemeClr val="tx1"/>
                </a:solidFill>
                <a:latin typeface="Calibri" pitchFamily="34" charset="0"/>
                <a:ea typeface="Calibri" pitchFamily="34" charset="-122"/>
                <a:cs typeface="Calibri" pitchFamily="34" charset="-120"/>
              </a:rPr>
              <a:t>Use RDL when you need one run anywhere, without building a road:</a:t>
            </a:r>
            <a:endParaRPr lang="en-US" sz="1250" dirty="0"/>
          </a:p>
        </p:txBody>
      </p:sp>
      <p:sp>
        <p:nvSpPr>
          <p:cNvPr id="5" name="text-1313"/>
          <p:cNvSpPr txBox="1"/>
          <p:nvPr/>
        </p:nvSpPr>
        <p:spPr>
          <a:xfrm>
            <a:off x="502920" y="1645920"/>
            <a:ext cx="5669280" cy="1554480"/>
          </a:xfrm>
          <a:prstGeom prst="rect">
            <a:avLst/>
          </a:prstGeom>
          <a:noFill/>
          <a:ln/>
        </p:spPr>
        <p:txBody>
          <a:bodyPr wrap="square" lIns="0" tIns="0" rIns="0" bIns="0" rtlCol="0" anchor="t"/>
          <a:lstStyle/>
          <a:p>
            <a:pPr marL="152400" indent="-152400">
              <a:spcAft>
                <a:spcPts val="200"/>
              </a:spcAft>
              <a:buSzPct val="100000"/>
              <a:buChar char="•"/>
            </a:pPr>
            <a:r>
              <a:rPr lang="en-US" sz="1150" dirty="0">
                <a:solidFill>
                  <a:srgbClr val="3A3F45"/>
                </a:solidFill>
                <a:latin typeface="Calibri" pitchFamily="34" charset="0"/>
                <a:ea typeface="Calibri" pitchFamily="34" charset="-122"/>
                <a:cs typeface="Calibri" pitchFamily="34" charset="-120"/>
              </a:rPr>
              <a:t>Lane closure or cone taper on an existing road</a:t>
            </a:r>
            <a:endParaRPr lang="en-US" sz="1150" dirty="0"/>
          </a:p>
          <a:p>
            <a:pPr marL="152400" indent="-152400">
              <a:spcAft>
                <a:spcPts val="200"/>
              </a:spcAft>
              <a:buSzPct val="100000"/>
              <a:buChar char="•"/>
            </a:pPr>
            <a:r>
              <a:rPr lang="en-US" sz="1150" dirty="0">
                <a:solidFill>
                  <a:srgbClr val="3A3F45"/>
                </a:solidFill>
                <a:latin typeface="Calibri" pitchFamily="34" charset="0"/>
                <a:ea typeface="Calibri" pitchFamily="34" charset="-122"/>
                <a:cs typeface="Calibri" pitchFamily="34" charset="-120"/>
              </a:rPr>
              <a:t>Work zone or excavation boundary</a:t>
            </a:r>
            <a:endParaRPr lang="en-US" sz="1150" dirty="0"/>
          </a:p>
          <a:p>
            <a:pPr marL="152400" indent="-152400">
              <a:spcAft>
                <a:spcPts val="200"/>
              </a:spcAft>
              <a:buSzPct val="100000"/>
              <a:buChar char="•"/>
            </a:pPr>
            <a:r>
              <a:rPr lang="en-US" sz="1150" dirty="0">
                <a:solidFill>
                  <a:srgbClr val="3A3F45"/>
                </a:solidFill>
                <a:latin typeface="Calibri" pitchFamily="34" charset="0"/>
                <a:ea typeface="Calibri" pitchFamily="34" charset="-122"/>
                <a:cs typeface="Calibri" pitchFamily="34" charset="-120"/>
              </a:rPr>
              <a:t>Kerb along a footpath, parking or island edge</a:t>
            </a:r>
            <a:endParaRPr lang="en-US" sz="1150" dirty="0"/>
          </a:p>
          <a:p>
            <a:pPr marL="152400" indent="-152400">
              <a:spcAft>
                <a:spcPts val="200"/>
              </a:spcAft>
              <a:buSzPct val="100000"/>
              <a:buChar char="•"/>
            </a:pPr>
            <a:r>
              <a:rPr lang="en-US" sz="1150" dirty="0">
                <a:solidFill>
                  <a:srgbClr val="3A3F45"/>
                </a:solidFill>
                <a:latin typeface="Calibri" pitchFamily="34" charset="0"/>
                <a:ea typeface="Calibri" pitchFamily="34" charset="-122"/>
                <a:cs typeface="Calibri" pitchFamily="34" charset="-120"/>
              </a:rPr>
              <a:t>Barricades on both sides of a trench or a temporary path</a:t>
            </a:r>
            <a:endParaRPr lang="en-US" sz="1150" dirty="0"/>
          </a:p>
          <a:p>
            <a:pPr marL="152400" indent="-152400">
              <a:spcAft>
                <a:spcPts val="200"/>
              </a:spcAft>
              <a:buSzPct val="100000"/>
              <a:buChar char="•"/>
            </a:pPr>
            <a:r>
              <a:rPr lang="en-US" sz="1150" dirty="0">
                <a:solidFill>
                  <a:srgbClr val="3A3F45"/>
                </a:solidFill>
                <a:latin typeface="Calibri" pitchFamily="34" charset="0"/>
                <a:ea typeface="Calibri" pitchFamily="34" charset="-122"/>
                <a:cs typeface="Calibri" pitchFamily="34" charset="-120"/>
              </a:rPr>
              <a:t>A ring of cones round a manhole (circle)</a:t>
            </a:r>
            <a:endParaRPr lang="en-US" sz="1150" dirty="0"/>
          </a:p>
        </p:txBody>
      </p:sp>
      <p:sp>
        <p:nvSpPr>
          <p:cNvPr id="6" name="shape-1314"/>
          <p:cNvSpPr/>
          <p:nvPr/>
        </p:nvSpPr>
        <p:spPr>
          <a:xfrm>
            <a:off x="502920" y="3291840"/>
            <a:ext cx="329184" cy="329184"/>
          </a:xfrm>
          <a:prstGeom prst="ellipse">
            <a:avLst/>
          </a:prstGeom>
          <a:solidFill>
            <a:schemeClr val="accent1"/>
          </a:solidFill>
          <a:ln/>
        </p:spPr>
      </p:sp>
      <p:sp>
        <p:nvSpPr>
          <p:cNvPr id="7" name="text-1315"/>
          <p:cNvSpPr txBox="1"/>
          <p:nvPr/>
        </p:nvSpPr>
        <p:spPr>
          <a:xfrm>
            <a:off x="502920" y="32918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1316"/>
          <p:cNvSpPr txBox="1"/>
          <p:nvPr/>
        </p:nvSpPr>
        <p:spPr>
          <a:xfrm>
            <a:off x="978408" y="3273552"/>
            <a:ext cx="5285232" cy="676656"/>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Draw the line</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Line, polyline, arc, spline, circle or ellipse on any layer, in the run direction.</a:t>
            </a:r>
            <a:endParaRPr lang="en-US" sz="1200" dirty="0"/>
          </a:p>
        </p:txBody>
      </p:sp>
      <p:sp>
        <p:nvSpPr>
          <p:cNvPr id="9" name="shape-1317"/>
          <p:cNvSpPr/>
          <p:nvPr/>
        </p:nvSpPr>
        <p:spPr>
          <a:xfrm>
            <a:off x="502920" y="4005072"/>
            <a:ext cx="329184" cy="329184"/>
          </a:xfrm>
          <a:prstGeom prst="ellipse">
            <a:avLst/>
          </a:prstGeom>
          <a:solidFill>
            <a:schemeClr val="accent1"/>
          </a:solidFill>
          <a:ln/>
        </p:spPr>
      </p:sp>
      <p:sp>
        <p:nvSpPr>
          <p:cNvPr id="10" name="text-1318"/>
          <p:cNvSpPr txBox="1"/>
          <p:nvPr/>
        </p:nvSpPr>
        <p:spPr>
          <a:xfrm>
            <a:off x="502920" y="40050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1319"/>
          <p:cNvSpPr txBox="1"/>
          <p:nvPr/>
        </p:nvSpPr>
        <p:spPr>
          <a:xfrm>
            <a:off x="978408" y="3986784"/>
            <a:ext cx="5285232" cy="676656"/>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Type RDL and select</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Select one or more objects, press Enter. The dialog opens.</a:t>
            </a:r>
            <a:endParaRPr lang="en-US" sz="1200" dirty="0"/>
          </a:p>
        </p:txBody>
      </p:sp>
      <p:sp>
        <p:nvSpPr>
          <p:cNvPr id="12" name="shape-1320"/>
          <p:cNvSpPr/>
          <p:nvPr/>
        </p:nvSpPr>
        <p:spPr>
          <a:xfrm>
            <a:off x="502920" y="4718304"/>
            <a:ext cx="329184" cy="329184"/>
          </a:xfrm>
          <a:prstGeom prst="ellipse">
            <a:avLst/>
          </a:prstGeom>
          <a:solidFill>
            <a:schemeClr val="accent1"/>
          </a:solidFill>
          <a:ln/>
        </p:spPr>
      </p:sp>
      <p:sp>
        <p:nvSpPr>
          <p:cNvPr id="13" name="text-1321"/>
          <p:cNvSpPr txBox="1"/>
          <p:nvPr/>
        </p:nvSpPr>
        <p:spPr>
          <a:xfrm>
            <a:off x="502920" y="47183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1322"/>
          <p:cNvSpPr txBox="1"/>
          <p:nvPr/>
        </p:nvSpPr>
        <p:spPr>
          <a:xfrm>
            <a:off x="978408" y="4700016"/>
            <a:ext cx="5285232" cy="676656"/>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Choose type, placement and size</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Barricades / Traffic cones / Kerb stone; on the line, left, right or both.</a:t>
            </a:r>
            <a:endParaRPr lang="en-US" sz="1200" dirty="0"/>
          </a:p>
        </p:txBody>
      </p:sp>
      <p:sp>
        <p:nvSpPr>
          <p:cNvPr id="15" name="shape-1323"/>
          <p:cNvSpPr/>
          <p:nvPr/>
        </p:nvSpPr>
        <p:spPr>
          <a:xfrm>
            <a:off x="502920" y="5431536"/>
            <a:ext cx="329184" cy="329184"/>
          </a:xfrm>
          <a:prstGeom prst="ellipse">
            <a:avLst/>
          </a:prstGeom>
          <a:solidFill>
            <a:schemeClr val="accent1"/>
          </a:solidFill>
          <a:ln/>
        </p:spPr>
      </p:sp>
      <p:sp>
        <p:nvSpPr>
          <p:cNvPr id="16" name="text-1324"/>
          <p:cNvSpPr txBox="1"/>
          <p:nvPr/>
        </p:nvSpPr>
        <p:spPr>
          <a:xfrm>
            <a:off x="502920" y="54315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1325"/>
          <p:cNvSpPr txBox="1"/>
          <p:nvPr/>
        </p:nvSpPr>
        <p:spPr>
          <a:xfrm>
            <a:off x="978408" y="5413248"/>
            <a:ext cx="5285232" cy="676656"/>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Press OK</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Units are placed, the quantity label is added, totals print. U undoes the run.</a:t>
            </a:r>
            <a:endParaRPr lang="en-US" sz="1200" dirty="0"/>
          </a:p>
        </p:txBody>
      </p:sp>
      <p:sp>
        <p:nvSpPr>
          <p:cNvPr id="18" name="shape-1326"/>
          <p:cNvSpPr/>
          <p:nvPr/>
        </p:nvSpPr>
        <p:spPr>
          <a:xfrm>
            <a:off x="6492240" y="1325880"/>
            <a:ext cx="5166360" cy="2651760"/>
          </a:xfrm>
          <a:prstGeom prst="roundRect">
            <a:avLst>
              <a:gd name="adj" fmla="val 2759"/>
            </a:avLst>
          </a:prstGeom>
          <a:solidFill>
            <a:srgbClr val="F4F5F7"/>
          </a:solidFill>
          <a:ln w="9525">
            <a:solidFill>
              <a:srgbClr val="E3E5E8"/>
            </a:solidFill>
            <a:prstDash val="solid"/>
          </a:ln>
        </p:spPr>
      </p:sp>
      <p:sp>
        <p:nvSpPr>
          <p:cNvPr id="19" name="text-1327"/>
          <p:cNvSpPr txBox="1"/>
          <p:nvPr/>
        </p:nvSpPr>
        <p:spPr>
          <a:xfrm>
            <a:off x="6675120" y="1417320"/>
            <a:ext cx="4572000" cy="27432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Example: cone taper closing a lane</a:t>
            </a:r>
            <a:endParaRPr lang="en-US" sz="1200" dirty="0"/>
          </a:p>
        </p:txBody>
      </p:sp>
      <p:sp>
        <p:nvSpPr>
          <p:cNvPr id="20" name="shape-1328"/>
          <p:cNvSpPr/>
          <p:nvPr/>
        </p:nvSpPr>
        <p:spPr>
          <a:xfrm>
            <a:off x="6675120" y="1874520"/>
            <a:ext cx="4800600" cy="1188720"/>
          </a:xfrm>
          <a:prstGeom prst="rect">
            <a:avLst/>
          </a:prstGeom>
          <a:solidFill>
            <a:schemeClr val="accent5"/>
          </a:solidFill>
          <a:ln/>
        </p:spPr>
      </p:sp>
      <p:sp>
        <p:nvSpPr>
          <p:cNvPr id="21" name="shape-1329"/>
          <p:cNvSpPr/>
          <p:nvPr/>
        </p:nvSpPr>
        <p:spPr>
          <a:xfrm>
            <a:off x="6675120" y="1920240"/>
            <a:ext cx="4800600" cy="0"/>
          </a:xfrm>
          <a:prstGeom prst="line">
            <a:avLst/>
          </a:prstGeom>
          <a:noFill/>
          <a:ln w="15875">
            <a:solidFill>
              <a:schemeClr val="accent2"/>
            </a:solidFill>
            <a:prstDash val="solid"/>
          </a:ln>
        </p:spPr>
      </p:sp>
      <p:sp>
        <p:nvSpPr>
          <p:cNvPr id="22" name="shape-1330"/>
          <p:cNvSpPr/>
          <p:nvPr/>
        </p:nvSpPr>
        <p:spPr>
          <a:xfrm>
            <a:off x="6675120" y="3017520"/>
            <a:ext cx="4800600" cy="0"/>
          </a:xfrm>
          <a:prstGeom prst="line">
            <a:avLst/>
          </a:prstGeom>
          <a:noFill/>
          <a:ln w="15875">
            <a:solidFill>
              <a:schemeClr val="accent2"/>
            </a:solidFill>
            <a:prstDash val="solid"/>
          </a:ln>
        </p:spPr>
      </p:sp>
      <p:sp>
        <p:nvSpPr>
          <p:cNvPr id="23" name="shape-1331"/>
          <p:cNvSpPr/>
          <p:nvPr/>
        </p:nvSpPr>
        <p:spPr>
          <a:xfrm>
            <a:off x="6675120" y="2468880"/>
            <a:ext cx="4800600" cy="0"/>
          </a:xfrm>
          <a:prstGeom prst="line">
            <a:avLst/>
          </a:prstGeom>
          <a:noFill/>
          <a:ln w="19050">
            <a:solidFill>
              <a:srgbClr val="FFFFFF"/>
            </a:solidFill>
            <a:prstDash val="dash"/>
          </a:ln>
        </p:spPr>
      </p:sp>
      <p:sp>
        <p:nvSpPr>
          <p:cNvPr id="24" name="shape-1332"/>
          <p:cNvSpPr/>
          <p:nvPr/>
        </p:nvSpPr>
        <p:spPr>
          <a:xfrm>
            <a:off x="6981444" y="2912364"/>
            <a:ext cx="118872" cy="118872"/>
          </a:xfrm>
          <a:prstGeom prst="ellipse">
            <a:avLst/>
          </a:prstGeom>
          <a:solidFill>
            <a:schemeClr val="accent1"/>
          </a:solidFill>
          <a:ln w="5080">
            <a:solidFill>
              <a:srgbClr val="1F2326"/>
            </a:solidFill>
            <a:prstDash val="solid"/>
          </a:ln>
        </p:spPr>
      </p:sp>
      <p:sp>
        <p:nvSpPr>
          <p:cNvPr id="25" name="shape-1333"/>
          <p:cNvSpPr/>
          <p:nvPr/>
        </p:nvSpPr>
        <p:spPr>
          <a:xfrm>
            <a:off x="7005218" y="2936138"/>
            <a:ext cx="71323" cy="71323"/>
          </a:xfrm>
          <a:prstGeom prst="ellipse">
            <a:avLst/>
          </a:prstGeom>
          <a:solidFill>
            <a:srgbClr val="FFFFFF"/>
          </a:solidFill>
          <a:ln/>
        </p:spPr>
      </p:sp>
      <p:sp>
        <p:nvSpPr>
          <p:cNvPr id="26" name="shape-1334"/>
          <p:cNvSpPr/>
          <p:nvPr/>
        </p:nvSpPr>
        <p:spPr>
          <a:xfrm>
            <a:off x="7021860" y="2952780"/>
            <a:ext cx="38039" cy="38039"/>
          </a:xfrm>
          <a:prstGeom prst="ellipse">
            <a:avLst/>
          </a:prstGeom>
          <a:solidFill>
            <a:schemeClr val="accent1"/>
          </a:solidFill>
          <a:ln/>
        </p:spPr>
      </p:sp>
      <p:sp>
        <p:nvSpPr>
          <p:cNvPr id="27" name="shape-1335"/>
          <p:cNvSpPr/>
          <p:nvPr/>
        </p:nvSpPr>
        <p:spPr>
          <a:xfrm>
            <a:off x="7347204" y="2811780"/>
            <a:ext cx="118872" cy="118872"/>
          </a:xfrm>
          <a:prstGeom prst="ellipse">
            <a:avLst/>
          </a:prstGeom>
          <a:solidFill>
            <a:schemeClr val="accent1"/>
          </a:solidFill>
          <a:ln w="5080">
            <a:solidFill>
              <a:srgbClr val="1F2326"/>
            </a:solidFill>
            <a:prstDash val="solid"/>
          </a:ln>
        </p:spPr>
      </p:sp>
      <p:sp>
        <p:nvSpPr>
          <p:cNvPr id="28" name="shape-1336"/>
          <p:cNvSpPr/>
          <p:nvPr/>
        </p:nvSpPr>
        <p:spPr>
          <a:xfrm>
            <a:off x="7370978" y="2835554"/>
            <a:ext cx="71323" cy="71323"/>
          </a:xfrm>
          <a:prstGeom prst="ellipse">
            <a:avLst/>
          </a:prstGeom>
          <a:solidFill>
            <a:srgbClr val="FFFFFF"/>
          </a:solidFill>
          <a:ln/>
        </p:spPr>
      </p:sp>
      <p:sp>
        <p:nvSpPr>
          <p:cNvPr id="29" name="shape-1337"/>
          <p:cNvSpPr/>
          <p:nvPr/>
        </p:nvSpPr>
        <p:spPr>
          <a:xfrm>
            <a:off x="7387620" y="2852196"/>
            <a:ext cx="38039" cy="38039"/>
          </a:xfrm>
          <a:prstGeom prst="ellipse">
            <a:avLst/>
          </a:prstGeom>
          <a:solidFill>
            <a:schemeClr val="accent1"/>
          </a:solidFill>
          <a:ln/>
        </p:spPr>
      </p:sp>
      <p:sp>
        <p:nvSpPr>
          <p:cNvPr id="30" name="shape-1338"/>
          <p:cNvSpPr/>
          <p:nvPr/>
        </p:nvSpPr>
        <p:spPr>
          <a:xfrm>
            <a:off x="7712964" y="2711196"/>
            <a:ext cx="118872" cy="118872"/>
          </a:xfrm>
          <a:prstGeom prst="ellipse">
            <a:avLst/>
          </a:prstGeom>
          <a:solidFill>
            <a:schemeClr val="accent1"/>
          </a:solidFill>
          <a:ln w="5080">
            <a:solidFill>
              <a:srgbClr val="1F2326"/>
            </a:solidFill>
            <a:prstDash val="solid"/>
          </a:ln>
        </p:spPr>
      </p:sp>
      <p:sp>
        <p:nvSpPr>
          <p:cNvPr id="31" name="shape-1339"/>
          <p:cNvSpPr/>
          <p:nvPr/>
        </p:nvSpPr>
        <p:spPr>
          <a:xfrm>
            <a:off x="7736738" y="2734970"/>
            <a:ext cx="71323" cy="71323"/>
          </a:xfrm>
          <a:prstGeom prst="ellipse">
            <a:avLst/>
          </a:prstGeom>
          <a:solidFill>
            <a:srgbClr val="FFFFFF"/>
          </a:solidFill>
          <a:ln/>
        </p:spPr>
      </p:sp>
      <p:sp>
        <p:nvSpPr>
          <p:cNvPr id="32" name="shape-1340"/>
          <p:cNvSpPr/>
          <p:nvPr/>
        </p:nvSpPr>
        <p:spPr>
          <a:xfrm>
            <a:off x="7753380" y="2751612"/>
            <a:ext cx="38039" cy="38039"/>
          </a:xfrm>
          <a:prstGeom prst="ellipse">
            <a:avLst/>
          </a:prstGeom>
          <a:solidFill>
            <a:schemeClr val="accent1"/>
          </a:solidFill>
          <a:ln/>
        </p:spPr>
      </p:sp>
      <p:sp>
        <p:nvSpPr>
          <p:cNvPr id="33" name="shape-1341"/>
          <p:cNvSpPr/>
          <p:nvPr/>
        </p:nvSpPr>
        <p:spPr>
          <a:xfrm>
            <a:off x="8078724" y="2610612"/>
            <a:ext cx="118872" cy="118872"/>
          </a:xfrm>
          <a:prstGeom prst="ellipse">
            <a:avLst/>
          </a:prstGeom>
          <a:solidFill>
            <a:schemeClr val="accent1"/>
          </a:solidFill>
          <a:ln w="5080">
            <a:solidFill>
              <a:srgbClr val="1F2326"/>
            </a:solidFill>
            <a:prstDash val="solid"/>
          </a:ln>
        </p:spPr>
      </p:sp>
      <p:sp>
        <p:nvSpPr>
          <p:cNvPr id="34" name="shape-1342"/>
          <p:cNvSpPr/>
          <p:nvPr/>
        </p:nvSpPr>
        <p:spPr>
          <a:xfrm>
            <a:off x="8102498" y="2634386"/>
            <a:ext cx="71323" cy="71323"/>
          </a:xfrm>
          <a:prstGeom prst="ellipse">
            <a:avLst/>
          </a:prstGeom>
          <a:solidFill>
            <a:srgbClr val="FFFFFF"/>
          </a:solidFill>
          <a:ln/>
        </p:spPr>
      </p:sp>
      <p:sp>
        <p:nvSpPr>
          <p:cNvPr id="35" name="shape-1343"/>
          <p:cNvSpPr/>
          <p:nvPr/>
        </p:nvSpPr>
        <p:spPr>
          <a:xfrm>
            <a:off x="8119140" y="2651028"/>
            <a:ext cx="38039" cy="38039"/>
          </a:xfrm>
          <a:prstGeom prst="ellipse">
            <a:avLst/>
          </a:prstGeom>
          <a:solidFill>
            <a:schemeClr val="accent1"/>
          </a:solidFill>
          <a:ln/>
        </p:spPr>
      </p:sp>
      <p:sp>
        <p:nvSpPr>
          <p:cNvPr id="36" name="shape-1344"/>
          <p:cNvSpPr/>
          <p:nvPr/>
        </p:nvSpPr>
        <p:spPr>
          <a:xfrm>
            <a:off x="8444484" y="2510028"/>
            <a:ext cx="118872" cy="118872"/>
          </a:xfrm>
          <a:prstGeom prst="ellipse">
            <a:avLst/>
          </a:prstGeom>
          <a:solidFill>
            <a:schemeClr val="accent1"/>
          </a:solidFill>
          <a:ln w="5080">
            <a:solidFill>
              <a:srgbClr val="1F2326"/>
            </a:solidFill>
            <a:prstDash val="solid"/>
          </a:ln>
        </p:spPr>
      </p:sp>
      <p:sp>
        <p:nvSpPr>
          <p:cNvPr id="37" name="shape-1345"/>
          <p:cNvSpPr/>
          <p:nvPr/>
        </p:nvSpPr>
        <p:spPr>
          <a:xfrm>
            <a:off x="8468258" y="2533802"/>
            <a:ext cx="71323" cy="71323"/>
          </a:xfrm>
          <a:prstGeom prst="ellipse">
            <a:avLst/>
          </a:prstGeom>
          <a:solidFill>
            <a:srgbClr val="FFFFFF"/>
          </a:solidFill>
          <a:ln/>
        </p:spPr>
      </p:sp>
      <p:sp>
        <p:nvSpPr>
          <p:cNvPr id="38" name="shape-1346"/>
          <p:cNvSpPr/>
          <p:nvPr/>
        </p:nvSpPr>
        <p:spPr>
          <a:xfrm>
            <a:off x="8484900" y="2550444"/>
            <a:ext cx="38039" cy="38039"/>
          </a:xfrm>
          <a:prstGeom prst="ellipse">
            <a:avLst/>
          </a:prstGeom>
          <a:solidFill>
            <a:schemeClr val="accent1"/>
          </a:solidFill>
          <a:ln/>
        </p:spPr>
      </p:sp>
      <p:sp>
        <p:nvSpPr>
          <p:cNvPr id="39" name="shape-1347"/>
          <p:cNvSpPr/>
          <p:nvPr/>
        </p:nvSpPr>
        <p:spPr>
          <a:xfrm>
            <a:off x="8810244" y="2409444"/>
            <a:ext cx="118872" cy="118872"/>
          </a:xfrm>
          <a:prstGeom prst="ellipse">
            <a:avLst/>
          </a:prstGeom>
          <a:solidFill>
            <a:schemeClr val="accent1"/>
          </a:solidFill>
          <a:ln w="5080">
            <a:solidFill>
              <a:srgbClr val="1F2326"/>
            </a:solidFill>
            <a:prstDash val="solid"/>
          </a:ln>
        </p:spPr>
      </p:sp>
      <p:sp>
        <p:nvSpPr>
          <p:cNvPr id="40" name="shape-1348"/>
          <p:cNvSpPr/>
          <p:nvPr/>
        </p:nvSpPr>
        <p:spPr>
          <a:xfrm>
            <a:off x="8834018" y="2433218"/>
            <a:ext cx="71323" cy="71323"/>
          </a:xfrm>
          <a:prstGeom prst="ellipse">
            <a:avLst/>
          </a:prstGeom>
          <a:solidFill>
            <a:srgbClr val="FFFFFF"/>
          </a:solidFill>
          <a:ln/>
        </p:spPr>
      </p:sp>
      <p:sp>
        <p:nvSpPr>
          <p:cNvPr id="41" name="shape-1349"/>
          <p:cNvSpPr/>
          <p:nvPr/>
        </p:nvSpPr>
        <p:spPr>
          <a:xfrm>
            <a:off x="8850660" y="2449860"/>
            <a:ext cx="38039" cy="38039"/>
          </a:xfrm>
          <a:prstGeom prst="ellipse">
            <a:avLst/>
          </a:prstGeom>
          <a:solidFill>
            <a:schemeClr val="accent1"/>
          </a:solidFill>
          <a:ln/>
        </p:spPr>
      </p:sp>
      <p:sp>
        <p:nvSpPr>
          <p:cNvPr id="42" name="shape-1350"/>
          <p:cNvSpPr/>
          <p:nvPr/>
        </p:nvSpPr>
        <p:spPr>
          <a:xfrm>
            <a:off x="9176004" y="2409444"/>
            <a:ext cx="118872" cy="118872"/>
          </a:xfrm>
          <a:prstGeom prst="ellipse">
            <a:avLst/>
          </a:prstGeom>
          <a:solidFill>
            <a:schemeClr val="accent1"/>
          </a:solidFill>
          <a:ln w="5080">
            <a:solidFill>
              <a:srgbClr val="1F2326"/>
            </a:solidFill>
            <a:prstDash val="solid"/>
          </a:ln>
        </p:spPr>
      </p:sp>
      <p:sp>
        <p:nvSpPr>
          <p:cNvPr id="43" name="shape-1351"/>
          <p:cNvSpPr/>
          <p:nvPr/>
        </p:nvSpPr>
        <p:spPr>
          <a:xfrm>
            <a:off x="9199778" y="2433218"/>
            <a:ext cx="71323" cy="71323"/>
          </a:xfrm>
          <a:prstGeom prst="ellipse">
            <a:avLst/>
          </a:prstGeom>
          <a:solidFill>
            <a:srgbClr val="FFFFFF"/>
          </a:solidFill>
          <a:ln/>
        </p:spPr>
      </p:sp>
      <p:sp>
        <p:nvSpPr>
          <p:cNvPr id="44" name="shape-1352"/>
          <p:cNvSpPr/>
          <p:nvPr/>
        </p:nvSpPr>
        <p:spPr>
          <a:xfrm>
            <a:off x="9216420" y="2449860"/>
            <a:ext cx="38039" cy="38039"/>
          </a:xfrm>
          <a:prstGeom prst="ellipse">
            <a:avLst/>
          </a:prstGeom>
          <a:solidFill>
            <a:schemeClr val="accent1"/>
          </a:solidFill>
          <a:ln/>
        </p:spPr>
      </p:sp>
      <p:sp>
        <p:nvSpPr>
          <p:cNvPr id="45" name="shape-1353"/>
          <p:cNvSpPr/>
          <p:nvPr/>
        </p:nvSpPr>
        <p:spPr>
          <a:xfrm>
            <a:off x="9541764" y="2409444"/>
            <a:ext cx="118872" cy="118872"/>
          </a:xfrm>
          <a:prstGeom prst="ellipse">
            <a:avLst/>
          </a:prstGeom>
          <a:solidFill>
            <a:schemeClr val="accent1"/>
          </a:solidFill>
          <a:ln w="5080">
            <a:solidFill>
              <a:srgbClr val="1F2326"/>
            </a:solidFill>
            <a:prstDash val="solid"/>
          </a:ln>
        </p:spPr>
      </p:sp>
      <p:sp>
        <p:nvSpPr>
          <p:cNvPr id="46" name="shape-1354"/>
          <p:cNvSpPr/>
          <p:nvPr/>
        </p:nvSpPr>
        <p:spPr>
          <a:xfrm>
            <a:off x="9565538" y="2433218"/>
            <a:ext cx="71323" cy="71323"/>
          </a:xfrm>
          <a:prstGeom prst="ellipse">
            <a:avLst/>
          </a:prstGeom>
          <a:solidFill>
            <a:srgbClr val="FFFFFF"/>
          </a:solidFill>
          <a:ln/>
        </p:spPr>
      </p:sp>
      <p:sp>
        <p:nvSpPr>
          <p:cNvPr id="47" name="shape-1355"/>
          <p:cNvSpPr/>
          <p:nvPr/>
        </p:nvSpPr>
        <p:spPr>
          <a:xfrm>
            <a:off x="9582180" y="2449860"/>
            <a:ext cx="38039" cy="38039"/>
          </a:xfrm>
          <a:prstGeom prst="ellipse">
            <a:avLst/>
          </a:prstGeom>
          <a:solidFill>
            <a:schemeClr val="accent1"/>
          </a:solidFill>
          <a:ln/>
        </p:spPr>
      </p:sp>
      <p:sp>
        <p:nvSpPr>
          <p:cNvPr id="48" name="shape-1356"/>
          <p:cNvSpPr/>
          <p:nvPr/>
        </p:nvSpPr>
        <p:spPr>
          <a:xfrm>
            <a:off x="9907524" y="2409444"/>
            <a:ext cx="118872" cy="118872"/>
          </a:xfrm>
          <a:prstGeom prst="ellipse">
            <a:avLst/>
          </a:prstGeom>
          <a:solidFill>
            <a:schemeClr val="accent1"/>
          </a:solidFill>
          <a:ln w="5080">
            <a:solidFill>
              <a:srgbClr val="1F2326"/>
            </a:solidFill>
            <a:prstDash val="solid"/>
          </a:ln>
        </p:spPr>
      </p:sp>
      <p:sp>
        <p:nvSpPr>
          <p:cNvPr id="49" name="shape-1357"/>
          <p:cNvSpPr/>
          <p:nvPr/>
        </p:nvSpPr>
        <p:spPr>
          <a:xfrm>
            <a:off x="9931298" y="2433218"/>
            <a:ext cx="71323" cy="71323"/>
          </a:xfrm>
          <a:prstGeom prst="ellipse">
            <a:avLst/>
          </a:prstGeom>
          <a:solidFill>
            <a:srgbClr val="FFFFFF"/>
          </a:solidFill>
          <a:ln/>
        </p:spPr>
      </p:sp>
      <p:sp>
        <p:nvSpPr>
          <p:cNvPr id="50" name="shape-1358"/>
          <p:cNvSpPr/>
          <p:nvPr/>
        </p:nvSpPr>
        <p:spPr>
          <a:xfrm>
            <a:off x="9947940" y="2449860"/>
            <a:ext cx="38039" cy="38039"/>
          </a:xfrm>
          <a:prstGeom prst="ellipse">
            <a:avLst/>
          </a:prstGeom>
          <a:solidFill>
            <a:schemeClr val="accent1"/>
          </a:solidFill>
          <a:ln/>
        </p:spPr>
      </p:sp>
      <p:sp>
        <p:nvSpPr>
          <p:cNvPr id="51" name="shape-1359"/>
          <p:cNvSpPr/>
          <p:nvPr/>
        </p:nvSpPr>
        <p:spPr>
          <a:xfrm>
            <a:off x="10273284" y="2409444"/>
            <a:ext cx="118872" cy="118872"/>
          </a:xfrm>
          <a:prstGeom prst="ellipse">
            <a:avLst/>
          </a:prstGeom>
          <a:solidFill>
            <a:schemeClr val="accent1"/>
          </a:solidFill>
          <a:ln w="5080">
            <a:solidFill>
              <a:srgbClr val="1F2326"/>
            </a:solidFill>
            <a:prstDash val="solid"/>
          </a:ln>
        </p:spPr>
      </p:sp>
      <p:sp>
        <p:nvSpPr>
          <p:cNvPr id="52" name="shape-1360"/>
          <p:cNvSpPr/>
          <p:nvPr/>
        </p:nvSpPr>
        <p:spPr>
          <a:xfrm>
            <a:off x="10297058" y="2433218"/>
            <a:ext cx="71323" cy="71323"/>
          </a:xfrm>
          <a:prstGeom prst="ellipse">
            <a:avLst/>
          </a:prstGeom>
          <a:solidFill>
            <a:srgbClr val="FFFFFF"/>
          </a:solidFill>
          <a:ln/>
        </p:spPr>
      </p:sp>
      <p:sp>
        <p:nvSpPr>
          <p:cNvPr id="53" name="shape-1361"/>
          <p:cNvSpPr/>
          <p:nvPr/>
        </p:nvSpPr>
        <p:spPr>
          <a:xfrm>
            <a:off x="10313700" y="2449860"/>
            <a:ext cx="38039" cy="38039"/>
          </a:xfrm>
          <a:prstGeom prst="ellipse">
            <a:avLst/>
          </a:prstGeom>
          <a:solidFill>
            <a:schemeClr val="accent1"/>
          </a:solidFill>
          <a:ln/>
        </p:spPr>
      </p:sp>
      <p:sp>
        <p:nvSpPr>
          <p:cNvPr id="54" name="shape-1362"/>
          <p:cNvSpPr/>
          <p:nvPr/>
        </p:nvSpPr>
        <p:spPr>
          <a:xfrm>
            <a:off x="10639044" y="2409444"/>
            <a:ext cx="118872" cy="118872"/>
          </a:xfrm>
          <a:prstGeom prst="ellipse">
            <a:avLst/>
          </a:prstGeom>
          <a:solidFill>
            <a:schemeClr val="accent1"/>
          </a:solidFill>
          <a:ln w="5080">
            <a:solidFill>
              <a:srgbClr val="1F2326"/>
            </a:solidFill>
            <a:prstDash val="solid"/>
          </a:ln>
        </p:spPr>
      </p:sp>
      <p:sp>
        <p:nvSpPr>
          <p:cNvPr id="55" name="shape-1363"/>
          <p:cNvSpPr/>
          <p:nvPr/>
        </p:nvSpPr>
        <p:spPr>
          <a:xfrm>
            <a:off x="10662818" y="2433218"/>
            <a:ext cx="71323" cy="71323"/>
          </a:xfrm>
          <a:prstGeom prst="ellipse">
            <a:avLst/>
          </a:prstGeom>
          <a:solidFill>
            <a:srgbClr val="FFFFFF"/>
          </a:solidFill>
          <a:ln/>
        </p:spPr>
      </p:sp>
      <p:sp>
        <p:nvSpPr>
          <p:cNvPr id="56" name="shape-1364"/>
          <p:cNvSpPr/>
          <p:nvPr/>
        </p:nvSpPr>
        <p:spPr>
          <a:xfrm>
            <a:off x="10679460" y="2449860"/>
            <a:ext cx="38039" cy="38039"/>
          </a:xfrm>
          <a:prstGeom prst="ellipse">
            <a:avLst/>
          </a:prstGeom>
          <a:solidFill>
            <a:schemeClr val="accent1"/>
          </a:solidFill>
          <a:ln/>
        </p:spPr>
      </p:sp>
      <p:sp>
        <p:nvSpPr>
          <p:cNvPr id="57" name="shape-1365"/>
          <p:cNvSpPr/>
          <p:nvPr/>
        </p:nvSpPr>
        <p:spPr>
          <a:xfrm>
            <a:off x="11004804" y="2409444"/>
            <a:ext cx="118872" cy="118872"/>
          </a:xfrm>
          <a:prstGeom prst="ellipse">
            <a:avLst/>
          </a:prstGeom>
          <a:solidFill>
            <a:schemeClr val="accent1"/>
          </a:solidFill>
          <a:ln w="5080">
            <a:solidFill>
              <a:srgbClr val="1F2326"/>
            </a:solidFill>
            <a:prstDash val="solid"/>
          </a:ln>
        </p:spPr>
      </p:sp>
      <p:sp>
        <p:nvSpPr>
          <p:cNvPr id="58" name="shape-1366"/>
          <p:cNvSpPr/>
          <p:nvPr/>
        </p:nvSpPr>
        <p:spPr>
          <a:xfrm>
            <a:off x="11028578" y="2433218"/>
            <a:ext cx="71323" cy="71323"/>
          </a:xfrm>
          <a:prstGeom prst="ellipse">
            <a:avLst/>
          </a:prstGeom>
          <a:solidFill>
            <a:srgbClr val="FFFFFF"/>
          </a:solidFill>
          <a:ln/>
        </p:spPr>
      </p:sp>
      <p:sp>
        <p:nvSpPr>
          <p:cNvPr id="59" name="shape-1367"/>
          <p:cNvSpPr/>
          <p:nvPr/>
        </p:nvSpPr>
        <p:spPr>
          <a:xfrm>
            <a:off x="11045220" y="2449860"/>
            <a:ext cx="38039" cy="38039"/>
          </a:xfrm>
          <a:prstGeom prst="ellipse">
            <a:avLst/>
          </a:prstGeom>
          <a:solidFill>
            <a:schemeClr val="accent1"/>
          </a:solidFill>
          <a:ln/>
        </p:spPr>
      </p:sp>
      <p:sp>
        <p:nvSpPr>
          <p:cNvPr id="60" name="shape-1368"/>
          <p:cNvSpPr/>
          <p:nvPr/>
        </p:nvSpPr>
        <p:spPr>
          <a:xfrm>
            <a:off x="11370564" y="2409444"/>
            <a:ext cx="118872" cy="118872"/>
          </a:xfrm>
          <a:prstGeom prst="ellipse">
            <a:avLst/>
          </a:prstGeom>
          <a:solidFill>
            <a:schemeClr val="accent1"/>
          </a:solidFill>
          <a:ln w="5080">
            <a:solidFill>
              <a:srgbClr val="1F2326"/>
            </a:solidFill>
            <a:prstDash val="solid"/>
          </a:ln>
        </p:spPr>
      </p:sp>
      <p:sp>
        <p:nvSpPr>
          <p:cNvPr id="61" name="shape-1369"/>
          <p:cNvSpPr/>
          <p:nvPr/>
        </p:nvSpPr>
        <p:spPr>
          <a:xfrm>
            <a:off x="11394338" y="2433218"/>
            <a:ext cx="71323" cy="71323"/>
          </a:xfrm>
          <a:prstGeom prst="ellipse">
            <a:avLst/>
          </a:prstGeom>
          <a:solidFill>
            <a:srgbClr val="FFFFFF"/>
          </a:solidFill>
          <a:ln/>
        </p:spPr>
      </p:sp>
      <p:sp>
        <p:nvSpPr>
          <p:cNvPr id="62" name="shape-1370"/>
          <p:cNvSpPr/>
          <p:nvPr/>
        </p:nvSpPr>
        <p:spPr>
          <a:xfrm>
            <a:off x="11410980" y="2449860"/>
            <a:ext cx="38039" cy="38039"/>
          </a:xfrm>
          <a:prstGeom prst="ellipse">
            <a:avLst/>
          </a:prstGeom>
          <a:solidFill>
            <a:schemeClr val="accent1"/>
          </a:solidFill>
          <a:ln/>
        </p:spPr>
      </p:sp>
      <p:sp>
        <p:nvSpPr>
          <p:cNvPr id="63" name="text-1371"/>
          <p:cNvSpPr txBox="1"/>
          <p:nvPr/>
        </p:nvSpPr>
        <p:spPr>
          <a:xfrm>
            <a:off x="9418320" y="1920240"/>
            <a:ext cx="1737360" cy="201168"/>
          </a:xfrm>
          <a:prstGeom prst="rect">
            <a:avLst/>
          </a:prstGeom>
          <a:noFill/>
          <a:ln/>
        </p:spPr>
        <p:txBody>
          <a:bodyPr wrap="square" lIns="0" tIns="0" rIns="0" bIns="0" rtlCol="0" anchor="t"/>
          <a:lstStyle/>
          <a:p>
            <a:pPr indent="0" marL="0">
              <a:buNone/>
            </a:pPr>
            <a:r>
              <a:rPr lang="en-US" sz="850" b="1" dirty="0">
                <a:solidFill>
                  <a:srgbClr val="FFFFFF"/>
                </a:solidFill>
                <a:latin typeface="Calibri" pitchFamily="34" charset="0"/>
                <a:ea typeface="Calibri" pitchFamily="34" charset="-122"/>
                <a:cs typeface="Calibri" pitchFamily="34" charset="-120"/>
              </a:rPr>
              <a:t>13 CONES @ 3.00 m</a:t>
            </a:r>
            <a:endParaRPr lang="en-US" sz="850" dirty="0"/>
          </a:p>
        </p:txBody>
      </p:sp>
      <p:sp>
        <p:nvSpPr>
          <p:cNvPr id="64" name="text-1372"/>
          <p:cNvSpPr txBox="1"/>
          <p:nvPr/>
        </p:nvSpPr>
        <p:spPr>
          <a:xfrm>
            <a:off x="6675120" y="3200400"/>
            <a:ext cx="4800600" cy="64008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Draw a polyline along the closure, RDL → Traffic cones, On the line, spacing 3.00.</a:t>
            </a:r>
            <a:endParaRPr lang="en-US" sz="1050" dirty="0"/>
          </a:p>
        </p:txBody>
      </p:sp>
      <p:sp>
        <p:nvSpPr>
          <p:cNvPr id="65" name="shape-1373"/>
          <p:cNvSpPr/>
          <p:nvPr/>
        </p:nvSpPr>
        <p:spPr>
          <a:xfrm>
            <a:off x="6492240" y="4114800"/>
            <a:ext cx="5166360" cy="2057400"/>
          </a:xfrm>
          <a:prstGeom prst="roundRect">
            <a:avLst>
              <a:gd name="adj" fmla="val 2667"/>
            </a:avLst>
          </a:prstGeom>
          <a:solidFill>
            <a:srgbClr val="1F2326"/>
          </a:solidFill>
          <a:ln/>
        </p:spPr>
      </p:sp>
      <p:sp>
        <p:nvSpPr>
          <p:cNvPr id="66" name="text-1374"/>
          <p:cNvSpPr txBox="1"/>
          <p:nvPr/>
        </p:nvSpPr>
        <p:spPr>
          <a:xfrm>
            <a:off x="6656832" y="4242816"/>
            <a:ext cx="4837176" cy="1801368"/>
          </a:xfrm>
          <a:prstGeom prst="rect">
            <a:avLst/>
          </a:prstGeom>
          <a:noFill/>
          <a:ln/>
        </p:spPr>
        <p:txBody>
          <a:bodyPr wrap="square" lIns="0" tIns="0" rIns="0" bIns="0" rtlCol="0" anchor="t"/>
          <a:lstStyle/>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Command: </a:t>
            </a:r>
            <a:pPr indent="0" marL="0">
              <a:spcAft>
                <a:spcPts val="200"/>
              </a:spcAft>
              <a:buNone/>
            </a:pPr>
            <a:r>
              <a:rPr lang="en-US" sz="950" b="1" dirty="0">
                <a:solidFill>
                  <a:srgbClr val="F2B705"/>
                </a:solidFill>
                <a:latin typeface="Courier New" pitchFamily="34" charset="0"/>
                <a:ea typeface="Courier New" pitchFamily="34" charset="-122"/>
                <a:cs typeface="Courier New" pitchFamily="34" charset="-120"/>
              </a:rPr>
              <a:t>RDL</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Select lines, polylines, arcs or splines</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for the single line run: </a:t>
            </a:r>
            <a:pPr indent="0" marL="0">
              <a:spcAft>
                <a:spcPts val="200"/>
              </a:spcAft>
              <a:buNone/>
            </a:pPr>
            <a:r>
              <a:rPr lang="en-US" sz="950" b="1" dirty="0">
                <a:solidFill>
                  <a:srgbClr val="F2B705"/>
                </a:solidFill>
                <a:latin typeface="Courier New" pitchFamily="34" charset="0"/>
                <a:ea typeface="Courier New" pitchFamily="34" charset="-122"/>
                <a:cs typeface="Courier New" pitchFamily="34" charset="-120"/>
              </a:rPr>
              <a:t>1 found, Enter</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ROAD PRO - SINGLE LINE ======</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Traffic cones   : 13</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Type U to undo this run in one step.</a:t>
            </a:r>
            <a:endParaRPr lang="en-US" sz="9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F  ·  RDL</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Single Line dialog: every setting</a:t>
            </a:r>
            <a:endParaRPr lang="en-US" sz="2600" dirty="0"/>
          </a:p>
        </p:txBody>
      </p:sp>
      <p:graphicFrame>
        <p:nvGraphicFramePr>
          <p:cNvPr id="32" name="table-1375"/>
          <p:cNvGraphicFramePr>
            <a:graphicFrameLocks noGrp="1"/>
          </p:cNvGraphicFramePr>
          <p:nvPr>
            <p:extLst>
              <p:ext uri="{D42A27DB-BD31-4B8C-83A1-F6EECF244321}">
                <p14:modId xmlns:p14="http://schemas.microsoft.com/office/powerpoint/2010/main" val="1579011935"/>
              </p:ext>
            </p:extLst>
          </p:nvPr>
        </p:nvGraphicFramePr>
        <p:xfrm>
          <a:off x="502920" y="1298448"/>
          <a:ext cx="11155680" cy="914400"/>
        </p:xfrm>
        <a:graphic>
          <a:graphicData uri="http://schemas.openxmlformats.org/drawingml/2006/table">
            <a:tbl>
              <a:tblPr/>
              <a:tblGrid>
                <a:gridCol w="2514600"/>
                <a:gridCol w="3017520"/>
                <a:gridCol w="5623560"/>
              </a:tblGrid>
              <a:tr h="35661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Setting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Options  (default)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5661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Type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Barricades (red / white)  /  Traffic cones  /  Kerb stone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What to place along the selected objects.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5661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Placement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 the line (centred)  /  Offset to the left  /  Offset to the right  /  Both sides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Left / right are seen looking along the line from its start point.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5661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Offset from the line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Distance from the line to the units for left, right and both sides.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5661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Unit length / cone spacing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Length of a barricade or kerb unit, or spacing of cones.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5661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Unit / cone / kerb width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Width of the unit or size of the cone.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5661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From distance along line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Start the run part-way along the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5661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To distance (m, 0 = line end)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Stop the run before the line end.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5661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Quantity label on the drawing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e.g. 24 BARRICADES (12 R / 12 W), 13 TRAFFIC CONES or 48.0 m KERB STONE.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bl>
          </a:graphicData>
        </a:graphic>
      </p:graphicFrame>
      <p:sp>
        <p:nvSpPr>
          <p:cNvPr id="5" name="shape-1376"/>
          <p:cNvSpPr/>
          <p:nvPr/>
        </p:nvSpPr>
        <p:spPr>
          <a:xfrm>
            <a:off x="502920" y="4846320"/>
            <a:ext cx="2670048" cy="1325880"/>
          </a:xfrm>
          <a:prstGeom prst="roundRect">
            <a:avLst>
              <a:gd name="adj" fmla="val 5517"/>
            </a:avLst>
          </a:prstGeom>
          <a:solidFill>
            <a:srgbClr val="F4F5F7"/>
          </a:solidFill>
          <a:ln w="9525">
            <a:solidFill>
              <a:srgbClr val="E3E5E8"/>
            </a:solidFill>
            <a:prstDash val="solid"/>
          </a:ln>
        </p:spPr>
      </p:sp>
      <p:sp>
        <p:nvSpPr>
          <p:cNvPr id="6" name="text-1377"/>
          <p:cNvSpPr txBox="1"/>
          <p:nvPr/>
        </p:nvSpPr>
        <p:spPr>
          <a:xfrm>
            <a:off x="640080" y="4937760"/>
            <a:ext cx="2286000" cy="256032"/>
          </a:xfrm>
          <a:prstGeom prst="rect">
            <a:avLst/>
          </a:prstGeom>
          <a:noFill/>
          <a:ln/>
        </p:spPr>
        <p:txBody>
          <a:bodyPr wrap="square" lIns="0" tIns="0" rIns="0" bIns="0" rtlCol="0" anchor="t"/>
          <a:lstStyle/>
          <a:p>
            <a:pPr indent="0" marL="0">
              <a:buNone/>
            </a:pPr>
            <a:r>
              <a:rPr lang="en-US" sz="1150" b="1" dirty="0">
                <a:solidFill>
                  <a:schemeClr val="accent3"/>
                </a:solidFill>
                <a:latin typeface="Calibri" pitchFamily="34" charset="0"/>
                <a:ea typeface="Calibri" pitchFamily="34" charset="-122"/>
                <a:cs typeface="Calibri" pitchFamily="34" charset="-120"/>
              </a:rPr>
              <a:t>On the line</a:t>
            </a:r>
            <a:endParaRPr lang="en-US" sz="1150" dirty="0"/>
          </a:p>
        </p:txBody>
      </p:sp>
      <p:sp>
        <p:nvSpPr>
          <p:cNvPr id="7" name="shape-1378"/>
          <p:cNvSpPr/>
          <p:nvPr/>
        </p:nvSpPr>
        <p:spPr>
          <a:xfrm>
            <a:off x="731520" y="5623560"/>
            <a:ext cx="2212848" cy="0"/>
          </a:xfrm>
          <a:prstGeom prst="line">
            <a:avLst/>
          </a:prstGeom>
          <a:noFill/>
          <a:ln w="15875">
            <a:solidFill>
              <a:srgbClr val="1F2326"/>
            </a:solidFill>
            <a:prstDash val="solid"/>
            <a:tailEnd type="triangle"/>
          </a:ln>
        </p:spPr>
      </p:sp>
      <p:sp>
        <p:nvSpPr>
          <p:cNvPr id="8" name="shape-1379"/>
          <p:cNvSpPr/>
          <p:nvPr/>
        </p:nvSpPr>
        <p:spPr>
          <a:xfrm>
            <a:off x="822960" y="5568696"/>
            <a:ext cx="248031" cy="109728"/>
          </a:xfrm>
          <a:prstGeom prst="rect">
            <a:avLst/>
          </a:prstGeom>
          <a:solidFill>
            <a:schemeClr val="accent1"/>
          </a:solidFill>
          <a:ln w="7620">
            <a:solidFill>
              <a:srgbClr val="1F2326"/>
            </a:solidFill>
            <a:prstDash val="solid"/>
          </a:ln>
        </p:spPr>
      </p:sp>
      <p:sp>
        <p:nvSpPr>
          <p:cNvPr id="9" name="shape-1380"/>
          <p:cNvSpPr/>
          <p:nvPr/>
        </p:nvSpPr>
        <p:spPr>
          <a:xfrm>
            <a:off x="1070991" y="5568696"/>
            <a:ext cx="248031" cy="109728"/>
          </a:xfrm>
          <a:prstGeom prst="rect">
            <a:avLst/>
          </a:prstGeom>
          <a:solidFill>
            <a:srgbClr val="FFFFFF"/>
          </a:solidFill>
          <a:ln w="7620">
            <a:solidFill>
              <a:srgbClr val="1F2326"/>
            </a:solidFill>
            <a:prstDash val="solid"/>
          </a:ln>
        </p:spPr>
      </p:sp>
      <p:sp>
        <p:nvSpPr>
          <p:cNvPr id="10" name="shape-1381"/>
          <p:cNvSpPr/>
          <p:nvPr/>
        </p:nvSpPr>
        <p:spPr>
          <a:xfrm>
            <a:off x="1319022" y="5568696"/>
            <a:ext cx="248031" cy="109728"/>
          </a:xfrm>
          <a:prstGeom prst="rect">
            <a:avLst/>
          </a:prstGeom>
          <a:solidFill>
            <a:schemeClr val="accent1"/>
          </a:solidFill>
          <a:ln w="7620">
            <a:solidFill>
              <a:srgbClr val="1F2326"/>
            </a:solidFill>
            <a:prstDash val="solid"/>
          </a:ln>
        </p:spPr>
      </p:sp>
      <p:sp>
        <p:nvSpPr>
          <p:cNvPr id="11" name="shape-1382"/>
          <p:cNvSpPr/>
          <p:nvPr/>
        </p:nvSpPr>
        <p:spPr>
          <a:xfrm>
            <a:off x="1567053" y="5568696"/>
            <a:ext cx="248031" cy="109728"/>
          </a:xfrm>
          <a:prstGeom prst="rect">
            <a:avLst/>
          </a:prstGeom>
          <a:solidFill>
            <a:srgbClr val="FFFFFF"/>
          </a:solidFill>
          <a:ln w="7620">
            <a:solidFill>
              <a:srgbClr val="1F2326"/>
            </a:solidFill>
            <a:prstDash val="solid"/>
          </a:ln>
        </p:spPr>
      </p:sp>
      <p:sp>
        <p:nvSpPr>
          <p:cNvPr id="12" name="shape-1383"/>
          <p:cNvSpPr/>
          <p:nvPr/>
        </p:nvSpPr>
        <p:spPr>
          <a:xfrm>
            <a:off x="1815084" y="5568696"/>
            <a:ext cx="248031" cy="109728"/>
          </a:xfrm>
          <a:prstGeom prst="rect">
            <a:avLst/>
          </a:prstGeom>
          <a:solidFill>
            <a:schemeClr val="accent1"/>
          </a:solidFill>
          <a:ln w="7620">
            <a:solidFill>
              <a:srgbClr val="1F2326"/>
            </a:solidFill>
            <a:prstDash val="solid"/>
          </a:ln>
        </p:spPr>
      </p:sp>
      <p:sp>
        <p:nvSpPr>
          <p:cNvPr id="13" name="shape-1384"/>
          <p:cNvSpPr/>
          <p:nvPr/>
        </p:nvSpPr>
        <p:spPr>
          <a:xfrm>
            <a:off x="2063115" y="5568696"/>
            <a:ext cx="248031" cy="109728"/>
          </a:xfrm>
          <a:prstGeom prst="rect">
            <a:avLst/>
          </a:prstGeom>
          <a:solidFill>
            <a:srgbClr val="FFFFFF"/>
          </a:solidFill>
          <a:ln w="7620">
            <a:solidFill>
              <a:srgbClr val="1F2326"/>
            </a:solidFill>
            <a:prstDash val="solid"/>
          </a:ln>
        </p:spPr>
      </p:sp>
      <p:sp>
        <p:nvSpPr>
          <p:cNvPr id="14" name="shape-1385"/>
          <p:cNvSpPr/>
          <p:nvPr/>
        </p:nvSpPr>
        <p:spPr>
          <a:xfrm>
            <a:off x="2311146" y="5568696"/>
            <a:ext cx="248031" cy="109728"/>
          </a:xfrm>
          <a:prstGeom prst="rect">
            <a:avLst/>
          </a:prstGeom>
          <a:solidFill>
            <a:schemeClr val="accent1"/>
          </a:solidFill>
          <a:ln w="7620">
            <a:solidFill>
              <a:srgbClr val="1F2326"/>
            </a:solidFill>
            <a:prstDash val="solid"/>
          </a:ln>
        </p:spPr>
      </p:sp>
      <p:sp>
        <p:nvSpPr>
          <p:cNvPr id="15" name="shape-1386"/>
          <p:cNvSpPr/>
          <p:nvPr/>
        </p:nvSpPr>
        <p:spPr>
          <a:xfrm>
            <a:off x="2559177" y="5568696"/>
            <a:ext cx="248031" cy="109728"/>
          </a:xfrm>
          <a:prstGeom prst="rect">
            <a:avLst/>
          </a:prstGeom>
          <a:solidFill>
            <a:srgbClr val="FFFFFF"/>
          </a:solidFill>
          <a:ln w="7620">
            <a:solidFill>
              <a:srgbClr val="1F2326"/>
            </a:solidFill>
            <a:prstDash val="solid"/>
          </a:ln>
        </p:spPr>
      </p:sp>
      <p:sp>
        <p:nvSpPr>
          <p:cNvPr id="16" name="shape-1387"/>
          <p:cNvSpPr/>
          <p:nvPr/>
        </p:nvSpPr>
        <p:spPr>
          <a:xfrm>
            <a:off x="3319272" y="4846320"/>
            <a:ext cx="2670048" cy="1325880"/>
          </a:xfrm>
          <a:prstGeom prst="roundRect">
            <a:avLst>
              <a:gd name="adj" fmla="val 5517"/>
            </a:avLst>
          </a:prstGeom>
          <a:solidFill>
            <a:srgbClr val="F4F5F7"/>
          </a:solidFill>
          <a:ln w="9525">
            <a:solidFill>
              <a:srgbClr val="E3E5E8"/>
            </a:solidFill>
            <a:prstDash val="solid"/>
          </a:ln>
        </p:spPr>
      </p:sp>
      <p:sp>
        <p:nvSpPr>
          <p:cNvPr id="17" name="text-1388"/>
          <p:cNvSpPr txBox="1"/>
          <p:nvPr/>
        </p:nvSpPr>
        <p:spPr>
          <a:xfrm>
            <a:off x="3456432" y="4937760"/>
            <a:ext cx="2286000" cy="256032"/>
          </a:xfrm>
          <a:prstGeom prst="rect">
            <a:avLst/>
          </a:prstGeom>
          <a:noFill/>
          <a:ln/>
        </p:spPr>
        <p:txBody>
          <a:bodyPr wrap="square" lIns="0" tIns="0" rIns="0" bIns="0" rtlCol="0" anchor="t"/>
          <a:lstStyle/>
          <a:p>
            <a:pPr indent="0" marL="0">
              <a:buNone/>
            </a:pPr>
            <a:r>
              <a:rPr lang="en-US" sz="1150" b="1" dirty="0">
                <a:solidFill>
                  <a:schemeClr val="accent3"/>
                </a:solidFill>
                <a:latin typeface="Calibri" pitchFamily="34" charset="0"/>
                <a:ea typeface="Calibri" pitchFamily="34" charset="-122"/>
                <a:cs typeface="Calibri" pitchFamily="34" charset="-120"/>
              </a:rPr>
              <a:t>Offset left</a:t>
            </a:r>
            <a:endParaRPr lang="en-US" sz="1150" dirty="0"/>
          </a:p>
        </p:txBody>
      </p:sp>
      <p:sp>
        <p:nvSpPr>
          <p:cNvPr id="18" name="shape-1389"/>
          <p:cNvSpPr/>
          <p:nvPr/>
        </p:nvSpPr>
        <p:spPr>
          <a:xfrm>
            <a:off x="3547872" y="5623560"/>
            <a:ext cx="2212848" cy="0"/>
          </a:xfrm>
          <a:prstGeom prst="line">
            <a:avLst/>
          </a:prstGeom>
          <a:noFill/>
          <a:ln w="15875">
            <a:solidFill>
              <a:srgbClr val="1F2326"/>
            </a:solidFill>
            <a:prstDash val="solid"/>
            <a:tailEnd type="triangle"/>
          </a:ln>
        </p:spPr>
      </p:sp>
      <p:sp>
        <p:nvSpPr>
          <p:cNvPr id="19" name="shape-1390"/>
          <p:cNvSpPr/>
          <p:nvPr/>
        </p:nvSpPr>
        <p:spPr>
          <a:xfrm>
            <a:off x="3639312" y="5248656"/>
            <a:ext cx="248031" cy="109728"/>
          </a:xfrm>
          <a:prstGeom prst="rect">
            <a:avLst/>
          </a:prstGeom>
          <a:solidFill>
            <a:schemeClr val="accent1"/>
          </a:solidFill>
          <a:ln w="7620">
            <a:solidFill>
              <a:srgbClr val="1F2326"/>
            </a:solidFill>
            <a:prstDash val="solid"/>
          </a:ln>
        </p:spPr>
      </p:sp>
      <p:sp>
        <p:nvSpPr>
          <p:cNvPr id="20" name="shape-1391"/>
          <p:cNvSpPr/>
          <p:nvPr/>
        </p:nvSpPr>
        <p:spPr>
          <a:xfrm>
            <a:off x="3887343" y="5248656"/>
            <a:ext cx="248031" cy="109728"/>
          </a:xfrm>
          <a:prstGeom prst="rect">
            <a:avLst/>
          </a:prstGeom>
          <a:solidFill>
            <a:srgbClr val="FFFFFF"/>
          </a:solidFill>
          <a:ln w="7620">
            <a:solidFill>
              <a:srgbClr val="1F2326"/>
            </a:solidFill>
            <a:prstDash val="solid"/>
          </a:ln>
        </p:spPr>
      </p:sp>
      <p:sp>
        <p:nvSpPr>
          <p:cNvPr id="21" name="shape-1392"/>
          <p:cNvSpPr/>
          <p:nvPr/>
        </p:nvSpPr>
        <p:spPr>
          <a:xfrm>
            <a:off x="4135374" y="5248656"/>
            <a:ext cx="248031" cy="109728"/>
          </a:xfrm>
          <a:prstGeom prst="rect">
            <a:avLst/>
          </a:prstGeom>
          <a:solidFill>
            <a:schemeClr val="accent1"/>
          </a:solidFill>
          <a:ln w="7620">
            <a:solidFill>
              <a:srgbClr val="1F2326"/>
            </a:solidFill>
            <a:prstDash val="solid"/>
          </a:ln>
        </p:spPr>
      </p:sp>
      <p:sp>
        <p:nvSpPr>
          <p:cNvPr id="22" name="shape-1393"/>
          <p:cNvSpPr/>
          <p:nvPr/>
        </p:nvSpPr>
        <p:spPr>
          <a:xfrm>
            <a:off x="4383405" y="5248656"/>
            <a:ext cx="248031" cy="109728"/>
          </a:xfrm>
          <a:prstGeom prst="rect">
            <a:avLst/>
          </a:prstGeom>
          <a:solidFill>
            <a:srgbClr val="FFFFFF"/>
          </a:solidFill>
          <a:ln w="7620">
            <a:solidFill>
              <a:srgbClr val="1F2326"/>
            </a:solidFill>
            <a:prstDash val="solid"/>
          </a:ln>
        </p:spPr>
      </p:sp>
      <p:sp>
        <p:nvSpPr>
          <p:cNvPr id="23" name="shape-1394"/>
          <p:cNvSpPr/>
          <p:nvPr/>
        </p:nvSpPr>
        <p:spPr>
          <a:xfrm>
            <a:off x="4631436" y="5248656"/>
            <a:ext cx="248031" cy="109728"/>
          </a:xfrm>
          <a:prstGeom prst="rect">
            <a:avLst/>
          </a:prstGeom>
          <a:solidFill>
            <a:schemeClr val="accent1"/>
          </a:solidFill>
          <a:ln w="7620">
            <a:solidFill>
              <a:srgbClr val="1F2326"/>
            </a:solidFill>
            <a:prstDash val="solid"/>
          </a:ln>
        </p:spPr>
      </p:sp>
      <p:sp>
        <p:nvSpPr>
          <p:cNvPr id="24" name="shape-1395"/>
          <p:cNvSpPr/>
          <p:nvPr/>
        </p:nvSpPr>
        <p:spPr>
          <a:xfrm>
            <a:off x="4879467" y="5248656"/>
            <a:ext cx="248031" cy="109728"/>
          </a:xfrm>
          <a:prstGeom prst="rect">
            <a:avLst/>
          </a:prstGeom>
          <a:solidFill>
            <a:srgbClr val="FFFFFF"/>
          </a:solidFill>
          <a:ln w="7620">
            <a:solidFill>
              <a:srgbClr val="1F2326"/>
            </a:solidFill>
            <a:prstDash val="solid"/>
          </a:ln>
        </p:spPr>
      </p:sp>
      <p:sp>
        <p:nvSpPr>
          <p:cNvPr id="25" name="shape-1396"/>
          <p:cNvSpPr/>
          <p:nvPr/>
        </p:nvSpPr>
        <p:spPr>
          <a:xfrm>
            <a:off x="5127498" y="5248656"/>
            <a:ext cx="248031" cy="109728"/>
          </a:xfrm>
          <a:prstGeom prst="rect">
            <a:avLst/>
          </a:prstGeom>
          <a:solidFill>
            <a:schemeClr val="accent1"/>
          </a:solidFill>
          <a:ln w="7620">
            <a:solidFill>
              <a:srgbClr val="1F2326"/>
            </a:solidFill>
            <a:prstDash val="solid"/>
          </a:ln>
        </p:spPr>
      </p:sp>
      <p:sp>
        <p:nvSpPr>
          <p:cNvPr id="26" name="shape-1397"/>
          <p:cNvSpPr/>
          <p:nvPr/>
        </p:nvSpPr>
        <p:spPr>
          <a:xfrm>
            <a:off x="5375529" y="5248656"/>
            <a:ext cx="248031" cy="109728"/>
          </a:xfrm>
          <a:prstGeom prst="rect">
            <a:avLst/>
          </a:prstGeom>
          <a:solidFill>
            <a:srgbClr val="FFFFFF"/>
          </a:solidFill>
          <a:ln w="7620">
            <a:solidFill>
              <a:srgbClr val="1F2326"/>
            </a:solidFill>
            <a:prstDash val="solid"/>
          </a:ln>
        </p:spPr>
      </p:sp>
      <p:sp>
        <p:nvSpPr>
          <p:cNvPr id="27" name="shape-1398"/>
          <p:cNvSpPr/>
          <p:nvPr/>
        </p:nvSpPr>
        <p:spPr>
          <a:xfrm>
            <a:off x="6135624" y="4846320"/>
            <a:ext cx="2670048" cy="1325880"/>
          </a:xfrm>
          <a:prstGeom prst="roundRect">
            <a:avLst>
              <a:gd name="adj" fmla="val 5517"/>
            </a:avLst>
          </a:prstGeom>
          <a:solidFill>
            <a:srgbClr val="F4F5F7"/>
          </a:solidFill>
          <a:ln w="9525">
            <a:solidFill>
              <a:srgbClr val="E3E5E8"/>
            </a:solidFill>
            <a:prstDash val="solid"/>
          </a:ln>
        </p:spPr>
      </p:sp>
      <p:sp>
        <p:nvSpPr>
          <p:cNvPr id="28" name="text-1399"/>
          <p:cNvSpPr txBox="1"/>
          <p:nvPr/>
        </p:nvSpPr>
        <p:spPr>
          <a:xfrm>
            <a:off x="6272784" y="4937760"/>
            <a:ext cx="2286000" cy="256032"/>
          </a:xfrm>
          <a:prstGeom prst="rect">
            <a:avLst/>
          </a:prstGeom>
          <a:noFill/>
          <a:ln/>
        </p:spPr>
        <p:txBody>
          <a:bodyPr wrap="square" lIns="0" tIns="0" rIns="0" bIns="0" rtlCol="0" anchor="t"/>
          <a:lstStyle/>
          <a:p>
            <a:pPr indent="0" marL="0">
              <a:buNone/>
            </a:pPr>
            <a:r>
              <a:rPr lang="en-US" sz="1150" b="1" dirty="0">
                <a:solidFill>
                  <a:schemeClr val="accent3"/>
                </a:solidFill>
                <a:latin typeface="Calibri" pitchFamily="34" charset="0"/>
                <a:ea typeface="Calibri" pitchFamily="34" charset="-122"/>
                <a:cs typeface="Calibri" pitchFamily="34" charset="-120"/>
              </a:rPr>
              <a:t>Offset right</a:t>
            </a:r>
            <a:endParaRPr lang="en-US" sz="1150" dirty="0"/>
          </a:p>
        </p:txBody>
      </p:sp>
      <p:sp>
        <p:nvSpPr>
          <p:cNvPr id="29" name="shape-1400"/>
          <p:cNvSpPr/>
          <p:nvPr/>
        </p:nvSpPr>
        <p:spPr>
          <a:xfrm>
            <a:off x="6364224" y="5623560"/>
            <a:ext cx="2212848" cy="0"/>
          </a:xfrm>
          <a:prstGeom prst="line">
            <a:avLst/>
          </a:prstGeom>
          <a:noFill/>
          <a:ln w="15875">
            <a:solidFill>
              <a:srgbClr val="1F2326"/>
            </a:solidFill>
            <a:prstDash val="solid"/>
            <a:tailEnd type="triangle"/>
          </a:ln>
        </p:spPr>
      </p:sp>
      <p:sp>
        <p:nvSpPr>
          <p:cNvPr id="30" name="shape-1401"/>
          <p:cNvSpPr/>
          <p:nvPr/>
        </p:nvSpPr>
        <p:spPr>
          <a:xfrm>
            <a:off x="6455664" y="5888736"/>
            <a:ext cx="248031" cy="109728"/>
          </a:xfrm>
          <a:prstGeom prst="rect">
            <a:avLst/>
          </a:prstGeom>
          <a:solidFill>
            <a:schemeClr val="accent1"/>
          </a:solidFill>
          <a:ln w="7620">
            <a:solidFill>
              <a:srgbClr val="1F2326"/>
            </a:solidFill>
            <a:prstDash val="solid"/>
          </a:ln>
        </p:spPr>
      </p:sp>
      <p:sp>
        <p:nvSpPr>
          <p:cNvPr id="31" name="shape-1402"/>
          <p:cNvSpPr/>
          <p:nvPr/>
        </p:nvSpPr>
        <p:spPr>
          <a:xfrm>
            <a:off x="6703695" y="5888736"/>
            <a:ext cx="248031" cy="109728"/>
          </a:xfrm>
          <a:prstGeom prst="rect">
            <a:avLst/>
          </a:prstGeom>
          <a:solidFill>
            <a:srgbClr val="FFFFFF"/>
          </a:solidFill>
          <a:ln w="7620">
            <a:solidFill>
              <a:srgbClr val="1F2326"/>
            </a:solidFill>
            <a:prstDash val="solid"/>
          </a:ln>
        </p:spPr>
      </p:sp>
      <p:sp>
        <p:nvSpPr>
          <p:cNvPr id="32" name="shape-1403"/>
          <p:cNvSpPr/>
          <p:nvPr/>
        </p:nvSpPr>
        <p:spPr>
          <a:xfrm>
            <a:off x="6951726" y="5888736"/>
            <a:ext cx="248031" cy="109728"/>
          </a:xfrm>
          <a:prstGeom prst="rect">
            <a:avLst/>
          </a:prstGeom>
          <a:solidFill>
            <a:schemeClr val="accent1"/>
          </a:solidFill>
          <a:ln w="7620">
            <a:solidFill>
              <a:srgbClr val="1F2326"/>
            </a:solidFill>
            <a:prstDash val="solid"/>
          </a:ln>
        </p:spPr>
      </p:sp>
      <p:sp>
        <p:nvSpPr>
          <p:cNvPr id="33" name="shape-1404"/>
          <p:cNvSpPr/>
          <p:nvPr/>
        </p:nvSpPr>
        <p:spPr>
          <a:xfrm>
            <a:off x="7199757" y="5888736"/>
            <a:ext cx="248031" cy="109728"/>
          </a:xfrm>
          <a:prstGeom prst="rect">
            <a:avLst/>
          </a:prstGeom>
          <a:solidFill>
            <a:srgbClr val="FFFFFF"/>
          </a:solidFill>
          <a:ln w="7620">
            <a:solidFill>
              <a:srgbClr val="1F2326"/>
            </a:solidFill>
            <a:prstDash val="solid"/>
          </a:ln>
        </p:spPr>
      </p:sp>
      <p:sp>
        <p:nvSpPr>
          <p:cNvPr id="34" name="shape-1405"/>
          <p:cNvSpPr/>
          <p:nvPr/>
        </p:nvSpPr>
        <p:spPr>
          <a:xfrm>
            <a:off x="7447788" y="5888736"/>
            <a:ext cx="248031" cy="109728"/>
          </a:xfrm>
          <a:prstGeom prst="rect">
            <a:avLst/>
          </a:prstGeom>
          <a:solidFill>
            <a:schemeClr val="accent1"/>
          </a:solidFill>
          <a:ln w="7620">
            <a:solidFill>
              <a:srgbClr val="1F2326"/>
            </a:solidFill>
            <a:prstDash val="solid"/>
          </a:ln>
        </p:spPr>
      </p:sp>
      <p:sp>
        <p:nvSpPr>
          <p:cNvPr id="35" name="shape-1406"/>
          <p:cNvSpPr/>
          <p:nvPr/>
        </p:nvSpPr>
        <p:spPr>
          <a:xfrm>
            <a:off x="7695819" y="5888736"/>
            <a:ext cx="248031" cy="109728"/>
          </a:xfrm>
          <a:prstGeom prst="rect">
            <a:avLst/>
          </a:prstGeom>
          <a:solidFill>
            <a:srgbClr val="FFFFFF"/>
          </a:solidFill>
          <a:ln w="7620">
            <a:solidFill>
              <a:srgbClr val="1F2326"/>
            </a:solidFill>
            <a:prstDash val="solid"/>
          </a:ln>
        </p:spPr>
      </p:sp>
      <p:sp>
        <p:nvSpPr>
          <p:cNvPr id="36" name="shape-1407"/>
          <p:cNvSpPr/>
          <p:nvPr/>
        </p:nvSpPr>
        <p:spPr>
          <a:xfrm>
            <a:off x="7943850" y="5888736"/>
            <a:ext cx="248031" cy="109728"/>
          </a:xfrm>
          <a:prstGeom prst="rect">
            <a:avLst/>
          </a:prstGeom>
          <a:solidFill>
            <a:schemeClr val="accent1"/>
          </a:solidFill>
          <a:ln w="7620">
            <a:solidFill>
              <a:srgbClr val="1F2326"/>
            </a:solidFill>
            <a:prstDash val="solid"/>
          </a:ln>
        </p:spPr>
      </p:sp>
      <p:sp>
        <p:nvSpPr>
          <p:cNvPr id="37" name="shape-1408"/>
          <p:cNvSpPr/>
          <p:nvPr/>
        </p:nvSpPr>
        <p:spPr>
          <a:xfrm>
            <a:off x="8191881" y="5888736"/>
            <a:ext cx="248031" cy="109728"/>
          </a:xfrm>
          <a:prstGeom prst="rect">
            <a:avLst/>
          </a:prstGeom>
          <a:solidFill>
            <a:srgbClr val="FFFFFF"/>
          </a:solidFill>
          <a:ln w="7620">
            <a:solidFill>
              <a:srgbClr val="1F2326"/>
            </a:solidFill>
            <a:prstDash val="solid"/>
          </a:ln>
        </p:spPr>
      </p:sp>
      <p:sp>
        <p:nvSpPr>
          <p:cNvPr id="38" name="shape-1409"/>
          <p:cNvSpPr/>
          <p:nvPr/>
        </p:nvSpPr>
        <p:spPr>
          <a:xfrm>
            <a:off x="8951976" y="4846320"/>
            <a:ext cx="2670048" cy="1325880"/>
          </a:xfrm>
          <a:prstGeom prst="roundRect">
            <a:avLst>
              <a:gd name="adj" fmla="val 5517"/>
            </a:avLst>
          </a:prstGeom>
          <a:solidFill>
            <a:srgbClr val="F4F5F7"/>
          </a:solidFill>
          <a:ln w="9525">
            <a:solidFill>
              <a:srgbClr val="E3E5E8"/>
            </a:solidFill>
            <a:prstDash val="solid"/>
          </a:ln>
        </p:spPr>
      </p:sp>
      <p:sp>
        <p:nvSpPr>
          <p:cNvPr id="39" name="text-1410"/>
          <p:cNvSpPr txBox="1"/>
          <p:nvPr/>
        </p:nvSpPr>
        <p:spPr>
          <a:xfrm>
            <a:off x="9089136" y="4937760"/>
            <a:ext cx="2286000" cy="256032"/>
          </a:xfrm>
          <a:prstGeom prst="rect">
            <a:avLst/>
          </a:prstGeom>
          <a:noFill/>
          <a:ln/>
        </p:spPr>
        <p:txBody>
          <a:bodyPr wrap="square" lIns="0" tIns="0" rIns="0" bIns="0" rtlCol="0" anchor="t"/>
          <a:lstStyle/>
          <a:p>
            <a:pPr indent="0" marL="0">
              <a:buNone/>
            </a:pPr>
            <a:r>
              <a:rPr lang="en-US" sz="1150" b="1" dirty="0">
                <a:solidFill>
                  <a:schemeClr val="accent3"/>
                </a:solidFill>
                <a:latin typeface="Calibri" pitchFamily="34" charset="0"/>
                <a:ea typeface="Calibri" pitchFamily="34" charset="-122"/>
                <a:cs typeface="Calibri" pitchFamily="34" charset="-120"/>
              </a:rPr>
              <a:t>Both sides</a:t>
            </a:r>
            <a:endParaRPr lang="en-US" sz="1150" dirty="0"/>
          </a:p>
        </p:txBody>
      </p:sp>
      <p:sp>
        <p:nvSpPr>
          <p:cNvPr id="40" name="shape-1411"/>
          <p:cNvSpPr/>
          <p:nvPr/>
        </p:nvSpPr>
        <p:spPr>
          <a:xfrm>
            <a:off x="9180576" y="5623560"/>
            <a:ext cx="2212848" cy="0"/>
          </a:xfrm>
          <a:prstGeom prst="line">
            <a:avLst/>
          </a:prstGeom>
          <a:noFill/>
          <a:ln w="15875">
            <a:solidFill>
              <a:srgbClr val="1F2326"/>
            </a:solidFill>
            <a:prstDash val="solid"/>
            <a:tailEnd type="triangle"/>
          </a:ln>
        </p:spPr>
      </p:sp>
      <p:sp>
        <p:nvSpPr>
          <p:cNvPr id="41" name="shape-1412"/>
          <p:cNvSpPr/>
          <p:nvPr/>
        </p:nvSpPr>
        <p:spPr>
          <a:xfrm>
            <a:off x="9272016" y="5248656"/>
            <a:ext cx="248031" cy="109728"/>
          </a:xfrm>
          <a:prstGeom prst="rect">
            <a:avLst/>
          </a:prstGeom>
          <a:solidFill>
            <a:schemeClr val="accent1"/>
          </a:solidFill>
          <a:ln w="7620">
            <a:solidFill>
              <a:srgbClr val="1F2326"/>
            </a:solidFill>
            <a:prstDash val="solid"/>
          </a:ln>
        </p:spPr>
      </p:sp>
      <p:sp>
        <p:nvSpPr>
          <p:cNvPr id="42" name="shape-1413"/>
          <p:cNvSpPr/>
          <p:nvPr/>
        </p:nvSpPr>
        <p:spPr>
          <a:xfrm>
            <a:off x="9520047" y="5248656"/>
            <a:ext cx="248031" cy="109728"/>
          </a:xfrm>
          <a:prstGeom prst="rect">
            <a:avLst/>
          </a:prstGeom>
          <a:solidFill>
            <a:srgbClr val="FFFFFF"/>
          </a:solidFill>
          <a:ln w="7620">
            <a:solidFill>
              <a:srgbClr val="1F2326"/>
            </a:solidFill>
            <a:prstDash val="solid"/>
          </a:ln>
        </p:spPr>
      </p:sp>
      <p:sp>
        <p:nvSpPr>
          <p:cNvPr id="43" name="shape-1414"/>
          <p:cNvSpPr/>
          <p:nvPr/>
        </p:nvSpPr>
        <p:spPr>
          <a:xfrm>
            <a:off x="9768078" y="5248656"/>
            <a:ext cx="248031" cy="109728"/>
          </a:xfrm>
          <a:prstGeom prst="rect">
            <a:avLst/>
          </a:prstGeom>
          <a:solidFill>
            <a:schemeClr val="accent1"/>
          </a:solidFill>
          <a:ln w="7620">
            <a:solidFill>
              <a:srgbClr val="1F2326"/>
            </a:solidFill>
            <a:prstDash val="solid"/>
          </a:ln>
        </p:spPr>
      </p:sp>
      <p:sp>
        <p:nvSpPr>
          <p:cNvPr id="44" name="shape-1415"/>
          <p:cNvSpPr/>
          <p:nvPr/>
        </p:nvSpPr>
        <p:spPr>
          <a:xfrm>
            <a:off x="10016109" y="5248656"/>
            <a:ext cx="248031" cy="109728"/>
          </a:xfrm>
          <a:prstGeom prst="rect">
            <a:avLst/>
          </a:prstGeom>
          <a:solidFill>
            <a:srgbClr val="FFFFFF"/>
          </a:solidFill>
          <a:ln w="7620">
            <a:solidFill>
              <a:srgbClr val="1F2326"/>
            </a:solidFill>
            <a:prstDash val="solid"/>
          </a:ln>
        </p:spPr>
      </p:sp>
      <p:sp>
        <p:nvSpPr>
          <p:cNvPr id="45" name="shape-1416"/>
          <p:cNvSpPr/>
          <p:nvPr/>
        </p:nvSpPr>
        <p:spPr>
          <a:xfrm>
            <a:off x="10264140" y="5248656"/>
            <a:ext cx="248031" cy="109728"/>
          </a:xfrm>
          <a:prstGeom prst="rect">
            <a:avLst/>
          </a:prstGeom>
          <a:solidFill>
            <a:schemeClr val="accent1"/>
          </a:solidFill>
          <a:ln w="7620">
            <a:solidFill>
              <a:srgbClr val="1F2326"/>
            </a:solidFill>
            <a:prstDash val="solid"/>
          </a:ln>
        </p:spPr>
      </p:sp>
      <p:sp>
        <p:nvSpPr>
          <p:cNvPr id="46" name="shape-1417"/>
          <p:cNvSpPr/>
          <p:nvPr/>
        </p:nvSpPr>
        <p:spPr>
          <a:xfrm>
            <a:off x="10512171" y="5248656"/>
            <a:ext cx="248031" cy="109728"/>
          </a:xfrm>
          <a:prstGeom prst="rect">
            <a:avLst/>
          </a:prstGeom>
          <a:solidFill>
            <a:srgbClr val="FFFFFF"/>
          </a:solidFill>
          <a:ln w="7620">
            <a:solidFill>
              <a:srgbClr val="1F2326"/>
            </a:solidFill>
            <a:prstDash val="solid"/>
          </a:ln>
        </p:spPr>
      </p:sp>
      <p:sp>
        <p:nvSpPr>
          <p:cNvPr id="47" name="shape-1418"/>
          <p:cNvSpPr/>
          <p:nvPr/>
        </p:nvSpPr>
        <p:spPr>
          <a:xfrm>
            <a:off x="10760202" y="5248656"/>
            <a:ext cx="248031" cy="109728"/>
          </a:xfrm>
          <a:prstGeom prst="rect">
            <a:avLst/>
          </a:prstGeom>
          <a:solidFill>
            <a:schemeClr val="accent1"/>
          </a:solidFill>
          <a:ln w="7620">
            <a:solidFill>
              <a:srgbClr val="1F2326"/>
            </a:solidFill>
            <a:prstDash val="solid"/>
          </a:ln>
        </p:spPr>
      </p:sp>
      <p:sp>
        <p:nvSpPr>
          <p:cNvPr id="48" name="shape-1419"/>
          <p:cNvSpPr/>
          <p:nvPr/>
        </p:nvSpPr>
        <p:spPr>
          <a:xfrm>
            <a:off x="11008233" y="5248656"/>
            <a:ext cx="248031" cy="109728"/>
          </a:xfrm>
          <a:prstGeom prst="rect">
            <a:avLst/>
          </a:prstGeom>
          <a:solidFill>
            <a:srgbClr val="FFFFFF"/>
          </a:solidFill>
          <a:ln w="7620">
            <a:solidFill>
              <a:srgbClr val="1F2326"/>
            </a:solidFill>
            <a:prstDash val="solid"/>
          </a:ln>
        </p:spPr>
      </p:sp>
      <p:sp>
        <p:nvSpPr>
          <p:cNvPr id="49" name="shape-1420"/>
          <p:cNvSpPr/>
          <p:nvPr/>
        </p:nvSpPr>
        <p:spPr>
          <a:xfrm>
            <a:off x="9272016" y="5888736"/>
            <a:ext cx="248031" cy="109728"/>
          </a:xfrm>
          <a:prstGeom prst="rect">
            <a:avLst/>
          </a:prstGeom>
          <a:solidFill>
            <a:schemeClr val="accent1"/>
          </a:solidFill>
          <a:ln w="7620">
            <a:solidFill>
              <a:srgbClr val="1F2326"/>
            </a:solidFill>
            <a:prstDash val="solid"/>
          </a:ln>
        </p:spPr>
      </p:sp>
      <p:sp>
        <p:nvSpPr>
          <p:cNvPr id="50" name="shape-1421"/>
          <p:cNvSpPr/>
          <p:nvPr/>
        </p:nvSpPr>
        <p:spPr>
          <a:xfrm>
            <a:off x="9520047" y="5888736"/>
            <a:ext cx="248031" cy="109728"/>
          </a:xfrm>
          <a:prstGeom prst="rect">
            <a:avLst/>
          </a:prstGeom>
          <a:solidFill>
            <a:srgbClr val="FFFFFF"/>
          </a:solidFill>
          <a:ln w="7620">
            <a:solidFill>
              <a:srgbClr val="1F2326"/>
            </a:solidFill>
            <a:prstDash val="solid"/>
          </a:ln>
        </p:spPr>
      </p:sp>
      <p:sp>
        <p:nvSpPr>
          <p:cNvPr id="51" name="shape-1422"/>
          <p:cNvSpPr/>
          <p:nvPr/>
        </p:nvSpPr>
        <p:spPr>
          <a:xfrm>
            <a:off x="9768078" y="5888736"/>
            <a:ext cx="248031" cy="109728"/>
          </a:xfrm>
          <a:prstGeom prst="rect">
            <a:avLst/>
          </a:prstGeom>
          <a:solidFill>
            <a:schemeClr val="accent1"/>
          </a:solidFill>
          <a:ln w="7620">
            <a:solidFill>
              <a:srgbClr val="1F2326"/>
            </a:solidFill>
            <a:prstDash val="solid"/>
          </a:ln>
        </p:spPr>
      </p:sp>
      <p:sp>
        <p:nvSpPr>
          <p:cNvPr id="52" name="shape-1423"/>
          <p:cNvSpPr/>
          <p:nvPr/>
        </p:nvSpPr>
        <p:spPr>
          <a:xfrm>
            <a:off x="10016109" y="5888736"/>
            <a:ext cx="248031" cy="109728"/>
          </a:xfrm>
          <a:prstGeom prst="rect">
            <a:avLst/>
          </a:prstGeom>
          <a:solidFill>
            <a:srgbClr val="FFFFFF"/>
          </a:solidFill>
          <a:ln w="7620">
            <a:solidFill>
              <a:srgbClr val="1F2326"/>
            </a:solidFill>
            <a:prstDash val="solid"/>
          </a:ln>
        </p:spPr>
      </p:sp>
      <p:sp>
        <p:nvSpPr>
          <p:cNvPr id="53" name="shape-1424"/>
          <p:cNvSpPr/>
          <p:nvPr/>
        </p:nvSpPr>
        <p:spPr>
          <a:xfrm>
            <a:off x="10264140" y="5888736"/>
            <a:ext cx="248031" cy="109728"/>
          </a:xfrm>
          <a:prstGeom prst="rect">
            <a:avLst/>
          </a:prstGeom>
          <a:solidFill>
            <a:schemeClr val="accent1"/>
          </a:solidFill>
          <a:ln w="7620">
            <a:solidFill>
              <a:srgbClr val="1F2326"/>
            </a:solidFill>
            <a:prstDash val="solid"/>
          </a:ln>
        </p:spPr>
      </p:sp>
      <p:sp>
        <p:nvSpPr>
          <p:cNvPr id="54" name="shape-1425"/>
          <p:cNvSpPr/>
          <p:nvPr/>
        </p:nvSpPr>
        <p:spPr>
          <a:xfrm>
            <a:off x="10512171" y="5888736"/>
            <a:ext cx="248031" cy="109728"/>
          </a:xfrm>
          <a:prstGeom prst="rect">
            <a:avLst/>
          </a:prstGeom>
          <a:solidFill>
            <a:srgbClr val="FFFFFF"/>
          </a:solidFill>
          <a:ln w="7620">
            <a:solidFill>
              <a:srgbClr val="1F2326"/>
            </a:solidFill>
            <a:prstDash val="solid"/>
          </a:ln>
        </p:spPr>
      </p:sp>
      <p:sp>
        <p:nvSpPr>
          <p:cNvPr id="55" name="shape-1426"/>
          <p:cNvSpPr/>
          <p:nvPr/>
        </p:nvSpPr>
        <p:spPr>
          <a:xfrm>
            <a:off x="10760202" y="5888736"/>
            <a:ext cx="248031" cy="109728"/>
          </a:xfrm>
          <a:prstGeom prst="rect">
            <a:avLst/>
          </a:prstGeom>
          <a:solidFill>
            <a:schemeClr val="accent1"/>
          </a:solidFill>
          <a:ln w="7620">
            <a:solidFill>
              <a:srgbClr val="1F2326"/>
            </a:solidFill>
            <a:prstDash val="solid"/>
          </a:ln>
        </p:spPr>
      </p:sp>
      <p:sp>
        <p:nvSpPr>
          <p:cNvPr id="56" name="shape-1427"/>
          <p:cNvSpPr/>
          <p:nvPr/>
        </p:nvSpPr>
        <p:spPr>
          <a:xfrm>
            <a:off x="11008233" y="5888736"/>
            <a:ext cx="248031" cy="109728"/>
          </a:xfrm>
          <a:prstGeom prst="rect">
            <a:avLst/>
          </a:prstGeom>
          <a:solidFill>
            <a:srgbClr val="FFFFFF"/>
          </a:solidFill>
          <a:ln w="7620">
            <a:solidFill>
              <a:srgbClr val="1F2326"/>
            </a:solidFill>
            <a:prstDash val="solid"/>
          </a:ln>
        </p:spPr>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G  ·  RDR</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Make the report and the Excel file</a:t>
            </a:r>
            <a:endParaRPr lang="en-US" sz="2600" dirty="0"/>
          </a:p>
        </p:txBody>
      </p:sp>
      <p:sp>
        <p:nvSpPr>
          <p:cNvPr id="4" name="shape-1428"/>
          <p:cNvSpPr/>
          <p:nvPr/>
        </p:nvSpPr>
        <p:spPr>
          <a:xfrm>
            <a:off x="502920" y="1325880"/>
            <a:ext cx="329184" cy="329184"/>
          </a:xfrm>
          <a:prstGeom prst="ellipse">
            <a:avLst/>
          </a:prstGeom>
          <a:solidFill>
            <a:schemeClr val="accent1"/>
          </a:solidFill>
          <a:ln/>
        </p:spPr>
      </p:sp>
      <p:sp>
        <p:nvSpPr>
          <p:cNvPr id="5" name="text-1429"/>
          <p:cNvSpPr txBox="1"/>
          <p:nvPr/>
        </p:nvSpPr>
        <p:spPr>
          <a:xfrm>
            <a:off x="502920" y="13258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1430"/>
          <p:cNvSpPr txBox="1"/>
          <p:nvPr/>
        </p:nvSpPr>
        <p:spPr>
          <a:xfrm>
            <a:off x="978408" y="1307592"/>
            <a:ext cx="5285232" cy="69494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Save the drawing</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The Excel (CSV) file is written in the same folder as the DWG.</a:t>
            </a:r>
            <a:endParaRPr lang="en-US" sz="1200" dirty="0"/>
          </a:p>
        </p:txBody>
      </p:sp>
      <p:sp>
        <p:nvSpPr>
          <p:cNvPr id="7" name="shape-1431"/>
          <p:cNvSpPr/>
          <p:nvPr/>
        </p:nvSpPr>
        <p:spPr>
          <a:xfrm>
            <a:off x="502920" y="2057400"/>
            <a:ext cx="329184" cy="329184"/>
          </a:xfrm>
          <a:prstGeom prst="ellipse">
            <a:avLst/>
          </a:prstGeom>
          <a:solidFill>
            <a:schemeClr val="accent1"/>
          </a:solidFill>
          <a:ln/>
        </p:spPr>
      </p:sp>
      <p:sp>
        <p:nvSpPr>
          <p:cNvPr id="8" name="text-1432"/>
          <p:cNvSpPr txBox="1"/>
          <p:nvPr/>
        </p:nvSpPr>
        <p:spPr>
          <a:xfrm>
            <a:off x="502920" y="20574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9" name="text-1433"/>
          <p:cNvSpPr txBox="1"/>
          <p:nvPr/>
        </p:nvSpPr>
        <p:spPr>
          <a:xfrm>
            <a:off x="978408" y="2039112"/>
            <a:ext cx="5285232" cy="69494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Type RDR, select the road CL</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Any RoadPro road: main road or branch.</a:t>
            </a:r>
            <a:endParaRPr lang="en-US" sz="1200" dirty="0"/>
          </a:p>
        </p:txBody>
      </p:sp>
      <p:sp>
        <p:nvSpPr>
          <p:cNvPr id="10" name="shape-1434"/>
          <p:cNvSpPr/>
          <p:nvPr/>
        </p:nvSpPr>
        <p:spPr>
          <a:xfrm>
            <a:off x="502920" y="2788920"/>
            <a:ext cx="329184" cy="329184"/>
          </a:xfrm>
          <a:prstGeom prst="ellipse">
            <a:avLst/>
          </a:prstGeom>
          <a:solidFill>
            <a:schemeClr val="accent1"/>
          </a:solidFill>
          <a:ln/>
        </p:spPr>
      </p:sp>
      <p:sp>
        <p:nvSpPr>
          <p:cNvPr id="11" name="text-1435"/>
          <p:cNvSpPr txBox="1"/>
          <p:nvPr/>
        </p:nvSpPr>
        <p:spPr>
          <a:xfrm>
            <a:off x="502920" y="27889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2" name="text-1436"/>
          <p:cNvSpPr txBox="1"/>
          <p:nvPr/>
        </p:nvSpPr>
        <p:spPr>
          <a:xfrm>
            <a:off x="978408" y="2770632"/>
            <a:ext cx="5285232" cy="69494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Read the summary</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Printed on the command line (F2 shows it all).</a:t>
            </a:r>
            <a:endParaRPr lang="en-US" sz="1200" dirty="0"/>
          </a:p>
        </p:txBody>
      </p:sp>
      <p:sp>
        <p:nvSpPr>
          <p:cNvPr id="13" name="shape-1437"/>
          <p:cNvSpPr/>
          <p:nvPr/>
        </p:nvSpPr>
        <p:spPr>
          <a:xfrm>
            <a:off x="502920" y="3520440"/>
            <a:ext cx="329184" cy="329184"/>
          </a:xfrm>
          <a:prstGeom prst="ellipse">
            <a:avLst/>
          </a:prstGeom>
          <a:solidFill>
            <a:schemeClr val="accent1"/>
          </a:solidFill>
          <a:ln/>
        </p:spPr>
      </p:sp>
      <p:sp>
        <p:nvSpPr>
          <p:cNvPr id="14" name="text-1438"/>
          <p:cNvSpPr txBox="1"/>
          <p:nvPr/>
        </p:nvSpPr>
        <p:spPr>
          <a:xfrm>
            <a:off x="502920" y="35204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5" name="text-1439"/>
          <p:cNvSpPr txBox="1"/>
          <p:nvPr/>
        </p:nvSpPr>
        <p:spPr>
          <a:xfrm>
            <a:off x="978408" y="3502152"/>
            <a:ext cx="5285232" cy="69494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Excel file is saved</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ROAD-01_RoadPro_Report.csv next to the DWG.</a:t>
            </a:r>
            <a:endParaRPr lang="en-US" sz="1200" dirty="0"/>
          </a:p>
        </p:txBody>
      </p:sp>
      <p:sp>
        <p:nvSpPr>
          <p:cNvPr id="16" name="shape-1440"/>
          <p:cNvSpPr/>
          <p:nvPr/>
        </p:nvSpPr>
        <p:spPr>
          <a:xfrm>
            <a:off x="502920" y="4251960"/>
            <a:ext cx="329184" cy="329184"/>
          </a:xfrm>
          <a:prstGeom prst="ellipse">
            <a:avLst/>
          </a:prstGeom>
          <a:solidFill>
            <a:schemeClr val="accent1"/>
          </a:solidFill>
          <a:ln/>
        </p:spPr>
      </p:sp>
      <p:sp>
        <p:nvSpPr>
          <p:cNvPr id="17" name="text-1441"/>
          <p:cNvSpPr txBox="1"/>
          <p:nvPr/>
        </p:nvSpPr>
        <p:spPr>
          <a:xfrm>
            <a:off x="502920" y="4251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8" name="text-1442"/>
          <p:cNvSpPr txBox="1"/>
          <p:nvPr/>
        </p:nvSpPr>
        <p:spPr>
          <a:xfrm>
            <a:off x="978408" y="4233672"/>
            <a:ext cx="5285232" cy="69494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Place the tables</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Pick the top-left corner, or Enter to skip the drawing tables.</a:t>
            </a:r>
            <a:endParaRPr lang="en-US" sz="1200" dirty="0"/>
          </a:p>
        </p:txBody>
      </p:sp>
      <p:sp>
        <p:nvSpPr>
          <p:cNvPr id="19" name="shape-1443"/>
          <p:cNvSpPr/>
          <p:nvPr/>
        </p:nvSpPr>
        <p:spPr>
          <a:xfrm>
            <a:off x="502920" y="4983480"/>
            <a:ext cx="329184" cy="329184"/>
          </a:xfrm>
          <a:prstGeom prst="ellipse">
            <a:avLst/>
          </a:prstGeom>
          <a:solidFill>
            <a:schemeClr val="accent1"/>
          </a:solidFill>
          <a:ln/>
        </p:spPr>
      </p:sp>
      <p:sp>
        <p:nvSpPr>
          <p:cNvPr id="20" name="text-1444"/>
          <p:cNvSpPr txBox="1"/>
          <p:nvPr/>
        </p:nvSpPr>
        <p:spPr>
          <a:xfrm>
            <a:off x="502920" y="4983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1" name="text-1445"/>
          <p:cNvSpPr txBox="1"/>
          <p:nvPr/>
        </p:nvSpPr>
        <p:spPr>
          <a:xfrm>
            <a:off x="978408" y="4965192"/>
            <a:ext cx="5285232" cy="694944"/>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Open Excel?</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Yes opens the CSV, No continues. Close it before you run RDR again.</a:t>
            </a:r>
            <a:endParaRPr lang="en-US" sz="1200" dirty="0"/>
          </a:p>
        </p:txBody>
      </p:sp>
      <p:sp>
        <p:nvSpPr>
          <p:cNvPr id="22" name="shape-1446"/>
          <p:cNvSpPr/>
          <p:nvPr/>
        </p:nvSpPr>
        <p:spPr>
          <a:xfrm>
            <a:off x="6492240" y="1325880"/>
            <a:ext cx="5166360" cy="3291840"/>
          </a:xfrm>
          <a:prstGeom prst="roundRect">
            <a:avLst>
              <a:gd name="adj" fmla="val 1667"/>
            </a:avLst>
          </a:prstGeom>
          <a:solidFill>
            <a:srgbClr val="1F2326"/>
          </a:solidFill>
          <a:ln/>
        </p:spPr>
      </p:sp>
      <p:sp>
        <p:nvSpPr>
          <p:cNvPr id="23" name="text-1447"/>
          <p:cNvSpPr txBox="1"/>
          <p:nvPr/>
        </p:nvSpPr>
        <p:spPr>
          <a:xfrm>
            <a:off x="6656832" y="1453896"/>
            <a:ext cx="4837176" cy="3035808"/>
          </a:xfrm>
          <a:prstGeom prst="rect">
            <a:avLst/>
          </a:prstGeom>
          <a:noFill/>
          <a:ln/>
        </p:spPr>
        <p:txBody>
          <a:bodyPr wrap="square" lIns="0" tIns="0" rIns="0" bIns="0" rtlCol="0" anchor="t"/>
          <a:lstStyle/>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Command: </a:t>
            </a:r>
            <a:pPr indent="0" marL="0">
              <a:spcAft>
                <a:spcPts val="200"/>
              </a:spcAft>
              <a:buNone/>
            </a:pPr>
            <a:r>
              <a:rPr lang="en-US" sz="900" b="1" dirty="0">
                <a:solidFill>
                  <a:srgbClr val="F2B705"/>
                </a:solidFill>
                <a:latin typeface="Courier New" pitchFamily="34" charset="0"/>
                <a:ea typeface="Courier New" pitchFamily="34" charset="-122"/>
                <a:cs typeface="Courier New" pitchFamily="34" charset="-120"/>
              </a:rPr>
              <a:t>RDR</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Select the road centre line: </a:t>
            </a:r>
            <a:pPr indent="0" marL="0">
              <a:spcAft>
                <a:spcPts val="200"/>
              </a:spcAft>
              <a:buNone/>
            </a:pPr>
            <a:r>
              <a:rPr lang="en-US" sz="900" b="1" dirty="0">
                <a:solidFill>
                  <a:srgbClr val="F2B705"/>
                </a:solidFill>
                <a:latin typeface="Courier New" pitchFamily="34" charset="0"/>
                <a:ea typeface="Courier New" pitchFamily="34" charset="-122"/>
                <a:cs typeface="Courier New" pitchFamily="34" charset="-120"/>
              </a:rPr>
              <a:t>pick</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 ROAD PRO REPORT - ROAD-01 =======</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  Centre line length : 412.350 m</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  Road surface area  : 3010.16 m2</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  Edge treatment     : Barricades</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  Barricade units    : 418 (209 red / 209 white)</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  Signs              : 14</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  Excel report saved : D:\Project\ROAD-01_...csv</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Pick top-left corner for report tables: </a:t>
            </a:r>
            <a:pPr indent="0" marL="0">
              <a:spcAft>
                <a:spcPts val="200"/>
              </a:spcAft>
              <a:buNone/>
            </a:pPr>
            <a:r>
              <a:rPr lang="en-US" sz="900" b="1" dirty="0">
                <a:solidFill>
                  <a:srgbClr val="F2B705"/>
                </a:solidFill>
                <a:latin typeface="Courier New" pitchFamily="34" charset="0"/>
                <a:ea typeface="Courier New" pitchFamily="34" charset="-122"/>
                <a:cs typeface="Courier New" pitchFamily="34" charset="-120"/>
              </a:rPr>
              <a:t>pick</a:t>
            </a:r>
            <a:endParaRPr lang="en-US" sz="900" dirty="0"/>
          </a:p>
          <a:p>
            <a:pPr indent="0" marL="0">
              <a:spcAft>
                <a:spcPts val="200"/>
              </a:spcAft>
              <a:buNone/>
            </a:pPr>
            <a:r>
              <a:rPr lang="en-US" sz="900" dirty="0">
                <a:solidFill>
                  <a:srgbClr val="E8EAED"/>
                </a:solidFill>
                <a:latin typeface="Courier New" pitchFamily="34" charset="0"/>
                <a:ea typeface="Courier New" pitchFamily="34" charset="-122"/>
                <a:cs typeface="Courier New" pitchFamily="34" charset="-120"/>
              </a:rPr>
              <a:t>Open the Excel report now? [Yes/No]: </a:t>
            </a:r>
            <a:pPr indent="0" marL="0">
              <a:spcAft>
                <a:spcPts val="200"/>
              </a:spcAft>
              <a:buNone/>
            </a:pPr>
            <a:r>
              <a:rPr lang="en-US" sz="900" b="1" dirty="0">
                <a:solidFill>
                  <a:srgbClr val="F2B705"/>
                </a:solidFill>
                <a:latin typeface="Courier New" pitchFamily="34" charset="0"/>
                <a:ea typeface="Courier New" pitchFamily="34" charset="-122"/>
                <a:cs typeface="Courier New" pitchFamily="34" charset="-120"/>
              </a:rPr>
              <a:t>Y</a:t>
            </a:r>
            <a:endParaRPr lang="en-US" sz="900" dirty="0"/>
          </a:p>
        </p:txBody>
      </p:sp>
      <p:sp>
        <p:nvSpPr>
          <p:cNvPr id="24" name="shape-1448"/>
          <p:cNvSpPr/>
          <p:nvPr/>
        </p:nvSpPr>
        <p:spPr>
          <a:xfrm>
            <a:off x="6492240" y="4800600"/>
            <a:ext cx="5166360" cy="1371600"/>
          </a:xfrm>
          <a:prstGeom prst="roundRect">
            <a:avLst>
              <a:gd name="adj" fmla="val 5333"/>
            </a:avLst>
          </a:prstGeom>
          <a:solidFill>
            <a:srgbClr val="FFF6D6"/>
          </a:solidFill>
          <a:ln w="9525">
            <a:solidFill>
              <a:srgbClr val="F2D27A"/>
            </a:solidFill>
            <a:prstDash val="solid"/>
          </a:ln>
        </p:spPr>
      </p:sp>
      <p:sp>
        <p:nvSpPr>
          <p:cNvPr id="25" name="text-1449"/>
          <p:cNvSpPr txBox="1"/>
          <p:nvPr/>
        </p:nvSpPr>
        <p:spPr>
          <a:xfrm>
            <a:off x="6638544" y="4873752"/>
            <a:ext cx="4873752" cy="1225296"/>
          </a:xfrm>
          <a:prstGeom prst="rect">
            <a:avLst/>
          </a:prstGeom>
          <a:noFill/>
          <a:ln/>
        </p:spPr>
        <p:txBody>
          <a:bodyPr wrap="square" lIns="0" tIns="0" rIns="0" bIns="0" rtlCol="0" anchor="ctr"/>
          <a:lstStyle/>
          <a:p>
            <a:pPr indent="0" marL="0">
              <a:buNone/>
            </a:pPr>
            <a:r>
              <a:rPr lang="en-US" sz="1100" b="1" dirty="0">
                <a:solidFill>
                  <a:srgbClr val="A65F00"/>
                </a:solidFill>
                <a:latin typeface="Calibri" pitchFamily="34" charset="0"/>
                <a:ea typeface="Calibri" pitchFamily="34" charset="-122"/>
                <a:cs typeface="Calibri" pitchFamily="34" charset="-120"/>
              </a:rPr>
              <a:t>Remember  </a:t>
            </a:r>
            <a:pPr indent="0" marL="0">
              <a:buNone/>
            </a:pPr>
            <a:r>
              <a:rPr lang="en-US" sz="1100" dirty="0">
                <a:solidFill>
                  <a:srgbClr val="3A3F45"/>
                </a:solidFill>
                <a:latin typeface="Calibri" pitchFamily="34" charset="0"/>
                <a:ea typeface="Calibri" pitchFamily="34" charset="-122"/>
                <a:cs typeface="Calibri" pitchFamily="34" charset="-120"/>
              </a:rPr>
              <a:t>Run RDR after the last change (RDW, RDT, RDJ, RDM) so every quantity is up to date. Enter at the table prompt only skips the drawing tables, never the Excel file.</a:t>
            </a:r>
            <a:endParaRPr lang="en-US" sz="110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G  ·  RDR</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What is inside the report</a:t>
            </a:r>
            <a:endParaRPr lang="en-US" sz="2600" dirty="0"/>
          </a:p>
        </p:txBody>
      </p:sp>
      <p:sp>
        <p:nvSpPr>
          <p:cNvPr id="4" name="shape-1450"/>
          <p:cNvSpPr/>
          <p:nvPr/>
        </p:nvSpPr>
        <p:spPr>
          <a:xfrm>
            <a:off x="502920" y="1325880"/>
            <a:ext cx="5486400" cy="1097280"/>
          </a:xfrm>
          <a:prstGeom prst="roundRect">
            <a:avLst>
              <a:gd name="adj" fmla="val 6667"/>
            </a:avLst>
          </a:prstGeom>
          <a:solidFill>
            <a:srgbClr val="F4F5F7"/>
          </a:solidFill>
          <a:ln w="9525">
            <a:solidFill>
              <a:srgbClr val="E3E5E8"/>
            </a:solidFill>
            <a:prstDash val="solid"/>
          </a:ln>
        </p:spPr>
      </p:sp>
      <p:sp>
        <p:nvSpPr>
          <p:cNvPr id="5" name="text-1451"/>
          <p:cNvSpPr txBox="1"/>
          <p:nvPr/>
        </p:nvSpPr>
        <p:spPr>
          <a:xfrm>
            <a:off x="685800" y="1435608"/>
            <a:ext cx="5120640" cy="2743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Summary</a:t>
            </a:r>
            <a:endParaRPr lang="en-US" sz="1300" dirty="0"/>
          </a:p>
        </p:txBody>
      </p:sp>
      <p:sp>
        <p:nvSpPr>
          <p:cNvPr id="6" name="text-1452"/>
          <p:cNvSpPr txBox="1"/>
          <p:nvPr/>
        </p:nvSpPr>
        <p:spPr>
          <a:xfrm>
            <a:off x="685800" y="1737360"/>
            <a:ext cx="5120640" cy="64008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Road name, date, units, start / end chainage, length, width, edge lengths, surface area, straights and curves, design radius, minimum radius</a:t>
            </a:r>
            <a:endParaRPr lang="en-US" sz="1050" dirty="0"/>
          </a:p>
        </p:txBody>
      </p:sp>
      <p:sp>
        <p:nvSpPr>
          <p:cNvPr id="7" name="shape-1453"/>
          <p:cNvSpPr/>
          <p:nvPr/>
        </p:nvSpPr>
        <p:spPr>
          <a:xfrm>
            <a:off x="6144768" y="1325880"/>
            <a:ext cx="5486400" cy="1097280"/>
          </a:xfrm>
          <a:prstGeom prst="roundRect">
            <a:avLst>
              <a:gd name="adj" fmla="val 6667"/>
            </a:avLst>
          </a:prstGeom>
          <a:solidFill>
            <a:srgbClr val="F4F5F7"/>
          </a:solidFill>
          <a:ln w="9525">
            <a:solidFill>
              <a:srgbClr val="E3E5E8"/>
            </a:solidFill>
            <a:prstDash val="solid"/>
          </a:ln>
        </p:spPr>
      </p:sp>
      <p:sp>
        <p:nvSpPr>
          <p:cNvPr id="8" name="text-1454"/>
          <p:cNvSpPr txBox="1"/>
          <p:nvPr/>
        </p:nvSpPr>
        <p:spPr>
          <a:xfrm>
            <a:off x="6327648" y="1435608"/>
            <a:ext cx="5120640" cy="2743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Edge treatment</a:t>
            </a:r>
            <a:endParaRPr lang="en-US" sz="1300" dirty="0"/>
          </a:p>
        </p:txBody>
      </p:sp>
      <p:sp>
        <p:nvSpPr>
          <p:cNvPr id="9" name="text-1455"/>
          <p:cNvSpPr txBox="1"/>
          <p:nvPr/>
        </p:nvSpPr>
        <p:spPr>
          <a:xfrm>
            <a:off x="6327648" y="1737360"/>
            <a:ext cx="5120640" cy="64008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Barricade units red / white per side, traffic cones per side (nos), kerb stone per side (m), centre median, unit size, paved shoulder and area</a:t>
            </a:r>
            <a:endParaRPr lang="en-US" sz="1050" dirty="0"/>
          </a:p>
        </p:txBody>
      </p:sp>
      <p:sp>
        <p:nvSpPr>
          <p:cNvPr id="10" name="shape-1456"/>
          <p:cNvSpPr/>
          <p:nvPr/>
        </p:nvSpPr>
        <p:spPr>
          <a:xfrm>
            <a:off x="502920" y="2542032"/>
            <a:ext cx="5486400" cy="1097280"/>
          </a:xfrm>
          <a:prstGeom prst="roundRect">
            <a:avLst>
              <a:gd name="adj" fmla="val 6667"/>
            </a:avLst>
          </a:prstGeom>
          <a:solidFill>
            <a:srgbClr val="F4F5F7"/>
          </a:solidFill>
          <a:ln w="9525">
            <a:solidFill>
              <a:srgbClr val="E3E5E8"/>
            </a:solidFill>
            <a:prstDash val="solid"/>
          </a:ln>
        </p:spPr>
      </p:sp>
      <p:sp>
        <p:nvSpPr>
          <p:cNvPr id="11" name="text-1457"/>
          <p:cNvSpPr txBox="1"/>
          <p:nvPr/>
        </p:nvSpPr>
        <p:spPr>
          <a:xfrm>
            <a:off x="685800" y="2651760"/>
            <a:ext cx="5120640" cy="2743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Signs and markings</a:t>
            </a:r>
            <a:endParaRPr lang="en-US" sz="1300" dirty="0"/>
          </a:p>
        </p:txBody>
      </p:sp>
      <p:sp>
        <p:nvSpPr>
          <p:cNvPr id="12" name="text-1458"/>
          <p:cNvSpPr txBox="1"/>
          <p:nvPr/>
        </p:nvSpPr>
        <p:spPr>
          <a:xfrm>
            <a:off x="685800" y="2953512"/>
            <a:ext cx="5120640" cy="64008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Signs, chevrons, lane arrows, delineators, sign set; marking lengths per line type and paint area (m²)</a:t>
            </a:r>
            <a:endParaRPr lang="en-US" sz="1050" dirty="0"/>
          </a:p>
        </p:txBody>
      </p:sp>
      <p:sp>
        <p:nvSpPr>
          <p:cNvPr id="13" name="shape-1459"/>
          <p:cNvSpPr/>
          <p:nvPr/>
        </p:nvSpPr>
        <p:spPr>
          <a:xfrm>
            <a:off x="6144768" y="2542032"/>
            <a:ext cx="5486400" cy="1097280"/>
          </a:xfrm>
          <a:prstGeom prst="roundRect">
            <a:avLst>
              <a:gd name="adj" fmla="val 6667"/>
            </a:avLst>
          </a:prstGeom>
          <a:solidFill>
            <a:srgbClr val="F4F5F7"/>
          </a:solidFill>
          <a:ln w="9525">
            <a:solidFill>
              <a:srgbClr val="E3E5E8"/>
            </a:solidFill>
            <a:prstDash val="solid"/>
          </a:ln>
        </p:spPr>
      </p:sp>
      <p:sp>
        <p:nvSpPr>
          <p:cNvPr id="14" name="text-1460"/>
          <p:cNvSpPr txBox="1"/>
          <p:nvPr/>
        </p:nvSpPr>
        <p:spPr>
          <a:xfrm>
            <a:off x="6327648" y="2651760"/>
            <a:ext cx="5120640" cy="2743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Curve data</a:t>
            </a:r>
            <a:endParaRPr lang="en-US" sz="1300" dirty="0"/>
          </a:p>
        </p:txBody>
      </p:sp>
      <p:sp>
        <p:nvSpPr>
          <p:cNvPr id="15" name="text-1461"/>
          <p:cNvSpPr txBox="1"/>
          <p:nvPr/>
        </p:nvSpPr>
        <p:spPr>
          <a:xfrm>
            <a:off x="6327648" y="2953512"/>
            <a:ext cx="5120640" cy="64008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Each curve: TC / CT chainage, radius, arc length, deflection, centre and TC / CT E / N</a:t>
            </a:r>
            <a:endParaRPr lang="en-US" sz="1050" dirty="0"/>
          </a:p>
        </p:txBody>
      </p:sp>
      <p:sp>
        <p:nvSpPr>
          <p:cNvPr id="16" name="shape-1462"/>
          <p:cNvSpPr/>
          <p:nvPr/>
        </p:nvSpPr>
        <p:spPr>
          <a:xfrm>
            <a:off x="502920" y="3758184"/>
            <a:ext cx="5486400" cy="1097280"/>
          </a:xfrm>
          <a:prstGeom prst="roundRect">
            <a:avLst>
              <a:gd name="adj" fmla="val 6667"/>
            </a:avLst>
          </a:prstGeom>
          <a:solidFill>
            <a:srgbClr val="F4F5F7"/>
          </a:solidFill>
          <a:ln w="9525">
            <a:solidFill>
              <a:srgbClr val="E3E5E8"/>
            </a:solidFill>
            <a:prstDash val="solid"/>
          </a:ln>
        </p:spPr>
      </p:sp>
      <p:sp>
        <p:nvSpPr>
          <p:cNvPr id="17" name="text-1463"/>
          <p:cNvSpPr txBox="1"/>
          <p:nvPr/>
        </p:nvSpPr>
        <p:spPr>
          <a:xfrm>
            <a:off x="685800" y="3867912"/>
            <a:ext cx="5120640" cy="2743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Road sections</a:t>
            </a:r>
            <a:endParaRPr lang="en-US" sz="1300" dirty="0"/>
          </a:p>
        </p:txBody>
      </p:sp>
      <p:sp>
        <p:nvSpPr>
          <p:cNvPr id="18" name="text-1464"/>
          <p:cNvSpPr txBox="1"/>
          <p:nvPr/>
        </p:nvSpPr>
        <p:spPr>
          <a:xfrm>
            <a:off x="685800" y="4169664"/>
            <a:ext cx="5120640" cy="64008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Every straight and curve: chainage range, length, edge lengths, area, bearing</a:t>
            </a:r>
            <a:endParaRPr lang="en-US" sz="1050" dirty="0"/>
          </a:p>
        </p:txBody>
      </p:sp>
      <p:sp>
        <p:nvSpPr>
          <p:cNvPr id="19" name="shape-1465"/>
          <p:cNvSpPr/>
          <p:nvPr/>
        </p:nvSpPr>
        <p:spPr>
          <a:xfrm>
            <a:off x="6144768" y="3758184"/>
            <a:ext cx="5486400" cy="1097280"/>
          </a:xfrm>
          <a:prstGeom prst="roundRect">
            <a:avLst>
              <a:gd name="adj" fmla="val 6667"/>
            </a:avLst>
          </a:prstGeom>
          <a:solidFill>
            <a:srgbClr val="F4F5F7"/>
          </a:solidFill>
          <a:ln w="9525">
            <a:solidFill>
              <a:srgbClr val="E3E5E8"/>
            </a:solidFill>
            <a:prstDash val="solid"/>
          </a:ln>
        </p:spPr>
      </p:sp>
      <p:sp>
        <p:nvSpPr>
          <p:cNvPr id="20" name="text-1466"/>
          <p:cNvSpPr txBox="1"/>
          <p:nvPr/>
        </p:nvSpPr>
        <p:spPr>
          <a:xfrm>
            <a:off x="6327648" y="3867912"/>
            <a:ext cx="5120640" cy="2743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Setting-out</a:t>
            </a:r>
            <a:endParaRPr lang="en-US" sz="1300" dirty="0"/>
          </a:p>
        </p:txBody>
      </p:sp>
      <p:sp>
        <p:nvSpPr>
          <p:cNvPr id="21" name="text-1467"/>
          <p:cNvSpPr txBox="1"/>
          <p:nvPr/>
        </p:nvSpPr>
        <p:spPr>
          <a:xfrm>
            <a:off x="6327648" y="4169664"/>
            <a:ext cx="5120640" cy="64008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E / N of CL, left edge and right edge at every chainage interval</a:t>
            </a:r>
            <a:endParaRPr lang="en-US" sz="1050" dirty="0"/>
          </a:p>
        </p:txBody>
      </p:sp>
      <p:sp>
        <p:nvSpPr>
          <p:cNvPr id="22" name="shape-1468"/>
          <p:cNvSpPr/>
          <p:nvPr/>
        </p:nvSpPr>
        <p:spPr>
          <a:xfrm>
            <a:off x="502920" y="4974336"/>
            <a:ext cx="5486400" cy="1097280"/>
          </a:xfrm>
          <a:prstGeom prst="roundRect">
            <a:avLst>
              <a:gd name="adj" fmla="val 6667"/>
            </a:avLst>
          </a:prstGeom>
          <a:solidFill>
            <a:srgbClr val="F4F5F7"/>
          </a:solidFill>
          <a:ln w="9525">
            <a:solidFill>
              <a:srgbClr val="E3E5E8"/>
            </a:solidFill>
            <a:prstDash val="solid"/>
          </a:ln>
        </p:spPr>
      </p:sp>
      <p:sp>
        <p:nvSpPr>
          <p:cNvPr id="23" name="text-1469"/>
          <p:cNvSpPr txBox="1"/>
          <p:nvPr/>
        </p:nvSpPr>
        <p:spPr>
          <a:xfrm>
            <a:off x="685800" y="5084064"/>
            <a:ext cx="5120640" cy="2743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Sign schedule</a:t>
            </a:r>
            <a:endParaRPr lang="en-US" sz="1300" dirty="0"/>
          </a:p>
        </p:txBody>
      </p:sp>
      <p:sp>
        <p:nvSpPr>
          <p:cNvPr id="24" name="text-1470"/>
          <p:cNvSpPr txBox="1"/>
          <p:nvPr/>
        </p:nvSpPr>
        <p:spPr>
          <a:xfrm>
            <a:off x="685800" y="5385816"/>
            <a:ext cx="5120640" cy="64008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ID, sign, plate size, chainage, side, facing direction, post E / N</a:t>
            </a:r>
            <a:endParaRPr lang="en-US" sz="1050" dirty="0"/>
          </a:p>
        </p:txBody>
      </p:sp>
      <p:sp>
        <p:nvSpPr>
          <p:cNvPr id="25" name="shape-1471"/>
          <p:cNvSpPr/>
          <p:nvPr/>
        </p:nvSpPr>
        <p:spPr>
          <a:xfrm>
            <a:off x="6144768" y="4974336"/>
            <a:ext cx="5486400" cy="1097280"/>
          </a:xfrm>
          <a:prstGeom prst="roundRect">
            <a:avLst>
              <a:gd name="adj" fmla="val 6667"/>
            </a:avLst>
          </a:prstGeom>
          <a:solidFill>
            <a:srgbClr val="F4F5F7"/>
          </a:solidFill>
          <a:ln w="9525">
            <a:solidFill>
              <a:srgbClr val="E3E5E8"/>
            </a:solidFill>
            <a:prstDash val="solid"/>
          </a:ln>
        </p:spPr>
      </p:sp>
      <p:sp>
        <p:nvSpPr>
          <p:cNvPr id="26" name="text-1472"/>
          <p:cNvSpPr txBox="1"/>
          <p:nvPr/>
        </p:nvSpPr>
        <p:spPr>
          <a:xfrm>
            <a:off x="6327648" y="5084064"/>
            <a:ext cx="5120640" cy="27432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Widening, taper, junction, corridor</a:t>
            </a:r>
            <a:endParaRPr lang="en-US" sz="1300" dirty="0"/>
          </a:p>
        </p:txBody>
      </p:sp>
      <p:sp>
        <p:nvSpPr>
          <p:cNvPr id="27" name="text-1473"/>
          <p:cNvSpPr txBox="1"/>
          <p:nvPr/>
        </p:nvSpPr>
        <p:spPr>
          <a:xfrm>
            <a:off x="6327648" y="5385816"/>
            <a:ext cx="5120640" cy="64008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Extra areas, new edges, kerb returns E / N; lanes, median, sidewalks, walkways, drains, utilities (length, area)</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H  ·  WORKED EXAMPLE</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From a blank drawing to a finished road with a junction</a:t>
            </a:r>
            <a:endParaRPr lang="en-US" sz="2600" dirty="0"/>
          </a:p>
        </p:txBody>
      </p:sp>
      <p:sp>
        <p:nvSpPr>
          <p:cNvPr id="4" name="text-1474"/>
          <p:cNvSpPr txBox="1"/>
          <p:nvPr/>
        </p:nvSpPr>
        <p:spPr>
          <a:xfrm>
            <a:off x="502920" y="1371600"/>
            <a:ext cx="365760" cy="36576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1</a:t>
            </a:r>
            <a:endParaRPr lang="en-US" sz="1800" dirty="0"/>
          </a:p>
        </p:txBody>
      </p:sp>
      <p:sp>
        <p:nvSpPr>
          <p:cNvPr id="5" name="shape-1475"/>
          <p:cNvSpPr/>
          <p:nvPr/>
        </p:nvSpPr>
        <p:spPr>
          <a:xfrm>
            <a:off x="914400" y="1380744"/>
            <a:ext cx="1051560" cy="329184"/>
          </a:xfrm>
          <a:prstGeom prst="roundRect">
            <a:avLst>
              <a:gd name="adj" fmla="val 16667"/>
            </a:avLst>
          </a:prstGeom>
          <a:solidFill>
            <a:schemeClr val="tx2"/>
          </a:solidFill>
          <a:ln/>
        </p:spPr>
      </p:sp>
      <p:sp>
        <p:nvSpPr>
          <p:cNvPr id="6" name="text-1476"/>
          <p:cNvSpPr txBox="1"/>
          <p:nvPr/>
        </p:nvSpPr>
        <p:spPr>
          <a:xfrm>
            <a:off x="914400" y="1380744"/>
            <a:ext cx="105156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APPLOAD</a:t>
            </a:r>
            <a:endParaRPr lang="en-US" sz="1150" dirty="0"/>
          </a:p>
        </p:txBody>
      </p:sp>
      <p:sp>
        <p:nvSpPr>
          <p:cNvPr id="7" name="text-1477"/>
          <p:cNvSpPr txBox="1"/>
          <p:nvPr/>
        </p:nvSpPr>
        <p:spPr>
          <a:xfrm>
            <a:off x="2103120" y="1344168"/>
            <a:ext cx="3840480" cy="713232"/>
          </a:xfrm>
          <a:prstGeom prst="rect">
            <a:avLst/>
          </a:prstGeom>
          <a:noFill/>
          <a:ln/>
        </p:spPr>
        <p:txBody>
          <a:bodyPr wrap="square" lIns="0" tIns="0" rIns="0" bIns="0" rtlCol="0" anchor="t"/>
          <a:lstStyle/>
          <a:p>
            <a:pPr indent="0" marL="0">
              <a:buNone/>
            </a:pPr>
            <a:r>
              <a:rPr lang="en-US" sz="1100" dirty="0">
                <a:solidFill>
                  <a:srgbClr val="3A3F45"/>
                </a:solidFill>
                <a:latin typeface="Calibri" pitchFamily="34" charset="0"/>
                <a:ea typeface="Calibri" pitchFamily="34" charset="-122"/>
                <a:cs typeface="Calibri" pitchFamily="34" charset="-120"/>
              </a:rPr>
              <a:t>Load RoadPro.lsp. Save the drawing as SITE-ROAD.dwg.</a:t>
            </a:r>
            <a:endParaRPr lang="en-US" sz="1100" dirty="0"/>
          </a:p>
        </p:txBody>
      </p:sp>
      <p:sp>
        <p:nvSpPr>
          <p:cNvPr id="8" name="text-1478"/>
          <p:cNvSpPr txBox="1"/>
          <p:nvPr/>
        </p:nvSpPr>
        <p:spPr>
          <a:xfrm>
            <a:off x="502920" y="2176272"/>
            <a:ext cx="365760" cy="36576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2</a:t>
            </a:r>
            <a:endParaRPr lang="en-US" sz="1800" dirty="0"/>
          </a:p>
        </p:txBody>
      </p:sp>
      <p:sp>
        <p:nvSpPr>
          <p:cNvPr id="9" name="shape-1479"/>
          <p:cNvSpPr/>
          <p:nvPr/>
        </p:nvSpPr>
        <p:spPr>
          <a:xfrm>
            <a:off x="914400" y="2185416"/>
            <a:ext cx="1051560" cy="329184"/>
          </a:xfrm>
          <a:prstGeom prst="roundRect">
            <a:avLst>
              <a:gd name="adj" fmla="val 16667"/>
            </a:avLst>
          </a:prstGeom>
          <a:solidFill>
            <a:schemeClr val="accent1"/>
          </a:solidFill>
          <a:ln/>
        </p:spPr>
      </p:sp>
      <p:sp>
        <p:nvSpPr>
          <p:cNvPr id="10" name="text-1480"/>
          <p:cNvSpPr txBox="1"/>
          <p:nvPr/>
        </p:nvSpPr>
        <p:spPr>
          <a:xfrm>
            <a:off x="914400" y="2185416"/>
            <a:ext cx="105156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RDP</a:t>
            </a:r>
            <a:endParaRPr lang="en-US" sz="1150" dirty="0"/>
          </a:p>
        </p:txBody>
      </p:sp>
      <p:sp>
        <p:nvSpPr>
          <p:cNvPr id="11" name="text-1481"/>
          <p:cNvSpPr txBox="1"/>
          <p:nvPr/>
        </p:nvSpPr>
        <p:spPr>
          <a:xfrm>
            <a:off x="2103120" y="2148840"/>
            <a:ext cx="3840480" cy="713232"/>
          </a:xfrm>
          <a:prstGeom prst="rect">
            <a:avLst/>
          </a:prstGeom>
          <a:noFill/>
          <a:ln/>
        </p:spPr>
        <p:txBody>
          <a:bodyPr wrap="square" lIns="0" tIns="0" rIns="0" bIns="0" rtlCol="0" anchor="t"/>
          <a:lstStyle/>
          <a:p>
            <a:pPr indent="0" marL="0">
              <a:buNone/>
            </a:pPr>
            <a:r>
              <a:rPr lang="en-US" sz="1100" dirty="0">
                <a:solidFill>
                  <a:srgbClr val="3A3F45"/>
                </a:solidFill>
                <a:latin typeface="Calibri" pitchFamily="34" charset="0"/>
                <a:ea typeface="Calibri" pitchFamily="34" charset="-122"/>
                <a:cs typeface="Calibri" pitchFamily="34" charset="-120"/>
              </a:rPr>
              <a:t>Geometry: ROAD-01, width 7.30, Match existing, Meters, Pick points.</a:t>
            </a:r>
            <a:endParaRPr lang="en-US" sz="1100" dirty="0"/>
          </a:p>
        </p:txBody>
      </p:sp>
      <p:sp>
        <p:nvSpPr>
          <p:cNvPr id="12" name="text-1482"/>
          <p:cNvSpPr txBox="1"/>
          <p:nvPr/>
        </p:nvSpPr>
        <p:spPr>
          <a:xfrm>
            <a:off x="502920" y="2980944"/>
            <a:ext cx="365760" cy="36576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3</a:t>
            </a:r>
            <a:endParaRPr lang="en-US" sz="1800" dirty="0"/>
          </a:p>
        </p:txBody>
      </p:sp>
      <p:sp>
        <p:nvSpPr>
          <p:cNvPr id="13" name="shape-1483"/>
          <p:cNvSpPr/>
          <p:nvPr/>
        </p:nvSpPr>
        <p:spPr>
          <a:xfrm>
            <a:off x="914400" y="2990088"/>
            <a:ext cx="1051560" cy="329184"/>
          </a:xfrm>
          <a:prstGeom prst="roundRect">
            <a:avLst>
              <a:gd name="adj" fmla="val 16667"/>
            </a:avLst>
          </a:prstGeom>
          <a:solidFill>
            <a:schemeClr val="accent1"/>
          </a:solidFill>
          <a:ln/>
        </p:spPr>
      </p:sp>
      <p:sp>
        <p:nvSpPr>
          <p:cNvPr id="14" name="text-1484"/>
          <p:cNvSpPr txBox="1"/>
          <p:nvPr/>
        </p:nvSpPr>
        <p:spPr>
          <a:xfrm>
            <a:off x="914400" y="2990088"/>
            <a:ext cx="105156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RDP</a:t>
            </a:r>
            <a:endParaRPr lang="en-US" sz="1150" dirty="0"/>
          </a:p>
        </p:txBody>
      </p:sp>
      <p:sp>
        <p:nvSpPr>
          <p:cNvPr id="15" name="text-1485"/>
          <p:cNvSpPr txBox="1"/>
          <p:nvPr/>
        </p:nvSpPr>
        <p:spPr>
          <a:xfrm>
            <a:off x="2103120" y="2953512"/>
            <a:ext cx="3840480" cy="713232"/>
          </a:xfrm>
          <a:prstGeom prst="rect">
            <a:avLst/>
          </a:prstGeom>
          <a:noFill/>
          <a:ln/>
        </p:spPr>
        <p:txBody>
          <a:bodyPr wrap="square" lIns="0" tIns="0" rIns="0" bIns="0" rtlCol="0" anchor="t"/>
          <a:lstStyle/>
          <a:p>
            <a:pPr indent="0" marL="0">
              <a:buNone/>
            </a:pPr>
            <a:r>
              <a:rPr lang="en-US" sz="1100" dirty="0">
                <a:solidFill>
                  <a:srgbClr val="3A3F45"/>
                </a:solidFill>
                <a:latin typeface="Calibri" pitchFamily="34" charset="0"/>
                <a:ea typeface="Calibri" pitchFamily="34" charset="-122"/>
                <a:cs typeface="Calibri" pitchFamily="34" charset="-120"/>
              </a:rPr>
              <a:t>Edge: Left + Right, Barricades, 2.00 x 0.50, shoulder 0.50. Centre: markings.</a:t>
            </a:r>
            <a:endParaRPr lang="en-US" sz="1100" dirty="0"/>
          </a:p>
        </p:txBody>
      </p:sp>
      <p:sp>
        <p:nvSpPr>
          <p:cNvPr id="16" name="text-1486"/>
          <p:cNvSpPr txBox="1"/>
          <p:nvPr/>
        </p:nvSpPr>
        <p:spPr>
          <a:xfrm>
            <a:off x="502920" y="3785616"/>
            <a:ext cx="365760" cy="36576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4</a:t>
            </a:r>
            <a:endParaRPr lang="en-US" sz="1800" dirty="0"/>
          </a:p>
        </p:txBody>
      </p:sp>
      <p:sp>
        <p:nvSpPr>
          <p:cNvPr id="17" name="shape-1487"/>
          <p:cNvSpPr/>
          <p:nvPr/>
        </p:nvSpPr>
        <p:spPr>
          <a:xfrm>
            <a:off x="914400" y="3794760"/>
            <a:ext cx="1051560" cy="329184"/>
          </a:xfrm>
          <a:prstGeom prst="roundRect">
            <a:avLst>
              <a:gd name="adj" fmla="val 16667"/>
            </a:avLst>
          </a:prstGeom>
          <a:solidFill>
            <a:schemeClr val="accent1"/>
          </a:solidFill>
          <a:ln/>
        </p:spPr>
      </p:sp>
      <p:sp>
        <p:nvSpPr>
          <p:cNvPr id="18" name="text-1488"/>
          <p:cNvSpPr txBox="1"/>
          <p:nvPr/>
        </p:nvSpPr>
        <p:spPr>
          <a:xfrm>
            <a:off x="914400" y="3794760"/>
            <a:ext cx="105156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RDP</a:t>
            </a:r>
            <a:endParaRPr lang="en-US" sz="1150" dirty="0"/>
          </a:p>
        </p:txBody>
      </p:sp>
      <p:sp>
        <p:nvSpPr>
          <p:cNvPr id="19" name="text-1489"/>
          <p:cNvSpPr txBox="1"/>
          <p:nvPr/>
        </p:nvSpPr>
        <p:spPr>
          <a:xfrm>
            <a:off x="2103120" y="3758184"/>
            <a:ext cx="3840480" cy="713232"/>
          </a:xfrm>
          <a:prstGeom prst="rect">
            <a:avLst/>
          </a:prstGeom>
          <a:noFill/>
          <a:ln/>
        </p:spPr>
        <p:txBody>
          <a:bodyPr wrap="square" lIns="0" tIns="0" rIns="0" bIns="0" rtlCol="0" anchor="t"/>
          <a:lstStyle/>
          <a:p>
            <a:pPr indent="0" marL="0">
              <a:buNone/>
            </a:pPr>
            <a:r>
              <a:rPr lang="en-US" sz="1100" dirty="0">
                <a:solidFill>
                  <a:srgbClr val="3A3F45"/>
                </a:solidFill>
                <a:latin typeface="Calibri" pitchFamily="34" charset="0"/>
                <a:ea typeface="Calibri" pitchFamily="34" charset="-122"/>
                <a:cs typeface="Calibri" pitchFamily="34" charset="-120"/>
              </a:rPr>
              <a:t>Signs: 50 km/h, HDS on, Temporary, STOP at tie-in. Chainage 20 from 0.</a:t>
            </a:r>
            <a:endParaRPr lang="en-US" sz="1100" dirty="0"/>
          </a:p>
        </p:txBody>
      </p:sp>
      <p:sp>
        <p:nvSpPr>
          <p:cNvPr id="20" name="text-1490"/>
          <p:cNvSpPr txBox="1"/>
          <p:nvPr/>
        </p:nvSpPr>
        <p:spPr>
          <a:xfrm>
            <a:off x="502920" y="4590288"/>
            <a:ext cx="365760" cy="36576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5</a:t>
            </a:r>
            <a:endParaRPr lang="en-US" sz="1800" dirty="0"/>
          </a:p>
        </p:txBody>
      </p:sp>
      <p:sp>
        <p:nvSpPr>
          <p:cNvPr id="21" name="shape-1491"/>
          <p:cNvSpPr/>
          <p:nvPr/>
        </p:nvSpPr>
        <p:spPr>
          <a:xfrm>
            <a:off x="914400" y="4599432"/>
            <a:ext cx="1051560" cy="329184"/>
          </a:xfrm>
          <a:prstGeom prst="roundRect">
            <a:avLst>
              <a:gd name="adj" fmla="val 16667"/>
            </a:avLst>
          </a:prstGeom>
          <a:solidFill>
            <a:schemeClr val="accent1"/>
          </a:solidFill>
          <a:ln/>
        </p:spPr>
      </p:sp>
      <p:sp>
        <p:nvSpPr>
          <p:cNvPr id="22" name="text-1492"/>
          <p:cNvSpPr txBox="1"/>
          <p:nvPr/>
        </p:nvSpPr>
        <p:spPr>
          <a:xfrm>
            <a:off x="914400" y="4599432"/>
            <a:ext cx="105156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RDP</a:t>
            </a:r>
            <a:endParaRPr lang="en-US" sz="1150" dirty="0"/>
          </a:p>
        </p:txBody>
      </p:sp>
      <p:sp>
        <p:nvSpPr>
          <p:cNvPr id="23" name="text-1493"/>
          <p:cNvSpPr txBox="1"/>
          <p:nvPr/>
        </p:nvSpPr>
        <p:spPr>
          <a:xfrm>
            <a:off x="2103120" y="4562856"/>
            <a:ext cx="3840480" cy="713232"/>
          </a:xfrm>
          <a:prstGeom prst="rect">
            <a:avLst/>
          </a:prstGeom>
          <a:noFill/>
          <a:ln/>
        </p:spPr>
        <p:txBody>
          <a:bodyPr wrap="square" lIns="0" tIns="0" rIns="0" bIns="0" rtlCol="0" anchor="t"/>
          <a:lstStyle/>
          <a:p>
            <a:pPr indent="0" marL="0">
              <a:buNone/>
            </a:pPr>
            <a:r>
              <a:rPr lang="en-US" sz="1100" dirty="0">
                <a:solidFill>
                  <a:srgbClr val="3A3F45"/>
                </a:solidFill>
                <a:latin typeface="Calibri" pitchFamily="34" charset="0"/>
                <a:ea typeface="Calibri" pitchFamily="34" charset="-122"/>
                <a:cs typeface="Calibri" pitchFamily="34" charset="-120"/>
              </a:rPr>
              <a:t>Ends: start Tie-in, finish Road closed. Report and section on. OK.</a:t>
            </a:r>
            <a:endParaRPr lang="en-US" sz="1100" dirty="0"/>
          </a:p>
        </p:txBody>
      </p:sp>
      <p:sp>
        <p:nvSpPr>
          <p:cNvPr id="24" name="text-1494"/>
          <p:cNvSpPr txBox="1"/>
          <p:nvPr/>
        </p:nvSpPr>
        <p:spPr>
          <a:xfrm>
            <a:off x="502920" y="5394960"/>
            <a:ext cx="365760" cy="36576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6</a:t>
            </a:r>
            <a:endParaRPr lang="en-US" sz="1800" dirty="0"/>
          </a:p>
        </p:txBody>
      </p:sp>
      <p:sp>
        <p:nvSpPr>
          <p:cNvPr id="25" name="shape-1495"/>
          <p:cNvSpPr/>
          <p:nvPr/>
        </p:nvSpPr>
        <p:spPr>
          <a:xfrm>
            <a:off x="914400" y="5404104"/>
            <a:ext cx="1051560" cy="329184"/>
          </a:xfrm>
          <a:prstGeom prst="roundRect">
            <a:avLst>
              <a:gd name="adj" fmla="val 16667"/>
            </a:avLst>
          </a:prstGeom>
          <a:solidFill>
            <a:schemeClr val="accent1"/>
          </a:solidFill>
          <a:ln/>
        </p:spPr>
      </p:sp>
      <p:sp>
        <p:nvSpPr>
          <p:cNvPr id="26" name="text-1496"/>
          <p:cNvSpPr txBox="1"/>
          <p:nvPr/>
        </p:nvSpPr>
        <p:spPr>
          <a:xfrm>
            <a:off x="914400" y="5404104"/>
            <a:ext cx="105156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RDP</a:t>
            </a:r>
            <a:endParaRPr lang="en-US" sz="1150" dirty="0"/>
          </a:p>
        </p:txBody>
      </p:sp>
      <p:sp>
        <p:nvSpPr>
          <p:cNvPr id="27" name="text-1497"/>
          <p:cNvSpPr txBox="1"/>
          <p:nvPr/>
        </p:nvSpPr>
        <p:spPr>
          <a:xfrm>
            <a:off x="2103120" y="5367528"/>
            <a:ext cx="3840480" cy="713232"/>
          </a:xfrm>
          <a:prstGeom prst="rect">
            <a:avLst/>
          </a:prstGeom>
          <a:noFill/>
          <a:ln/>
        </p:spPr>
        <p:txBody>
          <a:bodyPr wrap="square" lIns="0" tIns="0" rIns="0" bIns="0" rtlCol="0" anchor="t"/>
          <a:lstStyle/>
          <a:p>
            <a:pPr indent="0" marL="0">
              <a:buNone/>
            </a:pPr>
            <a:r>
              <a:rPr lang="en-US" sz="1100" dirty="0">
                <a:solidFill>
                  <a:srgbClr val="3A3F45"/>
                </a:solidFill>
                <a:latin typeface="Calibri" pitchFamily="34" charset="0"/>
                <a:ea typeface="Calibri" pitchFamily="34" charset="-122"/>
                <a:cs typeface="Calibri" pitchFamily="34" charset="-120"/>
              </a:rPr>
              <a:t>Draw the CL: 3 straights and an arc, Enter. Place tables, open Excel, place section.</a:t>
            </a:r>
            <a:endParaRPr lang="en-US" sz="1100" dirty="0"/>
          </a:p>
        </p:txBody>
      </p:sp>
      <p:sp>
        <p:nvSpPr>
          <p:cNvPr id="28" name="text-1498"/>
          <p:cNvSpPr txBox="1"/>
          <p:nvPr/>
        </p:nvSpPr>
        <p:spPr>
          <a:xfrm>
            <a:off x="6144768" y="1371600"/>
            <a:ext cx="365760" cy="36576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7</a:t>
            </a:r>
            <a:endParaRPr lang="en-US" sz="1800" dirty="0"/>
          </a:p>
        </p:txBody>
      </p:sp>
      <p:sp>
        <p:nvSpPr>
          <p:cNvPr id="29" name="shape-1499"/>
          <p:cNvSpPr/>
          <p:nvPr/>
        </p:nvSpPr>
        <p:spPr>
          <a:xfrm>
            <a:off x="6556248" y="1380744"/>
            <a:ext cx="1051560" cy="329184"/>
          </a:xfrm>
          <a:prstGeom prst="roundRect">
            <a:avLst>
              <a:gd name="adj" fmla="val 16667"/>
            </a:avLst>
          </a:prstGeom>
          <a:solidFill>
            <a:schemeClr val="accent1"/>
          </a:solidFill>
          <a:ln/>
        </p:spPr>
      </p:sp>
      <p:sp>
        <p:nvSpPr>
          <p:cNvPr id="30" name="text-1500"/>
          <p:cNvSpPr txBox="1"/>
          <p:nvPr/>
        </p:nvSpPr>
        <p:spPr>
          <a:xfrm>
            <a:off x="6556248" y="1380744"/>
            <a:ext cx="105156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RDW</a:t>
            </a:r>
            <a:endParaRPr lang="en-US" sz="1150" dirty="0"/>
          </a:p>
        </p:txBody>
      </p:sp>
      <p:sp>
        <p:nvSpPr>
          <p:cNvPr id="31" name="text-1501"/>
          <p:cNvSpPr txBox="1"/>
          <p:nvPr/>
        </p:nvSpPr>
        <p:spPr>
          <a:xfrm>
            <a:off x="7744968" y="1344168"/>
            <a:ext cx="3840480" cy="713232"/>
          </a:xfrm>
          <a:prstGeom prst="rect">
            <a:avLst/>
          </a:prstGeom>
          <a:noFill/>
          <a:ln/>
        </p:spPr>
        <p:txBody>
          <a:bodyPr wrap="square" lIns="0" tIns="0" rIns="0" bIns="0" rtlCol="0" anchor="t"/>
          <a:lstStyle/>
          <a:p>
            <a:pPr indent="0" marL="0">
              <a:buNone/>
            </a:pPr>
            <a:r>
              <a:rPr lang="en-US" sz="1100" dirty="0">
                <a:solidFill>
                  <a:srgbClr val="3A3F45"/>
                </a:solidFill>
                <a:latin typeface="Calibri" pitchFamily="34" charset="0"/>
                <a:ea typeface="Calibri" pitchFamily="34" charset="-122"/>
                <a:cs typeface="Calibri" pitchFamily="34" charset="-120"/>
              </a:rPr>
              <a:t>Right side, 3.65 m, 0+100 to 0+180, tapers 30 / 30, fillet 30.</a:t>
            </a:r>
            <a:endParaRPr lang="en-US" sz="1100" dirty="0"/>
          </a:p>
        </p:txBody>
      </p:sp>
      <p:sp>
        <p:nvSpPr>
          <p:cNvPr id="32" name="text-1502"/>
          <p:cNvSpPr txBox="1"/>
          <p:nvPr/>
        </p:nvSpPr>
        <p:spPr>
          <a:xfrm>
            <a:off x="6144768" y="2176272"/>
            <a:ext cx="365760" cy="36576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8</a:t>
            </a:r>
            <a:endParaRPr lang="en-US" sz="1800" dirty="0"/>
          </a:p>
        </p:txBody>
      </p:sp>
      <p:sp>
        <p:nvSpPr>
          <p:cNvPr id="33" name="shape-1503"/>
          <p:cNvSpPr/>
          <p:nvPr/>
        </p:nvSpPr>
        <p:spPr>
          <a:xfrm>
            <a:off x="6556248" y="2185416"/>
            <a:ext cx="1051560" cy="329184"/>
          </a:xfrm>
          <a:prstGeom prst="roundRect">
            <a:avLst>
              <a:gd name="adj" fmla="val 16667"/>
            </a:avLst>
          </a:prstGeom>
          <a:solidFill>
            <a:schemeClr val="accent1"/>
          </a:solidFill>
          <a:ln/>
        </p:spPr>
      </p:sp>
      <p:sp>
        <p:nvSpPr>
          <p:cNvPr id="34" name="text-1504"/>
          <p:cNvSpPr txBox="1"/>
          <p:nvPr/>
        </p:nvSpPr>
        <p:spPr>
          <a:xfrm>
            <a:off x="6556248" y="2185416"/>
            <a:ext cx="105156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RDJ</a:t>
            </a:r>
            <a:endParaRPr lang="en-US" sz="1150" dirty="0"/>
          </a:p>
        </p:txBody>
      </p:sp>
      <p:sp>
        <p:nvSpPr>
          <p:cNvPr id="35" name="text-1505"/>
          <p:cNvSpPr txBox="1"/>
          <p:nvPr/>
        </p:nvSpPr>
        <p:spPr>
          <a:xfrm>
            <a:off x="7744968" y="2148840"/>
            <a:ext cx="3840480" cy="713232"/>
          </a:xfrm>
          <a:prstGeom prst="rect">
            <a:avLst/>
          </a:prstGeom>
          <a:noFill/>
          <a:ln/>
        </p:spPr>
        <p:txBody>
          <a:bodyPr wrap="square" lIns="0" tIns="0" rIns="0" bIns="0" rtlCol="0" anchor="t"/>
          <a:lstStyle/>
          <a:p>
            <a:pPr indent="0" marL="0">
              <a:buNone/>
            </a:pPr>
            <a:r>
              <a:rPr lang="en-US" sz="1100" dirty="0">
                <a:solidFill>
                  <a:srgbClr val="3A3F45"/>
                </a:solidFill>
                <a:latin typeface="Calibri" pitchFamily="34" charset="0"/>
                <a:ea typeface="Calibri" pitchFamily="34" charset="-122"/>
                <a:cs typeface="Calibri" pitchFamily="34" charset="-120"/>
              </a:rPr>
              <a:t>ROAD-02, 7.30 m, R 10, STOP, corners Traffic cones, aux lane on. Branch from 0+300.</a:t>
            </a:r>
            <a:endParaRPr lang="en-US" sz="1100" dirty="0"/>
          </a:p>
        </p:txBody>
      </p:sp>
      <p:sp>
        <p:nvSpPr>
          <p:cNvPr id="36" name="text-1506"/>
          <p:cNvSpPr txBox="1"/>
          <p:nvPr/>
        </p:nvSpPr>
        <p:spPr>
          <a:xfrm>
            <a:off x="6144768" y="2980944"/>
            <a:ext cx="365760" cy="36576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9</a:t>
            </a:r>
            <a:endParaRPr lang="en-US" sz="1800" dirty="0"/>
          </a:p>
        </p:txBody>
      </p:sp>
      <p:sp>
        <p:nvSpPr>
          <p:cNvPr id="37" name="shape-1507"/>
          <p:cNvSpPr/>
          <p:nvPr/>
        </p:nvSpPr>
        <p:spPr>
          <a:xfrm>
            <a:off x="6556248" y="2990088"/>
            <a:ext cx="1051560" cy="329184"/>
          </a:xfrm>
          <a:prstGeom prst="roundRect">
            <a:avLst>
              <a:gd name="adj" fmla="val 16667"/>
            </a:avLst>
          </a:prstGeom>
          <a:solidFill>
            <a:schemeClr val="accent2"/>
          </a:solidFill>
          <a:ln/>
        </p:spPr>
      </p:sp>
      <p:sp>
        <p:nvSpPr>
          <p:cNvPr id="38" name="text-1508"/>
          <p:cNvSpPr txBox="1"/>
          <p:nvPr/>
        </p:nvSpPr>
        <p:spPr>
          <a:xfrm>
            <a:off x="6556248" y="2990088"/>
            <a:ext cx="105156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RDL</a:t>
            </a:r>
            <a:endParaRPr lang="en-US" sz="1150" dirty="0"/>
          </a:p>
        </p:txBody>
      </p:sp>
      <p:sp>
        <p:nvSpPr>
          <p:cNvPr id="39" name="text-1509"/>
          <p:cNvSpPr txBox="1"/>
          <p:nvPr/>
        </p:nvSpPr>
        <p:spPr>
          <a:xfrm>
            <a:off x="7744968" y="2953512"/>
            <a:ext cx="3840480" cy="713232"/>
          </a:xfrm>
          <a:prstGeom prst="rect">
            <a:avLst/>
          </a:prstGeom>
          <a:noFill/>
          <a:ln/>
        </p:spPr>
        <p:txBody>
          <a:bodyPr wrap="square" lIns="0" tIns="0" rIns="0" bIns="0" rtlCol="0" anchor="t"/>
          <a:lstStyle/>
          <a:p>
            <a:pPr indent="0" marL="0">
              <a:buNone/>
            </a:pPr>
            <a:r>
              <a:rPr lang="en-US" sz="1100" dirty="0">
                <a:solidFill>
                  <a:srgbClr val="3A3F45"/>
                </a:solidFill>
                <a:latin typeface="Calibri" pitchFamily="34" charset="0"/>
                <a:ea typeface="Calibri" pitchFamily="34" charset="-122"/>
                <a:cs typeface="Calibri" pitchFamily="34" charset="-120"/>
              </a:rPr>
              <a:t>Polyline round an excavation: Barricades, Both sides, offset 1.00.</a:t>
            </a:r>
            <a:endParaRPr lang="en-US" sz="1100" dirty="0"/>
          </a:p>
        </p:txBody>
      </p:sp>
      <p:sp>
        <p:nvSpPr>
          <p:cNvPr id="40" name="text-1510"/>
          <p:cNvSpPr txBox="1"/>
          <p:nvPr/>
        </p:nvSpPr>
        <p:spPr>
          <a:xfrm>
            <a:off x="6144768" y="3785616"/>
            <a:ext cx="365760" cy="36576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10</a:t>
            </a:r>
            <a:endParaRPr lang="en-US" sz="1800" dirty="0"/>
          </a:p>
        </p:txBody>
      </p:sp>
      <p:sp>
        <p:nvSpPr>
          <p:cNvPr id="41" name="shape-1511"/>
          <p:cNvSpPr/>
          <p:nvPr/>
        </p:nvSpPr>
        <p:spPr>
          <a:xfrm>
            <a:off x="6556248" y="3794760"/>
            <a:ext cx="1051560" cy="329184"/>
          </a:xfrm>
          <a:prstGeom prst="roundRect">
            <a:avLst>
              <a:gd name="adj" fmla="val 16667"/>
            </a:avLst>
          </a:prstGeom>
          <a:solidFill>
            <a:schemeClr val="accent1"/>
          </a:solidFill>
          <a:ln/>
        </p:spPr>
      </p:sp>
      <p:sp>
        <p:nvSpPr>
          <p:cNvPr id="42" name="text-1512"/>
          <p:cNvSpPr txBox="1"/>
          <p:nvPr/>
        </p:nvSpPr>
        <p:spPr>
          <a:xfrm>
            <a:off x="6556248" y="3794760"/>
            <a:ext cx="105156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RDX</a:t>
            </a:r>
            <a:endParaRPr lang="en-US" sz="1150" dirty="0"/>
          </a:p>
        </p:txBody>
      </p:sp>
      <p:sp>
        <p:nvSpPr>
          <p:cNvPr id="43" name="text-1513"/>
          <p:cNvSpPr txBox="1"/>
          <p:nvPr/>
        </p:nvSpPr>
        <p:spPr>
          <a:xfrm>
            <a:off x="7744968" y="3758184"/>
            <a:ext cx="3840480" cy="713232"/>
          </a:xfrm>
          <a:prstGeom prst="rect">
            <a:avLst/>
          </a:prstGeom>
          <a:noFill/>
          <a:ln/>
        </p:spPr>
        <p:txBody>
          <a:bodyPr wrap="square" lIns="0" tIns="0" rIns="0" bIns="0" rtlCol="0" anchor="t"/>
          <a:lstStyle/>
          <a:p>
            <a:pPr indent="0" marL="0">
              <a:buNone/>
            </a:pPr>
            <a:r>
              <a:rPr lang="en-US" sz="1100" dirty="0">
                <a:solidFill>
                  <a:srgbClr val="3A3F45"/>
                </a:solidFill>
                <a:latin typeface="Calibri" pitchFamily="34" charset="0"/>
                <a:ea typeface="Calibri" pitchFamily="34" charset="-122"/>
                <a:cs typeface="Calibri" pitchFamily="34" charset="-120"/>
              </a:rPr>
              <a:t>At every chainage interval, 20 m: pick the sheet corner.</a:t>
            </a:r>
            <a:endParaRPr lang="en-US" sz="1100" dirty="0"/>
          </a:p>
        </p:txBody>
      </p:sp>
      <p:sp>
        <p:nvSpPr>
          <p:cNvPr id="44" name="text-1514"/>
          <p:cNvSpPr txBox="1"/>
          <p:nvPr/>
        </p:nvSpPr>
        <p:spPr>
          <a:xfrm>
            <a:off x="6144768" y="4590288"/>
            <a:ext cx="365760" cy="365760"/>
          </a:xfrm>
          <a:prstGeom prst="rect">
            <a:avLst/>
          </a:prstGeom>
          <a:noFill/>
          <a:ln/>
        </p:spPr>
        <p:txBody>
          <a:bodyPr wrap="square" lIns="0" tIns="0" rIns="0" bIns="0" rtlCol="0" anchor="t"/>
          <a:lstStyle/>
          <a:p>
            <a:pPr indent="0" marL="0">
              <a:buNone/>
            </a:pPr>
            <a:r>
              <a:rPr lang="en-US" sz="1800" b="1" dirty="0">
                <a:solidFill>
                  <a:srgbClr val="8A9099"/>
                </a:solidFill>
                <a:latin typeface="Arial" pitchFamily="34" charset="0"/>
                <a:ea typeface="Arial" pitchFamily="34" charset="-122"/>
                <a:cs typeface="Arial" pitchFamily="34" charset="-120"/>
              </a:rPr>
              <a:t>11</a:t>
            </a:r>
            <a:endParaRPr lang="en-US" sz="1800" dirty="0"/>
          </a:p>
        </p:txBody>
      </p:sp>
      <p:sp>
        <p:nvSpPr>
          <p:cNvPr id="45" name="shape-1515"/>
          <p:cNvSpPr/>
          <p:nvPr/>
        </p:nvSpPr>
        <p:spPr>
          <a:xfrm>
            <a:off x="6556248" y="4599432"/>
            <a:ext cx="1051560" cy="329184"/>
          </a:xfrm>
          <a:prstGeom prst="roundRect">
            <a:avLst>
              <a:gd name="adj" fmla="val 16667"/>
            </a:avLst>
          </a:prstGeom>
          <a:solidFill>
            <a:schemeClr val="accent1"/>
          </a:solidFill>
          <a:ln/>
        </p:spPr>
      </p:sp>
      <p:sp>
        <p:nvSpPr>
          <p:cNvPr id="46" name="text-1516"/>
          <p:cNvSpPr txBox="1"/>
          <p:nvPr/>
        </p:nvSpPr>
        <p:spPr>
          <a:xfrm>
            <a:off x="6556248" y="4599432"/>
            <a:ext cx="105156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RDR</a:t>
            </a:r>
            <a:endParaRPr lang="en-US" sz="1150" dirty="0"/>
          </a:p>
        </p:txBody>
      </p:sp>
      <p:sp>
        <p:nvSpPr>
          <p:cNvPr id="47" name="text-1517"/>
          <p:cNvSpPr txBox="1"/>
          <p:nvPr/>
        </p:nvSpPr>
        <p:spPr>
          <a:xfrm>
            <a:off x="7744968" y="4562856"/>
            <a:ext cx="3840480" cy="713232"/>
          </a:xfrm>
          <a:prstGeom prst="rect">
            <a:avLst/>
          </a:prstGeom>
          <a:noFill/>
          <a:ln/>
        </p:spPr>
        <p:txBody>
          <a:bodyPr wrap="square" lIns="0" tIns="0" rIns="0" bIns="0" rtlCol="0" anchor="t"/>
          <a:lstStyle/>
          <a:p>
            <a:pPr indent="0" marL="0">
              <a:buNone/>
            </a:pPr>
            <a:r>
              <a:rPr lang="en-US" sz="1100" dirty="0">
                <a:solidFill>
                  <a:srgbClr val="3A3F45"/>
                </a:solidFill>
                <a:latin typeface="Calibri" pitchFamily="34" charset="0"/>
                <a:ea typeface="Calibri" pitchFamily="34" charset="-122"/>
                <a:cs typeface="Calibri" pitchFamily="34" charset="-120"/>
              </a:rPr>
              <a:t>Final report: run on ROAD-01 and on ROAD-02.</a:t>
            </a:r>
            <a:endParaRPr lang="en-US" sz="1100" dirty="0"/>
          </a:p>
        </p:txBody>
      </p:sp>
      <p:sp>
        <p:nvSpPr>
          <p:cNvPr id="48" name="shape-1518"/>
          <p:cNvSpPr/>
          <p:nvPr/>
        </p:nvSpPr>
        <p:spPr>
          <a:xfrm>
            <a:off x="6144768" y="5486400"/>
            <a:ext cx="5513832" cy="685800"/>
          </a:xfrm>
          <a:prstGeom prst="roundRect">
            <a:avLst>
              <a:gd name="adj" fmla="val 10667"/>
            </a:avLst>
          </a:prstGeom>
          <a:solidFill>
            <a:srgbClr val="FFF6D6"/>
          </a:solidFill>
          <a:ln w="9525">
            <a:solidFill>
              <a:srgbClr val="F2D27A"/>
            </a:solidFill>
            <a:prstDash val="solid"/>
          </a:ln>
        </p:spPr>
      </p:sp>
      <p:sp>
        <p:nvSpPr>
          <p:cNvPr id="49" name="text-1519"/>
          <p:cNvSpPr txBox="1"/>
          <p:nvPr/>
        </p:nvSpPr>
        <p:spPr>
          <a:xfrm>
            <a:off x="6291072" y="5559552"/>
            <a:ext cx="5221224" cy="539496"/>
          </a:xfrm>
          <a:prstGeom prst="rect">
            <a:avLst/>
          </a:prstGeom>
          <a:noFill/>
          <a:ln/>
        </p:spPr>
        <p:txBody>
          <a:bodyPr wrap="square" lIns="0" tIns="0" rIns="0" bIns="0" rtlCol="0" anchor="ctr"/>
          <a:lstStyle/>
          <a:p>
            <a:pPr indent="0" marL="0">
              <a:buNone/>
            </a:pPr>
            <a:r>
              <a:rPr lang="en-US" sz="1100" b="1" dirty="0">
                <a:solidFill>
                  <a:srgbClr val="A65F00"/>
                </a:solidFill>
                <a:latin typeface="Calibri" pitchFamily="34" charset="0"/>
                <a:ea typeface="Calibri" pitchFamily="34" charset="-122"/>
                <a:cs typeface="Calibri" pitchFamily="34" charset="-120"/>
              </a:rPr>
              <a:t>Result  </a:t>
            </a:r>
            <a:pPr indent="0" marL="0">
              <a:buNone/>
            </a:pPr>
            <a:r>
              <a:rPr lang="en-US" sz="1100" dirty="0">
                <a:solidFill>
                  <a:srgbClr val="3A3F45"/>
                </a:solidFill>
                <a:latin typeface="Calibri" pitchFamily="34" charset="0"/>
                <a:ea typeface="Calibri" pitchFamily="34" charset="-122"/>
                <a:cs typeface="Calibri" pitchFamily="34" charset="-120"/>
              </a:rPr>
              <a:t>Complete plan, sections, sign schedule, quantities and setting-out for both roads.</a:t>
            </a:r>
            <a:endParaRPr lang="en-US" sz="110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H  ·  REFERENCE</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Standard values used (Oman HDS 2017, Section 19)</a:t>
            </a:r>
            <a:endParaRPr lang="en-US" sz="2600" dirty="0"/>
          </a:p>
        </p:txBody>
      </p:sp>
      <p:sp>
        <p:nvSpPr>
          <p:cNvPr id="4" name="text-1520"/>
          <p:cNvSpPr txBox="1"/>
          <p:nvPr/>
        </p:nvSpPr>
        <p:spPr>
          <a:xfrm>
            <a:off x="502920" y="1298448"/>
            <a:ext cx="5486400" cy="256032"/>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Sign plate sizes by speed (mm) and warning distance</a:t>
            </a:r>
            <a:endParaRPr lang="en-US" sz="1200" dirty="0"/>
          </a:p>
        </p:txBody>
      </p:sp>
      <p:graphicFrame>
        <p:nvGraphicFramePr>
          <p:cNvPr id="36" name="table-1521"/>
          <p:cNvGraphicFramePr>
            <a:graphicFrameLocks noGrp="1"/>
          </p:cNvGraphicFramePr>
          <p:nvPr>
            <p:extLst>
              <p:ext uri="{D42A27DB-BD31-4B8C-83A1-F6EECF244321}">
                <p14:modId xmlns:p14="http://schemas.microsoft.com/office/powerpoint/2010/main" val="1579011935"/>
              </p:ext>
            </p:extLst>
          </p:nvPr>
        </p:nvGraphicFramePr>
        <p:xfrm>
          <a:off x="502920" y="1600200"/>
          <a:ext cx="5486400" cy="914400"/>
        </p:xfrm>
        <a:graphic>
          <a:graphicData uri="http://schemas.openxmlformats.org/drawingml/2006/table">
            <a:tbl>
              <a:tblPr/>
              <a:tblGrid>
                <a:gridCol w="822960"/>
                <a:gridCol w="960120"/>
                <a:gridCol w="868680"/>
                <a:gridCol w="777240"/>
                <a:gridCol w="1051560"/>
                <a:gridCol w="1005840"/>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Triangle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Circle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STOP</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GIVE WAY</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Warning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0175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600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600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750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750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50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0175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750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750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900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750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75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0175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80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900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750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1200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900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150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0175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1200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900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200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0175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1500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1200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300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6" name="text-1522"/>
          <p:cNvSpPr txBox="1"/>
          <p:nvPr/>
        </p:nvSpPr>
        <p:spPr>
          <a:xfrm>
            <a:off x="6309360" y="1298448"/>
            <a:ext cx="4572000" cy="256032"/>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Road markings</a:t>
            </a:r>
            <a:endParaRPr lang="en-US" sz="1200" dirty="0"/>
          </a:p>
        </p:txBody>
      </p:sp>
      <p:graphicFrame>
        <p:nvGraphicFramePr>
          <p:cNvPr id="71" name="table-1523"/>
          <p:cNvGraphicFramePr>
            <a:graphicFrameLocks noGrp="1"/>
          </p:cNvGraphicFramePr>
          <p:nvPr>
            <p:extLst>
              <p:ext uri="{D42A27DB-BD31-4B8C-83A1-F6EECF244321}">
                <p14:modId xmlns:p14="http://schemas.microsoft.com/office/powerpoint/2010/main" val="1579011935"/>
              </p:ext>
            </p:extLst>
          </p:nvPr>
        </p:nvGraphicFramePr>
        <p:xfrm>
          <a:off x="6309360" y="1600200"/>
          <a:ext cx="5349240" cy="914400"/>
        </p:xfrm>
        <a:graphic>
          <a:graphicData uri="http://schemas.openxmlformats.org/drawingml/2006/table">
            <a:tbl>
              <a:tblPr/>
              <a:tblGrid>
                <a:gridCol w="868680"/>
                <a:gridCol w="1920240"/>
                <a:gridCol w="256032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Use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Pattern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27432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L1</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Lane / centre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2/6 - 3/9 - 4/12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L2</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Warning (bends)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6/2 - 9/3 - 12/4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7432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L2A</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No overtaking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Continuous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L4</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Edge (yellow)</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Solid, 120 mm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7432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L5</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Beside aux lane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 m / 1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L5/3</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Across side road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600 / 300 mm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274320">
                <a:tc>
                  <a:txBody>
                    <a:bodyPr/>
                    <a:lstStyle/>
                    <a:p>
                      <a:pPr indent="0" marL="0">
                        <a:buNone/>
                      </a:pPr>
                      <a:r>
                        <a:rPr lang="en-US" sz="1050" b="1" dirty="0">
                          <a:solidFill>
                            <a:schemeClr val="accent1"/>
                          </a:solidFill>
                          <a:latin typeface="Calibri" pitchFamily="34" charset="0"/>
                          <a:ea typeface="Calibri" pitchFamily="34" charset="-122"/>
                          <a:cs typeface="Calibri" pitchFamily="34" charset="-120"/>
                        </a:rPr>
                        <a:t>L7 / L8</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Stop / give way</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Line + STOP / triangle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8" name="text-1524"/>
          <p:cNvSpPr txBox="1"/>
          <p:nvPr/>
        </p:nvSpPr>
        <p:spPr>
          <a:xfrm>
            <a:off x="502920" y="3703320"/>
            <a:ext cx="5486400" cy="256032"/>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Delineator post spacing on curves (S)</a:t>
            </a:r>
            <a:endParaRPr lang="en-US" sz="1200" dirty="0"/>
          </a:p>
        </p:txBody>
      </p:sp>
      <p:graphicFrame>
        <p:nvGraphicFramePr>
          <p:cNvPr id="106" name="table-1525"/>
          <p:cNvGraphicFramePr>
            <a:graphicFrameLocks noGrp="1"/>
          </p:cNvGraphicFramePr>
          <p:nvPr>
            <p:extLst>
              <p:ext uri="{D42A27DB-BD31-4B8C-83A1-F6EECF244321}">
                <p14:modId xmlns:p14="http://schemas.microsoft.com/office/powerpoint/2010/main" val="1579011935"/>
              </p:ext>
            </p:extLst>
          </p:nvPr>
        </p:nvGraphicFramePr>
        <p:xfrm>
          <a:off x="502920" y="4005072"/>
          <a:ext cx="5596128" cy="914400"/>
        </p:xfrm>
        <a:graphic>
          <a:graphicData uri="http://schemas.openxmlformats.org/drawingml/2006/table">
            <a:tbl>
              <a:tblPr/>
              <a:tblGrid>
                <a:gridCol w="1371600"/>
                <a:gridCol w="603504"/>
                <a:gridCol w="603504"/>
                <a:gridCol w="603504"/>
                <a:gridCol w="603504"/>
                <a:gridCol w="603504"/>
                <a:gridCol w="603504"/>
                <a:gridCol w="603504"/>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Radius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300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75</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01752">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Spacing S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326"/>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10" name="text-1526"/>
          <p:cNvSpPr txBox="1"/>
          <p:nvPr/>
        </p:nvSpPr>
        <p:spPr>
          <a:xfrm>
            <a:off x="502920" y="4709160"/>
            <a:ext cx="5577840" cy="1463040"/>
          </a:xfrm>
          <a:prstGeom prst="rect">
            <a:avLst/>
          </a:prstGeom>
          <a:noFill/>
          <a:ln/>
        </p:spPr>
        <p:txBody>
          <a:bodyPr wrap="square" lIns="0" tIns="0" rIns="0" bIns="0" rtlCol="0" anchor="t"/>
          <a:lstStyle/>
          <a:p>
            <a:pPr indent="0" marL="0">
              <a:buNone/>
            </a:pPr>
            <a:r>
              <a:rPr lang="en-US" sz="1050" dirty="0">
                <a:solidFill>
                  <a:srgbClr val="3A3F45"/>
                </a:solidFill>
                <a:latin typeface="Calibri" pitchFamily="34" charset="0"/>
                <a:ea typeface="Calibri" pitchFamily="34" charset="-122"/>
                <a:cs typeface="Calibri" pitchFamily="34" charset="-120"/>
              </a:rPr>
              <a:t>Approach tangents 2S, 3S, 6S (max 100 m). Posts 0.30 m beyond the paved shoulder. Sign lower edge 1.5 m above ground (2.1 m over a sidewalk). Warning triangles yellow; chevrons yellow / black permanent, black / yellow temporary; cones red with a white band.</a:t>
            </a:r>
            <a:endParaRPr lang="en-US" sz="1050" dirty="0"/>
          </a:p>
        </p:txBody>
      </p:sp>
      <p:sp>
        <p:nvSpPr>
          <p:cNvPr id="11" name="shape-1527"/>
          <p:cNvSpPr/>
          <p:nvPr/>
        </p:nvSpPr>
        <p:spPr>
          <a:xfrm>
            <a:off x="6309360" y="4023360"/>
            <a:ext cx="5349240" cy="2148840"/>
          </a:xfrm>
          <a:prstGeom prst="roundRect">
            <a:avLst>
              <a:gd name="adj" fmla="val 3404"/>
            </a:avLst>
          </a:prstGeom>
          <a:solidFill>
            <a:srgbClr val="FFF6D6"/>
          </a:solidFill>
          <a:ln w="9525">
            <a:solidFill>
              <a:srgbClr val="F2D27A"/>
            </a:solidFill>
            <a:prstDash val="solid"/>
          </a:ln>
        </p:spPr>
      </p:sp>
      <p:sp>
        <p:nvSpPr>
          <p:cNvPr id="12" name="text-1528"/>
          <p:cNvSpPr txBox="1"/>
          <p:nvPr/>
        </p:nvSpPr>
        <p:spPr>
          <a:xfrm>
            <a:off x="6455664" y="4096512"/>
            <a:ext cx="5056632" cy="2002536"/>
          </a:xfrm>
          <a:prstGeom prst="rect">
            <a:avLst/>
          </a:prstGeom>
          <a:noFill/>
          <a:ln/>
        </p:spPr>
        <p:txBody>
          <a:bodyPr wrap="square" lIns="0" tIns="0" rIns="0" bIns="0" rtlCol="0" anchor="ctr"/>
          <a:lstStyle/>
          <a:p>
            <a:pPr indent="0" marL="0">
              <a:buNone/>
            </a:pPr>
            <a:r>
              <a:rPr lang="en-US" sz="1150" b="1" dirty="0">
                <a:solidFill>
                  <a:srgbClr val="A65F00"/>
                </a:solidFill>
                <a:latin typeface="Calibri" pitchFamily="34" charset="0"/>
                <a:ea typeface="Calibri" pitchFamily="34" charset="-122"/>
                <a:cs typeface="Calibri" pitchFamily="34" charset="-120"/>
              </a:rPr>
              <a:t>Please note  </a:t>
            </a:r>
            <a:pPr indent="0" marL="0">
              <a:buNone/>
            </a:pPr>
            <a:r>
              <a:rPr lang="en-US" sz="1150" dirty="0">
                <a:solidFill>
                  <a:srgbClr val="3A3F45"/>
                </a:solidFill>
                <a:latin typeface="Calibri" pitchFamily="34" charset="0"/>
                <a:ea typeface="Calibri" pitchFamily="34" charset="-122"/>
                <a:cs typeface="Calibri" pitchFamily="34" charset="-120"/>
              </a:rPr>
              <a:t>Values follow the Oman Highway Design Standards 2017, Section 19 (GCC manual based). For projects in Qatar, check against the Qatar Traffic Control Manual (QTCM) and your project specification. Every value can be changed in the dialogs.</a:t>
            </a:r>
            <a:endParaRPr lang="en-US" sz="11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H  ·  REFERENCE</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Troubleshooting and quick fixes</a:t>
            </a:r>
            <a:endParaRPr lang="en-US" sz="2600" dirty="0"/>
          </a:p>
        </p:txBody>
      </p:sp>
      <p:graphicFrame>
        <p:nvGraphicFramePr>
          <p:cNvPr id="37" name="table-1529"/>
          <p:cNvGraphicFramePr>
            <a:graphicFrameLocks noGrp="1"/>
          </p:cNvGraphicFramePr>
          <p:nvPr>
            <p:extLst>
              <p:ext uri="{D42A27DB-BD31-4B8C-83A1-F6EECF244321}">
                <p14:modId xmlns:p14="http://schemas.microsoft.com/office/powerpoint/2010/main" val="1579011935"/>
              </p:ext>
            </p:extLst>
          </p:nvPr>
        </p:nvGraphicFramePr>
        <p:xfrm>
          <a:off x="502920" y="1298448"/>
          <a:ext cx="11155680" cy="914400"/>
        </p:xfrm>
        <a:graphic>
          <a:graphicData uri="http://schemas.openxmlformats.org/drawingml/2006/table">
            <a:tbl>
              <a:tblPr/>
              <a:tblGrid>
                <a:gridCol w="3931920"/>
                <a:gridCol w="7223760"/>
              </a:tblGrid>
              <a:tr h="301752">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Problem</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Fix</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Unknown command RDP</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Load RoadPro.lsp with APPLOAD. Full AutoCAD only, not AutoCAD LT.</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Road is 1000 times too small or too big</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Set Drawing units to Millimeters for mm drawings (Meters for m).</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"No RoadPro data on this object"</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Select the red centre line on layer ROAD-CL of a road built by RDP or RDJ.</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Warning: edge treatment tighter than the radius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Increase the radius, or reduce the width, shoulder or unit width (slide 12).</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Black outline not visible</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Dark screen background: outlines show white but plot black.</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Excel file could not be saved</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Close the old CSV in Excel, save the DWG, then run RDR again.</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Junction not formed</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Start the branch exactly ON the main CL (snap Nearest), away from widened or tapered edges.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Auxiliary lane skipped</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With its tapers it would run past the road end: move the junction or shorten the tapers.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Widening runs outside the road</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Start – taper in and End + taper out must stay inside the road chainages.</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Chainage not accepted</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Type 100 or 0+100 as a real road chainage (includes the start chainage).</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RDL placed nothing</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From / To outside the line length, or spacing larger than the line. Set To = 0 for the line end.</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Settings look wrong</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Type ROADPRORESET to restore all defaults (width 7.30 m, radius 10 m).</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Walkways show herringbone, not the I-shape paver</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RP_PAVER.pat could not be written / found: copy it to a Support folder (it is in the package).</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RDER refuses a curve</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Curves touching another curve, or at the line end, need a straight each side - edit by hand + RDB.</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01752">
                <a:tc>
                  <a:txBody>
                    <a:bodyPr/>
                    <a:lstStyle/>
                    <a:p>
                      <a:pPr indent="0" marL="0">
                        <a:buNone/>
                      </a:pPr>
                      <a:r>
                        <a:rPr lang="en-US" sz="1000" b="1" dirty="0">
                          <a:solidFill>
                            <a:srgbClr val="1F2326"/>
                          </a:solidFill>
                          <a:latin typeface="Calibri" pitchFamily="34" charset="0"/>
                          <a:ea typeface="Calibri" pitchFamily="34" charset="-122"/>
                          <a:cs typeface="Calibri" pitchFamily="34" charset="-120"/>
                        </a:rPr>
                        <a:t>Civil 3D alignment not converted</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00" dirty="0">
                          <a:solidFill>
                            <a:srgbClr val="1F2326"/>
                          </a:solidFill>
                          <a:latin typeface="Calibri" pitchFamily="34" charset="0"/>
                          <a:ea typeface="Calibri" pitchFamily="34" charset="-122"/>
                          <a:cs typeface="Calibri" pitchFamily="34" charset="-120"/>
                        </a:rPr>
                        <a:t>Use RDLX / LandXML in Civil 3D (Insert &gt; LandXML) and RDLXI, or explode a copy to a polyline.</a:t>
                      </a:r>
                      <a:endParaRPr lang="en-US" sz="100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H  ·  QUICK REFERENCE CARD</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Quick reference: shortcuts and default values</a:t>
            </a:r>
            <a:endParaRPr lang="en-US" sz="2600" dirty="0"/>
          </a:p>
        </p:txBody>
      </p:sp>
      <p:sp>
        <p:nvSpPr>
          <p:cNvPr id="4" name="shape-1530"/>
          <p:cNvSpPr/>
          <p:nvPr/>
        </p:nvSpPr>
        <p:spPr>
          <a:xfrm>
            <a:off x="502920" y="1280160"/>
            <a:ext cx="914400" cy="384048"/>
          </a:xfrm>
          <a:prstGeom prst="roundRect">
            <a:avLst>
              <a:gd name="adj" fmla="val 14286"/>
            </a:avLst>
          </a:prstGeom>
          <a:solidFill>
            <a:schemeClr val="accent1"/>
          </a:solidFill>
          <a:ln/>
        </p:spPr>
      </p:sp>
      <p:sp>
        <p:nvSpPr>
          <p:cNvPr id="5" name="text-1531"/>
          <p:cNvSpPr txBox="1"/>
          <p:nvPr/>
        </p:nvSpPr>
        <p:spPr>
          <a:xfrm>
            <a:off x="502920" y="128016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RDP</a:t>
            </a:r>
            <a:endParaRPr lang="en-US" sz="1200" dirty="0"/>
          </a:p>
        </p:txBody>
      </p:sp>
      <p:sp>
        <p:nvSpPr>
          <p:cNvPr id="6" name="text-1532"/>
          <p:cNvSpPr txBox="1"/>
          <p:nvPr/>
        </p:nvSpPr>
        <p:spPr>
          <a:xfrm>
            <a:off x="1490472" y="128016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Build road</a:t>
            </a:r>
            <a:endParaRPr lang="en-US" sz="1050" dirty="0"/>
          </a:p>
        </p:txBody>
      </p:sp>
      <p:sp>
        <p:nvSpPr>
          <p:cNvPr id="7" name="shape-1533"/>
          <p:cNvSpPr/>
          <p:nvPr/>
        </p:nvSpPr>
        <p:spPr>
          <a:xfrm>
            <a:off x="2761488" y="1280160"/>
            <a:ext cx="914400" cy="384048"/>
          </a:xfrm>
          <a:prstGeom prst="roundRect">
            <a:avLst>
              <a:gd name="adj" fmla="val 14286"/>
            </a:avLst>
          </a:prstGeom>
          <a:solidFill>
            <a:schemeClr val="accent1"/>
          </a:solidFill>
          <a:ln/>
        </p:spPr>
      </p:sp>
      <p:sp>
        <p:nvSpPr>
          <p:cNvPr id="8" name="text-1534"/>
          <p:cNvSpPr txBox="1"/>
          <p:nvPr/>
        </p:nvSpPr>
        <p:spPr>
          <a:xfrm>
            <a:off x="2761488" y="128016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RDR</a:t>
            </a:r>
            <a:endParaRPr lang="en-US" sz="1200" dirty="0"/>
          </a:p>
        </p:txBody>
      </p:sp>
      <p:sp>
        <p:nvSpPr>
          <p:cNvPr id="9" name="text-1535"/>
          <p:cNvSpPr txBox="1"/>
          <p:nvPr/>
        </p:nvSpPr>
        <p:spPr>
          <a:xfrm>
            <a:off x="3749040" y="128016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Report + Excel</a:t>
            </a:r>
            <a:endParaRPr lang="en-US" sz="1050" dirty="0"/>
          </a:p>
        </p:txBody>
      </p:sp>
      <p:sp>
        <p:nvSpPr>
          <p:cNvPr id="10" name="shape-1536"/>
          <p:cNvSpPr/>
          <p:nvPr/>
        </p:nvSpPr>
        <p:spPr>
          <a:xfrm>
            <a:off x="5020056" y="1280160"/>
            <a:ext cx="914400" cy="384048"/>
          </a:xfrm>
          <a:prstGeom prst="roundRect">
            <a:avLst>
              <a:gd name="adj" fmla="val 14286"/>
            </a:avLst>
          </a:prstGeom>
          <a:solidFill>
            <a:schemeClr val="accent1"/>
          </a:solidFill>
          <a:ln/>
        </p:spPr>
      </p:sp>
      <p:sp>
        <p:nvSpPr>
          <p:cNvPr id="11" name="text-1537"/>
          <p:cNvSpPr txBox="1"/>
          <p:nvPr/>
        </p:nvSpPr>
        <p:spPr>
          <a:xfrm>
            <a:off x="5020056" y="128016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RDRAD</a:t>
            </a:r>
            <a:endParaRPr lang="en-US" sz="1200" dirty="0"/>
          </a:p>
        </p:txBody>
      </p:sp>
      <p:sp>
        <p:nvSpPr>
          <p:cNvPr id="12" name="text-1538"/>
          <p:cNvSpPr txBox="1"/>
          <p:nvPr/>
        </p:nvSpPr>
        <p:spPr>
          <a:xfrm>
            <a:off x="6007608" y="128016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Radius labels</a:t>
            </a:r>
            <a:endParaRPr lang="en-US" sz="1050" dirty="0"/>
          </a:p>
        </p:txBody>
      </p:sp>
      <p:sp>
        <p:nvSpPr>
          <p:cNvPr id="13" name="shape-1539"/>
          <p:cNvSpPr/>
          <p:nvPr/>
        </p:nvSpPr>
        <p:spPr>
          <a:xfrm>
            <a:off x="7278624" y="1280160"/>
            <a:ext cx="914400" cy="384048"/>
          </a:xfrm>
          <a:prstGeom prst="roundRect">
            <a:avLst>
              <a:gd name="adj" fmla="val 14286"/>
            </a:avLst>
          </a:prstGeom>
          <a:solidFill>
            <a:schemeClr val="accent1"/>
          </a:solidFill>
          <a:ln/>
        </p:spPr>
      </p:sp>
      <p:sp>
        <p:nvSpPr>
          <p:cNvPr id="14" name="text-1540"/>
          <p:cNvSpPr txBox="1"/>
          <p:nvPr/>
        </p:nvSpPr>
        <p:spPr>
          <a:xfrm>
            <a:off x="7278624" y="128016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RDSEC</a:t>
            </a:r>
            <a:endParaRPr lang="en-US" sz="1200" dirty="0"/>
          </a:p>
        </p:txBody>
      </p:sp>
      <p:sp>
        <p:nvSpPr>
          <p:cNvPr id="15" name="text-1541"/>
          <p:cNvSpPr txBox="1"/>
          <p:nvPr/>
        </p:nvSpPr>
        <p:spPr>
          <a:xfrm>
            <a:off x="8266176" y="128016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Straight sections</a:t>
            </a:r>
            <a:endParaRPr lang="en-US" sz="1050" dirty="0"/>
          </a:p>
        </p:txBody>
      </p:sp>
      <p:sp>
        <p:nvSpPr>
          <p:cNvPr id="16" name="shape-1542"/>
          <p:cNvSpPr/>
          <p:nvPr/>
        </p:nvSpPr>
        <p:spPr>
          <a:xfrm>
            <a:off x="9537192" y="1280160"/>
            <a:ext cx="914400" cy="384048"/>
          </a:xfrm>
          <a:prstGeom prst="roundRect">
            <a:avLst>
              <a:gd name="adj" fmla="val 14286"/>
            </a:avLst>
          </a:prstGeom>
          <a:solidFill>
            <a:schemeClr val="accent1"/>
          </a:solidFill>
          <a:ln/>
        </p:spPr>
      </p:sp>
      <p:sp>
        <p:nvSpPr>
          <p:cNvPr id="17" name="text-1543"/>
          <p:cNvSpPr txBox="1"/>
          <p:nvPr/>
        </p:nvSpPr>
        <p:spPr>
          <a:xfrm>
            <a:off x="9537192" y="128016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RDX</a:t>
            </a:r>
            <a:endParaRPr lang="en-US" sz="1200" dirty="0"/>
          </a:p>
        </p:txBody>
      </p:sp>
      <p:sp>
        <p:nvSpPr>
          <p:cNvPr id="18" name="text-1544"/>
          <p:cNvSpPr txBox="1"/>
          <p:nvPr/>
        </p:nvSpPr>
        <p:spPr>
          <a:xfrm>
            <a:off x="10524744" y="128016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Cross sections</a:t>
            </a:r>
            <a:endParaRPr lang="en-US" sz="1050" dirty="0"/>
          </a:p>
        </p:txBody>
      </p:sp>
      <p:sp>
        <p:nvSpPr>
          <p:cNvPr id="19" name="shape-1545"/>
          <p:cNvSpPr/>
          <p:nvPr/>
        </p:nvSpPr>
        <p:spPr>
          <a:xfrm>
            <a:off x="502920" y="1828800"/>
            <a:ext cx="914400" cy="384048"/>
          </a:xfrm>
          <a:prstGeom prst="roundRect">
            <a:avLst>
              <a:gd name="adj" fmla="val 14286"/>
            </a:avLst>
          </a:prstGeom>
          <a:solidFill>
            <a:schemeClr val="accent1"/>
          </a:solidFill>
          <a:ln/>
        </p:spPr>
      </p:sp>
      <p:sp>
        <p:nvSpPr>
          <p:cNvPr id="20" name="text-1546"/>
          <p:cNvSpPr txBox="1"/>
          <p:nvPr/>
        </p:nvSpPr>
        <p:spPr>
          <a:xfrm>
            <a:off x="502920" y="182880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RDW</a:t>
            </a:r>
            <a:endParaRPr lang="en-US" sz="1200" dirty="0"/>
          </a:p>
        </p:txBody>
      </p:sp>
      <p:sp>
        <p:nvSpPr>
          <p:cNvPr id="21" name="text-1547"/>
          <p:cNvSpPr txBox="1"/>
          <p:nvPr/>
        </p:nvSpPr>
        <p:spPr>
          <a:xfrm>
            <a:off x="1490472" y="182880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Lane widening</a:t>
            </a:r>
            <a:endParaRPr lang="en-US" sz="1050" dirty="0"/>
          </a:p>
        </p:txBody>
      </p:sp>
      <p:sp>
        <p:nvSpPr>
          <p:cNvPr id="22" name="shape-1548"/>
          <p:cNvSpPr/>
          <p:nvPr/>
        </p:nvSpPr>
        <p:spPr>
          <a:xfrm>
            <a:off x="2761488" y="1828800"/>
            <a:ext cx="914400" cy="384048"/>
          </a:xfrm>
          <a:prstGeom prst="roundRect">
            <a:avLst>
              <a:gd name="adj" fmla="val 14286"/>
            </a:avLst>
          </a:prstGeom>
          <a:solidFill>
            <a:schemeClr val="accent1"/>
          </a:solidFill>
          <a:ln/>
        </p:spPr>
      </p:sp>
      <p:sp>
        <p:nvSpPr>
          <p:cNvPr id="23" name="text-1549"/>
          <p:cNvSpPr txBox="1"/>
          <p:nvPr/>
        </p:nvSpPr>
        <p:spPr>
          <a:xfrm>
            <a:off x="2761488" y="182880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RDT</a:t>
            </a:r>
            <a:endParaRPr lang="en-US" sz="1200" dirty="0"/>
          </a:p>
        </p:txBody>
      </p:sp>
      <p:sp>
        <p:nvSpPr>
          <p:cNvPr id="24" name="text-1550"/>
          <p:cNvSpPr txBox="1"/>
          <p:nvPr/>
        </p:nvSpPr>
        <p:spPr>
          <a:xfrm>
            <a:off x="3749040" y="182880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Road taper</a:t>
            </a:r>
            <a:endParaRPr lang="en-US" sz="1050" dirty="0"/>
          </a:p>
        </p:txBody>
      </p:sp>
      <p:sp>
        <p:nvSpPr>
          <p:cNvPr id="25" name="shape-1551"/>
          <p:cNvSpPr/>
          <p:nvPr/>
        </p:nvSpPr>
        <p:spPr>
          <a:xfrm>
            <a:off x="5020056" y="1828800"/>
            <a:ext cx="914400" cy="384048"/>
          </a:xfrm>
          <a:prstGeom prst="roundRect">
            <a:avLst>
              <a:gd name="adj" fmla="val 14286"/>
            </a:avLst>
          </a:prstGeom>
          <a:solidFill>
            <a:schemeClr val="accent1"/>
          </a:solidFill>
          <a:ln/>
        </p:spPr>
      </p:sp>
      <p:sp>
        <p:nvSpPr>
          <p:cNvPr id="26" name="text-1552"/>
          <p:cNvSpPr txBox="1"/>
          <p:nvPr/>
        </p:nvSpPr>
        <p:spPr>
          <a:xfrm>
            <a:off x="5020056" y="182880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RDJ</a:t>
            </a:r>
            <a:endParaRPr lang="en-US" sz="1200" dirty="0"/>
          </a:p>
        </p:txBody>
      </p:sp>
      <p:sp>
        <p:nvSpPr>
          <p:cNvPr id="27" name="text-1553"/>
          <p:cNvSpPr txBox="1"/>
          <p:nvPr/>
        </p:nvSpPr>
        <p:spPr>
          <a:xfrm>
            <a:off x="6007608" y="182880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Junction / tie-in</a:t>
            </a:r>
            <a:endParaRPr lang="en-US" sz="1050" dirty="0"/>
          </a:p>
        </p:txBody>
      </p:sp>
      <p:sp>
        <p:nvSpPr>
          <p:cNvPr id="28" name="shape-1554"/>
          <p:cNvSpPr/>
          <p:nvPr/>
        </p:nvSpPr>
        <p:spPr>
          <a:xfrm>
            <a:off x="7278624" y="1828800"/>
            <a:ext cx="914400" cy="384048"/>
          </a:xfrm>
          <a:prstGeom prst="roundRect">
            <a:avLst>
              <a:gd name="adj" fmla="val 14286"/>
            </a:avLst>
          </a:prstGeom>
          <a:solidFill>
            <a:schemeClr val="accent1"/>
          </a:solidFill>
          <a:ln/>
        </p:spPr>
      </p:sp>
      <p:sp>
        <p:nvSpPr>
          <p:cNvPr id="29" name="text-1555"/>
          <p:cNvSpPr txBox="1"/>
          <p:nvPr/>
        </p:nvSpPr>
        <p:spPr>
          <a:xfrm>
            <a:off x="7278624" y="182880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RDM</a:t>
            </a:r>
            <a:endParaRPr lang="en-US" sz="1200" dirty="0"/>
          </a:p>
        </p:txBody>
      </p:sp>
      <p:sp>
        <p:nvSpPr>
          <p:cNvPr id="30" name="text-1556"/>
          <p:cNvSpPr txBox="1"/>
          <p:nvPr/>
        </p:nvSpPr>
        <p:spPr>
          <a:xfrm>
            <a:off x="8266176" y="182880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Road markings</a:t>
            </a:r>
            <a:endParaRPr lang="en-US" sz="1050" dirty="0"/>
          </a:p>
        </p:txBody>
      </p:sp>
      <p:sp>
        <p:nvSpPr>
          <p:cNvPr id="31" name="shape-1557"/>
          <p:cNvSpPr/>
          <p:nvPr/>
        </p:nvSpPr>
        <p:spPr>
          <a:xfrm>
            <a:off x="9537192" y="1828800"/>
            <a:ext cx="914400" cy="384048"/>
          </a:xfrm>
          <a:prstGeom prst="roundRect">
            <a:avLst>
              <a:gd name="adj" fmla="val 14286"/>
            </a:avLst>
          </a:prstGeom>
          <a:solidFill>
            <a:schemeClr val="accent1"/>
          </a:solidFill>
          <a:ln/>
        </p:spPr>
      </p:sp>
      <p:sp>
        <p:nvSpPr>
          <p:cNvPr id="32" name="text-1558"/>
          <p:cNvSpPr txBox="1"/>
          <p:nvPr/>
        </p:nvSpPr>
        <p:spPr>
          <a:xfrm>
            <a:off x="9537192" y="182880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RDL</a:t>
            </a:r>
            <a:endParaRPr lang="en-US" sz="1200" dirty="0"/>
          </a:p>
        </p:txBody>
      </p:sp>
      <p:sp>
        <p:nvSpPr>
          <p:cNvPr id="33" name="text-1559"/>
          <p:cNvSpPr txBox="1"/>
          <p:nvPr/>
        </p:nvSpPr>
        <p:spPr>
          <a:xfrm>
            <a:off x="10524744" y="182880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Single line</a:t>
            </a:r>
            <a:endParaRPr lang="en-US" sz="1050" dirty="0"/>
          </a:p>
        </p:txBody>
      </p:sp>
      <p:sp>
        <p:nvSpPr>
          <p:cNvPr id="34" name="shape-1560"/>
          <p:cNvSpPr/>
          <p:nvPr/>
        </p:nvSpPr>
        <p:spPr>
          <a:xfrm>
            <a:off x="502920" y="2377440"/>
            <a:ext cx="914400" cy="384048"/>
          </a:xfrm>
          <a:prstGeom prst="roundRect">
            <a:avLst>
              <a:gd name="adj" fmla="val 14286"/>
            </a:avLst>
          </a:prstGeom>
          <a:solidFill>
            <a:schemeClr val="accent2"/>
          </a:solidFill>
          <a:ln/>
        </p:spPr>
      </p:sp>
      <p:sp>
        <p:nvSpPr>
          <p:cNvPr id="35" name="text-1561"/>
          <p:cNvSpPr txBox="1"/>
          <p:nvPr/>
        </p:nvSpPr>
        <p:spPr>
          <a:xfrm>
            <a:off x="502920" y="237744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RDC</a:t>
            </a:r>
            <a:endParaRPr lang="en-US" sz="1200" dirty="0"/>
          </a:p>
        </p:txBody>
      </p:sp>
      <p:sp>
        <p:nvSpPr>
          <p:cNvPr id="36" name="text-1562"/>
          <p:cNvSpPr txBox="1"/>
          <p:nvPr/>
        </p:nvSpPr>
        <p:spPr>
          <a:xfrm>
            <a:off x="1490472" y="237744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Corridor (new)</a:t>
            </a:r>
            <a:endParaRPr lang="en-US" sz="1050" dirty="0"/>
          </a:p>
        </p:txBody>
      </p:sp>
      <p:sp>
        <p:nvSpPr>
          <p:cNvPr id="37" name="shape-1563"/>
          <p:cNvSpPr/>
          <p:nvPr/>
        </p:nvSpPr>
        <p:spPr>
          <a:xfrm>
            <a:off x="2761488" y="2377440"/>
            <a:ext cx="914400" cy="384048"/>
          </a:xfrm>
          <a:prstGeom prst="roundRect">
            <a:avLst>
              <a:gd name="adj" fmla="val 14286"/>
            </a:avLst>
          </a:prstGeom>
          <a:solidFill>
            <a:schemeClr val="accent2"/>
          </a:solidFill>
          <a:ln/>
        </p:spPr>
      </p:sp>
      <p:sp>
        <p:nvSpPr>
          <p:cNvPr id="38" name="text-1564"/>
          <p:cNvSpPr txBox="1"/>
          <p:nvPr/>
        </p:nvSpPr>
        <p:spPr>
          <a:xfrm>
            <a:off x="2761488" y="237744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RDU</a:t>
            </a:r>
            <a:endParaRPr lang="en-US" sz="1200" dirty="0"/>
          </a:p>
        </p:txBody>
      </p:sp>
      <p:sp>
        <p:nvSpPr>
          <p:cNvPr id="39" name="text-1565"/>
          <p:cNvSpPr txBox="1"/>
          <p:nvPr/>
        </p:nvSpPr>
        <p:spPr>
          <a:xfrm>
            <a:off x="3749040" y="237744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Update corridor</a:t>
            </a:r>
            <a:endParaRPr lang="en-US" sz="1050" dirty="0"/>
          </a:p>
        </p:txBody>
      </p:sp>
      <p:sp>
        <p:nvSpPr>
          <p:cNvPr id="40" name="shape-1566"/>
          <p:cNvSpPr/>
          <p:nvPr/>
        </p:nvSpPr>
        <p:spPr>
          <a:xfrm>
            <a:off x="5020056" y="2377440"/>
            <a:ext cx="914400" cy="384048"/>
          </a:xfrm>
          <a:prstGeom prst="roundRect">
            <a:avLst>
              <a:gd name="adj" fmla="val 14286"/>
            </a:avLst>
          </a:prstGeom>
          <a:solidFill>
            <a:schemeClr val="accent2"/>
          </a:solidFill>
          <a:ln/>
        </p:spPr>
      </p:sp>
      <p:sp>
        <p:nvSpPr>
          <p:cNvPr id="41" name="text-1567"/>
          <p:cNvSpPr txBox="1"/>
          <p:nvPr/>
        </p:nvSpPr>
        <p:spPr>
          <a:xfrm>
            <a:off x="5020056" y="237744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RDER</a:t>
            </a:r>
            <a:endParaRPr lang="en-US" sz="1200" dirty="0"/>
          </a:p>
        </p:txBody>
      </p:sp>
      <p:sp>
        <p:nvSpPr>
          <p:cNvPr id="42" name="text-1568"/>
          <p:cNvSpPr txBox="1"/>
          <p:nvPr/>
        </p:nvSpPr>
        <p:spPr>
          <a:xfrm>
            <a:off x="6007608" y="237744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Edit radius (new)</a:t>
            </a:r>
            <a:endParaRPr lang="en-US" sz="1050" dirty="0"/>
          </a:p>
        </p:txBody>
      </p:sp>
      <p:sp>
        <p:nvSpPr>
          <p:cNvPr id="43" name="shape-1569"/>
          <p:cNvSpPr/>
          <p:nvPr/>
        </p:nvSpPr>
        <p:spPr>
          <a:xfrm>
            <a:off x="7278624" y="2377440"/>
            <a:ext cx="914400" cy="384048"/>
          </a:xfrm>
          <a:prstGeom prst="roundRect">
            <a:avLst>
              <a:gd name="adj" fmla="val 14286"/>
            </a:avLst>
          </a:prstGeom>
          <a:solidFill>
            <a:schemeClr val="accent2"/>
          </a:solidFill>
          <a:ln/>
        </p:spPr>
      </p:sp>
      <p:sp>
        <p:nvSpPr>
          <p:cNvPr id="44" name="text-1570"/>
          <p:cNvSpPr txBox="1"/>
          <p:nvPr/>
        </p:nvSpPr>
        <p:spPr>
          <a:xfrm>
            <a:off x="7278624" y="237744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RDB</a:t>
            </a:r>
            <a:endParaRPr lang="en-US" sz="1200" dirty="0"/>
          </a:p>
        </p:txBody>
      </p:sp>
      <p:sp>
        <p:nvSpPr>
          <p:cNvPr id="45" name="text-1571"/>
          <p:cNvSpPr txBox="1"/>
          <p:nvPr/>
        </p:nvSpPr>
        <p:spPr>
          <a:xfrm>
            <a:off x="8266176" y="237744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Rebuild road</a:t>
            </a:r>
            <a:endParaRPr lang="en-US" sz="1050" dirty="0"/>
          </a:p>
        </p:txBody>
      </p:sp>
      <p:sp>
        <p:nvSpPr>
          <p:cNvPr id="46" name="shape-1572"/>
          <p:cNvSpPr/>
          <p:nvPr/>
        </p:nvSpPr>
        <p:spPr>
          <a:xfrm>
            <a:off x="9537192" y="2377440"/>
            <a:ext cx="914400" cy="384048"/>
          </a:xfrm>
          <a:prstGeom prst="roundRect">
            <a:avLst>
              <a:gd name="adj" fmla="val 14286"/>
            </a:avLst>
          </a:prstGeom>
          <a:solidFill>
            <a:schemeClr val="accent2"/>
          </a:solidFill>
          <a:ln/>
        </p:spPr>
      </p:sp>
      <p:sp>
        <p:nvSpPr>
          <p:cNvPr id="47" name="text-1573"/>
          <p:cNvSpPr txBox="1"/>
          <p:nvPr/>
        </p:nvSpPr>
        <p:spPr>
          <a:xfrm>
            <a:off x="9537192" y="2377440"/>
            <a:ext cx="9144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RDLX</a:t>
            </a:r>
            <a:endParaRPr lang="en-US" sz="1200" dirty="0"/>
          </a:p>
        </p:txBody>
      </p:sp>
      <p:sp>
        <p:nvSpPr>
          <p:cNvPr id="48" name="text-1574"/>
          <p:cNvSpPr txBox="1"/>
          <p:nvPr/>
        </p:nvSpPr>
        <p:spPr>
          <a:xfrm>
            <a:off x="10524744" y="2377440"/>
            <a:ext cx="1234440" cy="384048"/>
          </a:xfrm>
          <a:prstGeom prst="rect">
            <a:avLst/>
          </a:prstGeom>
          <a:noFill/>
          <a:ln/>
        </p:spPr>
        <p:txBody>
          <a:bodyPr wrap="square" lIns="0" tIns="0" rIns="0" bIns="0" rtlCol="0" anchor="ctr"/>
          <a:lstStyle/>
          <a:p>
            <a:pPr indent="0" marL="0">
              <a:buNone/>
            </a:pPr>
            <a:r>
              <a:rPr lang="en-US" sz="1050" b="1" dirty="0">
                <a:solidFill>
                  <a:schemeClr val="tx1"/>
                </a:solidFill>
                <a:latin typeface="Calibri" pitchFamily="34" charset="0"/>
                <a:ea typeface="Calibri" pitchFamily="34" charset="-122"/>
                <a:cs typeface="Calibri" pitchFamily="34" charset="-120"/>
              </a:rPr>
              <a:t>LandXML out / in</a:t>
            </a:r>
            <a:endParaRPr lang="en-US" sz="1050" dirty="0"/>
          </a:p>
        </p:txBody>
      </p:sp>
      <p:graphicFrame>
        <p:nvGraphicFramePr>
          <p:cNvPr id="38" name="table-1575"/>
          <p:cNvGraphicFramePr>
            <a:graphicFrameLocks noGrp="1"/>
          </p:cNvGraphicFramePr>
          <p:nvPr>
            <p:extLst>
              <p:ext uri="{D42A27DB-BD31-4B8C-83A1-F6EECF244321}">
                <p14:modId xmlns:p14="http://schemas.microsoft.com/office/powerpoint/2010/main" val="1579011935"/>
              </p:ext>
            </p:extLst>
          </p:nvPr>
        </p:nvGraphicFramePr>
        <p:xfrm>
          <a:off x="502920" y="3017520"/>
          <a:ext cx="6492240" cy="914400"/>
        </p:xfrm>
        <a:graphic>
          <a:graphicData uri="http://schemas.openxmlformats.org/drawingml/2006/table">
            <a:tbl>
              <a:tblPr/>
              <a:tblGrid>
                <a:gridCol w="2194560"/>
                <a:gridCol w="1463040"/>
                <a:gridCol w="1920240"/>
                <a:gridCol w="91440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RDP default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Value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RDW / RDT / RDX</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Value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Road width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7.30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Extra lane width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3.65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Manual radius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Widening tapers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30 / 30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Unit / cone spacing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2.00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Taper edge shift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Unit width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0.50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Fillet radius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30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Paved shoulder</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0.50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Crossfall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2.5 %</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Speed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30 km/h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Barricade height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Chainage interval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20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Sign clearance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1.50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graphicFrame>
        <p:nvGraphicFramePr>
          <p:cNvPr id="75" name="table-1576"/>
          <p:cNvGraphicFramePr>
            <a:graphicFrameLocks noGrp="1"/>
          </p:cNvGraphicFramePr>
          <p:nvPr>
            <p:extLst>
              <p:ext uri="{D42A27DB-BD31-4B8C-83A1-F6EECF244321}">
                <p14:modId xmlns:p14="http://schemas.microsoft.com/office/powerpoint/2010/main" val="1579011935"/>
              </p:ext>
            </p:extLst>
          </p:nvPr>
        </p:nvGraphicFramePr>
        <p:xfrm>
          <a:off x="7178040" y="3017520"/>
          <a:ext cx="4480560" cy="914400"/>
        </p:xfrm>
        <a:graphic>
          <a:graphicData uri="http://schemas.openxmlformats.org/drawingml/2006/table">
            <a:tbl>
              <a:tblPr/>
              <a:tblGrid>
                <a:gridCol w="2651760"/>
                <a:gridCol w="182880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RDJ / RDL default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Value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29184">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Branch width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7.30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29184">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Corner radius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29184">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Corner treatment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Same as main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29184">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Aux lane / tapers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3.65 / 60 / 30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29184">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Island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1.5 x 15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29184">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RDL offset / unit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0.50 / 2.00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29184">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RDL To distance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0 = line end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29184">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Lane width / median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3.65 / 3.00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29184">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Sidewalk / walkway</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2.00 / 2.50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I  ·  NEW IN 3.4  ·  CORRIDOR</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The full corridor in one build</a:t>
            </a:r>
            <a:endParaRPr lang="en-US" sz="2600" dirty="0"/>
          </a:p>
        </p:txBody>
      </p:sp>
      <p:pic>
        <p:nvPicPr>
          <p:cNvPr id="4" name="plan-image" descr="/tmp/claude-0/-home-claude/60b4a2fb-c06f-5560-8d08-e81f912d87f4/scratchpad/man/img/plan.png">    </p:cNvPr>
          <p:cNvPicPr>
            <a:picLocks noChangeAspect="1"/>
          </p:cNvPicPr>
          <p:nvPr/>
        </p:nvPicPr>
        <p:blipFill>
          <a:blip r:embed="rId1"/>
          <a:stretch>
            <a:fillRect/>
          </a:stretch>
        </p:blipFill>
        <p:spPr>
          <a:xfrm>
            <a:off x="502920" y="1298448"/>
            <a:ext cx="6903720" cy="4296030"/>
          </a:xfrm>
          <a:prstGeom prst="rect">
            <a:avLst/>
          </a:prstGeom>
        </p:spPr>
      </p:pic>
      <p:sp>
        <p:nvSpPr>
          <p:cNvPr id="5" name="text-1577"/>
          <p:cNvSpPr txBox="1"/>
          <p:nvPr/>
        </p:nvSpPr>
        <p:spPr>
          <a:xfrm>
            <a:off x="502920" y="5669280"/>
            <a:ext cx="6903720" cy="548640"/>
          </a:xfrm>
          <a:prstGeom prst="rect">
            <a:avLst/>
          </a:prstGeom>
          <a:noFill/>
          <a:ln/>
        </p:spPr>
        <p:txBody>
          <a:bodyPr wrap="square" lIns="0" tIns="0" rIns="0" bIns="0" rtlCol="0" anchor="t"/>
          <a:lstStyle/>
          <a:p>
            <a:pPr indent="0" marL="0">
              <a:buNone/>
            </a:pPr>
            <a:r>
              <a:rPr lang="en-US" sz="950" i="1" dirty="0">
                <a:solidFill>
                  <a:srgbClr val="5B6169"/>
                </a:solidFill>
                <a:latin typeface="Calibri" pitchFamily="34" charset="0"/>
                <a:ea typeface="Calibri" pitchFamily="34" charset="-122"/>
                <a:cs typeface="Calibri" pitchFamily="34" charset="-120"/>
              </a:rPr>
              <a:t>Real RoadPro output (simulator render): dual carriageway 2 + 2 lanes, raised median 3 m, sidewalks and walkways with interlocking pavers, open drains, utility corridors.</a:t>
            </a:r>
            <a:endParaRPr lang="en-US" sz="950" dirty="0"/>
          </a:p>
        </p:txBody>
      </p:sp>
      <p:sp>
        <p:nvSpPr>
          <p:cNvPr id="6" name="shape-1578"/>
          <p:cNvSpPr/>
          <p:nvPr/>
        </p:nvSpPr>
        <p:spPr>
          <a:xfrm>
            <a:off x="7635240" y="1362456"/>
            <a:ext cx="201168" cy="384048"/>
          </a:xfrm>
          <a:prstGeom prst="roundRect">
            <a:avLst>
              <a:gd name="adj" fmla="val 13636"/>
            </a:avLst>
          </a:prstGeom>
          <a:solidFill>
            <a:schemeClr val="accent1"/>
          </a:solidFill>
          <a:ln/>
        </p:spPr>
      </p:sp>
      <p:sp>
        <p:nvSpPr>
          <p:cNvPr id="7" name="text-1579"/>
          <p:cNvSpPr txBox="1"/>
          <p:nvPr/>
        </p:nvSpPr>
        <p:spPr>
          <a:xfrm>
            <a:off x="7955280" y="1325880"/>
            <a:ext cx="3749040" cy="512064"/>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Lanes</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From road width, manual (left / right can differ) or automatic</a:t>
            </a:r>
            <a:endParaRPr lang="en-US" sz="1200" dirty="0"/>
          </a:p>
        </p:txBody>
      </p:sp>
      <p:sp>
        <p:nvSpPr>
          <p:cNvPr id="8" name="shape-1580"/>
          <p:cNvSpPr/>
          <p:nvPr/>
        </p:nvSpPr>
        <p:spPr>
          <a:xfrm>
            <a:off x="7635240" y="1911096"/>
            <a:ext cx="201168" cy="384048"/>
          </a:xfrm>
          <a:prstGeom prst="roundRect">
            <a:avLst>
              <a:gd name="adj" fmla="val 13636"/>
            </a:avLst>
          </a:prstGeom>
          <a:solidFill>
            <a:schemeClr val="accent1"/>
          </a:solidFill>
          <a:ln/>
        </p:spPr>
      </p:sp>
      <p:sp>
        <p:nvSpPr>
          <p:cNvPr id="9" name="text-1581"/>
          <p:cNvSpPr txBox="1"/>
          <p:nvPr/>
        </p:nvSpPr>
        <p:spPr>
          <a:xfrm>
            <a:off x="7955280" y="1874520"/>
            <a:ext cx="3749040" cy="512064"/>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Carriageway</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Single or dual, with lane lines and per-lane arrows</a:t>
            </a:r>
            <a:endParaRPr lang="en-US" sz="1200" dirty="0"/>
          </a:p>
        </p:txBody>
      </p:sp>
      <p:sp>
        <p:nvSpPr>
          <p:cNvPr id="10" name="shape-1582"/>
          <p:cNvSpPr/>
          <p:nvPr/>
        </p:nvSpPr>
        <p:spPr>
          <a:xfrm>
            <a:off x="7635240" y="2459736"/>
            <a:ext cx="201168" cy="384048"/>
          </a:xfrm>
          <a:prstGeom prst="roundRect">
            <a:avLst>
              <a:gd name="adj" fmla="val 13636"/>
            </a:avLst>
          </a:prstGeom>
          <a:solidFill>
            <a:schemeClr val="accent1"/>
          </a:solidFill>
          <a:ln/>
        </p:spPr>
      </p:sp>
      <p:sp>
        <p:nvSpPr>
          <p:cNvPr id="11" name="text-1583"/>
          <p:cNvSpPr txBox="1"/>
          <p:nvPr/>
        </p:nvSpPr>
        <p:spPr>
          <a:xfrm>
            <a:off x="7955280" y="2423160"/>
            <a:ext cx="3749040" cy="512064"/>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Median</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Flush (painted, hatched) or raised (kerbed), any width</a:t>
            </a:r>
            <a:endParaRPr lang="en-US" sz="1200" dirty="0"/>
          </a:p>
        </p:txBody>
      </p:sp>
      <p:sp>
        <p:nvSpPr>
          <p:cNvPr id="12" name="shape-1584"/>
          <p:cNvSpPr/>
          <p:nvPr/>
        </p:nvSpPr>
        <p:spPr>
          <a:xfrm>
            <a:off x="7635240" y="3008376"/>
            <a:ext cx="201168" cy="384048"/>
          </a:xfrm>
          <a:prstGeom prst="roundRect">
            <a:avLst>
              <a:gd name="adj" fmla="val 13636"/>
            </a:avLst>
          </a:prstGeom>
          <a:solidFill>
            <a:schemeClr val="accent1"/>
          </a:solidFill>
          <a:ln/>
        </p:spPr>
      </p:sp>
      <p:sp>
        <p:nvSpPr>
          <p:cNvPr id="13" name="text-1585"/>
          <p:cNvSpPr txBox="1"/>
          <p:nvPr/>
        </p:nvSpPr>
        <p:spPr>
          <a:xfrm>
            <a:off x="7955280" y="2971800"/>
            <a:ext cx="3749040" cy="512064"/>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Sidewalks</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Left, right, both or none - own widths</a:t>
            </a:r>
            <a:endParaRPr lang="en-US" sz="1200" dirty="0"/>
          </a:p>
        </p:txBody>
      </p:sp>
      <p:sp>
        <p:nvSpPr>
          <p:cNvPr id="14" name="shape-1586"/>
          <p:cNvSpPr/>
          <p:nvPr/>
        </p:nvSpPr>
        <p:spPr>
          <a:xfrm>
            <a:off x="7635240" y="3557016"/>
            <a:ext cx="201168" cy="384048"/>
          </a:xfrm>
          <a:prstGeom prst="roundRect">
            <a:avLst>
              <a:gd name="adj" fmla="val 13636"/>
            </a:avLst>
          </a:prstGeom>
          <a:solidFill>
            <a:schemeClr val="accent1"/>
          </a:solidFill>
          <a:ln/>
        </p:spPr>
      </p:sp>
      <p:sp>
        <p:nvSpPr>
          <p:cNvPr id="15" name="text-1587"/>
          <p:cNvSpPr txBox="1"/>
          <p:nvPr/>
        </p:nvSpPr>
        <p:spPr>
          <a:xfrm>
            <a:off x="7955280" y="3520440"/>
            <a:ext cx="3749040" cy="512064"/>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Walkways</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Separate pedestrian walkway beyond a verge</a:t>
            </a:r>
            <a:endParaRPr lang="en-US" sz="1200" dirty="0"/>
          </a:p>
        </p:txBody>
      </p:sp>
      <p:sp>
        <p:nvSpPr>
          <p:cNvPr id="16" name="shape-1588"/>
          <p:cNvSpPr/>
          <p:nvPr/>
        </p:nvSpPr>
        <p:spPr>
          <a:xfrm>
            <a:off x="7635240" y="4105656"/>
            <a:ext cx="201168" cy="384048"/>
          </a:xfrm>
          <a:prstGeom prst="roundRect">
            <a:avLst>
              <a:gd name="adj" fmla="val 13636"/>
            </a:avLst>
          </a:prstGeom>
          <a:solidFill>
            <a:schemeClr val="accent1"/>
          </a:solidFill>
          <a:ln/>
        </p:spPr>
      </p:sp>
      <p:sp>
        <p:nvSpPr>
          <p:cNvPr id="17" name="text-1589"/>
          <p:cNvSpPr txBox="1"/>
          <p:nvPr/>
        </p:nvSpPr>
        <p:spPr>
          <a:xfrm>
            <a:off x="7955280" y="4069080"/>
            <a:ext cx="3749040" cy="512064"/>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Drainage</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Open channel, covered U-channel or pipe (provision)</a:t>
            </a:r>
            <a:endParaRPr lang="en-US" sz="1200" dirty="0"/>
          </a:p>
        </p:txBody>
      </p:sp>
      <p:sp>
        <p:nvSpPr>
          <p:cNvPr id="18" name="shape-1590"/>
          <p:cNvSpPr/>
          <p:nvPr/>
        </p:nvSpPr>
        <p:spPr>
          <a:xfrm>
            <a:off x="7635240" y="4654296"/>
            <a:ext cx="201168" cy="384048"/>
          </a:xfrm>
          <a:prstGeom prst="roundRect">
            <a:avLst>
              <a:gd name="adj" fmla="val 13636"/>
            </a:avLst>
          </a:prstGeom>
          <a:solidFill>
            <a:schemeClr val="accent1"/>
          </a:solidFill>
          <a:ln/>
        </p:spPr>
      </p:sp>
      <p:sp>
        <p:nvSpPr>
          <p:cNvPr id="19" name="text-1591"/>
          <p:cNvSpPr txBox="1"/>
          <p:nvPr/>
        </p:nvSpPr>
        <p:spPr>
          <a:xfrm>
            <a:off x="7955280" y="4617720"/>
            <a:ext cx="3749040" cy="512064"/>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Utilities</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Utility corridor strip each side (provision)</a:t>
            </a:r>
            <a:endParaRPr lang="en-US" sz="1200" dirty="0"/>
          </a:p>
        </p:txBody>
      </p:sp>
      <p:sp>
        <p:nvSpPr>
          <p:cNvPr id="20" name="shape-1592"/>
          <p:cNvSpPr/>
          <p:nvPr/>
        </p:nvSpPr>
        <p:spPr>
          <a:xfrm>
            <a:off x="7635240" y="5202936"/>
            <a:ext cx="201168" cy="384048"/>
          </a:xfrm>
          <a:prstGeom prst="roundRect">
            <a:avLst>
              <a:gd name="adj" fmla="val 13636"/>
            </a:avLst>
          </a:prstGeom>
          <a:solidFill>
            <a:schemeClr val="accent1"/>
          </a:solidFill>
          <a:ln/>
        </p:spPr>
      </p:sp>
      <p:sp>
        <p:nvSpPr>
          <p:cNvPr id="21" name="text-1593"/>
          <p:cNvSpPr txBox="1"/>
          <p:nvPr/>
        </p:nvSpPr>
        <p:spPr>
          <a:xfrm>
            <a:off x="7955280" y="5166360"/>
            <a:ext cx="3749040" cy="512064"/>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Paver hatch</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Interlocking I-shape paver, follows the road</a:t>
            </a:r>
            <a:endParaRPr lang="en-US" sz="1200" dirty="0"/>
          </a:p>
        </p:txBody>
      </p:sp>
      <p:sp>
        <p:nvSpPr>
          <p:cNvPr id="22" name="shape-1594"/>
          <p:cNvSpPr/>
          <p:nvPr/>
        </p:nvSpPr>
        <p:spPr>
          <a:xfrm>
            <a:off x="7635240" y="5751576"/>
            <a:ext cx="201168" cy="384048"/>
          </a:xfrm>
          <a:prstGeom prst="roundRect">
            <a:avLst>
              <a:gd name="adj" fmla="val 13636"/>
            </a:avLst>
          </a:prstGeom>
          <a:solidFill>
            <a:schemeClr val="accent1"/>
          </a:solidFill>
          <a:ln/>
        </p:spPr>
      </p:sp>
      <p:sp>
        <p:nvSpPr>
          <p:cNvPr id="23" name="text-1595"/>
          <p:cNvSpPr txBox="1"/>
          <p:nvPr/>
        </p:nvSpPr>
        <p:spPr>
          <a:xfrm>
            <a:off x="7955280" y="5715000"/>
            <a:ext cx="3749040" cy="512064"/>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Section + report</a:t>
            </a:r>
            <a:endParaRPr lang="en-US" sz="1200" dirty="0"/>
          </a:p>
          <a:p>
            <a:pPr indent="0" marL="0">
              <a:buNone/>
            </a:pPr>
            <a:r>
              <a:rPr lang="en-US" sz="1000" dirty="0">
                <a:solidFill>
                  <a:srgbClr val="5B6169"/>
                </a:solidFill>
                <a:latin typeface="Calibri" pitchFamily="34" charset="0"/>
                <a:ea typeface="Calibri" pitchFamily="34" charset="-122"/>
                <a:cs typeface="Calibri" pitchFamily="34" charset="-120"/>
              </a:rPr>
              <a:t>Every item in RDX sections and in RDR / Excel</a:t>
            </a:r>
            <a:endParaRPr lang="en-US" sz="120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I  ·  LANES, MEDIAN, SIDEWALKS ... DIALOG</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Carriageway and lanes: manual or automatic</a:t>
            </a:r>
            <a:endParaRPr lang="en-US" sz="2600" dirty="0"/>
          </a:p>
        </p:txBody>
      </p:sp>
      <p:graphicFrame>
        <p:nvGraphicFramePr>
          <p:cNvPr id="40" name="table-1596"/>
          <p:cNvGraphicFramePr>
            <a:graphicFrameLocks noGrp="1"/>
          </p:cNvGraphicFramePr>
          <p:nvPr>
            <p:extLst>
              <p:ext uri="{D42A27DB-BD31-4B8C-83A1-F6EECF244321}">
                <p14:modId xmlns:p14="http://schemas.microsoft.com/office/powerpoint/2010/main" val="1579011935"/>
              </p:ext>
            </p:extLst>
          </p:nvPr>
        </p:nvGraphicFramePr>
        <p:xfrm>
          <a:off x="502920" y="1298448"/>
          <a:ext cx="8686800" cy="914400"/>
        </p:xfrm>
        <a:graphic>
          <a:graphicData uri="http://schemas.openxmlformats.org/drawingml/2006/table">
            <a:tbl>
              <a:tblPr/>
              <a:tblGrid>
                <a:gridCol w="2651760"/>
                <a:gridCol w="2377440"/>
                <a:gridCol w="365760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Setting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Options  (default)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40233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Carriageway</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Single  /  Dual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Dual = two carriageways separated by a median or a centre barrier.</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Number of lanes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From road width  /  Manual  /  Automatic</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From road width = v3.3 behaviour (no lane lines).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0233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Lanes, left side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  (manual)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Opposite direction. Traffic keeps right.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Lanes, right side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  (manual)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Direction of increasing chainage. May differ from the left.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0233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Lane width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3.65</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Error below 2.50 / above 5.00; warning outside 3.00 - 3.75.</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Design volume per direction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0 = unknown (automatic)</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veh/h in the busiest direction.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402336">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Lane capacity assumed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1800 veh/h/lane (automatic)</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Your project value - it is shown in the report.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5" name="shape-1597"/>
          <p:cNvSpPr/>
          <p:nvPr/>
        </p:nvSpPr>
        <p:spPr>
          <a:xfrm>
            <a:off x="9372600" y="1298448"/>
            <a:ext cx="2286000" cy="3291840"/>
          </a:xfrm>
          <a:prstGeom prst="roundRect">
            <a:avLst>
              <a:gd name="adj" fmla="val 3200"/>
            </a:avLst>
          </a:prstGeom>
          <a:solidFill>
            <a:srgbClr val="F4F5F7"/>
          </a:solidFill>
          <a:ln w="9525">
            <a:solidFill>
              <a:srgbClr val="E3E5E8"/>
            </a:solidFill>
            <a:prstDash val="solid"/>
          </a:ln>
        </p:spPr>
      </p:sp>
      <p:sp>
        <p:nvSpPr>
          <p:cNvPr id="6" name="text-1598"/>
          <p:cNvSpPr txBox="1"/>
          <p:nvPr/>
        </p:nvSpPr>
        <p:spPr>
          <a:xfrm>
            <a:off x="9537192" y="1435608"/>
            <a:ext cx="195681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Automatic mode</a:t>
            </a:r>
            <a:endParaRPr lang="en-US" sz="1300" dirty="0"/>
          </a:p>
        </p:txBody>
      </p:sp>
      <p:sp>
        <p:nvSpPr>
          <p:cNvPr id="7" name="text-1599"/>
          <p:cNvSpPr txBox="1"/>
          <p:nvPr/>
        </p:nvSpPr>
        <p:spPr>
          <a:xfrm>
            <a:off x="9537192" y="1801368"/>
            <a:ext cx="1956816" cy="2679192"/>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With volume: lanes = V / C rounded up</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Without: as many lanes as fit in the RDP road width</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Minimum 1 per direction, 2 on a dual carriageway</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Road width = lanes x lane width + median</a:t>
            </a:r>
            <a:endParaRPr lang="en-US" sz="1050" dirty="0"/>
          </a:p>
        </p:txBody>
      </p:sp>
      <p:sp>
        <p:nvSpPr>
          <p:cNvPr id="8" name="shape-1600"/>
          <p:cNvSpPr/>
          <p:nvPr/>
        </p:nvSpPr>
        <p:spPr>
          <a:xfrm>
            <a:off x="9372600" y="4709160"/>
            <a:ext cx="2286000" cy="1463040"/>
          </a:xfrm>
          <a:prstGeom prst="roundRect">
            <a:avLst>
              <a:gd name="adj" fmla="val 5000"/>
            </a:avLst>
          </a:prstGeom>
          <a:solidFill>
            <a:srgbClr val="FFF6D6"/>
          </a:solidFill>
          <a:ln w="9525">
            <a:solidFill>
              <a:srgbClr val="F2D27A"/>
            </a:solidFill>
            <a:prstDash val="solid"/>
          </a:ln>
        </p:spPr>
      </p:sp>
      <p:sp>
        <p:nvSpPr>
          <p:cNvPr id="9" name="text-1601"/>
          <p:cNvSpPr txBox="1"/>
          <p:nvPr/>
        </p:nvSpPr>
        <p:spPr>
          <a:xfrm>
            <a:off x="9518904" y="4782312"/>
            <a:ext cx="1993392" cy="1316736"/>
          </a:xfrm>
          <a:prstGeom prst="rect">
            <a:avLst/>
          </a:prstGeom>
          <a:noFill/>
          <a:ln/>
        </p:spPr>
        <p:txBody>
          <a:bodyPr wrap="square" lIns="0" tIns="0" rIns="0" bIns="0" rtlCol="0" anchor="ctr"/>
          <a:lstStyle/>
          <a:p>
            <a:pPr indent="0" marL="0">
              <a:buNone/>
            </a:pPr>
            <a:r>
              <a:rPr lang="en-US" sz="1000" b="1" dirty="0">
                <a:solidFill>
                  <a:srgbClr val="A65F00"/>
                </a:solidFill>
                <a:latin typeface="Calibri" pitchFamily="34" charset="0"/>
                <a:ea typeface="Calibri" pitchFamily="34" charset="-122"/>
                <a:cs typeface="Calibri" pitchFamily="34" charset="-120"/>
              </a:rPr>
              <a:t>Note  </a:t>
            </a:r>
            <a:pPr indent="0" marL="0">
              <a:buNone/>
            </a:pPr>
            <a:r>
              <a:rPr lang="en-US" sz="1000" dirty="0">
                <a:solidFill>
                  <a:srgbClr val="3A3F45"/>
                </a:solidFill>
                <a:latin typeface="Calibri" pitchFamily="34" charset="0"/>
                <a:ea typeface="Calibri" pitchFamily="34" charset="-122"/>
                <a:cs typeface="Calibri" pitchFamily="34" charset="-120"/>
              </a:rPr>
              <a:t>Automatic lane counts are indicative only - not an engineering approval. Confirm with a traffic study and your design standard.</a:t>
            </a:r>
            <a:endParaRPr lang="en-US" sz="1000" dirty="0"/>
          </a:p>
        </p:txBody>
      </p:sp>
      <p:sp>
        <p:nvSpPr>
          <p:cNvPr id="10" name="text-1602"/>
          <p:cNvSpPr txBox="1"/>
          <p:nvPr/>
        </p:nvSpPr>
        <p:spPr>
          <a:xfrm>
            <a:off x="502920" y="4800600"/>
            <a:ext cx="8686800" cy="457200"/>
          </a:xfrm>
          <a:prstGeom prst="rect">
            <a:avLst/>
          </a:prstGeom>
          <a:noFill/>
          <a:ln/>
        </p:spPr>
        <p:txBody>
          <a:bodyPr wrap="square" lIns="0" tIns="0" rIns="0" bIns="0" rtlCol="0" anchor="t"/>
          <a:lstStyle/>
          <a:p>
            <a:pPr indent="0" marL="0">
              <a:buNone/>
            </a:pPr>
            <a:r>
              <a:rPr lang="en-US" sz="1100" dirty="0">
                <a:solidFill>
                  <a:srgbClr val="3A3F45"/>
                </a:solidFill>
                <a:latin typeface="Calibri" pitchFamily="34" charset="0"/>
                <a:ea typeface="Calibri" pitchFamily="34" charset="-122"/>
                <a:cs typeface="Calibri" pitchFamily="34" charset="-120"/>
              </a:rPr>
              <a:t>Example: 2 + 2 lanes x 3.65 m + 2.00 m median = 16.60 m road width. Manual mode fixes the width (the RDP width box is greyed out).</a:t>
            </a:r>
            <a:endParaRPr lang="en-US" sz="1100" dirty="0"/>
          </a:p>
        </p:txBody>
      </p:sp>
      <p:sp>
        <p:nvSpPr>
          <p:cNvPr id="11" name="shape-1603"/>
          <p:cNvSpPr/>
          <p:nvPr/>
        </p:nvSpPr>
        <p:spPr>
          <a:xfrm>
            <a:off x="502920" y="5349240"/>
            <a:ext cx="8686800" cy="822960"/>
          </a:xfrm>
          <a:prstGeom prst="rect">
            <a:avLst/>
          </a:prstGeom>
          <a:solidFill>
            <a:schemeClr val="accent5"/>
          </a:solidFill>
          <a:ln/>
        </p:spPr>
      </p:sp>
      <p:sp>
        <p:nvSpPr>
          <p:cNvPr id="12" name="shape-1604"/>
          <p:cNvSpPr/>
          <p:nvPr/>
        </p:nvSpPr>
        <p:spPr>
          <a:xfrm>
            <a:off x="4389120" y="5349240"/>
            <a:ext cx="914400" cy="822960"/>
          </a:xfrm>
          <a:prstGeom prst="rect">
            <a:avLst/>
          </a:prstGeom>
          <a:solidFill>
            <a:srgbClr val="5A8F3A"/>
          </a:solidFill>
          <a:ln/>
        </p:spPr>
      </p:sp>
      <p:sp>
        <p:nvSpPr>
          <p:cNvPr id="13" name="text-1605"/>
          <p:cNvSpPr txBox="1"/>
          <p:nvPr/>
        </p:nvSpPr>
        <p:spPr>
          <a:xfrm>
            <a:off x="1188720" y="5532120"/>
            <a:ext cx="548640" cy="457200"/>
          </a:xfrm>
          <a:prstGeom prst="rect">
            <a:avLst/>
          </a:prstGeom>
          <a:noFill/>
          <a:ln/>
        </p:spPr>
        <p:txBody>
          <a:bodyPr wrap="square" lIns="0" tIns="0" rIns="0" bIns="0" rtlCol="0" anchor="t"/>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4" name="text-1606"/>
          <p:cNvSpPr txBox="1"/>
          <p:nvPr/>
        </p:nvSpPr>
        <p:spPr>
          <a:xfrm>
            <a:off x="3108960" y="5532120"/>
            <a:ext cx="548640" cy="457200"/>
          </a:xfrm>
          <a:prstGeom prst="rect">
            <a:avLst/>
          </a:prstGeom>
          <a:noFill/>
          <a:ln/>
        </p:spPr>
        <p:txBody>
          <a:bodyPr wrap="square" lIns="0" tIns="0" rIns="0" bIns="0" rtlCol="0" anchor="t"/>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5" name="text-1607"/>
          <p:cNvSpPr txBox="1"/>
          <p:nvPr/>
        </p:nvSpPr>
        <p:spPr>
          <a:xfrm>
            <a:off x="5486400" y="5532120"/>
            <a:ext cx="548640" cy="457200"/>
          </a:xfrm>
          <a:prstGeom prst="rect">
            <a:avLst/>
          </a:prstGeom>
          <a:noFill/>
          <a:ln/>
        </p:spPr>
        <p:txBody>
          <a:bodyPr wrap="square" lIns="0" tIns="0" rIns="0" bIns="0" rtlCol="0" anchor="t"/>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6" name="text-1608"/>
          <p:cNvSpPr txBox="1"/>
          <p:nvPr/>
        </p:nvSpPr>
        <p:spPr>
          <a:xfrm>
            <a:off x="7406640" y="5532120"/>
            <a:ext cx="548640" cy="457200"/>
          </a:xfrm>
          <a:prstGeom prst="rect">
            <a:avLst/>
          </a:prstGeom>
          <a:noFill/>
          <a:ln/>
        </p:spPr>
        <p:txBody>
          <a:bodyPr wrap="square" lIns="0" tIns="0" rIns="0" bIns="0" rtlCol="0" anchor="t"/>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7" name="shape-1609"/>
          <p:cNvSpPr/>
          <p:nvPr/>
        </p:nvSpPr>
        <p:spPr>
          <a:xfrm>
            <a:off x="2441448" y="5394960"/>
            <a:ext cx="0" cy="731520"/>
          </a:xfrm>
          <a:prstGeom prst="line">
            <a:avLst/>
          </a:prstGeom>
          <a:noFill/>
          <a:ln w="19050">
            <a:solidFill>
              <a:srgbClr val="FFFFFF"/>
            </a:solidFill>
            <a:prstDash val="dash"/>
          </a:ln>
        </p:spPr>
      </p:sp>
      <p:sp>
        <p:nvSpPr>
          <p:cNvPr id="18" name="shape-1610"/>
          <p:cNvSpPr/>
          <p:nvPr/>
        </p:nvSpPr>
        <p:spPr>
          <a:xfrm>
            <a:off x="7251192" y="5394960"/>
            <a:ext cx="0" cy="731520"/>
          </a:xfrm>
          <a:prstGeom prst="line">
            <a:avLst/>
          </a:prstGeom>
          <a:noFill/>
          <a:ln w="19050">
            <a:solidFill>
              <a:srgbClr val="FFFFFF"/>
            </a:solidFill>
            <a:prstDash val="dash"/>
          </a:ln>
        </p:spPr>
      </p:sp>
      <p:sp>
        <p:nvSpPr>
          <p:cNvPr id="19" name="text-1611"/>
          <p:cNvSpPr txBox="1"/>
          <p:nvPr/>
        </p:nvSpPr>
        <p:spPr>
          <a:xfrm>
            <a:off x="4389120" y="5669280"/>
            <a:ext cx="914400" cy="228600"/>
          </a:xfrm>
          <a:prstGeom prst="rect">
            <a:avLst/>
          </a:prstGeom>
          <a:noFill/>
          <a:ln/>
        </p:spPr>
        <p:txBody>
          <a:bodyPr wrap="square" lIns="0" tIns="0" rIns="0" bIns="0" rtlCol="0" anchor="t"/>
          <a:lstStyle/>
          <a:p>
            <a:pPr algn="ctr" indent="0" marL="0">
              <a:buNone/>
            </a:pPr>
            <a:r>
              <a:rPr lang="en-US" sz="850" b="1" dirty="0">
                <a:solidFill>
                  <a:srgbClr val="FFFFFF"/>
                </a:solidFill>
                <a:latin typeface="Calibri" pitchFamily="34" charset="0"/>
                <a:ea typeface="Calibri" pitchFamily="34" charset="-122"/>
                <a:cs typeface="Calibri" pitchFamily="34" charset="-120"/>
              </a:rPr>
              <a:t>MEDIAN</a:t>
            </a:r>
            <a:endParaRPr lang="en-US" sz="8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I  ·  MEDIAN AND MARKINGS</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Median, unequal lanes and the markings drawn</a:t>
            </a:r>
            <a:endParaRPr lang="en-US" sz="2600" dirty="0"/>
          </a:p>
        </p:txBody>
      </p:sp>
      <p:sp>
        <p:nvSpPr>
          <p:cNvPr id="4" name="shape-1612"/>
          <p:cNvSpPr/>
          <p:nvPr/>
        </p:nvSpPr>
        <p:spPr>
          <a:xfrm>
            <a:off x="502920" y="1298448"/>
            <a:ext cx="3657600" cy="2331720"/>
          </a:xfrm>
          <a:prstGeom prst="roundRect">
            <a:avLst>
              <a:gd name="adj" fmla="val 3137"/>
            </a:avLst>
          </a:prstGeom>
          <a:solidFill>
            <a:srgbClr val="F4F5F7"/>
          </a:solidFill>
          <a:ln w="9525">
            <a:solidFill>
              <a:srgbClr val="E3E5E8"/>
            </a:solidFill>
            <a:prstDash val="solid"/>
          </a:ln>
        </p:spPr>
      </p:sp>
      <p:sp>
        <p:nvSpPr>
          <p:cNvPr id="5" name="text-1613"/>
          <p:cNvSpPr txBox="1"/>
          <p:nvPr/>
        </p:nvSpPr>
        <p:spPr>
          <a:xfrm>
            <a:off x="667512" y="1435608"/>
            <a:ext cx="3328416" cy="292608"/>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Flush median (painted)</a:t>
            </a:r>
            <a:endParaRPr lang="en-US" sz="1300" dirty="0"/>
          </a:p>
        </p:txBody>
      </p:sp>
      <p:sp>
        <p:nvSpPr>
          <p:cNvPr id="6" name="text-1614"/>
          <p:cNvSpPr txBox="1"/>
          <p:nvPr/>
        </p:nvSpPr>
        <p:spPr>
          <a:xfrm>
            <a:off x="667512" y="1801368"/>
            <a:ext cx="3328416" cy="1719072"/>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3A3F45"/>
                </a:solidFill>
                <a:latin typeface="Calibri" pitchFamily="34" charset="0"/>
                <a:ea typeface="Calibri" pitchFamily="34" charset="-122"/>
                <a:cs typeface="Calibri" pitchFamily="34" charset="-120"/>
              </a:rPr>
              <a:t>Diagonal hatch on ROAD-MEDIAN, white boundary lines</a:t>
            </a:r>
            <a:endParaRPr lang="en-US" sz="1100" dirty="0"/>
          </a:p>
          <a:p>
            <a:pPr marL="152400" indent="-152400">
              <a:spcAft>
                <a:spcPts val="300"/>
              </a:spcAft>
              <a:buSzPct val="100000"/>
              <a:buChar char="•"/>
            </a:pPr>
            <a:r>
              <a:rPr lang="en-US" sz="1100" dirty="0">
                <a:solidFill>
                  <a:srgbClr val="3A3F45"/>
                </a:solidFill>
                <a:latin typeface="Calibri" pitchFamily="34" charset="0"/>
                <a:ea typeface="Calibri" pitchFamily="34" charset="-122"/>
                <a:cs typeface="Calibri" pitchFamily="34" charset="-120"/>
              </a:rPr>
              <a:t>Width 0.30 m minimum</a:t>
            </a:r>
            <a:endParaRPr lang="en-US" sz="1100" dirty="0"/>
          </a:p>
          <a:p>
            <a:pPr marL="152400" indent="-152400">
              <a:spcAft>
                <a:spcPts val="300"/>
              </a:spcAft>
              <a:buSzPct val="100000"/>
              <a:buChar char="•"/>
            </a:pPr>
            <a:r>
              <a:rPr lang="en-US" sz="1100" dirty="0">
                <a:solidFill>
                  <a:srgbClr val="3A3F45"/>
                </a:solidFill>
                <a:latin typeface="Calibri" pitchFamily="34" charset="0"/>
                <a:ea typeface="Calibri" pitchFamily="34" charset="-122"/>
                <a:cs typeface="Calibri" pitchFamily="34" charset="-120"/>
              </a:rPr>
              <a:t>Yellow edge line on each side</a:t>
            </a:r>
            <a:endParaRPr lang="en-US" sz="1100" dirty="0"/>
          </a:p>
        </p:txBody>
      </p:sp>
      <p:sp>
        <p:nvSpPr>
          <p:cNvPr id="7" name="shape-1615"/>
          <p:cNvSpPr/>
          <p:nvPr/>
        </p:nvSpPr>
        <p:spPr>
          <a:xfrm>
            <a:off x="4270248" y="1298448"/>
            <a:ext cx="3657600" cy="2331720"/>
          </a:xfrm>
          <a:prstGeom prst="roundRect">
            <a:avLst>
              <a:gd name="adj" fmla="val 3137"/>
            </a:avLst>
          </a:prstGeom>
          <a:solidFill>
            <a:srgbClr val="F4F5F7"/>
          </a:solidFill>
          <a:ln w="9525">
            <a:solidFill>
              <a:srgbClr val="E3E5E8"/>
            </a:solidFill>
            <a:prstDash val="solid"/>
          </a:ln>
        </p:spPr>
      </p:sp>
      <p:sp>
        <p:nvSpPr>
          <p:cNvPr id="8" name="text-1616"/>
          <p:cNvSpPr txBox="1"/>
          <p:nvPr/>
        </p:nvSpPr>
        <p:spPr>
          <a:xfrm>
            <a:off x="4434840" y="1435608"/>
            <a:ext cx="3328416" cy="292608"/>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Raised median (kerbed)</a:t>
            </a:r>
            <a:endParaRPr lang="en-US" sz="1300" dirty="0"/>
          </a:p>
        </p:txBody>
      </p:sp>
      <p:sp>
        <p:nvSpPr>
          <p:cNvPr id="9" name="text-1617"/>
          <p:cNvSpPr txBox="1"/>
          <p:nvPr/>
        </p:nvSpPr>
        <p:spPr>
          <a:xfrm>
            <a:off x="4434840" y="1801368"/>
            <a:ext cx="3328416" cy="1719072"/>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3A3F45"/>
                </a:solidFill>
                <a:latin typeface="Calibri" pitchFamily="34" charset="0"/>
                <a:ea typeface="Calibri" pitchFamily="34" charset="-122"/>
                <a:cs typeface="Calibri" pitchFamily="34" charset="-120"/>
              </a:rPr>
              <a:t>Kerbs 150 mm on both sides, green fill</a:t>
            </a:r>
            <a:endParaRPr lang="en-US" sz="1100" dirty="0"/>
          </a:p>
          <a:p>
            <a:pPr marL="152400" indent="-152400">
              <a:spcAft>
                <a:spcPts val="300"/>
              </a:spcAft>
              <a:buSzPct val="100000"/>
              <a:buChar char="•"/>
            </a:pPr>
            <a:r>
              <a:rPr lang="en-US" sz="1100" dirty="0">
                <a:solidFill>
                  <a:srgbClr val="3A3F45"/>
                </a:solidFill>
                <a:latin typeface="Calibri" pitchFamily="34" charset="0"/>
                <a:ea typeface="Calibri" pitchFamily="34" charset="-122"/>
                <a:cs typeface="Calibri" pitchFamily="34" charset="-120"/>
              </a:rPr>
              <a:t>Warning under 1.20 m</a:t>
            </a:r>
            <a:endParaRPr lang="en-US" sz="1100" dirty="0"/>
          </a:p>
          <a:p>
            <a:pPr marL="152400" indent="-152400">
              <a:spcAft>
                <a:spcPts val="300"/>
              </a:spcAft>
              <a:buSzPct val="100000"/>
              <a:buChar char="•"/>
            </a:pPr>
            <a:r>
              <a:rPr lang="en-US" sz="1100" dirty="0">
                <a:solidFill>
                  <a:srgbClr val="3A3F45"/>
                </a:solidFill>
                <a:latin typeface="Calibri" pitchFamily="34" charset="0"/>
                <a:ea typeface="Calibri" pitchFamily="34" charset="-122"/>
                <a:cs typeface="Calibri" pitchFamily="34" charset="-120"/>
              </a:rPr>
              <a:t>In sections: kerbs with 150 mm upstand</a:t>
            </a:r>
            <a:endParaRPr lang="en-US" sz="1100" dirty="0"/>
          </a:p>
        </p:txBody>
      </p:sp>
      <p:sp>
        <p:nvSpPr>
          <p:cNvPr id="10" name="shape-1618"/>
          <p:cNvSpPr/>
          <p:nvPr/>
        </p:nvSpPr>
        <p:spPr>
          <a:xfrm>
            <a:off x="8037576" y="1298448"/>
            <a:ext cx="3621024" cy="2331720"/>
          </a:xfrm>
          <a:prstGeom prst="roundRect">
            <a:avLst>
              <a:gd name="adj" fmla="val 3137"/>
            </a:avLst>
          </a:prstGeom>
          <a:solidFill>
            <a:srgbClr val="F4F5F7"/>
          </a:solidFill>
          <a:ln w="9525">
            <a:solidFill>
              <a:srgbClr val="E3E5E8"/>
            </a:solidFill>
            <a:prstDash val="solid"/>
          </a:ln>
        </p:spPr>
      </p:sp>
      <p:sp>
        <p:nvSpPr>
          <p:cNvPr id="11" name="text-1619"/>
          <p:cNvSpPr txBox="1"/>
          <p:nvPr/>
        </p:nvSpPr>
        <p:spPr>
          <a:xfrm>
            <a:off x="8202168" y="1435608"/>
            <a:ext cx="3291840" cy="292608"/>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Centre barrier instead</a:t>
            </a:r>
            <a:endParaRPr lang="en-US" sz="1300" dirty="0"/>
          </a:p>
        </p:txBody>
      </p:sp>
      <p:sp>
        <p:nvSpPr>
          <p:cNvPr id="12" name="text-1620"/>
          <p:cNvSpPr txBox="1"/>
          <p:nvPr/>
        </p:nvSpPr>
        <p:spPr>
          <a:xfrm>
            <a:off x="8202168" y="1801368"/>
            <a:ext cx="3291840" cy="1719072"/>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3A3F45"/>
                </a:solidFill>
                <a:latin typeface="Calibri" pitchFamily="34" charset="0"/>
                <a:ea typeface="Calibri" pitchFamily="34" charset="-122"/>
                <a:cs typeface="Calibri" pitchFamily="34" charset="-120"/>
              </a:rPr>
              <a:t>RDP Centre = barricades or cones</a:t>
            </a:r>
            <a:endParaRPr lang="en-US" sz="1100" dirty="0"/>
          </a:p>
          <a:p>
            <a:pPr marL="152400" indent="-152400">
              <a:spcAft>
                <a:spcPts val="300"/>
              </a:spcAft>
              <a:buSzPct val="100000"/>
              <a:buChar char="•"/>
            </a:pPr>
            <a:r>
              <a:rPr lang="en-US" sz="1100" dirty="0">
                <a:solidFill>
                  <a:srgbClr val="3A3F45"/>
                </a:solidFill>
                <a:latin typeface="Calibri" pitchFamily="34" charset="0"/>
                <a:ea typeface="Calibri" pitchFamily="34" charset="-122"/>
                <a:cs typeface="Calibri" pitchFamily="34" charset="-120"/>
              </a:rPr>
              <a:t>Allowed as separator of a dual carriageway</a:t>
            </a:r>
            <a:endParaRPr lang="en-US" sz="1100" dirty="0"/>
          </a:p>
          <a:p>
            <a:pPr marL="152400" indent="-152400">
              <a:spcAft>
                <a:spcPts val="300"/>
              </a:spcAft>
              <a:buSzPct val="100000"/>
              <a:buChar char="•"/>
            </a:pPr>
            <a:r>
              <a:rPr lang="en-US" sz="1100" dirty="0">
                <a:solidFill>
                  <a:srgbClr val="3A3F45"/>
                </a:solidFill>
                <a:latin typeface="Calibri" pitchFamily="34" charset="0"/>
                <a:ea typeface="Calibri" pitchFamily="34" charset="-122"/>
                <a:cs typeface="Calibri" pitchFamily="34" charset="-120"/>
              </a:rPr>
              <a:t>Placed on the median line</a:t>
            </a:r>
            <a:endParaRPr lang="en-US" sz="1100" dirty="0"/>
          </a:p>
        </p:txBody>
      </p:sp>
      <p:sp>
        <p:nvSpPr>
          <p:cNvPr id="13" name="shape-1621"/>
          <p:cNvSpPr/>
          <p:nvPr/>
        </p:nvSpPr>
        <p:spPr>
          <a:xfrm>
            <a:off x="502920" y="3767328"/>
            <a:ext cx="5577840" cy="2423160"/>
          </a:xfrm>
          <a:prstGeom prst="roundRect">
            <a:avLst>
              <a:gd name="adj" fmla="val 3019"/>
            </a:avLst>
          </a:prstGeom>
          <a:solidFill>
            <a:srgbClr val="F4F5F7"/>
          </a:solidFill>
          <a:ln w="9525">
            <a:solidFill>
              <a:srgbClr val="E3E5E8"/>
            </a:solidFill>
            <a:prstDash val="solid"/>
          </a:ln>
        </p:spPr>
      </p:sp>
      <p:sp>
        <p:nvSpPr>
          <p:cNvPr id="14" name="text-1622"/>
          <p:cNvSpPr txBox="1"/>
          <p:nvPr/>
        </p:nvSpPr>
        <p:spPr>
          <a:xfrm>
            <a:off x="667512" y="3904488"/>
            <a:ext cx="524865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Unequal lanes (e.g. 1 left + 2 right)</a:t>
            </a:r>
            <a:endParaRPr lang="en-US" sz="1300" dirty="0"/>
          </a:p>
        </p:txBody>
      </p:sp>
      <p:sp>
        <p:nvSpPr>
          <p:cNvPr id="15" name="text-1623"/>
          <p:cNvSpPr txBox="1"/>
          <p:nvPr/>
        </p:nvSpPr>
        <p:spPr>
          <a:xfrm>
            <a:off x="667512" y="4270248"/>
            <a:ext cx="5248656" cy="1810512"/>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rgbClr val="3A3F45"/>
                </a:solidFill>
                <a:latin typeface="Calibri" pitchFamily="34" charset="0"/>
                <a:ea typeface="Calibri" pitchFamily="34" charset="-122"/>
                <a:cs typeface="Calibri" pitchFamily="34" charset="-120"/>
              </a:rPr>
              <a:t>The centre line (CL) stays in the middle of the paved road.</a:t>
            </a:r>
            <a:endParaRPr lang="en-US" sz="1100" dirty="0"/>
          </a:p>
          <a:p>
            <a:pPr marL="152400" indent="-152400">
              <a:spcAft>
                <a:spcPts val="400"/>
              </a:spcAft>
              <a:buSzPct val="100000"/>
              <a:buChar char="•"/>
            </a:pPr>
            <a:r>
              <a:rPr lang="en-US" sz="1100" dirty="0">
                <a:solidFill>
                  <a:srgbClr val="3A3F45"/>
                </a:solidFill>
                <a:latin typeface="Calibri" pitchFamily="34" charset="0"/>
                <a:ea typeface="Calibri" pitchFamily="34" charset="-122"/>
                <a:cs typeface="Calibri" pitchFamily="34" charset="-120"/>
              </a:rPr>
              <a:t>The median / direction line moves by (right - left) x lane width / 2 towards the side with fewer lanes: 1 + 2 lanes x 3.65 -&gt; 1.825 m left.</a:t>
            </a:r>
            <a:endParaRPr lang="en-US" sz="1100" dirty="0"/>
          </a:p>
          <a:p>
            <a:pPr marL="152400" indent="-152400">
              <a:spcAft>
                <a:spcPts val="400"/>
              </a:spcAft>
              <a:buSzPct val="100000"/>
              <a:buChar char="•"/>
            </a:pPr>
            <a:r>
              <a:rPr lang="en-US" sz="1100" dirty="0">
                <a:solidFill>
                  <a:srgbClr val="3A3F45"/>
                </a:solidFill>
                <a:latin typeface="Calibri" pitchFamily="34" charset="0"/>
                <a:ea typeface="Calibri" pitchFamily="34" charset="-122"/>
                <a:cs typeface="Calibri" pitchFamily="34" charset="-120"/>
              </a:rPr>
              <a:t>Edges, barricades and chainage follow the CL as before.</a:t>
            </a:r>
            <a:endParaRPr lang="en-US" sz="1100" dirty="0"/>
          </a:p>
        </p:txBody>
      </p:sp>
      <p:graphicFrame>
        <p:nvGraphicFramePr>
          <p:cNvPr id="41" name="table-1624"/>
          <p:cNvGraphicFramePr>
            <a:graphicFrameLocks noGrp="1"/>
          </p:cNvGraphicFramePr>
          <p:nvPr>
            <p:extLst>
              <p:ext uri="{D42A27DB-BD31-4B8C-83A1-F6EECF244321}">
                <p14:modId xmlns:p14="http://schemas.microsoft.com/office/powerpoint/2010/main" val="1579011935"/>
              </p:ext>
            </p:extLst>
          </p:nvPr>
        </p:nvGraphicFramePr>
        <p:xfrm>
          <a:off x="6263640" y="3767328"/>
          <a:ext cx="5394960" cy="914400"/>
        </p:xfrm>
        <a:graphic>
          <a:graphicData uri="http://schemas.openxmlformats.org/drawingml/2006/table">
            <a:tbl>
              <a:tblPr/>
              <a:tblGrid>
                <a:gridCol w="2377440"/>
                <a:gridCol w="301752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Marking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Drawn by RDP / RDM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Lane lines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Broken L1 by speed, between lanes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Direction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L1 / L2 / L2A or double, at the median line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Median edges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Yellow continuous, 0.30 m from the median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Lane arrows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One per lane, in its direction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Widening (RDW)</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Edge line follows; L5 line at the old edge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I  ·  SIDEWALKS, WALKWAYS, DRAINS, UTILITIES</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Everything beyond the edge, in a fixed order</a:t>
            </a:r>
            <a:endParaRPr lang="en-US" sz="2600" dirty="0"/>
          </a:p>
        </p:txBody>
      </p:sp>
      <p:sp>
        <p:nvSpPr>
          <p:cNvPr id="4" name="shape-1625"/>
          <p:cNvSpPr/>
          <p:nvPr/>
        </p:nvSpPr>
        <p:spPr>
          <a:xfrm>
            <a:off x="502920" y="1371600"/>
            <a:ext cx="1463040" cy="822960"/>
          </a:xfrm>
          <a:prstGeom prst="rect">
            <a:avLst/>
          </a:prstGeom>
          <a:solidFill>
            <a:schemeClr val="accent5"/>
          </a:solidFill>
          <a:ln w="6350">
            <a:solidFill>
              <a:srgbClr val="C9CDD2"/>
            </a:solidFill>
            <a:prstDash val="solid"/>
          </a:ln>
        </p:spPr>
      </p:sp>
      <p:sp>
        <p:nvSpPr>
          <p:cNvPr id="5" name="text-1626"/>
          <p:cNvSpPr txBox="1"/>
          <p:nvPr/>
        </p:nvSpPr>
        <p:spPr>
          <a:xfrm>
            <a:off x="502920" y="1371600"/>
            <a:ext cx="1463040" cy="8229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Carriage-</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way</a:t>
            </a:r>
            <a:endParaRPr lang="en-US" sz="950" dirty="0"/>
          </a:p>
        </p:txBody>
      </p:sp>
      <p:sp>
        <p:nvSpPr>
          <p:cNvPr id="6" name="shape-1627"/>
          <p:cNvSpPr/>
          <p:nvPr/>
        </p:nvSpPr>
        <p:spPr>
          <a:xfrm>
            <a:off x="1965960" y="1371600"/>
            <a:ext cx="640080" cy="822960"/>
          </a:xfrm>
          <a:prstGeom prst="rect">
            <a:avLst/>
          </a:prstGeom>
          <a:solidFill>
            <a:srgbClr val="A3A8AE"/>
          </a:solidFill>
          <a:ln w="6350">
            <a:solidFill>
              <a:srgbClr val="C9CDD2"/>
            </a:solidFill>
            <a:prstDash val="solid"/>
          </a:ln>
        </p:spPr>
      </p:sp>
      <p:sp>
        <p:nvSpPr>
          <p:cNvPr id="7" name="text-1628"/>
          <p:cNvSpPr txBox="1"/>
          <p:nvPr/>
        </p:nvSpPr>
        <p:spPr>
          <a:xfrm>
            <a:off x="1965960" y="1371600"/>
            <a:ext cx="640080" cy="822960"/>
          </a:xfrm>
          <a:prstGeom prst="rect">
            <a:avLst/>
          </a:prstGeom>
          <a:noFill/>
          <a:ln/>
        </p:spPr>
        <p:txBody>
          <a:bodyPr wrap="square" lIns="0" tIns="0" rIns="0" bIns="0" rtlCol="0" anchor="ctr"/>
          <a:lstStyle/>
          <a:p>
            <a:pPr algn="ctr" indent="0" marL="0">
              <a:buNone/>
            </a:pPr>
            <a:r>
              <a:rPr lang="en-US" sz="950" b="1" dirty="0">
                <a:solidFill>
                  <a:srgbClr val="1F2326"/>
                </a:solidFill>
                <a:latin typeface="Calibri" pitchFamily="34" charset="0"/>
                <a:ea typeface="Calibri" pitchFamily="34" charset="-122"/>
                <a:cs typeface="Calibri" pitchFamily="34" charset="-120"/>
              </a:rPr>
              <a:t>Shoulder</a:t>
            </a:r>
            <a:endParaRPr lang="en-US" sz="950" dirty="0"/>
          </a:p>
        </p:txBody>
      </p:sp>
      <p:sp>
        <p:nvSpPr>
          <p:cNvPr id="8" name="shape-1629"/>
          <p:cNvSpPr/>
          <p:nvPr/>
        </p:nvSpPr>
        <p:spPr>
          <a:xfrm>
            <a:off x="2606040" y="1371600"/>
            <a:ext cx="411480" cy="822960"/>
          </a:xfrm>
          <a:prstGeom prst="rect">
            <a:avLst/>
          </a:prstGeom>
          <a:solidFill>
            <a:schemeClr val="accent1"/>
          </a:solidFill>
          <a:ln w="6350">
            <a:solidFill>
              <a:srgbClr val="C9CDD2"/>
            </a:solidFill>
            <a:prstDash val="solid"/>
          </a:ln>
        </p:spPr>
      </p:sp>
      <p:sp>
        <p:nvSpPr>
          <p:cNvPr id="9" name="text-1630"/>
          <p:cNvSpPr txBox="1"/>
          <p:nvPr/>
        </p:nvSpPr>
        <p:spPr>
          <a:xfrm>
            <a:off x="2606040" y="1371600"/>
            <a:ext cx="411480" cy="8229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Edge</a:t>
            </a:r>
            <a:endParaRPr lang="en-US" sz="950" dirty="0"/>
          </a:p>
        </p:txBody>
      </p:sp>
      <p:sp>
        <p:nvSpPr>
          <p:cNvPr id="10" name="shape-1631"/>
          <p:cNvSpPr/>
          <p:nvPr/>
        </p:nvSpPr>
        <p:spPr>
          <a:xfrm>
            <a:off x="3017520" y="1371600"/>
            <a:ext cx="411480" cy="822960"/>
          </a:xfrm>
          <a:prstGeom prst="rect">
            <a:avLst/>
          </a:prstGeom>
          <a:solidFill>
            <a:srgbClr val="F4F5F7"/>
          </a:solidFill>
          <a:ln w="6350">
            <a:solidFill>
              <a:srgbClr val="C9CDD2"/>
            </a:solidFill>
            <a:prstDash val="solid"/>
          </a:ln>
        </p:spPr>
      </p:sp>
      <p:sp>
        <p:nvSpPr>
          <p:cNvPr id="11" name="text-1632"/>
          <p:cNvSpPr txBox="1"/>
          <p:nvPr/>
        </p:nvSpPr>
        <p:spPr>
          <a:xfrm>
            <a:off x="3017520" y="1371600"/>
            <a:ext cx="411480" cy="822960"/>
          </a:xfrm>
          <a:prstGeom prst="rect">
            <a:avLst/>
          </a:prstGeom>
          <a:noFill/>
          <a:ln/>
        </p:spPr>
        <p:txBody>
          <a:bodyPr wrap="square" lIns="0" tIns="0" rIns="0" bIns="0" rtlCol="0" anchor="ctr"/>
          <a:lstStyle/>
          <a:p>
            <a:pPr algn="ctr" indent="0" marL="0">
              <a:buNone/>
            </a:pPr>
            <a:r>
              <a:rPr lang="en-US" sz="950" b="1" dirty="0">
                <a:solidFill>
                  <a:srgbClr val="1F2326"/>
                </a:solidFill>
                <a:latin typeface="Calibri" pitchFamily="34" charset="0"/>
                <a:ea typeface="Calibri" pitchFamily="34" charset="-122"/>
                <a:cs typeface="Calibri" pitchFamily="34" charset="-120"/>
              </a:rPr>
              <a:t>Gap</a:t>
            </a:r>
            <a:endParaRPr lang="en-US" sz="950" dirty="0"/>
          </a:p>
        </p:txBody>
      </p:sp>
      <p:sp>
        <p:nvSpPr>
          <p:cNvPr id="12" name="shape-1633"/>
          <p:cNvSpPr/>
          <p:nvPr/>
        </p:nvSpPr>
        <p:spPr>
          <a:xfrm>
            <a:off x="3429000" y="1371600"/>
            <a:ext cx="1234440" cy="822960"/>
          </a:xfrm>
          <a:prstGeom prst="rect">
            <a:avLst/>
          </a:prstGeom>
          <a:solidFill>
            <a:srgbClr val="C9A27A"/>
          </a:solidFill>
          <a:ln w="6350">
            <a:solidFill>
              <a:srgbClr val="C9CDD2"/>
            </a:solidFill>
            <a:prstDash val="solid"/>
          </a:ln>
        </p:spPr>
      </p:sp>
      <p:sp>
        <p:nvSpPr>
          <p:cNvPr id="13" name="text-1634"/>
          <p:cNvSpPr txBox="1"/>
          <p:nvPr/>
        </p:nvSpPr>
        <p:spPr>
          <a:xfrm>
            <a:off x="3429000" y="1371600"/>
            <a:ext cx="1234440" cy="822960"/>
          </a:xfrm>
          <a:prstGeom prst="rect">
            <a:avLst/>
          </a:prstGeom>
          <a:noFill/>
          <a:ln/>
        </p:spPr>
        <p:txBody>
          <a:bodyPr wrap="square" lIns="0" tIns="0" rIns="0" bIns="0" rtlCol="0" anchor="ctr"/>
          <a:lstStyle/>
          <a:p>
            <a:pPr algn="ctr" indent="0" marL="0">
              <a:buNone/>
            </a:pPr>
            <a:r>
              <a:rPr lang="en-US" sz="950" b="1" dirty="0">
                <a:solidFill>
                  <a:srgbClr val="1F2326"/>
                </a:solidFill>
                <a:latin typeface="Calibri" pitchFamily="34" charset="0"/>
                <a:ea typeface="Calibri" pitchFamily="34" charset="-122"/>
                <a:cs typeface="Calibri" pitchFamily="34" charset="-120"/>
              </a:rPr>
              <a:t>Sidewalk</a:t>
            </a:r>
            <a:endParaRPr lang="en-US" sz="950" dirty="0"/>
          </a:p>
        </p:txBody>
      </p:sp>
      <p:sp>
        <p:nvSpPr>
          <p:cNvPr id="14" name="shape-1635"/>
          <p:cNvSpPr/>
          <p:nvPr/>
        </p:nvSpPr>
        <p:spPr>
          <a:xfrm>
            <a:off x="4663440" y="1371600"/>
            <a:ext cx="548640" cy="822960"/>
          </a:xfrm>
          <a:prstGeom prst="rect">
            <a:avLst/>
          </a:prstGeom>
          <a:solidFill>
            <a:srgbClr val="F4F5F7"/>
          </a:solidFill>
          <a:ln w="6350">
            <a:solidFill>
              <a:srgbClr val="C9CDD2"/>
            </a:solidFill>
            <a:prstDash val="solid"/>
          </a:ln>
        </p:spPr>
      </p:sp>
      <p:sp>
        <p:nvSpPr>
          <p:cNvPr id="15" name="text-1636"/>
          <p:cNvSpPr txBox="1"/>
          <p:nvPr/>
        </p:nvSpPr>
        <p:spPr>
          <a:xfrm>
            <a:off x="4663440" y="1371600"/>
            <a:ext cx="548640" cy="822960"/>
          </a:xfrm>
          <a:prstGeom prst="rect">
            <a:avLst/>
          </a:prstGeom>
          <a:noFill/>
          <a:ln/>
        </p:spPr>
        <p:txBody>
          <a:bodyPr wrap="square" lIns="0" tIns="0" rIns="0" bIns="0" rtlCol="0" anchor="ctr"/>
          <a:lstStyle/>
          <a:p>
            <a:pPr algn="ctr" indent="0" marL="0">
              <a:buNone/>
            </a:pPr>
            <a:r>
              <a:rPr lang="en-US" sz="950" b="1" dirty="0">
                <a:solidFill>
                  <a:srgbClr val="1F2326"/>
                </a:solidFill>
                <a:latin typeface="Calibri" pitchFamily="34" charset="0"/>
                <a:ea typeface="Calibri" pitchFamily="34" charset="-122"/>
                <a:cs typeface="Calibri" pitchFamily="34" charset="-120"/>
              </a:rPr>
              <a:t>Verge</a:t>
            </a:r>
            <a:endParaRPr lang="en-US" sz="950" dirty="0"/>
          </a:p>
        </p:txBody>
      </p:sp>
      <p:sp>
        <p:nvSpPr>
          <p:cNvPr id="16" name="shape-1637"/>
          <p:cNvSpPr/>
          <p:nvPr/>
        </p:nvSpPr>
        <p:spPr>
          <a:xfrm>
            <a:off x="5212080" y="1371600"/>
            <a:ext cx="1325880" cy="822960"/>
          </a:xfrm>
          <a:prstGeom prst="rect">
            <a:avLst/>
          </a:prstGeom>
          <a:solidFill>
            <a:srgbClr val="D8B48E"/>
          </a:solidFill>
          <a:ln w="6350">
            <a:solidFill>
              <a:srgbClr val="C9CDD2"/>
            </a:solidFill>
            <a:prstDash val="solid"/>
          </a:ln>
        </p:spPr>
      </p:sp>
      <p:sp>
        <p:nvSpPr>
          <p:cNvPr id="17" name="text-1638"/>
          <p:cNvSpPr txBox="1"/>
          <p:nvPr/>
        </p:nvSpPr>
        <p:spPr>
          <a:xfrm>
            <a:off x="5212080" y="1371600"/>
            <a:ext cx="1325880" cy="822960"/>
          </a:xfrm>
          <a:prstGeom prst="rect">
            <a:avLst/>
          </a:prstGeom>
          <a:noFill/>
          <a:ln/>
        </p:spPr>
        <p:txBody>
          <a:bodyPr wrap="square" lIns="0" tIns="0" rIns="0" bIns="0" rtlCol="0" anchor="ctr"/>
          <a:lstStyle/>
          <a:p>
            <a:pPr algn="ctr" indent="0" marL="0">
              <a:buNone/>
            </a:pPr>
            <a:r>
              <a:rPr lang="en-US" sz="950" b="1" dirty="0">
                <a:solidFill>
                  <a:srgbClr val="1F2326"/>
                </a:solidFill>
                <a:latin typeface="Calibri" pitchFamily="34" charset="0"/>
                <a:ea typeface="Calibri" pitchFamily="34" charset="-122"/>
                <a:cs typeface="Calibri" pitchFamily="34" charset="-120"/>
              </a:rPr>
              <a:t>Walkway</a:t>
            </a:r>
            <a:endParaRPr lang="en-US" sz="950" dirty="0"/>
          </a:p>
        </p:txBody>
      </p:sp>
      <p:sp>
        <p:nvSpPr>
          <p:cNvPr id="18" name="shape-1639"/>
          <p:cNvSpPr/>
          <p:nvPr/>
        </p:nvSpPr>
        <p:spPr>
          <a:xfrm>
            <a:off x="6537960" y="1371600"/>
            <a:ext cx="411480" cy="822960"/>
          </a:xfrm>
          <a:prstGeom prst="rect">
            <a:avLst/>
          </a:prstGeom>
          <a:solidFill>
            <a:srgbClr val="F4F5F7"/>
          </a:solidFill>
          <a:ln w="6350">
            <a:solidFill>
              <a:srgbClr val="C9CDD2"/>
            </a:solidFill>
            <a:prstDash val="solid"/>
          </a:ln>
        </p:spPr>
      </p:sp>
      <p:sp>
        <p:nvSpPr>
          <p:cNvPr id="19" name="text-1640"/>
          <p:cNvSpPr txBox="1"/>
          <p:nvPr/>
        </p:nvSpPr>
        <p:spPr>
          <a:xfrm>
            <a:off x="6537960" y="1371600"/>
            <a:ext cx="411480" cy="822960"/>
          </a:xfrm>
          <a:prstGeom prst="rect">
            <a:avLst/>
          </a:prstGeom>
          <a:noFill/>
          <a:ln/>
        </p:spPr>
        <p:txBody>
          <a:bodyPr wrap="square" lIns="0" tIns="0" rIns="0" bIns="0" rtlCol="0" anchor="ctr"/>
          <a:lstStyle/>
          <a:p>
            <a:pPr algn="ctr" indent="0" marL="0">
              <a:buNone/>
            </a:pPr>
            <a:r>
              <a:rPr lang="en-US" sz="950" b="1" dirty="0">
                <a:solidFill>
                  <a:srgbClr val="1F2326"/>
                </a:solidFill>
                <a:latin typeface="Calibri" pitchFamily="34" charset="0"/>
                <a:ea typeface="Calibri" pitchFamily="34" charset="-122"/>
                <a:cs typeface="Calibri" pitchFamily="34" charset="-120"/>
              </a:rPr>
              <a:t>Gap</a:t>
            </a:r>
            <a:endParaRPr lang="en-US" sz="950" dirty="0"/>
          </a:p>
        </p:txBody>
      </p:sp>
      <p:sp>
        <p:nvSpPr>
          <p:cNvPr id="20" name="shape-1641"/>
          <p:cNvSpPr/>
          <p:nvPr/>
        </p:nvSpPr>
        <p:spPr>
          <a:xfrm>
            <a:off x="6949440" y="1371600"/>
            <a:ext cx="868680" cy="822960"/>
          </a:xfrm>
          <a:prstGeom prst="rect">
            <a:avLst/>
          </a:prstGeom>
          <a:solidFill>
            <a:srgbClr val="2F7FD0"/>
          </a:solidFill>
          <a:ln w="6350">
            <a:solidFill>
              <a:srgbClr val="C9CDD2"/>
            </a:solidFill>
            <a:prstDash val="solid"/>
          </a:ln>
        </p:spPr>
      </p:sp>
      <p:sp>
        <p:nvSpPr>
          <p:cNvPr id="21" name="text-1642"/>
          <p:cNvSpPr txBox="1"/>
          <p:nvPr/>
        </p:nvSpPr>
        <p:spPr>
          <a:xfrm>
            <a:off x="6949440" y="1371600"/>
            <a:ext cx="868680" cy="82296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Drain</a:t>
            </a:r>
            <a:endParaRPr lang="en-US" sz="950" dirty="0"/>
          </a:p>
        </p:txBody>
      </p:sp>
      <p:sp>
        <p:nvSpPr>
          <p:cNvPr id="22" name="shape-1643"/>
          <p:cNvSpPr/>
          <p:nvPr/>
        </p:nvSpPr>
        <p:spPr>
          <a:xfrm>
            <a:off x="7818120" y="1371600"/>
            <a:ext cx="411480" cy="822960"/>
          </a:xfrm>
          <a:prstGeom prst="rect">
            <a:avLst/>
          </a:prstGeom>
          <a:solidFill>
            <a:srgbClr val="F4F5F7"/>
          </a:solidFill>
          <a:ln w="6350">
            <a:solidFill>
              <a:srgbClr val="C9CDD2"/>
            </a:solidFill>
            <a:prstDash val="solid"/>
          </a:ln>
        </p:spPr>
      </p:sp>
      <p:sp>
        <p:nvSpPr>
          <p:cNvPr id="23" name="text-1644"/>
          <p:cNvSpPr txBox="1"/>
          <p:nvPr/>
        </p:nvSpPr>
        <p:spPr>
          <a:xfrm>
            <a:off x="7818120" y="1371600"/>
            <a:ext cx="411480" cy="822960"/>
          </a:xfrm>
          <a:prstGeom prst="rect">
            <a:avLst/>
          </a:prstGeom>
          <a:noFill/>
          <a:ln/>
        </p:spPr>
        <p:txBody>
          <a:bodyPr wrap="square" lIns="0" tIns="0" rIns="0" bIns="0" rtlCol="0" anchor="ctr"/>
          <a:lstStyle/>
          <a:p>
            <a:pPr algn="ctr" indent="0" marL="0">
              <a:buNone/>
            </a:pPr>
            <a:r>
              <a:rPr lang="en-US" sz="950" b="1" dirty="0">
                <a:solidFill>
                  <a:srgbClr val="1F2326"/>
                </a:solidFill>
                <a:latin typeface="Calibri" pitchFamily="34" charset="0"/>
                <a:ea typeface="Calibri" pitchFamily="34" charset="-122"/>
                <a:cs typeface="Calibri" pitchFamily="34" charset="-120"/>
              </a:rPr>
              <a:t>Gap</a:t>
            </a:r>
            <a:endParaRPr lang="en-US" sz="950" dirty="0"/>
          </a:p>
        </p:txBody>
      </p:sp>
      <p:sp>
        <p:nvSpPr>
          <p:cNvPr id="24" name="shape-1645"/>
          <p:cNvSpPr/>
          <p:nvPr/>
        </p:nvSpPr>
        <p:spPr>
          <a:xfrm>
            <a:off x="8229600" y="1371600"/>
            <a:ext cx="1234440" cy="822960"/>
          </a:xfrm>
          <a:prstGeom prst="rect">
            <a:avLst/>
          </a:prstGeom>
          <a:solidFill>
            <a:srgbClr val="E9DDF6"/>
          </a:solidFill>
          <a:ln w="6350">
            <a:solidFill>
              <a:srgbClr val="C9CDD2"/>
            </a:solidFill>
            <a:prstDash val="solid"/>
          </a:ln>
        </p:spPr>
      </p:sp>
      <p:sp>
        <p:nvSpPr>
          <p:cNvPr id="25" name="text-1646"/>
          <p:cNvSpPr txBox="1"/>
          <p:nvPr/>
        </p:nvSpPr>
        <p:spPr>
          <a:xfrm>
            <a:off x="8229600" y="1371600"/>
            <a:ext cx="1234440" cy="822960"/>
          </a:xfrm>
          <a:prstGeom prst="rect">
            <a:avLst/>
          </a:prstGeom>
          <a:noFill/>
          <a:ln/>
        </p:spPr>
        <p:txBody>
          <a:bodyPr wrap="square" lIns="0" tIns="0" rIns="0" bIns="0" rtlCol="0" anchor="ctr"/>
          <a:lstStyle/>
          <a:p>
            <a:pPr algn="ctr" indent="0" marL="0">
              <a:buNone/>
            </a:pPr>
            <a:r>
              <a:rPr lang="en-US" sz="950" b="1" dirty="0">
                <a:solidFill>
                  <a:srgbClr val="1F2326"/>
                </a:solidFill>
                <a:latin typeface="Calibri" pitchFamily="34" charset="0"/>
                <a:ea typeface="Calibri" pitchFamily="34" charset="-122"/>
                <a:cs typeface="Calibri" pitchFamily="34" charset="-120"/>
              </a:rPr>
              <a:t>Utility</a:t>
            </a:r>
            <a:endParaRPr lang="en-US" sz="950" dirty="0"/>
          </a:p>
          <a:p>
            <a:pPr algn="ctr" indent="0" marL="0">
              <a:buNone/>
            </a:pPr>
            <a:r>
              <a:rPr lang="en-US" sz="950" b="1" dirty="0">
                <a:solidFill>
                  <a:srgbClr val="1F2326"/>
                </a:solidFill>
                <a:latin typeface="Calibri" pitchFamily="34" charset="0"/>
                <a:ea typeface="Calibri" pitchFamily="34" charset="-122"/>
                <a:cs typeface="Calibri" pitchFamily="34" charset="-120"/>
              </a:rPr>
              <a:t>corridor</a:t>
            </a:r>
            <a:endParaRPr lang="en-US" sz="950" dirty="0"/>
          </a:p>
        </p:txBody>
      </p:sp>
      <p:sp>
        <p:nvSpPr>
          <p:cNvPr id="26" name="shape-1647"/>
          <p:cNvSpPr/>
          <p:nvPr/>
        </p:nvSpPr>
        <p:spPr>
          <a:xfrm>
            <a:off x="9464040" y="1371600"/>
            <a:ext cx="548640" cy="822960"/>
          </a:xfrm>
          <a:prstGeom prst="rect">
            <a:avLst/>
          </a:prstGeom>
          <a:solidFill>
            <a:srgbClr val="F4F5F7"/>
          </a:solidFill>
          <a:ln w="6350">
            <a:solidFill>
              <a:srgbClr val="C9CDD2"/>
            </a:solidFill>
            <a:prstDash val="solid"/>
          </a:ln>
        </p:spPr>
      </p:sp>
      <p:sp>
        <p:nvSpPr>
          <p:cNvPr id="27" name="text-1648"/>
          <p:cNvSpPr txBox="1"/>
          <p:nvPr/>
        </p:nvSpPr>
        <p:spPr>
          <a:xfrm>
            <a:off x="9464040" y="1371600"/>
            <a:ext cx="548640" cy="822960"/>
          </a:xfrm>
          <a:prstGeom prst="rect">
            <a:avLst/>
          </a:prstGeom>
          <a:noFill/>
          <a:ln/>
        </p:spPr>
        <p:txBody>
          <a:bodyPr wrap="square" lIns="0" tIns="0" rIns="0" bIns="0" rtlCol="0" anchor="ctr"/>
          <a:lstStyle/>
          <a:p>
            <a:pPr algn="ctr" indent="0" marL="0">
              <a:buNone/>
            </a:pPr>
            <a:r>
              <a:rPr lang="en-US" sz="950" b="1" dirty="0">
                <a:solidFill>
                  <a:srgbClr val="1F2326"/>
                </a:solidFill>
                <a:latin typeface="Calibri" pitchFamily="34" charset="0"/>
                <a:ea typeface="Calibri" pitchFamily="34" charset="-122"/>
                <a:cs typeface="Calibri" pitchFamily="34" charset="-120"/>
              </a:rPr>
              <a:t>Verge</a:t>
            </a:r>
            <a:endParaRPr lang="en-US" sz="950" dirty="0"/>
          </a:p>
        </p:txBody>
      </p:sp>
      <p:sp>
        <p:nvSpPr>
          <p:cNvPr id="28" name="text-1649"/>
          <p:cNvSpPr txBox="1"/>
          <p:nvPr/>
        </p:nvSpPr>
        <p:spPr>
          <a:xfrm>
            <a:off x="502920" y="2267712"/>
            <a:ext cx="10972800" cy="274320"/>
          </a:xfrm>
          <a:prstGeom prst="rect">
            <a:avLst/>
          </a:prstGeom>
          <a:noFill/>
          <a:ln/>
        </p:spPr>
        <p:txBody>
          <a:bodyPr wrap="square" lIns="0" tIns="0" rIns="0" bIns="0" rtlCol="0" anchor="t"/>
          <a:lstStyle/>
          <a:p>
            <a:pPr indent="0" marL="0">
              <a:buNone/>
            </a:pPr>
            <a:r>
              <a:rPr lang="en-US" sz="1050" i="1" dirty="0">
                <a:solidFill>
                  <a:srgbClr val="5B6169"/>
                </a:solidFill>
                <a:latin typeface="Calibri" pitchFamily="34" charset="0"/>
                <a:ea typeface="Calibri" pitchFamily="34" charset="-122"/>
                <a:cs typeface="Calibri" pitchFamily="34" charset="-120"/>
              </a:rPr>
              <a:t>Seen from the road edge outwards, each side on its own. Items that are switched off simply close up.</a:t>
            </a:r>
            <a:endParaRPr lang="en-US" sz="1050" dirty="0"/>
          </a:p>
        </p:txBody>
      </p:sp>
      <p:graphicFrame>
        <p:nvGraphicFramePr>
          <p:cNvPr id="42" name="table-1650"/>
          <p:cNvGraphicFramePr>
            <a:graphicFrameLocks noGrp="1"/>
          </p:cNvGraphicFramePr>
          <p:nvPr>
            <p:extLst>
              <p:ext uri="{D42A27DB-BD31-4B8C-83A1-F6EECF244321}">
                <p14:modId xmlns:p14="http://schemas.microsoft.com/office/powerpoint/2010/main" val="1579011935"/>
              </p:ext>
            </p:extLst>
          </p:nvPr>
        </p:nvGraphicFramePr>
        <p:xfrm>
          <a:off x="502920" y="2651760"/>
          <a:ext cx="8503920" cy="914400"/>
        </p:xfrm>
        <a:graphic>
          <a:graphicData uri="http://schemas.openxmlformats.org/drawingml/2006/table">
            <a:tbl>
              <a:tblPr/>
              <a:tblGrid>
                <a:gridCol w="2834640"/>
                <a:gridCol w="1463040"/>
                <a:gridCol w="42062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Setting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Default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Notes</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Sidewalk left / right  +  width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Off,  2.00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Each side on its own: both, one or none. Warning under 1.50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Gap behind the edge treatment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0.00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Space between kerb / barricade and the sidewalk.</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Walkway left / right  +  width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Off,  2.50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Side-by-side pedestrian walkway beyond a verge.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Verge before the walkway</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1.00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Planting / service strip between sidewalk and walkway.</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Drain left / right  +  type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Off,  open channel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Open channel, covered U-channel or stormwater pipe.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Width (pipe diameter) / depth / gap</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1.00 / 0.60 / 0.50 m</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Geometric provision only - no hydraulic design.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65760">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Utility corridor left / right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Off,  2.00 m, gap 0.50</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Reserved strip for services (provision only).</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30" name="shape-1651"/>
          <p:cNvSpPr/>
          <p:nvPr/>
        </p:nvSpPr>
        <p:spPr>
          <a:xfrm>
            <a:off x="9052560" y="2651760"/>
            <a:ext cx="2606040" cy="3520440"/>
          </a:xfrm>
          <a:prstGeom prst="roundRect">
            <a:avLst>
              <a:gd name="adj" fmla="val 2807"/>
            </a:avLst>
          </a:prstGeom>
          <a:solidFill>
            <a:srgbClr val="F4F5F7"/>
          </a:solidFill>
          <a:ln w="9525">
            <a:solidFill>
              <a:srgbClr val="E3E5E8"/>
            </a:solidFill>
            <a:prstDash val="solid"/>
          </a:ln>
        </p:spPr>
      </p:sp>
      <p:sp>
        <p:nvSpPr>
          <p:cNvPr id="31" name="text-1652"/>
          <p:cNvSpPr txBox="1"/>
          <p:nvPr/>
        </p:nvSpPr>
        <p:spPr>
          <a:xfrm>
            <a:off x="9217152" y="2788920"/>
            <a:ext cx="227685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Follows the road</a:t>
            </a:r>
            <a:endParaRPr lang="en-US" sz="1300" dirty="0"/>
          </a:p>
        </p:txBody>
      </p:sp>
      <p:sp>
        <p:nvSpPr>
          <p:cNvPr id="32" name="text-1653"/>
          <p:cNvSpPr txBox="1"/>
          <p:nvPr/>
        </p:nvSpPr>
        <p:spPr>
          <a:xfrm>
            <a:off x="9217152" y="3154680"/>
            <a:ext cx="2276856" cy="2907792"/>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Curves, widenings (RDW) and tapers (RDT)</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Gaps at junction mouths (sidewalks, walkways, open drains)</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Pipes and utility corridors run on</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Warning when an item is wider than an inside radius</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HOW TO</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Build a dual carriageway with sidewalks and walkways</a:t>
            </a:r>
            <a:endParaRPr lang="en-US" sz="2600" dirty="0"/>
          </a:p>
        </p:txBody>
      </p:sp>
      <p:sp>
        <p:nvSpPr>
          <p:cNvPr id="4" name="shape-1654"/>
          <p:cNvSpPr/>
          <p:nvPr/>
        </p:nvSpPr>
        <p:spPr>
          <a:xfrm>
            <a:off x="502920" y="1325880"/>
            <a:ext cx="329184" cy="329184"/>
          </a:xfrm>
          <a:prstGeom prst="ellipse">
            <a:avLst/>
          </a:prstGeom>
          <a:solidFill>
            <a:schemeClr val="accent1"/>
          </a:solidFill>
          <a:ln/>
        </p:spPr>
      </p:sp>
      <p:sp>
        <p:nvSpPr>
          <p:cNvPr id="5" name="text-1655"/>
          <p:cNvSpPr txBox="1"/>
          <p:nvPr/>
        </p:nvSpPr>
        <p:spPr>
          <a:xfrm>
            <a:off x="502920" y="13258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1656"/>
          <p:cNvSpPr txBox="1"/>
          <p:nvPr/>
        </p:nvSpPr>
        <p:spPr>
          <a:xfrm>
            <a:off x="978408" y="1307592"/>
            <a:ext cx="5559552" cy="566928"/>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Type RDP</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Set road name, speed, edge = Kerb stone (width 0.15), Centre line input.</a:t>
            </a:r>
            <a:endParaRPr lang="en-US" sz="1200" dirty="0"/>
          </a:p>
        </p:txBody>
      </p:sp>
      <p:sp>
        <p:nvSpPr>
          <p:cNvPr id="7" name="shape-1657"/>
          <p:cNvSpPr/>
          <p:nvPr/>
        </p:nvSpPr>
        <p:spPr>
          <a:xfrm>
            <a:off x="502920" y="1929384"/>
            <a:ext cx="329184" cy="329184"/>
          </a:xfrm>
          <a:prstGeom prst="ellipse">
            <a:avLst/>
          </a:prstGeom>
          <a:solidFill>
            <a:schemeClr val="accent1"/>
          </a:solidFill>
          <a:ln/>
        </p:spPr>
      </p:sp>
      <p:sp>
        <p:nvSpPr>
          <p:cNvPr id="8" name="text-1658"/>
          <p:cNvSpPr txBox="1"/>
          <p:nvPr/>
        </p:nvSpPr>
        <p:spPr>
          <a:xfrm>
            <a:off x="502920" y="1929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9" name="text-1659"/>
          <p:cNvSpPr txBox="1"/>
          <p:nvPr/>
        </p:nvSpPr>
        <p:spPr>
          <a:xfrm>
            <a:off x="978408" y="1911096"/>
            <a:ext cx="5559552" cy="566928"/>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Press  Lanes, median, sidewalks, drains, utilities...</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The corridor dialog opens (bottom of the RDP dialog).</a:t>
            </a:r>
            <a:endParaRPr lang="en-US" sz="1200" dirty="0"/>
          </a:p>
        </p:txBody>
      </p:sp>
      <p:sp>
        <p:nvSpPr>
          <p:cNvPr id="10" name="shape-1660"/>
          <p:cNvSpPr/>
          <p:nvPr/>
        </p:nvSpPr>
        <p:spPr>
          <a:xfrm>
            <a:off x="502920" y="2532888"/>
            <a:ext cx="329184" cy="329184"/>
          </a:xfrm>
          <a:prstGeom prst="ellipse">
            <a:avLst/>
          </a:prstGeom>
          <a:solidFill>
            <a:schemeClr val="accent1"/>
          </a:solidFill>
          <a:ln/>
        </p:spPr>
      </p:sp>
      <p:sp>
        <p:nvSpPr>
          <p:cNvPr id="11" name="text-1661"/>
          <p:cNvSpPr txBox="1"/>
          <p:nvPr/>
        </p:nvSpPr>
        <p:spPr>
          <a:xfrm>
            <a:off x="502920" y="25328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2" name="text-1662"/>
          <p:cNvSpPr txBox="1"/>
          <p:nvPr/>
        </p:nvSpPr>
        <p:spPr>
          <a:xfrm>
            <a:off x="978408" y="2514600"/>
            <a:ext cx="5559552" cy="566928"/>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Carriageway = Dual, Number of lanes = Manual</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Lanes left 2, right 2, lane width 3.65.</a:t>
            </a:r>
            <a:endParaRPr lang="en-US" sz="1200" dirty="0"/>
          </a:p>
        </p:txBody>
      </p:sp>
      <p:sp>
        <p:nvSpPr>
          <p:cNvPr id="13" name="shape-1663"/>
          <p:cNvSpPr/>
          <p:nvPr/>
        </p:nvSpPr>
        <p:spPr>
          <a:xfrm>
            <a:off x="502920" y="3136392"/>
            <a:ext cx="329184" cy="329184"/>
          </a:xfrm>
          <a:prstGeom prst="ellipse">
            <a:avLst/>
          </a:prstGeom>
          <a:solidFill>
            <a:schemeClr val="accent1"/>
          </a:solidFill>
          <a:ln/>
        </p:spPr>
      </p:sp>
      <p:sp>
        <p:nvSpPr>
          <p:cNvPr id="14" name="text-1664"/>
          <p:cNvSpPr txBox="1"/>
          <p:nvPr/>
        </p:nvSpPr>
        <p:spPr>
          <a:xfrm>
            <a:off x="502920" y="31363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5" name="text-1665"/>
          <p:cNvSpPr txBox="1"/>
          <p:nvPr/>
        </p:nvSpPr>
        <p:spPr>
          <a:xfrm>
            <a:off x="978408" y="3118104"/>
            <a:ext cx="5559552" cy="566928"/>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Median = Raised (kerbed), width 3.00</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Or Flush for a painted median.</a:t>
            </a:r>
            <a:endParaRPr lang="en-US" sz="1200" dirty="0"/>
          </a:p>
        </p:txBody>
      </p:sp>
      <p:sp>
        <p:nvSpPr>
          <p:cNvPr id="16" name="shape-1666"/>
          <p:cNvSpPr/>
          <p:nvPr/>
        </p:nvSpPr>
        <p:spPr>
          <a:xfrm>
            <a:off x="502920" y="3739896"/>
            <a:ext cx="329184" cy="329184"/>
          </a:xfrm>
          <a:prstGeom prst="ellipse">
            <a:avLst/>
          </a:prstGeom>
          <a:solidFill>
            <a:schemeClr val="accent1"/>
          </a:solidFill>
          <a:ln/>
        </p:spPr>
      </p:sp>
      <p:sp>
        <p:nvSpPr>
          <p:cNvPr id="17" name="text-1667"/>
          <p:cNvSpPr txBox="1"/>
          <p:nvPr/>
        </p:nvSpPr>
        <p:spPr>
          <a:xfrm>
            <a:off x="502920" y="3739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8" name="text-1668"/>
          <p:cNvSpPr txBox="1"/>
          <p:nvPr/>
        </p:nvSpPr>
        <p:spPr>
          <a:xfrm>
            <a:off x="978408" y="3721608"/>
            <a:ext cx="5559552" cy="566928"/>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Tick Sidewalk left / right and Walkway left / right</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Widths 2.00 / 2.50, verge 1.00. Add drains / utilities if needed.</a:t>
            </a:r>
            <a:endParaRPr lang="en-US" sz="1200" dirty="0"/>
          </a:p>
        </p:txBody>
      </p:sp>
      <p:sp>
        <p:nvSpPr>
          <p:cNvPr id="19" name="shape-1669"/>
          <p:cNvSpPr/>
          <p:nvPr/>
        </p:nvSpPr>
        <p:spPr>
          <a:xfrm>
            <a:off x="502920" y="4343400"/>
            <a:ext cx="329184" cy="329184"/>
          </a:xfrm>
          <a:prstGeom prst="ellipse">
            <a:avLst/>
          </a:prstGeom>
          <a:solidFill>
            <a:schemeClr val="accent1"/>
          </a:solidFill>
          <a:ln/>
        </p:spPr>
      </p:sp>
      <p:sp>
        <p:nvSpPr>
          <p:cNvPr id="20" name="text-1670"/>
          <p:cNvSpPr txBox="1"/>
          <p:nvPr/>
        </p:nvSpPr>
        <p:spPr>
          <a:xfrm>
            <a:off x="502920" y="43434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1" name="text-1671"/>
          <p:cNvSpPr txBox="1"/>
          <p:nvPr/>
        </p:nvSpPr>
        <p:spPr>
          <a:xfrm>
            <a:off x="978408" y="4325112"/>
            <a:ext cx="5559552" cy="566928"/>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Check layout, then OK</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The check line shows the road width (17.60 m) and any warnings.</a:t>
            </a:r>
            <a:endParaRPr lang="en-US" sz="1200" dirty="0"/>
          </a:p>
        </p:txBody>
      </p:sp>
      <p:sp>
        <p:nvSpPr>
          <p:cNvPr id="22" name="shape-1672"/>
          <p:cNvSpPr/>
          <p:nvPr/>
        </p:nvSpPr>
        <p:spPr>
          <a:xfrm>
            <a:off x="502920" y="4946904"/>
            <a:ext cx="329184" cy="329184"/>
          </a:xfrm>
          <a:prstGeom prst="ellipse">
            <a:avLst/>
          </a:prstGeom>
          <a:solidFill>
            <a:schemeClr val="accent1"/>
          </a:solidFill>
          <a:ln/>
        </p:spPr>
      </p:sp>
      <p:sp>
        <p:nvSpPr>
          <p:cNvPr id="23" name="text-1673"/>
          <p:cNvSpPr txBox="1"/>
          <p:nvPr/>
        </p:nvSpPr>
        <p:spPr>
          <a:xfrm>
            <a:off x="502920" y="49469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24" name="text-1674"/>
          <p:cNvSpPr txBox="1"/>
          <p:nvPr/>
        </p:nvSpPr>
        <p:spPr>
          <a:xfrm>
            <a:off x="978408" y="4928616"/>
            <a:ext cx="5559552" cy="566928"/>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OK in the RDP dialog, draw or select the CL</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Road, median, corridor, markings, signs, report and section are drawn.</a:t>
            </a:r>
            <a:endParaRPr lang="en-US" sz="1200" dirty="0"/>
          </a:p>
        </p:txBody>
      </p:sp>
      <p:sp>
        <p:nvSpPr>
          <p:cNvPr id="25" name="shape-1675"/>
          <p:cNvSpPr/>
          <p:nvPr/>
        </p:nvSpPr>
        <p:spPr>
          <a:xfrm>
            <a:off x="502920" y="5550408"/>
            <a:ext cx="329184" cy="329184"/>
          </a:xfrm>
          <a:prstGeom prst="ellipse">
            <a:avLst/>
          </a:prstGeom>
          <a:solidFill>
            <a:schemeClr val="accent1"/>
          </a:solidFill>
          <a:ln/>
        </p:spPr>
      </p:sp>
      <p:sp>
        <p:nvSpPr>
          <p:cNvPr id="26" name="text-1676"/>
          <p:cNvSpPr txBox="1"/>
          <p:nvPr/>
        </p:nvSpPr>
        <p:spPr>
          <a:xfrm>
            <a:off x="502920" y="55504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27" name="text-1677"/>
          <p:cNvSpPr txBox="1"/>
          <p:nvPr/>
        </p:nvSpPr>
        <p:spPr>
          <a:xfrm>
            <a:off x="978408" y="5532120"/>
            <a:ext cx="5559552" cy="566928"/>
          </a:xfrm>
          <a:prstGeom prst="rect">
            <a:avLst/>
          </a:prstGeom>
          <a:noFill/>
          <a:ln/>
        </p:spPr>
        <p:txBody>
          <a:bodyPr wrap="square" lIns="0" tIns="0" rIns="0" bIns="0" rtlCol="0" anchor="t"/>
          <a:lstStyle/>
          <a:p>
            <a:pPr indent="0" marL="0">
              <a:spcAft>
                <a:spcPts val="100"/>
              </a:spcAft>
              <a:buNone/>
            </a:pPr>
            <a:r>
              <a:rPr lang="en-US" sz="1200" b="1" dirty="0">
                <a:solidFill>
                  <a:schemeClr val="tx1"/>
                </a:solidFill>
                <a:latin typeface="Calibri" pitchFamily="34" charset="0"/>
                <a:ea typeface="Calibri" pitchFamily="34" charset="-122"/>
                <a:cs typeface="Calibri" pitchFamily="34" charset="-120"/>
              </a:rPr>
              <a:t>Later changes: RDC on the road</a:t>
            </a:r>
            <a:endParaRPr lang="en-US" sz="1200" dirty="0"/>
          </a:p>
          <a:p>
            <a:pPr indent="0" marL="0">
              <a:spcAft>
                <a:spcPts val="100"/>
              </a:spcAft>
              <a:buNone/>
            </a:pPr>
            <a:r>
              <a:rPr lang="en-US" sz="1050" dirty="0">
                <a:solidFill>
                  <a:srgbClr val="3A3F45"/>
                </a:solidFill>
                <a:latin typeface="Calibri" pitchFamily="34" charset="0"/>
                <a:ea typeface="Calibri" pitchFamily="34" charset="-122"/>
                <a:cs typeface="Calibri" pitchFamily="34" charset="-120"/>
              </a:rPr>
              <a:t>Sidewalk / drain changes update only the corridor; lane / median changes rebuild the road.</a:t>
            </a:r>
            <a:endParaRPr lang="en-US" sz="1200" dirty="0"/>
          </a:p>
        </p:txBody>
      </p:sp>
      <p:sp>
        <p:nvSpPr>
          <p:cNvPr id="28" name="shape-1678"/>
          <p:cNvSpPr/>
          <p:nvPr/>
        </p:nvSpPr>
        <p:spPr>
          <a:xfrm>
            <a:off x="6812280" y="1325880"/>
            <a:ext cx="4846320" cy="2514600"/>
          </a:xfrm>
          <a:prstGeom prst="roundRect">
            <a:avLst>
              <a:gd name="adj" fmla="val 2182"/>
            </a:avLst>
          </a:prstGeom>
          <a:solidFill>
            <a:srgbClr val="1F2326"/>
          </a:solidFill>
          <a:ln/>
        </p:spPr>
      </p:sp>
      <p:sp>
        <p:nvSpPr>
          <p:cNvPr id="29" name="text-1679"/>
          <p:cNvSpPr txBox="1"/>
          <p:nvPr/>
        </p:nvSpPr>
        <p:spPr>
          <a:xfrm>
            <a:off x="6976872" y="1453896"/>
            <a:ext cx="4517136" cy="2258568"/>
          </a:xfrm>
          <a:prstGeom prst="rect">
            <a:avLst/>
          </a:prstGeom>
          <a:noFill/>
          <a:ln/>
        </p:spPr>
        <p:txBody>
          <a:bodyPr wrap="square" lIns="0" tIns="0" rIns="0" bIns="0" rtlCol="0" anchor="t"/>
          <a:lstStyle/>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Command: </a:t>
            </a:r>
            <a:pPr indent="0" marL="0">
              <a:spcAft>
                <a:spcPts val="200"/>
              </a:spcAft>
              <a:buNone/>
            </a:pPr>
            <a:r>
              <a:rPr lang="en-US" sz="950" b="1" dirty="0">
                <a:solidFill>
                  <a:srgbClr val="F2B705"/>
                </a:solidFill>
                <a:latin typeface="Courier New" pitchFamily="34" charset="0"/>
                <a:ea typeface="Courier New" pitchFamily="34" charset="-122"/>
                <a:cs typeface="Courier New" pitchFamily="34" charset="-120"/>
              </a:rPr>
              <a:t>RDP</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Manual lanes: 2 left + 2 right x 3.65 m</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 median 3.00 m = road width 17.60 m</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[CROSS SECTION / CORRIDOR]</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Median - raised (kerbed) : 3.00 m wide ...</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Sidewalk - left  : 2.00 m wide, area ...</a:t>
            </a:r>
            <a:endParaRPr lang="en-US" sz="950" dirty="0"/>
          </a:p>
          <a:p>
            <a:pPr indent="0" marL="0">
              <a:spcAft>
                <a:spcPts val="200"/>
              </a:spcAft>
              <a:buNone/>
            </a:pPr>
            <a:r>
              <a:rPr lang="en-US" sz="950" dirty="0">
                <a:solidFill>
                  <a:srgbClr val="E8EAED"/>
                </a:solidFill>
                <a:latin typeface="Courier New" pitchFamily="34" charset="0"/>
                <a:ea typeface="Courier New" pitchFamily="34" charset="-122"/>
                <a:cs typeface="Courier New" pitchFamily="34" charset="-120"/>
              </a:rPr>
              <a:t>  Walkway - right  : 2.50 m wide, area ...</a:t>
            </a:r>
            <a:endParaRPr lang="en-US" sz="950" dirty="0"/>
          </a:p>
        </p:txBody>
      </p:sp>
      <p:sp>
        <p:nvSpPr>
          <p:cNvPr id="30" name="shape-1680"/>
          <p:cNvSpPr/>
          <p:nvPr/>
        </p:nvSpPr>
        <p:spPr>
          <a:xfrm>
            <a:off x="6812280" y="3977640"/>
            <a:ext cx="4846320" cy="2194560"/>
          </a:xfrm>
          <a:prstGeom prst="roundRect">
            <a:avLst>
              <a:gd name="adj" fmla="val 3333"/>
            </a:avLst>
          </a:prstGeom>
          <a:solidFill>
            <a:srgbClr val="F4F5F7"/>
          </a:solidFill>
          <a:ln w="9525">
            <a:solidFill>
              <a:srgbClr val="E3E5E8"/>
            </a:solidFill>
            <a:prstDash val="solid"/>
          </a:ln>
        </p:spPr>
      </p:sp>
      <p:sp>
        <p:nvSpPr>
          <p:cNvPr id="31" name="text-1681"/>
          <p:cNvSpPr txBox="1"/>
          <p:nvPr/>
        </p:nvSpPr>
        <p:spPr>
          <a:xfrm>
            <a:off x="6976872" y="4114800"/>
            <a:ext cx="451713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Other commands</a:t>
            </a:r>
            <a:endParaRPr lang="en-US" sz="1300" dirty="0"/>
          </a:p>
        </p:txBody>
      </p:sp>
      <p:sp>
        <p:nvSpPr>
          <p:cNvPr id="32" name="text-1682"/>
          <p:cNvSpPr txBox="1"/>
          <p:nvPr/>
        </p:nvSpPr>
        <p:spPr>
          <a:xfrm>
            <a:off x="6976872" y="4480560"/>
            <a:ext cx="4517136" cy="1581912"/>
          </a:xfrm>
          <a:prstGeom prst="rect">
            <a:avLst/>
          </a:prstGeom>
          <a:noFill/>
          <a:ln/>
        </p:spPr>
        <p:txBody>
          <a:bodyPr wrap="square" lIns="0" tIns="0" rIns="0" bIns="0" rtlCol="0" anchor="t"/>
          <a:lstStyle/>
          <a:p>
            <a:pPr marL="152400" indent="-152400">
              <a:spcAft>
                <a:spcPts val="400"/>
              </a:spcAft>
              <a:buSzPct val="100000"/>
              <a:buChar char="•"/>
            </a:pPr>
            <a:r>
              <a:rPr lang="en-US" sz="1100" b="1" dirty="0">
                <a:solidFill>
                  <a:srgbClr val="3A3F45"/>
                </a:solidFill>
                <a:latin typeface="Calibri" pitchFamily="34" charset="0"/>
                <a:ea typeface="Calibri" pitchFamily="34" charset="-122"/>
                <a:cs typeface="Calibri" pitchFamily="34" charset="-120"/>
              </a:rPr>
              <a:t>RDC  </a:t>
            </a:r>
            <a:pPr indent="0" marL="0">
              <a:spcAft>
                <a:spcPts val="400"/>
              </a:spcAft>
              <a:buNone/>
            </a:pPr>
            <a:r>
              <a:rPr lang="en-US" sz="1100" dirty="0">
                <a:solidFill>
                  <a:srgbClr val="3A3F45"/>
                </a:solidFill>
                <a:latin typeface="Calibri" pitchFamily="34" charset="0"/>
                <a:ea typeface="Calibri" pitchFamily="34" charset="-122"/>
                <a:cs typeface="Calibri" pitchFamily="34" charset="-120"/>
              </a:rPr>
              <a:t>change the corridor of an existing road</a:t>
            </a:r>
            <a:endParaRPr lang="en-US" sz="1100" dirty="0"/>
          </a:p>
          <a:p>
            <a:pPr marL="152400" indent="-152400">
              <a:spcAft>
                <a:spcPts val="400"/>
              </a:spcAft>
              <a:buSzPct val="100000"/>
              <a:buChar char="•"/>
            </a:pPr>
            <a:r>
              <a:rPr lang="en-US" sz="1100" b="1" dirty="0">
                <a:solidFill>
                  <a:srgbClr val="3A3F45"/>
                </a:solidFill>
                <a:latin typeface="Calibri" pitchFamily="34" charset="0"/>
                <a:ea typeface="Calibri" pitchFamily="34" charset="-122"/>
                <a:cs typeface="Calibri" pitchFamily="34" charset="-120"/>
              </a:rPr>
              <a:t>RDU  </a:t>
            </a:r>
            <a:pPr indent="0" marL="0">
              <a:spcAft>
                <a:spcPts val="400"/>
              </a:spcAft>
              <a:buNone/>
            </a:pPr>
            <a:r>
              <a:rPr lang="en-US" sz="1100" dirty="0">
                <a:solidFill>
                  <a:srgbClr val="3A3F45"/>
                </a:solidFill>
                <a:latin typeface="Calibri" pitchFamily="34" charset="0"/>
                <a:ea typeface="Calibri" pitchFamily="34" charset="-122"/>
                <a:cs typeface="Calibri" pitchFamily="34" charset="-120"/>
              </a:rPr>
              <a:t>regenerate corridor + markings (after RDW / RDT / edits)</a:t>
            </a:r>
            <a:endParaRPr lang="en-US" sz="1100" dirty="0"/>
          </a:p>
          <a:p>
            <a:pPr marL="152400" indent="-152400">
              <a:spcAft>
                <a:spcPts val="400"/>
              </a:spcAft>
              <a:buSzPct val="100000"/>
              <a:buChar char="•"/>
            </a:pPr>
            <a:r>
              <a:rPr lang="en-US" sz="1100" b="1" dirty="0">
                <a:solidFill>
                  <a:srgbClr val="3A3F45"/>
                </a:solidFill>
                <a:latin typeface="Calibri" pitchFamily="34" charset="0"/>
                <a:ea typeface="Calibri" pitchFamily="34" charset="-122"/>
                <a:cs typeface="Calibri" pitchFamily="34" charset="-120"/>
              </a:rPr>
              <a:t>RDX  </a:t>
            </a:r>
            <a:pPr indent="0" marL="0">
              <a:spcAft>
                <a:spcPts val="400"/>
              </a:spcAft>
              <a:buNone/>
            </a:pPr>
            <a:r>
              <a:rPr lang="en-US" sz="1100" dirty="0">
                <a:solidFill>
                  <a:srgbClr val="3A3F45"/>
                </a:solidFill>
                <a:latin typeface="Calibri" pitchFamily="34" charset="0"/>
                <a:ea typeface="Calibri" pitchFamily="34" charset="-122"/>
                <a:cs typeface="Calibri" pitchFamily="34" charset="-120"/>
              </a:rPr>
              <a:t>cross sections now show every item with dimensions</a:t>
            </a:r>
            <a:endParaRPr lang="en-US" sz="1100" dirty="0"/>
          </a:p>
          <a:p>
            <a:pPr marL="152400" indent="-152400">
              <a:spcAft>
                <a:spcPts val="400"/>
              </a:spcAft>
              <a:buSzPct val="100000"/>
              <a:buChar char="•"/>
            </a:pPr>
            <a:r>
              <a:rPr lang="en-US" sz="1100" b="1" dirty="0">
                <a:solidFill>
                  <a:srgbClr val="3A3F45"/>
                </a:solidFill>
                <a:latin typeface="Calibri" pitchFamily="34" charset="0"/>
                <a:ea typeface="Calibri" pitchFamily="34" charset="-122"/>
                <a:cs typeface="Calibri" pitchFamily="34" charset="-120"/>
              </a:rPr>
              <a:t>RDR  </a:t>
            </a:r>
            <a:pPr indent="0" marL="0">
              <a:spcAft>
                <a:spcPts val="400"/>
              </a:spcAft>
              <a:buNone/>
            </a:pPr>
            <a:r>
              <a:rPr lang="en-US" sz="1100" dirty="0">
                <a:solidFill>
                  <a:srgbClr val="3A3F45"/>
                </a:solidFill>
                <a:latin typeface="Calibri" pitchFamily="34" charset="0"/>
                <a:ea typeface="Calibri" pitchFamily="34" charset="-122"/>
                <a:cs typeface="Calibri" pitchFamily="34" charset="-120"/>
              </a:rPr>
              <a:t>report and Excel list lengths and areas</a:t>
            </a:r>
            <a:endParaRPr lang="en-US" sz="110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I  ·  SURFACE HATCH</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Interlocking paver hatch for sidewalks and walkways</a:t>
            </a:r>
            <a:endParaRPr lang="en-US" sz="2600" dirty="0"/>
          </a:p>
        </p:txBody>
      </p:sp>
      <p:pic>
        <p:nvPicPr>
          <p:cNvPr id="4" name="paver-image" descr="/tmp/claude-0/-home-claude/60b4a2fb-c06f-5560-8d08-e81f912d87f4/scratchpad/man/img/paver.png">    </p:cNvPr>
          <p:cNvPicPr>
            <a:picLocks noChangeAspect="1"/>
          </p:cNvPicPr>
          <p:nvPr/>
        </p:nvPicPr>
        <p:blipFill>
          <a:blip r:embed="rId1"/>
          <a:stretch>
            <a:fillRect/>
          </a:stretch>
        </p:blipFill>
        <p:spPr>
          <a:xfrm>
            <a:off x="502920" y="1325880"/>
            <a:ext cx="2926080" cy="2926080"/>
          </a:xfrm>
          <a:prstGeom prst="rect">
            <a:avLst/>
          </a:prstGeom>
        </p:spPr>
      </p:pic>
      <p:pic>
        <p:nvPicPr>
          <p:cNvPr id="5" name="hbone-image" descr="/tmp/claude-0/-home-claude/60b4a2fb-c06f-5560-8d08-e81f912d87f4/scratchpad/man/img/hbone.png">    </p:cNvPr>
          <p:cNvPicPr>
            <a:picLocks noChangeAspect="1"/>
          </p:cNvPicPr>
          <p:nvPr/>
        </p:nvPicPr>
        <p:blipFill>
          <a:blip r:embed="rId2"/>
          <a:stretch>
            <a:fillRect/>
          </a:stretch>
        </p:blipFill>
        <p:spPr>
          <a:xfrm>
            <a:off x="3611880" y="1325880"/>
            <a:ext cx="2926080" cy="2926080"/>
          </a:xfrm>
          <a:prstGeom prst="rect">
            <a:avLst/>
          </a:prstGeom>
        </p:spPr>
      </p:pic>
      <p:sp>
        <p:nvSpPr>
          <p:cNvPr id="6" name="text-1683"/>
          <p:cNvSpPr txBox="1"/>
          <p:nvPr/>
        </p:nvSpPr>
        <p:spPr>
          <a:xfrm>
            <a:off x="502920" y="4315968"/>
            <a:ext cx="3017520" cy="457200"/>
          </a:xfrm>
          <a:prstGeom prst="rect">
            <a:avLst/>
          </a:prstGeom>
          <a:noFill/>
          <a:ln/>
        </p:spPr>
        <p:txBody>
          <a:bodyPr wrap="square" lIns="0" tIns="0" rIns="0" bIns="0" rtlCol="0" anchor="t"/>
          <a:lstStyle/>
          <a:p>
            <a:pPr indent="0" marL="0">
              <a:buNone/>
            </a:pPr>
            <a:r>
              <a:rPr lang="en-US" sz="1000" b="1" dirty="0">
                <a:solidFill>
                  <a:schemeClr val="tx1"/>
                </a:solidFill>
                <a:latin typeface="Calibri" pitchFamily="34" charset="0"/>
                <a:ea typeface="Calibri" pitchFamily="34" charset="-122"/>
                <a:cs typeface="Calibri" pitchFamily="34" charset="-120"/>
              </a:rPr>
              <a:t>RP_PAVER  -  I-shape interlocking paver 200 x 165 mm (default)</a:t>
            </a:r>
            <a:endParaRPr lang="en-US" sz="1000" dirty="0"/>
          </a:p>
        </p:txBody>
      </p:sp>
      <p:sp>
        <p:nvSpPr>
          <p:cNvPr id="7" name="text-1684"/>
          <p:cNvSpPr txBox="1"/>
          <p:nvPr/>
        </p:nvSpPr>
        <p:spPr>
          <a:xfrm>
            <a:off x="3611880" y="4315968"/>
            <a:ext cx="3017520" cy="457200"/>
          </a:xfrm>
          <a:prstGeom prst="rect">
            <a:avLst/>
          </a:prstGeom>
          <a:noFill/>
          <a:ln/>
        </p:spPr>
        <p:txBody>
          <a:bodyPr wrap="square" lIns="0" tIns="0" rIns="0" bIns="0" rtlCol="0" anchor="t"/>
          <a:lstStyle/>
          <a:p>
            <a:pPr indent="0" marL="0">
              <a:buNone/>
            </a:pPr>
            <a:r>
              <a:rPr lang="en-US" sz="1000" b="1" dirty="0">
                <a:solidFill>
                  <a:schemeClr val="tx1"/>
                </a:solidFill>
                <a:latin typeface="Calibri" pitchFamily="34" charset="0"/>
                <a:ea typeface="Calibri" pitchFamily="34" charset="-122"/>
                <a:cs typeface="Calibri" pitchFamily="34" charset="-120"/>
              </a:rPr>
              <a:t>AR-HBONE  -  herringbone, AutoCAD standard (option)</a:t>
            </a:r>
            <a:endParaRPr lang="en-US" sz="1000" dirty="0"/>
          </a:p>
        </p:txBody>
      </p:sp>
      <p:graphicFrame>
        <p:nvGraphicFramePr>
          <p:cNvPr id="44" name="table-1685"/>
          <p:cNvGraphicFramePr>
            <a:graphicFrameLocks noGrp="1"/>
          </p:cNvGraphicFramePr>
          <p:nvPr>
            <p:extLst>
              <p:ext uri="{D42A27DB-BD31-4B8C-83A1-F6EECF244321}">
                <p14:modId xmlns:p14="http://schemas.microsoft.com/office/powerpoint/2010/main" val="1579011935"/>
              </p:ext>
            </p:extLst>
          </p:nvPr>
        </p:nvGraphicFramePr>
        <p:xfrm>
          <a:off x="6812280" y="1325880"/>
          <a:ext cx="4846320" cy="914400"/>
        </p:xfrm>
        <a:graphic>
          <a:graphicData uri="http://schemas.openxmlformats.org/drawingml/2006/table">
            <a:tbl>
              <a:tblPr/>
              <a:tblGrid>
                <a:gridCol w="2194560"/>
                <a:gridCol w="2651760"/>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Setting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Options  (default)</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1F2326"/>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Paver hatch</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On (off = solid fill)</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Pattern</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Interlocking I-shape  /  Herringbone  /  Other</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Other pattern name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Any AutoCAD pattern, e.g. AR-B816</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1 = real paver size</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4F5F7"/>
                    </a:solidFill>
                  </a:tcPr>
                </a:tc>
              </a:tr>
              <a:tr h="384048">
                <a:tc>
                  <a:txBody>
                    <a:bodyPr/>
                    <a:lstStyle/>
                    <a:p>
                      <a:pPr indent="0" marL="0">
                        <a:buNone/>
                      </a:pPr>
                      <a:r>
                        <a:rPr lang="en-US" sz="1050" b="1" dirty="0">
                          <a:solidFill>
                            <a:srgbClr val="1F2326"/>
                          </a:solidFill>
                          <a:latin typeface="Calibri" pitchFamily="34" charset="0"/>
                          <a:ea typeface="Calibri" pitchFamily="34" charset="-122"/>
                          <a:cs typeface="Calibri" pitchFamily="34" charset="-120"/>
                        </a:rPr>
                        <a:t>Extra angle (deg)</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c>
                  <a:txBody>
                    <a:bodyPr/>
                    <a:lstStyle/>
                    <a:p>
                      <a:pPr indent="0" marL="0">
                        <a:buNone/>
                      </a:pPr>
                      <a:r>
                        <a:rPr lang="en-US" sz="1050" dirty="0">
                          <a:solidFill>
                            <a:srgbClr val="1F2326"/>
                          </a:solidFill>
                          <a:latin typeface="Calibri" pitchFamily="34" charset="0"/>
                          <a:ea typeface="Calibri" pitchFamily="34" charset="-122"/>
                          <a:cs typeface="Calibri" pitchFamily="34" charset="-120"/>
                        </a:rPr>
                        <a:t>0 = along the road</a:t>
                      </a:r>
                      <a:endParaRPr lang="en-US" sz="1050" dirty="0">
                        <a:latin typeface="Calibri" charset="0"/>
                        <a:ea typeface="Calibri" charset="0"/>
                        <a:cs typeface="Calibri" charset="0"/>
                      </a:endParaRPr>
                    </a:p>
                  </a:txBody>
                  <a:tcPr marL="73152" marR="73152" marT="32004" marB="32004" anchor="ctr">
                    <a:lnL w="0" cap="flat" cmpd="sng" algn="ctr">
                      <a:noFill/>
                    </a:lnL>
                    <a:lnR w="0" cap="flat" cmpd="sng" algn="ctr">
                      <a:noFill/>
                    </a:lnR>
                    <a:lnT w="0" cap="flat" cmpd="sng" algn="ctr">
                      <a:noFill/>
                    </a:lnT>
                    <a:lnB w="6350" cap="flat" cmpd="sng" algn="ctr">
                      <a:solidFill>
                        <a:srgbClr val="DDE0E4"/>
                      </a:solidFill>
                      <a:prstDash val="solid"/>
                      <a:round/>
                      <a:headEnd type="none" w="med" len="med"/>
                      <a:tailEnd type="none" w="med" len="med"/>
                    </a:lnB>
                    <a:solidFill>
                      <a:srgbClr val="FFFFFF"/>
                    </a:solidFill>
                  </a:tcPr>
                </a:tc>
              </a:tr>
            </a:tbl>
          </a:graphicData>
        </a:graphic>
      </p:graphicFrame>
      <p:sp>
        <p:nvSpPr>
          <p:cNvPr id="9" name="shape-1686"/>
          <p:cNvSpPr/>
          <p:nvPr/>
        </p:nvSpPr>
        <p:spPr>
          <a:xfrm>
            <a:off x="6812280" y="3794760"/>
            <a:ext cx="4846320" cy="2377440"/>
          </a:xfrm>
          <a:prstGeom prst="roundRect">
            <a:avLst>
              <a:gd name="adj" fmla="val 3077"/>
            </a:avLst>
          </a:prstGeom>
          <a:solidFill>
            <a:srgbClr val="F4F5F7"/>
          </a:solidFill>
          <a:ln w="9525">
            <a:solidFill>
              <a:srgbClr val="E3E5E8"/>
            </a:solidFill>
            <a:prstDash val="solid"/>
          </a:ln>
        </p:spPr>
      </p:sp>
      <p:sp>
        <p:nvSpPr>
          <p:cNvPr id="10" name="text-1687"/>
          <p:cNvSpPr txBox="1"/>
          <p:nvPr/>
        </p:nvSpPr>
        <p:spPr>
          <a:xfrm>
            <a:off x="6976872" y="3931920"/>
            <a:ext cx="451713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How it works</a:t>
            </a:r>
            <a:endParaRPr lang="en-US" sz="1300" dirty="0"/>
          </a:p>
        </p:txBody>
      </p:sp>
      <p:sp>
        <p:nvSpPr>
          <p:cNvPr id="11" name="text-1688"/>
          <p:cNvSpPr txBox="1"/>
          <p:nvPr/>
        </p:nvSpPr>
        <p:spPr>
          <a:xfrm>
            <a:off x="6976872" y="4297680"/>
            <a:ext cx="4517136" cy="1764792"/>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RP_PAVER.pat is written once to your roaming Support folder (it is found automatically).</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The hatch is clipped to each sidewalk / walkway piece and turns with the road (25 m pieces on curves).</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If the pattern cannot be loaded, RoadPro uses AR-HBONE and says so on the command line.</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mm drawings: scale x 1000 applied automatically.</a:t>
            </a:r>
            <a:endParaRPr lang="en-US" sz="1050" dirty="0"/>
          </a:p>
        </p:txBody>
      </p:sp>
      <p:sp>
        <p:nvSpPr>
          <p:cNvPr id="12" name="shape-1689"/>
          <p:cNvSpPr/>
          <p:nvPr/>
        </p:nvSpPr>
        <p:spPr>
          <a:xfrm>
            <a:off x="502920" y="4892040"/>
            <a:ext cx="6035040" cy="1280160"/>
          </a:xfrm>
          <a:prstGeom prst="roundRect">
            <a:avLst>
              <a:gd name="adj" fmla="val 5714"/>
            </a:avLst>
          </a:prstGeom>
          <a:solidFill>
            <a:srgbClr val="FFF6D6"/>
          </a:solidFill>
          <a:ln w="9525">
            <a:solidFill>
              <a:srgbClr val="F2D27A"/>
            </a:solidFill>
            <a:prstDash val="solid"/>
          </a:ln>
        </p:spPr>
      </p:sp>
      <p:sp>
        <p:nvSpPr>
          <p:cNvPr id="13" name="text-1690"/>
          <p:cNvSpPr txBox="1"/>
          <p:nvPr/>
        </p:nvSpPr>
        <p:spPr>
          <a:xfrm>
            <a:off x="649224" y="4965192"/>
            <a:ext cx="5742432" cy="1133856"/>
          </a:xfrm>
          <a:prstGeom prst="rect">
            <a:avLst/>
          </a:prstGeom>
          <a:noFill/>
          <a:ln/>
        </p:spPr>
        <p:txBody>
          <a:bodyPr wrap="square" lIns="0" tIns="0" rIns="0" bIns="0" rtlCol="0" anchor="ctr"/>
          <a:lstStyle/>
          <a:p>
            <a:pPr indent="0" marL="0">
              <a:buNone/>
            </a:pPr>
            <a:r>
              <a:rPr lang="en-US" sz="1050" b="1" dirty="0">
                <a:solidFill>
                  <a:srgbClr val="A65F00"/>
                </a:solidFill>
                <a:latin typeface="Calibri" pitchFamily="34" charset="0"/>
                <a:ea typeface="Calibri" pitchFamily="34" charset="-122"/>
                <a:cs typeface="Calibri" pitchFamily="34" charset="-120"/>
              </a:rPr>
              <a:t>Checked  </a:t>
            </a:r>
            <a:pPr indent="0" marL="0">
              <a:buNone/>
            </a:pPr>
            <a:r>
              <a:rPr lang="en-US" sz="1050" dirty="0">
                <a:solidFill>
                  <a:srgbClr val="3A3F45"/>
                </a:solidFill>
                <a:latin typeface="Calibri" pitchFamily="34" charset="0"/>
                <a:ea typeface="Calibri" pitchFamily="34" charset="-122"/>
                <a:cs typeface="Calibri" pitchFamily="34" charset="-120"/>
              </a:rPr>
              <a:t>The RP_PAVER definition was drawn line by line from the .pat file and compared with the true I-shape tiling - they match exactly (left image).</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I  ·  RDER  ·  RDB</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Change a curve radius after the road is built</a:t>
            </a:r>
            <a:endParaRPr lang="en-US" sz="2600" dirty="0"/>
          </a:p>
        </p:txBody>
      </p:sp>
      <p:sp>
        <p:nvSpPr>
          <p:cNvPr id="4" name="shape-1691"/>
          <p:cNvSpPr/>
          <p:nvPr/>
        </p:nvSpPr>
        <p:spPr>
          <a:xfrm>
            <a:off x="502920" y="1325880"/>
            <a:ext cx="329184" cy="329184"/>
          </a:xfrm>
          <a:prstGeom prst="ellipse">
            <a:avLst/>
          </a:prstGeom>
          <a:solidFill>
            <a:schemeClr val="accent1"/>
          </a:solidFill>
          <a:ln/>
        </p:spPr>
      </p:sp>
      <p:sp>
        <p:nvSpPr>
          <p:cNvPr id="5" name="text-1692"/>
          <p:cNvSpPr txBox="1"/>
          <p:nvPr/>
        </p:nvSpPr>
        <p:spPr>
          <a:xfrm>
            <a:off x="502920" y="13258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1693"/>
          <p:cNvSpPr txBox="1"/>
          <p:nvPr/>
        </p:nvSpPr>
        <p:spPr>
          <a:xfrm>
            <a:off x="978408" y="1307592"/>
            <a:ext cx="5376672" cy="71323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Type RDER</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Pick the road centre line ON the curve you want to change.</a:t>
            </a:r>
            <a:endParaRPr lang="en-US" sz="1200" dirty="0"/>
          </a:p>
        </p:txBody>
      </p:sp>
      <p:sp>
        <p:nvSpPr>
          <p:cNvPr id="7" name="shape-1694"/>
          <p:cNvSpPr/>
          <p:nvPr/>
        </p:nvSpPr>
        <p:spPr>
          <a:xfrm>
            <a:off x="502920" y="2075688"/>
            <a:ext cx="329184" cy="329184"/>
          </a:xfrm>
          <a:prstGeom prst="ellipse">
            <a:avLst/>
          </a:prstGeom>
          <a:solidFill>
            <a:schemeClr val="accent1"/>
          </a:solidFill>
          <a:ln/>
        </p:spPr>
      </p:sp>
      <p:sp>
        <p:nvSpPr>
          <p:cNvPr id="8" name="text-1695"/>
          <p:cNvSpPr txBox="1"/>
          <p:nvPr/>
        </p:nvSpPr>
        <p:spPr>
          <a:xfrm>
            <a:off x="502920" y="2075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9" name="text-1696"/>
          <p:cNvSpPr txBox="1"/>
          <p:nvPr/>
        </p:nvSpPr>
        <p:spPr>
          <a:xfrm>
            <a:off x="978408" y="2057400"/>
            <a:ext cx="5376672" cy="71323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Read the current curve</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Number, radius (CL), deflection and TC / CT chainage are shown.</a:t>
            </a:r>
            <a:endParaRPr lang="en-US" sz="1200" dirty="0"/>
          </a:p>
        </p:txBody>
      </p:sp>
      <p:sp>
        <p:nvSpPr>
          <p:cNvPr id="10" name="shape-1697"/>
          <p:cNvSpPr/>
          <p:nvPr/>
        </p:nvSpPr>
        <p:spPr>
          <a:xfrm>
            <a:off x="502920" y="2825496"/>
            <a:ext cx="329184" cy="329184"/>
          </a:xfrm>
          <a:prstGeom prst="ellipse">
            <a:avLst/>
          </a:prstGeom>
          <a:solidFill>
            <a:schemeClr val="accent1"/>
          </a:solidFill>
          <a:ln/>
        </p:spPr>
      </p:sp>
      <p:sp>
        <p:nvSpPr>
          <p:cNvPr id="11" name="text-1698"/>
          <p:cNvSpPr txBox="1"/>
          <p:nvPr/>
        </p:nvSpPr>
        <p:spPr>
          <a:xfrm>
            <a:off x="502920" y="28254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2" name="text-1699"/>
          <p:cNvSpPr txBox="1"/>
          <p:nvPr/>
        </p:nvSpPr>
        <p:spPr>
          <a:xfrm>
            <a:off x="978408" y="2807208"/>
            <a:ext cx="5376672" cy="71323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Type the new radius at the centre line</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Or I = radius at the inner edge (kerb line), A = all curves.</a:t>
            </a:r>
            <a:endParaRPr lang="en-US" sz="1200" dirty="0"/>
          </a:p>
        </p:txBody>
      </p:sp>
      <p:sp>
        <p:nvSpPr>
          <p:cNvPr id="13" name="shape-1700"/>
          <p:cNvSpPr/>
          <p:nvPr/>
        </p:nvSpPr>
        <p:spPr>
          <a:xfrm>
            <a:off x="502920" y="3575304"/>
            <a:ext cx="329184" cy="329184"/>
          </a:xfrm>
          <a:prstGeom prst="ellipse">
            <a:avLst/>
          </a:prstGeom>
          <a:solidFill>
            <a:schemeClr val="accent1"/>
          </a:solidFill>
          <a:ln/>
        </p:spPr>
      </p:sp>
      <p:sp>
        <p:nvSpPr>
          <p:cNvPr id="14" name="text-1701"/>
          <p:cNvSpPr txBox="1"/>
          <p:nvPr/>
        </p:nvSpPr>
        <p:spPr>
          <a:xfrm>
            <a:off x="502920" y="35753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5" name="text-1702"/>
          <p:cNvSpPr txBox="1"/>
          <p:nvPr/>
        </p:nvSpPr>
        <p:spPr>
          <a:xfrm>
            <a:off x="978408" y="3557016"/>
            <a:ext cx="5376672" cy="71323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RoadPro re-fits the curve</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Between the same two straights, always tangent to both.</a:t>
            </a:r>
            <a:endParaRPr lang="en-US" sz="1200" dirty="0"/>
          </a:p>
        </p:txBody>
      </p:sp>
      <p:sp>
        <p:nvSpPr>
          <p:cNvPr id="16" name="shape-1703"/>
          <p:cNvSpPr/>
          <p:nvPr/>
        </p:nvSpPr>
        <p:spPr>
          <a:xfrm>
            <a:off x="502920" y="4325112"/>
            <a:ext cx="329184" cy="329184"/>
          </a:xfrm>
          <a:prstGeom prst="ellipse">
            <a:avLst/>
          </a:prstGeom>
          <a:solidFill>
            <a:schemeClr val="accent1"/>
          </a:solidFill>
          <a:ln/>
        </p:spPr>
      </p:sp>
      <p:sp>
        <p:nvSpPr>
          <p:cNvPr id="17" name="text-1704"/>
          <p:cNvSpPr txBox="1"/>
          <p:nvPr/>
        </p:nvSpPr>
        <p:spPr>
          <a:xfrm>
            <a:off x="502920" y="43251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8" name="text-1705"/>
          <p:cNvSpPr txBox="1"/>
          <p:nvPr/>
        </p:nvSpPr>
        <p:spPr>
          <a:xfrm>
            <a:off x="978408" y="4306824"/>
            <a:ext cx="5376672" cy="713232"/>
          </a:xfrm>
          <a:prstGeom prst="rect">
            <a:avLst/>
          </a:prstGeom>
          <a:noFill/>
          <a:ln/>
        </p:spPr>
        <p:txBody>
          <a:bodyPr wrap="square" lIns="0" tIns="0" rIns="0" bIns="0" rtlCol="0" anchor="t"/>
          <a:lstStyle/>
          <a:p>
            <a:pPr indent="0" marL="0">
              <a:spcAft>
                <a:spcPts val="100"/>
              </a:spcAft>
              <a:buNone/>
            </a:pPr>
            <a:r>
              <a:rPr lang="en-US" sz="1250" b="1" dirty="0">
                <a:solidFill>
                  <a:schemeClr val="tx1"/>
                </a:solidFill>
                <a:latin typeface="Calibri" pitchFamily="34" charset="0"/>
                <a:ea typeface="Calibri" pitchFamily="34" charset="-122"/>
                <a:cs typeface="Calibri" pitchFamily="34" charset="-120"/>
              </a:rPr>
              <a:t>The road is rebuilt</a:t>
            </a:r>
            <a:endParaRPr lang="en-US" sz="1200" dirty="0"/>
          </a:p>
          <a:p>
            <a:pPr indent="0" marL="0">
              <a:spcAft>
                <a:spcPts val="100"/>
              </a:spcAft>
              <a:buNone/>
            </a:pPr>
            <a:r>
              <a:rPr lang="en-US" sz="1100" dirty="0">
                <a:solidFill>
                  <a:srgbClr val="3A3F45"/>
                </a:solidFill>
                <a:latin typeface="Calibri" pitchFamily="34" charset="0"/>
                <a:ea typeface="Calibri" pitchFamily="34" charset="-122"/>
                <a:cs typeface="Calibri" pitchFamily="34" charset="-120"/>
              </a:rPr>
              <a:t>Edges, surface, barricades / cones / kerb, markings, signs, labels and corridor - with the road’s own settings.</a:t>
            </a:r>
            <a:endParaRPr lang="en-US" sz="1200" dirty="0"/>
          </a:p>
        </p:txBody>
      </p:sp>
      <p:sp>
        <p:nvSpPr>
          <p:cNvPr id="19" name="shape-1706"/>
          <p:cNvSpPr/>
          <p:nvPr/>
        </p:nvSpPr>
        <p:spPr>
          <a:xfrm>
            <a:off x="6583680" y="1325880"/>
            <a:ext cx="5074920" cy="2423160"/>
          </a:xfrm>
          <a:prstGeom prst="roundRect">
            <a:avLst>
              <a:gd name="adj" fmla="val 3019"/>
            </a:avLst>
          </a:prstGeom>
          <a:solidFill>
            <a:srgbClr val="F4F5F7"/>
          </a:solidFill>
          <a:ln w="9525">
            <a:solidFill>
              <a:srgbClr val="E3E5E8"/>
            </a:solidFill>
            <a:prstDash val="solid"/>
          </a:ln>
        </p:spPr>
      </p:sp>
      <p:sp>
        <p:nvSpPr>
          <p:cNvPr id="20" name="text-1707"/>
          <p:cNvSpPr txBox="1"/>
          <p:nvPr/>
        </p:nvSpPr>
        <p:spPr>
          <a:xfrm>
            <a:off x="6748272" y="1463040"/>
            <a:ext cx="474573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Checks before anything changes</a:t>
            </a:r>
            <a:endParaRPr lang="en-US" sz="1300" dirty="0"/>
          </a:p>
        </p:txBody>
      </p:sp>
      <p:sp>
        <p:nvSpPr>
          <p:cNvPr id="21" name="text-1708"/>
          <p:cNvSpPr txBox="1"/>
          <p:nvPr/>
        </p:nvSpPr>
        <p:spPr>
          <a:xfrm>
            <a:off x="6748272" y="1828800"/>
            <a:ext cx="4745736" cy="1810512"/>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3A3F45"/>
                </a:solidFill>
                <a:latin typeface="Calibri" pitchFamily="34" charset="0"/>
                <a:ea typeface="Calibri" pitchFamily="34" charset="-122"/>
                <a:cs typeface="Calibri" pitchFamily="34" charset="-120"/>
              </a:rPr>
              <a:t>Radius larger than half the road width</a:t>
            </a:r>
            <a:endParaRPr lang="en-US" sz="1100" dirty="0"/>
          </a:p>
          <a:p>
            <a:pPr marL="152400" indent="-152400">
              <a:spcAft>
                <a:spcPts val="300"/>
              </a:spcAft>
              <a:buSzPct val="100000"/>
              <a:buChar char="•"/>
            </a:pPr>
            <a:r>
              <a:rPr lang="en-US" sz="1100" dirty="0">
                <a:solidFill>
                  <a:srgbClr val="3A3F45"/>
                </a:solidFill>
                <a:latin typeface="Calibri" pitchFamily="34" charset="0"/>
                <a:ea typeface="Calibri" pitchFamily="34" charset="-122"/>
                <a:cs typeface="Calibri" pitchFamily="34" charset="-120"/>
              </a:rPr>
              <a:t>Fits between the points either side - else the largest possible radius is shown</a:t>
            </a:r>
            <a:endParaRPr lang="en-US" sz="1100" dirty="0"/>
          </a:p>
          <a:p>
            <a:pPr marL="152400" indent="-152400">
              <a:spcAft>
                <a:spcPts val="300"/>
              </a:spcAft>
              <a:buSzPct val="100000"/>
              <a:buChar char="•"/>
            </a:pPr>
            <a:r>
              <a:rPr lang="en-US" sz="1100" dirty="0">
                <a:solidFill>
                  <a:srgbClr val="3A3F45"/>
                </a:solidFill>
                <a:latin typeface="Calibri" pitchFamily="34" charset="0"/>
                <a:ea typeface="Calibri" pitchFamily="34" charset="-122"/>
                <a:cs typeface="Calibri" pitchFamily="34" charset="-120"/>
              </a:rPr>
              <a:t>Curves that touch another curve (compound / reverse) are not edited</a:t>
            </a:r>
            <a:endParaRPr lang="en-US" sz="1100" dirty="0"/>
          </a:p>
          <a:p>
            <a:pPr marL="152400" indent="-152400">
              <a:spcAft>
                <a:spcPts val="300"/>
              </a:spcAft>
              <a:buSzPct val="100000"/>
              <a:buChar char="•"/>
            </a:pPr>
            <a:r>
              <a:rPr lang="en-US" sz="1100" dirty="0">
                <a:solidFill>
                  <a:srgbClr val="3A3F45"/>
                </a:solidFill>
                <a:latin typeface="Calibri" pitchFamily="34" charset="0"/>
                <a:ea typeface="Calibri" pitchFamily="34" charset="-122"/>
                <a:cs typeface="Calibri" pitchFamily="34" charset="-120"/>
              </a:rPr>
              <a:t>One U undoes the whole edit</a:t>
            </a:r>
            <a:endParaRPr lang="en-US" sz="1100" dirty="0"/>
          </a:p>
        </p:txBody>
      </p:sp>
      <p:sp>
        <p:nvSpPr>
          <p:cNvPr id="22" name="shape-1709"/>
          <p:cNvSpPr/>
          <p:nvPr/>
        </p:nvSpPr>
        <p:spPr>
          <a:xfrm>
            <a:off x="6583680" y="3886200"/>
            <a:ext cx="5074920" cy="1325880"/>
          </a:xfrm>
          <a:prstGeom prst="roundRect">
            <a:avLst>
              <a:gd name="adj" fmla="val 5517"/>
            </a:avLst>
          </a:prstGeom>
          <a:solidFill>
            <a:srgbClr val="F4F5F7"/>
          </a:solidFill>
          <a:ln w="9525">
            <a:solidFill>
              <a:srgbClr val="E3E5E8"/>
            </a:solidFill>
            <a:prstDash val="solid"/>
          </a:ln>
        </p:spPr>
      </p:sp>
      <p:sp>
        <p:nvSpPr>
          <p:cNvPr id="23" name="text-1710"/>
          <p:cNvSpPr txBox="1"/>
          <p:nvPr/>
        </p:nvSpPr>
        <p:spPr>
          <a:xfrm>
            <a:off x="6748272" y="4023360"/>
            <a:ext cx="474573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Edited the CL by hand?  RDB</a:t>
            </a:r>
            <a:endParaRPr lang="en-US" sz="1300" dirty="0"/>
          </a:p>
        </p:txBody>
      </p:sp>
      <p:sp>
        <p:nvSpPr>
          <p:cNvPr id="24" name="text-1711"/>
          <p:cNvSpPr txBox="1"/>
          <p:nvPr/>
        </p:nvSpPr>
        <p:spPr>
          <a:xfrm>
            <a:off x="6748272" y="4389120"/>
            <a:ext cx="4745736" cy="713232"/>
          </a:xfrm>
          <a:prstGeom prst="rect">
            <a:avLst/>
          </a:prstGeom>
          <a:noFill/>
          <a:ln/>
        </p:spPr>
        <p:txBody>
          <a:bodyPr wrap="square" lIns="0" tIns="0" rIns="0" bIns="0" rtlCol="0" anchor="t"/>
          <a:lstStyle/>
          <a:p>
            <a:pPr indent="0" marL="0">
              <a:spcAft>
                <a:spcPts val="300"/>
              </a:spcAft>
              <a:buNone/>
            </a:pPr>
            <a:r>
              <a:rPr lang="en-US" sz="1100" dirty="0">
                <a:solidFill>
                  <a:srgbClr val="3A3F45"/>
                </a:solidFill>
                <a:latin typeface="Calibri" pitchFamily="34" charset="0"/>
                <a:ea typeface="Calibri" pitchFamily="34" charset="-122"/>
                <a:cs typeface="Calibri" pitchFamily="34" charset="-120"/>
              </a:rPr>
              <a:t>Grips, Properties or PEDIT on the red CL, then RDB (ROADREBUILD) draws the road again from it.</a:t>
            </a:r>
            <a:endParaRPr lang="en-US" sz="1100" dirty="0"/>
          </a:p>
        </p:txBody>
      </p:sp>
      <p:sp>
        <p:nvSpPr>
          <p:cNvPr id="25" name="shape-1712"/>
          <p:cNvSpPr/>
          <p:nvPr/>
        </p:nvSpPr>
        <p:spPr>
          <a:xfrm>
            <a:off x="502920" y="5349240"/>
            <a:ext cx="11155680" cy="822960"/>
          </a:xfrm>
          <a:prstGeom prst="roundRect">
            <a:avLst>
              <a:gd name="adj" fmla="val 8889"/>
            </a:avLst>
          </a:prstGeom>
          <a:solidFill>
            <a:srgbClr val="FFF6D6"/>
          </a:solidFill>
          <a:ln w="9525">
            <a:solidFill>
              <a:srgbClr val="F2D27A"/>
            </a:solidFill>
            <a:prstDash val="solid"/>
          </a:ln>
        </p:spPr>
      </p:sp>
      <p:sp>
        <p:nvSpPr>
          <p:cNvPr id="26" name="text-1713"/>
          <p:cNvSpPr txBox="1"/>
          <p:nvPr/>
        </p:nvSpPr>
        <p:spPr>
          <a:xfrm>
            <a:off x="649224" y="5422392"/>
            <a:ext cx="10863072" cy="676656"/>
          </a:xfrm>
          <a:prstGeom prst="rect">
            <a:avLst/>
          </a:prstGeom>
          <a:noFill/>
          <a:ln/>
        </p:spPr>
        <p:txBody>
          <a:bodyPr wrap="square" lIns="0" tIns="0" rIns="0" bIns="0" rtlCol="0" anchor="ctr"/>
          <a:lstStyle/>
          <a:p>
            <a:pPr indent="0" marL="0">
              <a:buNone/>
            </a:pPr>
            <a:r>
              <a:rPr lang="en-US" sz="1050" b="1" dirty="0">
                <a:solidFill>
                  <a:srgbClr val="A65F00"/>
                </a:solidFill>
                <a:latin typeface="Calibri" pitchFamily="34" charset="0"/>
                <a:ea typeface="Calibri" pitchFamily="34" charset="-122"/>
                <a:cs typeface="Calibri" pitchFamily="34" charset="-120"/>
              </a:rPr>
              <a:t>Please note  </a:t>
            </a:r>
            <a:pPr indent="0" marL="0">
              <a:buNone/>
            </a:pPr>
            <a:r>
              <a:rPr lang="en-US" sz="1050" dirty="0">
                <a:solidFill>
                  <a:srgbClr val="3A3F45"/>
                </a:solidFill>
                <a:latin typeface="Calibri" pitchFamily="34" charset="0"/>
                <a:ea typeface="Calibri" pitchFamily="34" charset="-122"/>
                <a:cs typeface="Calibri" pitchFamily="34" charset="-120"/>
              </a:rPr>
              <a:t>Widenings, tapers and junctions are not carried through a rebuild (their chainages move). RoadPro lists them, asks first (Enter = No) and you apply them again with RDW / RDT / RDJ. Report tables and sections drawn before are kept - run RDR / RDX again.</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I  ·  ALIGNMENT INPUT  ·  CIVIL 3D  ·  LANDXML</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Existing polyline, manual alignment, Civil 3D and LandXML</a:t>
            </a:r>
            <a:endParaRPr lang="en-US" sz="2600" dirty="0"/>
          </a:p>
        </p:txBody>
      </p:sp>
      <p:sp>
        <p:nvSpPr>
          <p:cNvPr id="4" name="shape-1714"/>
          <p:cNvSpPr/>
          <p:nvPr/>
        </p:nvSpPr>
        <p:spPr>
          <a:xfrm>
            <a:off x="502920" y="1298448"/>
            <a:ext cx="3657600" cy="3383280"/>
          </a:xfrm>
          <a:prstGeom prst="roundRect">
            <a:avLst>
              <a:gd name="adj" fmla="val 2162"/>
            </a:avLst>
          </a:prstGeom>
          <a:solidFill>
            <a:srgbClr val="F4F5F7"/>
          </a:solidFill>
          <a:ln w="9525">
            <a:solidFill>
              <a:srgbClr val="E3E5E8"/>
            </a:solidFill>
            <a:prstDash val="solid"/>
          </a:ln>
        </p:spPr>
      </p:sp>
      <p:sp>
        <p:nvSpPr>
          <p:cNvPr id="5" name="text-1715"/>
          <p:cNvSpPr txBox="1"/>
          <p:nvPr/>
        </p:nvSpPr>
        <p:spPr>
          <a:xfrm>
            <a:off x="667512" y="1435608"/>
            <a:ext cx="3328416" cy="292608"/>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A  Follow an existing line</a:t>
            </a:r>
            <a:endParaRPr lang="en-US" sz="1300" dirty="0"/>
          </a:p>
        </p:txBody>
      </p:sp>
      <p:sp>
        <p:nvSpPr>
          <p:cNvPr id="6" name="text-1716"/>
          <p:cNvSpPr txBox="1"/>
          <p:nvPr/>
        </p:nvSpPr>
        <p:spPr>
          <a:xfrm>
            <a:off x="667512" y="1801368"/>
            <a:ext cx="3328416" cy="2770632"/>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RDP, Centre line input = Select existing</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Line, arc, 2D polyline or Civil 3D alignment</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Keep the original line: the road is built on a copy (default on)</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Checks: short segments, sharp bends without a curve, radius under half width, self-intersection (asks before building)</a:t>
            </a:r>
            <a:endParaRPr lang="en-US" sz="1050" dirty="0"/>
          </a:p>
        </p:txBody>
      </p:sp>
      <p:sp>
        <p:nvSpPr>
          <p:cNvPr id="7" name="shape-1717"/>
          <p:cNvSpPr/>
          <p:nvPr/>
        </p:nvSpPr>
        <p:spPr>
          <a:xfrm>
            <a:off x="4270248" y="1298448"/>
            <a:ext cx="3657600" cy="3383280"/>
          </a:xfrm>
          <a:prstGeom prst="roundRect">
            <a:avLst>
              <a:gd name="adj" fmla="val 2162"/>
            </a:avLst>
          </a:prstGeom>
          <a:solidFill>
            <a:srgbClr val="F4F5F7"/>
          </a:solidFill>
          <a:ln w="9525">
            <a:solidFill>
              <a:srgbClr val="E3E5E8"/>
            </a:solidFill>
            <a:prstDash val="solid"/>
          </a:ln>
        </p:spPr>
      </p:sp>
      <p:sp>
        <p:nvSpPr>
          <p:cNvPr id="8" name="text-1718"/>
          <p:cNvSpPr txBox="1"/>
          <p:nvPr/>
        </p:nvSpPr>
        <p:spPr>
          <a:xfrm>
            <a:off x="4434840" y="1435608"/>
            <a:ext cx="3328416" cy="292608"/>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B  Manual alignment</a:t>
            </a:r>
            <a:endParaRPr lang="en-US" sz="1300" dirty="0"/>
          </a:p>
        </p:txBody>
      </p:sp>
      <p:sp>
        <p:nvSpPr>
          <p:cNvPr id="9" name="text-1719"/>
          <p:cNvSpPr txBox="1"/>
          <p:nvPr/>
        </p:nvSpPr>
        <p:spPr>
          <a:xfrm>
            <a:off x="4434840" y="1801368"/>
            <a:ext cx="3328416" cy="2770632"/>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Centre line input = Pick points: PLINE with Arc option</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Manual radius at every bend, at the CL or inner edge</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Change any curve later with RDER, or edit by hand and RDB</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Circular curves; transitions in width with RDW / RDT (no spirals)</a:t>
            </a:r>
            <a:endParaRPr lang="en-US" sz="1050" dirty="0"/>
          </a:p>
        </p:txBody>
      </p:sp>
      <p:sp>
        <p:nvSpPr>
          <p:cNvPr id="10" name="shape-1720"/>
          <p:cNvSpPr/>
          <p:nvPr/>
        </p:nvSpPr>
        <p:spPr>
          <a:xfrm>
            <a:off x="8037576" y="1298448"/>
            <a:ext cx="3621024" cy="3383280"/>
          </a:xfrm>
          <a:prstGeom prst="roundRect">
            <a:avLst>
              <a:gd name="adj" fmla="val 2162"/>
            </a:avLst>
          </a:prstGeom>
          <a:solidFill>
            <a:srgbClr val="F4F5F7"/>
          </a:solidFill>
          <a:ln w="9525">
            <a:solidFill>
              <a:srgbClr val="E3E5E8"/>
            </a:solidFill>
            <a:prstDash val="solid"/>
          </a:ln>
        </p:spPr>
      </p:sp>
      <p:sp>
        <p:nvSpPr>
          <p:cNvPr id="11" name="text-1721"/>
          <p:cNvSpPr txBox="1"/>
          <p:nvPr/>
        </p:nvSpPr>
        <p:spPr>
          <a:xfrm>
            <a:off x="8202168" y="1435608"/>
            <a:ext cx="3291840" cy="292608"/>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Civil 3D and LandXML</a:t>
            </a:r>
            <a:endParaRPr lang="en-US" sz="1300" dirty="0"/>
          </a:p>
        </p:txBody>
      </p:sp>
      <p:sp>
        <p:nvSpPr>
          <p:cNvPr id="12" name="text-1722"/>
          <p:cNvSpPr txBox="1"/>
          <p:nvPr/>
        </p:nvSpPr>
        <p:spPr>
          <a:xfrm>
            <a:off x="8202168" y="1801368"/>
            <a:ext cx="3291840" cy="2770632"/>
          </a:xfrm>
          <a:prstGeom prst="rect">
            <a:avLst/>
          </a:prstGeom>
          <a:noFill/>
          <a:ln/>
        </p:spPr>
        <p:txBody>
          <a:bodyPr wrap="square" lIns="0" tIns="0" rIns="0" bIns="0" rtlCol="0" anchor="t"/>
          <a:lstStyle/>
          <a:p>
            <a:pPr marL="152400" indent="-152400">
              <a:spcAft>
                <a:spcPts val="400"/>
              </a:spcAft>
              <a:buSzPct val="100000"/>
              <a:buChar char="•"/>
            </a:pPr>
            <a:r>
              <a:rPr lang="en-US" sz="1050" b="1" dirty="0">
                <a:solidFill>
                  <a:srgbClr val="3A3F45"/>
                </a:solidFill>
                <a:latin typeface="Calibri" pitchFamily="34" charset="0"/>
                <a:ea typeface="Calibri" pitchFamily="34" charset="-122"/>
                <a:cs typeface="Calibri" pitchFamily="34" charset="-120"/>
              </a:rPr>
              <a:t>RDLX  </a:t>
            </a:r>
            <a:pPr indent="0" marL="0">
              <a:spcAft>
                <a:spcPts val="400"/>
              </a:spcAft>
              <a:buNone/>
            </a:pPr>
            <a:r>
              <a:rPr lang="en-US" sz="1050" dirty="0">
                <a:solidFill>
                  <a:srgbClr val="3A3F45"/>
                </a:solidFill>
                <a:latin typeface="Calibri" pitchFamily="34" charset="0"/>
                <a:ea typeface="Calibri" pitchFamily="34" charset="-122"/>
                <a:cs typeface="Calibri" pitchFamily="34" charset="-120"/>
              </a:rPr>
              <a:t>centre line -&gt; LandXML 1.2 alignment (lines, arcs, start station). Civil 3D: Insert &gt; LandXML.</a:t>
            </a:r>
            <a:endParaRPr lang="en-US" sz="1050" dirty="0"/>
          </a:p>
          <a:p>
            <a:pPr marL="152400" indent="-152400">
              <a:spcAft>
                <a:spcPts val="400"/>
              </a:spcAft>
              <a:buSzPct val="100000"/>
              <a:buChar char="•"/>
            </a:pPr>
            <a:r>
              <a:rPr lang="en-US" sz="1050" b="1" dirty="0">
                <a:solidFill>
                  <a:srgbClr val="3A3F45"/>
                </a:solidFill>
                <a:latin typeface="Calibri" pitchFamily="34" charset="0"/>
                <a:ea typeface="Calibri" pitchFamily="34" charset="-122"/>
                <a:cs typeface="Calibri" pitchFamily="34" charset="-120"/>
              </a:rPr>
              <a:t>RDLXI  </a:t>
            </a:r>
            <a:pPr indent="0" marL="0">
              <a:spcAft>
                <a:spcPts val="400"/>
              </a:spcAft>
              <a:buNone/>
            </a:pPr>
            <a:r>
              <a:rPr lang="en-US" sz="1050" dirty="0">
                <a:solidFill>
                  <a:srgbClr val="3A3F45"/>
                </a:solidFill>
                <a:latin typeface="Calibri" pitchFamily="34" charset="0"/>
                <a:ea typeface="Calibri" pitchFamily="34" charset="-122"/>
                <a:cs typeface="Calibri" pitchFamily="34" charset="-120"/>
              </a:rPr>
              <a:t>LandXML -&gt; polylines (arcs exact, spirals as chords), then RDP.</a:t>
            </a:r>
            <a:endParaRPr lang="en-US" sz="1050" dirty="0"/>
          </a:p>
          <a:p>
            <a:pPr marL="152400" indent="-152400">
              <a:spcAft>
                <a:spcPts val="400"/>
              </a:spcAft>
              <a:buSzPct val="100000"/>
              <a:buChar char="•"/>
            </a:pPr>
            <a:r>
              <a:rPr lang="en-US" sz="1050" b="1" dirty="0">
                <a:solidFill>
                  <a:srgbClr val="3A3F45"/>
                </a:solidFill>
                <a:latin typeface="Calibri" pitchFamily="34" charset="0"/>
                <a:ea typeface="Calibri" pitchFamily="34" charset="-122"/>
                <a:cs typeface="Calibri" pitchFamily="34" charset="-120"/>
              </a:rPr>
              <a:t>Select </a:t>
            </a:r>
            <a:pPr indent="0" marL="0">
              <a:spcAft>
                <a:spcPts val="400"/>
              </a:spcAft>
              <a:buNone/>
            </a:pPr>
            <a:r>
              <a:rPr lang="en-US" sz="1050" dirty="0">
                <a:solidFill>
                  <a:srgbClr val="3A3F45"/>
                </a:solidFill>
                <a:latin typeface="Calibri" pitchFamily="34" charset="0"/>
                <a:ea typeface="Calibri" pitchFamily="34" charset="-122"/>
                <a:cs typeface="Calibri" pitchFamily="34" charset="-120"/>
              </a:rPr>
              <a:t>a Civil 3D alignment directly in RDP (copy exploded and joined; start station read).</a:t>
            </a:r>
            <a:endParaRPr lang="en-US" sz="1050" dirty="0"/>
          </a:p>
        </p:txBody>
      </p:sp>
      <p:sp>
        <p:nvSpPr>
          <p:cNvPr id="13" name="shape-1723"/>
          <p:cNvSpPr/>
          <p:nvPr/>
        </p:nvSpPr>
        <p:spPr>
          <a:xfrm>
            <a:off x="502920" y="4846320"/>
            <a:ext cx="11155680" cy="1325880"/>
          </a:xfrm>
          <a:prstGeom prst="roundRect">
            <a:avLst>
              <a:gd name="adj" fmla="val 5517"/>
            </a:avLst>
          </a:prstGeom>
          <a:solidFill>
            <a:srgbClr val="FFF6D6"/>
          </a:solidFill>
          <a:ln w="9525">
            <a:solidFill>
              <a:srgbClr val="F2D27A"/>
            </a:solidFill>
            <a:prstDash val="solid"/>
          </a:ln>
        </p:spPr>
      </p:sp>
      <p:sp>
        <p:nvSpPr>
          <p:cNvPr id="14" name="text-1724"/>
          <p:cNvSpPr txBox="1"/>
          <p:nvPr/>
        </p:nvSpPr>
        <p:spPr>
          <a:xfrm>
            <a:off x="649224" y="4919472"/>
            <a:ext cx="10863072" cy="1179576"/>
          </a:xfrm>
          <a:prstGeom prst="rect">
            <a:avLst/>
          </a:prstGeom>
          <a:noFill/>
          <a:ln/>
        </p:spPr>
        <p:txBody>
          <a:bodyPr wrap="square" lIns="0" tIns="0" rIns="0" bIns="0" rtlCol="0" anchor="ctr"/>
          <a:lstStyle/>
          <a:p>
            <a:pPr indent="0" marL="0">
              <a:buNone/>
            </a:pPr>
            <a:r>
              <a:rPr lang="en-US" sz="1050" b="1" dirty="0">
                <a:solidFill>
                  <a:srgbClr val="A65F00"/>
                </a:solidFill>
                <a:latin typeface="Calibri" pitchFamily="34" charset="0"/>
                <a:ea typeface="Calibri" pitchFamily="34" charset="-122"/>
                <a:cs typeface="Calibri" pitchFamily="34" charset="-120"/>
              </a:rPr>
              <a:t>Limits  </a:t>
            </a:r>
            <a:pPr indent="0" marL="0">
              <a:buNone/>
            </a:pPr>
            <a:r>
              <a:rPr lang="en-US" sz="1050" dirty="0">
                <a:solidFill>
                  <a:srgbClr val="3A3F45"/>
                </a:solidFill>
                <a:latin typeface="Calibri" pitchFamily="34" charset="0"/>
                <a:ea typeface="Calibri" pitchFamily="34" charset="-122"/>
                <a:cs typeface="Calibri" pitchFamily="34" charset="-120"/>
              </a:rPr>
              <a:t>RoadPro is an AutoLISP plugin, not a Civil 3D corridor. Direct alignment selection depends on Civil 3D exploding a copy of the alignment into lines and arcs - it was not tested in Civil 3D. The LandXML route (RDLX / RDLXI) was tested end to end and is the recommended exchange. Stations, curves and coordinates are kept; profiles and superelevation are not exchanged.</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body" hasCustomPrompt="1"/>
          </p:nvPr>
        </p:nvSpPr>
        <p:spPr>
          <a:xfrm>
            <a:off x="502920" y="237744"/>
            <a:ext cx="9144000" cy="274320"/>
          </a:xfrm>
          <a:prstGeom prst="rect">
            <a:avLst/>
          </a:prstGeom>
          <a:noFill/>
          <a:ln/>
        </p:spPr>
        <p:txBody>
          <a:bodyPr wrap="square" lIns="0" tIns="0" rIns="0" bIns="0" rtlCol="0"/>
          <a:lstStyle/>
          <a:p>
            <a:pPr algn="l" indent="0" marL="0">
              <a:buNone/>
            </a:pPr>
            <a:r>
              <a:rPr lang="en-US" sz="1050" b="1" spc="100" kern="0" dirty="0">
                <a:solidFill>
                  <a:schemeClr val="accent1"/>
                </a:solidFill>
                <a:latin typeface="Calibri" pitchFamily="34" charset="0"/>
                <a:ea typeface="Calibri" pitchFamily="34" charset="-122"/>
                <a:cs typeface="Calibri" pitchFamily="34" charset="-120"/>
              </a:rPr>
              <a:t>PART I  ·  QUALITY</a:t>
            </a:r>
            <a:endParaRPr lang="en-US" sz="1050" dirty="0"/>
          </a:p>
        </p:txBody>
      </p:sp>
      <p:sp>
        <p:nvSpPr>
          <p:cNvPr id="3" name="Text 1"/>
          <p:cNvSpPr/>
          <p:nvPr>
            <p:ph idx="102" type="title" hasCustomPrompt="1"/>
          </p:nvPr>
        </p:nvSpPr>
        <p:spPr>
          <a:xfrm>
            <a:off x="502920" y="512064"/>
            <a:ext cx="11155680" cy="64008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How version 3.4 was tested - and what to check on your PC</a:t>
            </a:r>
            <a:endParaRPr lang="en-US" sz="2600" dirty="0"/>
          </a:p>
        </p:txBody>
      </p:sp>
      <p:sp>
        <p:nvSpPr>
          <p:cNvPr id="4" name="shape-1725"/>
          <p:cNvSpPr/>
          <p:nvPr/>
        </p:nvSpPr>
        <p:spPr>
          <a:xfrm>
            <a:off x="502920" y="1298448"/>
            <a:ext cx="3611880" cy="1600200"/>
          </a:xfrm>
          <a:prstGeom prst="roundRect">
            <a:avLst>
              <a:gd name="adj" fmla="val 4571"/>
            </a:avLst>
          </a:prstGeom>
          <a:solidFill>
            <a:srgbClr val="F4F5F7"/>
          </a:solidFill>
          <a:ln w="9525">
            <a:solidFill>
              <a:srgbClr val="E3E5E8"/>
            </a:solidFill>
            <a:prstDash val="solid"/>
          </a:ln>
        </p:spPr>
      </p:sp>
      <p:sp>
        <p:nvSpPr>
          <p:cNvPr id="5" name="text-1726"/>
          <p:cNvSpPr txBox="1"/>
          <p:nvPr/>
        </p:nvSpPr>
        <p:spPr>
          <a:xfrm>
            <a:off x="685800" y="1389888"/>
            <a:ext cx="146304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a:t>
            </a:r>
            <a:endParaRPr lang="en-US" sz="3600" dirty="0"/>
          </a:p>
        </p:txBody>
      </p:sp>
      <p:sp>
        <p:nvSpPr>
          <p:cNvPr id="6" name="text-1727"/>
          <p:cNvSpPr txBox="1"/>
          <p:nvPr/>
        </p:nvSpPr>
        <p:spPr>
          <a:xfrm>
            <a:off x="2103120" y="1508760"/>
            <a:ext cx="1920240" cy="54864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automated checks passed</a:t>
            </a:r>
            <a:endParaRPr lang="en-US" sz="1200" dirty="0"/>
          </a:p>
        </p:txBody>
      </p:sp>
      <p:sp>
        <p:nvSpPr>
          <p:cNvPr id="7" name="text-1728"/>
          <p:cNvSpPr txBox="1"/>
          <p:nvPr/>
        </p:nvSpPr>
        <p:spPr>
          <a:xfrm>
            <a:off x="685800" y="2194560"/>
            <a:ext cx="3291840" cy="594360"/>
          </a:xfrm>
          <a:prstGeom prst="rect">
            <a:avLst/>
          </a:prstGeom>
          <a:noFill/>
          <a:ln/>
        </p:spPr>
        <p:txBody>
          <a:bodyPr wrap="square" lIns="0" tIns="0" rIns="0" bIns="0" rtlCol="0" anchor="t"/>
          <a:lstStyle/>
          <a:p>
            <a:pPr indent="0" marL="0">
              <a:buNone/>
            </a:pPr>
            <a:r>
              <a:rPr lang="en-US" sz="1000" dirty="0">
                <a:solidFill>
                  <a:srgbClr val="5B6169"/>
                </a:solidFill>
                <a:latin typeface="Calibri" pitchFamily="34" charset="0"/>
                <a:ea typeface="Calibri" pitchFamily="34" charset="-122"/>
                <a:cs typeface="Calibri" pitchFamily="34" charset="-120"/>
              </a:rPr>
              <a:t>Every new feature, integration and end-to-end case</a:t>
            </a:r>
            <a:endParaRPr lang="en-US" sz="1000" dirty="0"/>
          </a:p>
        </p:txBody>
      </p:sp>
      <p:sp>
        <p:nvSpPr>
          <p:cNvPr id="8" name="shape-1729"/>
          <p:cNvSpPr/>
          <p:nvPr/>
        </p:nvSpPr>
        <p:spPr>
          <a:xfrm>
            <a:off x="4251960" y="1298448"/>
            <a:ext cx="3611880" cy="1600200"/>
          </a:xfrm>
          <a:prstGeom prst="roundRect">
            <a:avLst>
              <a:gd name="adj" fmla="val 4571"/>
            </a:avLst>
          </a:prstGeom>
          <a:solidFill>
            <a:srgbClr val="F4F5F7"/>
          </a:solidFill>
          <a:ln w="9525">
            <a:solidFill>
              <a:srgbClr val="E3E5E8"/>
            </a:solidFill>
            <a:prstDash val="solid"/>
          </a:ln>
        </p:spPr>
      </p:sp>
      <p:sp>
        <p:nvSpPr>
          <p:cNvPr id="9" name="text-1730"/>
          <p:cNvSpPr txBox="1"/>
          <p:nvPr/>
        </p:nvSpPr>
        <p:spPr>
          <a:xfrm>
            <a:off x="4434840" y="1389888"/>
            <a:ext cx="146304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0</a:t>
            </a:r>
            <a:endParaRPr lang="en-US" sz="3600" dirty="0"/>
          </a:p>
        </p:txBody>
      </p:sp>
      <p:sp>
        <p:nvSpPr>
          <p:cNvPr id="10" name="text-1731"/>
          <p:cNvSpPr txBox="1"/>
          <p:nvPr/>
        </p:nvSpPr>
        <p:spPr>
          <a:xfrm>
            <a:off x="5852160" y="1508760"/>
            <a:ext cx="1920240" cy="54864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differences to 3.3</a:t>
            </a:r>
            <a:endParaRPr lang="en-US" sz="1200" dirty="0"/>
          </a:p>
        </p:txBody>
      </p:sp>
      <p:sp>
        <p:nvSpPr>
          <p:cNvPr id="11" name="text-1732"/>
          <p:cNvSpPr txBox="1"/>
          <p:nvPr/>
        </p:nvSpPr>
        <p:spPr>
          <a:xfrm>
            <a:off x="4434840" y="2194560"/>
            <a:ext cx="3291840" cy="594360"/>
          </a:xfrm>
          <a:prstGeom prst="rect">
            <a:avLst/>
          </a:prstGeom>
          <a:noFill/>
          <a:ln/>
        </p:spPr>
        <p:txBody>
          <a:bodyPr wrap="square" lIns="0" tIns="0" rIns="0" bIns="0" rtlCol="0" anchor="t"/>
          <a:lstStyle/>
          <a:p>
            <a:pPr indent="0" marL="0">
              <a:buNone/>
            </a:pPr>
            <a:r>
              <a:rPr lang="en-US" sz="1000" dirty="0">
                <a:solidFill>
                  <a:srgbClr val="5B6169"/>
                </a:solidFill>
                <a:latin typeface="Calibri" pitchFamily="34" charset="0"/>
                <a:ea typeface="Calibri" pitchFamily="34" charset="-122"/>
                <a:cs typeface="Calibri" pitchFamily="34" charset="-120"/>
              </a:rPr>
              <a:t>Plain RDP roads identical; only intended fixes elsewhere</a:t>
            </a:r>
            <a:endParaRPr lang="en-US" sz="1000" dirty="0"/>
          </a:p>
        </p:txBody>
      </p:sp>
      <p:sp>
        <p:nvSpPr>
          <p:cNvPr id="12" name="shape-1733"/>
          <p:cNvSpPr/>
          <p:nvPr/>
        </p:nvSpPr>
        <p:spPr>
          <a:xfrm>
            <a:off x="8001000" y="1298448"/>
            <a:ext cx="3611880" cy="1600200"/>
          </a:xfrm>
          <a:prstGeom prst="roundRect">
            <a:avLst>
              <a:gd name="adj" fmla="val 4571"/>
            </a:avLst>
          </a:prstGeom>
          <a:solidFill>
            <a:srgbClr val="F4F5F7"/>
          </a:solidFill>
          <a:ln w="9525">
            <a:solidFill>
              <a:srgbClr val="E3E5E8"/>
            </a:solidFill>
            <a:prstDash val="solid"/>
          </a:ln>
        </p:spPr>
      </p:sp>
      <p:sp>
        <p:nvSpPr>
          <p:cNvPr id="13" name="text-1734"/>
          <p:cNvSpPr txBox="1"/>
          <p:nvPr/>
        </p:nvSpPr>
        <p:spPr>
          <a:xfrm>
            <a:off x="8183880" y="1389888"/>
            <a:ext cx="146304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293</a:t>
            </a:r>
            <a:endParaRPr lang="en-US" sz="3600" dirty="0"/>
          </a:p>
        </p:txBody>
      </p:sp>
      <p:sp>
        <p:nvSpPr>
          <p:cNvPr id="14" name="text-1735"/>
          <p:cNvSpPr txBox="1"/>
          <p:nvPr/>
        </p:nvSpPr>
        <p:spPr>
          <a:xfrm>
            <a:off x="9601200" y="1508760"/>
            <a:ext cx="1920240" cy="54864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functions statically checked</a:t>
            </a:r>
            <a:endParaRPr lang="en-US" sz="1200" dirty="0"/>
          </a:p>
        </p:txBody>
      </p:sp>
      <p:sp>
        <p:nvSpPr>
          <p:cNvPr id="15" name="text-1736"/>
          <p:cNvSpPr txBox="1"/>
          <p:nvPr/>
        </p:nvSpPr>
        <p:spPr>
          <a:xfrm>
            <a:off x="8183880" y="2194560"/>
            <a:ext cx="3291840" cy="594360"/>
          </a:xfrm>
          <a:prstGeom prst="rect">
            <a:avLst/>
          </a:prstGeom>
          <a:noFill/>
          <a:ln/>
        </p:spPr>
        <p:txBody>
          <a:bodyPr wrap="square" lIns="0" tIns="0" rIns="0" bIns="0" rtlCol="0" anchor="t"/>
          <a:lstStyle/>
          <a:p>
            <a:pPr indent="0" marL="0">
              <a:buNone/>
            </a:pPr>
            <a:r>
              <a:rPr lang="en-US" sz="1000" dirty="0">
                <a:solidFill>
                  <a:srgbClr val="5B6169"/>
                </a:solidFill>
                <a:latin typeface="Calibri" pitchFamily="34" charset="0"/>
                <a:ea typeface="Calibri" pitchFamily="34" charset="-122"/>
                <a:cs typeface="Calibri" pitchFamily="34" charset="-120"/>
              </a:rPr>
              <a:t>No undefined calls, no argument-count errors</a:t>
            </a:r>
            <a:endParaRPr lang="en-US" sz="1000" dirty="0"/>
          </a:p>
        </p:txBody>
      </p:sp>
      <p:sp>
        <p:nvSpPr>
          <p:cNvPr id="16" name="shape-1737"/>
          <p:cNvSpPr/>
          <p:nvPr/>
        </p:nvSpPr>
        <p:spPr>
          <a:xfrm>
            <a:off x="502920" y="3063240"/>
            <a:ext cx="5486400" cy="3108960"/>
          </a:xfrm>
          <a:prstGeom prst="roundRect">
            <a:avLst>
              <a:gd name="adj" fmla="val 2353"/>
            </a:avLst>
          </a:prstGeom>
          <a:solidFill>
            <a:srgbClr val="F4F5F7"/>
          </a:solidFill>
          <a:ln w="9525">
            <a:solidFill>
              <a:srgbClr val="E3E5E8"/>
            </a:solidFill>
            <a:prstDash val="solid"/>
          </a:ln>
        </p:spPr>
      </p:sp>
      <p:sp>
        <p:nvSpPr>
          <p:cNvPr id="17" name="text-1738"/>
          <p:cNvSpPr txBox="1"/>
          <p:nvPr/>
        </p:nvSpPr>
        <p:spPr>
          <a:xfrm>
            <a:off x="667512" y="3200400"/>
            <a:ext cx="5157216" cy="292608"/>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How</a:t>
            </a:r>
            <a:endParaRPr lang="en-US" sz="1300" dirty="0"/>
          </a:p>
        </p:txBody>
      </p:sp>
      <p:sp>
        <p:nvSpPr>
          <p:cNvPr id="18" name="text-1739"/>
          <p:cNvSpPr txBox="1"/>
          <p:nvPr/>
        </p:nvSpPr>
        <p:spPr>
          <a:xfrm>
            <a:off x="667512" y="3566160"/>
            <a:ext cx="5157216" cy="2496312"/>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The real RoadPro.lsp was run in an AutoLISP interpreter with an emulated AutoCAD drawing (geometry, offsets, hatches, xdata, dialogs).</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Results were measured (offsets, radii, tangency, areas, counts) and rendered to images.</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Not AutoCAD itself: display, plotting and Civil 3D behaviour still need a check on your PC.</a:t>
            </a:r>
            <a:endParaRPr lang="en-US" sz="1050" dirty="0"/>
          </a:p>
        </p:txBody>
      </p:sp>
      <p:sp>
        <p:nvSpPr>
          <p:cNvPr id="19" name="shape-1740"/>
          <p:cNvSpPr/>
          <p:nvPr/>
        </p:nvSpPr>
        <p:spPr>
          <a:xfrm>
            <a:off x="6172200" y="3063240"/>
            <a:ext cx="5486400" cy="3108960"/>
          </a:xfrm>
          <a:prstGeom prst="roundRect">
            <a:avLst>
              <a:gd name="adj" fmla="val 2353"/>
            </a:avLst>
          </a:prstGeom>
          <a:solidFill>
            <a:srgbClr val="F4F5F7"/>
          </a:solidFill>
          <a:ln w="9525">
            <a:solidFill>
              <a:srgbClr val="E3E5E8"/>
            </a:solidFill>
            <a:prstDash val="solid"/>
          </a:ln>
        </p:spPr>
      </p:sp>
      <p:sp>
        <p:nvSpPr>
          <p:cNvPr id="20" name="text-1741"/>
          <p:cNvSpPr txBox="1"/>
          <p:nvPr/>
        </p:nvSpPr>
        <p:spPr>
          <a:xfrm>
            <a:off x="6336792" y="3200400"/>
            <a:ext cx="5157216" cy="292608"/>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Please check in AutoCAD / review</a:t>
            </a:r>
            <a:endParaRPr lang="en-US" sz="1300" dirty="0"/>
          </a:p>
        </p:txBody>
      </p:sp>
      <p:sp>
        <p:nvSpPr>
          <p:cNvPr id="21" name="text-1742"/>
          <p:cNvSpPr txBox="1"/>
          <p:nvPr/>
        </p:nvSpPr>
        <p:spPr>
          <a:xfrm>
            <a:off x="6336792" y="3566160"/>
            <a:ext cx="5157216" cy="2496312"/>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Load, RDP with the Lanes... dialog, RDER, RDLX import in Civil 3D</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RP_PAVER hatch display and plotting</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Direct Civil 3D alignment selection</a:t>
            </a:r>
            <a:endParaRPr lang="en-US" sz="1050" dirty="0"/>
          </a:p>
          <a:p>
            <a:pPr marL="152400" indent="-152400">
              <a:spcAft>
                <a:spcPts val="400"/>
              </a:spcAft>
              <a:buSzPct val="100000"/>
              <a:buChar char="•"/>
            </a:pPr>
            <a:r>
              <a:rPr lang="en-US" sz="1050" dirty="0">
                <a:solidFill>
                  <a:srgbClr val="3A3F45"/>
                </a:solidFill>
                <a:latin typeface="Calibri" pitchFamily="34" charset="0"/>
                <a:ea typeface="Calibri" pitchFamily="34" charset="-122"/>
                <a:cs typeface="Calibri" pitchFamily="34" charset="-120"/>
              </a:rPr>
              <a:t>Engineering review: lane widths and counts, median and sidewalk widths, drainage and utility sizes (provisions only) against QTCM / QHDM and the project specification</a:t>
            </a:r>
            <a:endParaRPr lang="en-US" sz="1050" dirty="0"/>
          </a:p>
        </p:txBody>
      </p:sp>
      <p:sp>
        <p:nvSpPr>
          <p:cNvPr id="25" name="Slide Number Placeholder 0"/>
          <p:cNvSpPr>
            <a:spLocks noGrp="1"/>
          </p:cNvSpPr>
          <p:nvPr>
            <p:ph type="sldNum" sz="quarter" idx="4294967295"/>
          </p:nvPr>
        </p:nvSpPr>
        <p:spPr>
          <a:xfrm>
            <a:off x="11201400" y="6437376"/>
            <a:ext cx="548640" cy="256032"/>
          </a:xfrm>
          <a:prstGeom prst="rect">
            <a:avLst/>
          </a:prstGeom>
          <a:extLst>
            <a:ext uri="{C572A759-6A51-4108-AA02-DFA0A04FC94B}">
              <ma14:wrappingTextBoxFlag xmlns:ma14="http://schemas.microsoft.com/office/mac/drawingml/2011/main" val="0"/>
            </a:ext>
          </a:extLst>
        </p:spPr>
        <p:txBody>
          <a:bodyPr/>
          <a:lstStyle>
            <a:lvl1pPr>
              <a:defRPr sz="800">
                <a:solidFill>
                  <a:srgbClr val="8A9099"/>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972800" cy="822960"/>
          </a:xfrm>
          <a:prstGeom prst="rect">
            <a:avLst/>
          </a:prstGeom>
          <a:noFill/>
          <a:ln/>
        </p:spPr>
        <p:txBody>
          <a:bodyPr wrap="square" lIns="0" tIns="0" rIns="0" bIns="0" rtlCol="0" anchor="t"/>
          <a:lstStyle/>
          <a:p>
            <a:pPr algn="l" indent="0" marL="0">
              <a:buNone/>
            </a:pPr>
            <a:r>
              <a:rPr lang="en-US" sz="4000" b="1" dirty="0">
                <a:solidFill>
                  <a:schemeClr val="bg1"/>
                </a:solidFill>
                <a:latin typeface="Arial" pitchFamily="34" charset="0"/>
                <a:ea typeface="Arial" pitchFamily="34" charset="-122"/>
                <a:cs typeface="Arial" pitchFamily="34" charset="-120"/>
              </a:rPr>
              <a:t>Build your next road with RoadPro</a:t>
            </a:r>
            <a:endParaRPr lang="en-US" sz="4000" dirty="0"/>
          </a:p>
        </p:txBody>
      </p:sp>
      <p:sp>
        <p:nvSpPr>
          <p:cNvPr id="3" name="Text 0"/>
          <p:cNvSpPr/>
          <p:nvPr>
            <p:ph idx="101" type="body" hasCustomPrompt="1"/>
          </p:nvPr>
        </p:nvSpPr>
        <p:spPr>
          <a:xfrm>
            <a:off x="548640" y="1965960"/>
            <a:ext cx="10972800" cy="548640"/>
          </a:xfrm>
          <a:prstGeom prst="rect">
            <a:avLst/>
          </a:prstGeom>
          <a:noFill/>
          <a:ln/>
        </p:spPr>
        <p:txBody>
          <a:bodyPr wrap="square" lIns="0" tIns="0" rIns="0" bIns="0" rtlCol="0" anchor="t"/>
          <a:lstStyle/>
          <a:p>
            <a:pPr algn="l" indent="0" marL="0">
              <a:buNone/>
            </a:pPr>
            <a:r>
              <a:rPr lang="en-US" sz="1800" dirty="0">
                <a:solidFill>
                  <a:srgbClr val="C9CDD2"/>
                </a:solidFill>
                <a:latin typeface="Calibri" pitchFamily="34" charset="0"/>
                <a:ea typeface="Calibri" pitchFamily="34" charset="-122"/>
                <a:cs typeface="Calibri" pitchFamily="34" charset="-120"/>
              </a:rPr>
              <a:t>Version 3.4  ·  23 October 2026  ·  RoadPro.lsp for AutoCAD</a:t>
            </a:r>
            <a:endParaRPr lang="en-US" sz="1800" dirty="0"/>
          </a:p>
        </p:txBody>
      </p:sp>
      <p:sp>
        <p:nvSpPr>
          <p:cNvPr id="4" name="shape-1743"/>
          <p:cNvSpPr/>
          <p:nvPr/>
        </p:nvSpPr>
        <p:spPr>
          <a:xfrm>
            <a:off x="548640" y="3017520"/>
            <a:ext cx="1078992" cy="502920"/>
          </a:xfrm>
          <a:prstGeom prst="roundRect">
            <a:avLst>
              <a:gd name="adj" fmla="val 10909"/>
            </a:avLst>
          </a:prstGeom>
          <a:solidFill>
            <a:schemeClr val="accent1"/>
          </a:solidFill>
          <a:ln/>
        </p:spPr>
      </p:sp>
      <p:sp>
        <p:nvSpPr>
          <p:cNvPr id="5" name="text-1744"/>
          <p:cNvSpPr txBox="1"/>
          <p:nvPr/>
        </p:nvSpPr>
        <p:spPr>
          <a:xfrm>
            <a:off x="548640" y="3017520"/>
            <a:ext cx="1078992"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RDP</a:t>
            </a:r>
            <a:endParaRPr lang="en-US" sz="1500" dirty="0"/>
          </a:p>
        </p:txBody>
      </p:sp>
      <p:sp>
        <p:nvSpPr>
          <p:cNvPr id="6" name="shape-1745"/>
          <p:cNvSpPr/>
          <p:nvPr/>
        </p:nvSpPr>
        <p:spPr>
          <a:xfrm>
            <a:off x="1764792" y="3017520"/>
            <a:ext cx="1078992" cy="502920"/>
          </a:xfrm>
          <a:prstGeom prst="roundRect">
            <a:avLst>
              <a:gd name="adj" fmla="val 10909"/>
            </a:avLst>
          </a:prstGeom>
          <a:solidFill>
            <a:schemeClr val="accent2"/>
          </a:solidFill>
          <a:ln/>
        </p:spPr>
      </p:sp>
      <p:sp>
        <p:nvSpPr>
          <p:cNvPr id="7" name="text-1746"/>
          <p:cNvSpPr txBox="1"/>
          <p:nvPr/>
        </p:nvSpPr>
        <p:spPr>
          <a:xfrm>
            <a:off x="1764792" y="3017520"/>
            <a:ext cx="1078992"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RDC</a:t>
            </a:r>
            <a:endParaRPr lang="en-US" sz="1500" dirty="0"/>
          </a:p>
        </p:txBody>
      </p:sp>
      <p:sp>
        <p:nvSpPr>
          <p:cNvPr id="8" name="shape-1747"/>
          <p:cNvSpPr/>
          <p:nvPr/>
        </p:nvSpPr>
        <p:spPr>
          <a:xfrm>
            <a:off x="2980944" y="3017520"/>
            <a:ext cx="1078992" cy="502920"/>
          </a:xfrm>
          <a:prstGeom prst="roundRect">
            <a:avLst>
              <a:gd name="adj" fmla="val 10909"/>
            </a:avLst>
          </a:prstGeom>
          <a:solidFill>
            <a:schemeClr val="accent1"/>
          </a:solidFill>
          <a:ln/>
        </p:spPr>
      </p:sp>
      <p:sp>
        <p:nvSpPr>
          <p:cNvPr id="9" name="text-1748"/>
          <p:cNvSpPr txBox="1"/>
          <p:nvPr/>
        </p:nvSpPr>
        <p:spPr>
          <a:xfrm>
            <a:off x="2980944" y="3017520"/>
            <a:ext cx="1078992"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RDW</a:t>
            </a:r>
            <a:endParaRPr lang="en-US" sz="1500" dirty="0"/>
          </a:p>
        </p:txBody>
      </p:sp>
      <p:sp>
        <p:nvSpPr>
          <p:cNvPr id="10" name="shape-1749"/>
          <p:cNvSpPr/>
          <p:nvPr/>
        </p:nvSpPr>
        <p:spPr>
          <a:xfrm>
            <a:off x="4197096" y="3017520"/>
            <a:ext cx="1078992" cy="502920"/>
          </a:xfrm>
          <a:prstGeom prst="roundRect">
            <a:avLst>
              <a:gd name="adj" fmla="val 10909"/>
            </a:avLst>
          </a:prstGeom>
          <a:solidFill>
            <a:schemeClr val="accent1"/>
          </a:solidFill>
          <a:ln/>
        </p:spPr>
      </p:sp>
      <p:sp>
        <p:nvSpPr>
          <p:cNvPr id="11" name="text-1750"/>
          <p:cNvSpPr txBox="1"/>
          <p:nvPr/>
        </p:nvSpPr>
        <p:spPr>
          <a:xfrm>
            <a:off x="4197096" y="3017520"/>
            <a:ext cx="1078992"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RDT</a:t>
            </a:r>
            <a:endParaRPr lang="en-US" sz="1500" dirty="0"/>
          </a:p>
        </p:txBody>
      </p:sp>
      <p:sp>
        <p:nvSpPr>
          <p:cNvPr id="12" name="shape-1751"/>
          <p:cNvSpPr/>
          <p:nvPr/>
        </p:nvSpPr>
        <p:spPr>
          <a:xfrm>
            <a:off x="5413248" y="3017520"/>
            <a:ext cx="1078992" cy="502920"/>
          </a:xfrm>
          <a:prstGeom prst="roundRect">
            <a:avLst>
              <a:gd name="adj" fmla="val 10909"/>
            </a:avLst>
          </a:prstGeom>
          <a:solidFill>
            <a:schemeClr val="accent1"/>
          </a:solidFill>
          <a:ln/>
        </p:spPr>
      </p:sp>
      <p:sp>
        <p:nvSpPr>
          <p:cNvPr id="13" name="text-1752"/>
          <p:cNvSpPr txBox="1"/>
          <p:nvPr/>
        </p:nvSpPr>
        <p:spPr>
          <a:xfrm>
            <a:off x="5413248" y="3017520"/>
            <a:ext cx="1078992"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RDJ</a:t>
            </a:r>
            <a:endParaRPr lang="en-US" sz="1500" dirty="0"/>
          </a:p>
        </p:txBody>
      </p:sp>
      <p:sp>
        <p:nvSpPr>
          <p:cNvPr id="14" name="shape-1753"/>
          <p:cNvSpPr/>
          <p:nvPr/>
        </p:nvSpPr>
        <p:spPr>
          <a:xfrm>
            <a:off x="6629400" y="3017520"/>
            <a:ext cx="1078992" cy="502920"/>
          </a:xfrm>
          <a:prstGeom prst="roundRect">
            <a:avLst>
              <a:gd name="adj" fmla="val 10909"/>
            </a:avLst>
          </a:prstGeom>
          <a:solidFill>
            <a:schemeClr val="accent1"/>
          </a:solidFill>
          <a:ln/>
        </p:spPr>
      </p:sp>
      <p:sp>
        <p:nvSpPr>
          <p:cNvPr id="15" name="text-1754"/>
          <p:cNvSpPr txBox="1"/>
          <p:nvPr/>
        </p:nvSpPr>
        <p:spPr>
          <a:xfrm>
            <a:off x="6629400" y="3017520"/>
            <a:ext cx="1078992"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RDL</a:t>
            </a:r>
            <a:endParaRPr lang="en-US" sz="1500" dirty="0"/>
          </a:p>
        </p:txBody>
      </p:sp>
      <p:sp>
        <p:nvSpPr>
          <p:cNvPr id="16" name="shape-1755"/>
          <p:cNvSpPr/>
          <p:nvPr/>
        </p:nvSpPr>
        <p:spPr>
          <a:xfrm>
            <a:off x="7845552" y="3017520"/>
            <a:ext cx="1078992" cy="502920"/>
          </a:xfrm>
          <a:prstGeom prst="roundRect">
            <a:avLst>
              <a:gd name="adj" fmla="val 10909"/>
            </a:avLst>
          </a:prstGeom>
          <a:solidFill>
            <a:schemeClr val="accent2"/>
          </a:solidFill>
          <a:ln/>
        </p:spPr>
      </p:sp>
      <p:sp>
        <p:nvSpPr>
          <p:cNvPr id="17" name="text-1756"/>
          <p:cNvSpPr txBox="1"/>
          <p:nvPr/>
        </p:nvSpPr>
        <p:spPr>
          <a:xfrm>
            <a:off x="7845552" y="3017520"/>
            <a:ext cx="1078992"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RDER</a:t>
            </a:r>
            <a:endParaRPr lang="en-US" sz="1500" dirty="0"/>
          </a:p>
        </p:txBody>
      </p:sp>
      <p:sp>
        <p:nvSpPr>
          <p:cNvPr id="18" name="shape-1757"/>
          <p:cNvSpPr/>
          <p:nvPr/>
        </p:nvSpPr>
        <p:spPr>
          <a:xfrm>
            <a:off x="9061704" y="3017520"/>
            <a:ext cx="1078992" cy="502920"/>
          </a:xfrm>
          <a:prstGeom prst="roundRect">
            <a:avLst>
              <a:gd name="adj" fmla="val 10909"/>
            </a:avLst>
          </a:prstGeom>
          <a:solidFill>
            <a:schemeClr val="accent1"/>
          </a:solidFill>
          <a:ln/>
        </p:spPr>
      </p:sp>
      <p:sp>
        <p:nvSpPr>
          <p:cNvPr id="19" name="text-1758"/>
          <p:cNvSpPr txBox="1"/>
          <p:nvPr/>
        </p:nvSpPr>
        <p:spPr>
          <a:xfrm>
            <a:off x="9061704" y="3017520"/>
            <a:ext cx="1078992"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RDX</a:t>
            </a:r>
            <a:endParaRPr lang="en-US" sz="1500" dirty="0"/>
          </a:p>
        </p:txBody>
      </p:sp>
      <p:sp>
        <p:nvSpPr>
          <p:cNvPr id="20" name="shape-1759"/>
          <p:cNvSpPr/>
          <p:nvPr/>
        </p:nvSpPr>
        <p:spPr>
          <a:xfrm>
            <a:off x="10277856" y="3017520"/>
            <a:ext cx="1078992" cy="502920"/>
          </a:xfrm>
          <a:prstGeom prst="roundRect">
            <a:avLst>
              <a:gd name="adj" fmla="val 10909"/>
            </a:avLst>
          </a:prstGeom>
          <a:solidFill>
            <a:schemeClr val="accent1"/>
          </a:solidFill>
          <a:ln/>
        </p:spPr>
      </p:sp>
      <p:sp>
        <p:nvSpPr>
          <p:cNvPr id="21" name="text-1760"/>
          <p:cNvSpPr txBox="1"/>
          <p:nvPr/>
        </p:nvSpPr>
        <p:spPr>
          <a:xfrm>
            <a:off x="10277856" y="3017520"/>
            <a:ext cx="1078992"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RDR</a:t>
            </a:r>
            <a:endParaRPr lang="en-US" sz="1500" dirty="0"/>
          </a:p>
        </p:txBody>
      </p:sp>
      <p:sp>
        <p:nvSpPr>
          <p:cNvPr id="22" name="shape-1761"/>
          <p:cNvSpPr/>
          <p:nvPr/>
        </p:nvSpPr>
        <p:spPr>
          <a:xfrm>
            <a:off x="548640" y="4023360"/>
            <a:ext cx="359664" cy="182880"/>
          </a:xfrm>
          <a:prstGeom prst="rect">
            <a:avLst/>
          </a:prstGeom>
          <a:solidFill>
            <a:schemeClr val="accent1"/>
          </a:solidFill>
          <a:ln w="7620">
            <a:solidFill>
              <a:srgbClr val="1F2326"/>
            </a:solidFill>
            <a:prstDash val="solid"/>
          </a:ln>
        </p:spPr>
      </p:sp>
      <p:sp>
        <p:nvSpPr>
          <p:cNvPr id="23" name="shape-1762"/>
          <p:cNvSpPr/>
          <p:nvPr/>
        </p:nvSpPr>
        <p:spPr>
          <a:xfrm>
            <a:off x="908304" y="4023360"/>
            <a:ext cx="359664" cy="182880"/>
          </a:xfrm>
          <a:prstGeom prst="rect">
            <a:avLst/>
          </a:prstGeom>
          <a:solidFill>
            <a:srgbClr val="FFFFFF"/>
          </a:solidFill>
          <a:ln w="7620">
            <a:solidFill>
              <a:srgbClr val="1F2326"/>
            </a:solidFill>
            <a:prstDash val="solid"/>
          </a:ln>
        </p:spPr>
      </p:sp>
      <p:sp>
        <p:nvSpPr>
          <p:cNvPr id="24" name="shape-1763"/>
          <p:cNvSpPr/>
          <p:nvPr/>
        </p:nvSpPr>
        <p:spPr>
          <a:xfrm>
            <a:off x="1267968" y="4023360"/>
            <a:ext cx="359664" cy="182880"/>
          </a:xfrm>
          <a:prstGeom prst="rect">
            <a:avLst/>
          </a:prstGeom>
          <a:solidFill>
            <a:schemeClr val="accent1"/>
          </a:solidFill>
          <a:ln w="7620">
            <a:solidFill>
              <a:srgbClr val="1F2326"/>
            </a:solidFill>
            <a:prstDash val="solid"/>
          </a:ln>
        </p:spPr>
      </p:sp>
      <p:sp>
        <p:nvSpPr>
          <p:cNvPr id="25" name="shape-1764"/>
          <p:cNvSpPr/>
          <p:nvPr/>
        </p:nvSpPr>
        <p:spPr>
          <a:xfrm>
            <a:off x="1627632" y="4023360"/>
            <a:ext cx="359664" cy="182880"/>
          </a:xfrm>
          <a:prstGeom prst="rect">
            <a:avLst/>
          </a:prstGeom>
          <a:solidFill>
            <a:srgbClr val="FFFFFF"/>
          </a:solidFill>
          <a:ln w="7620">
            <a:solidFill>
              <a:srgbClr val="1F2326"/>
            </a:solidFill>
            <a:prstDash val="solid"/>
          </a:ln>
        </p:spPr>
      </p:sp>
      <p:sp>
        <p:nvSpPr>
          <p:cNvPr id="26" name="shape-1765"/>
          <p:cNvSpPr/>
          <p:nvPr/>
        </p:nvSpPr>
        <p:spPr>
          <a:xfrm>
            <a:off x="1987296" y="4023360"/>
            <a:ext cx="359664" cy="182880"/>
          </a:xfrm>
          <a:prstGeom prst="rect">
            <a:avLst/>
          </a:prstGeom>
          <a:solidFill>
            <a:schemeClr val="accent1"/>
          </a:solidFill>
          <a:ln w="7620">
            <a:solidFill>
              <a:srgbClr val="1F2326"/>
            </a:solidFill>
            <a:prstDash val="solid"/>
          </a:ln>
        </p:spPr>
      </p:sp>
      <p:sp>
        <p:nvSpPr>
          <p:cNvPr id="27" name="shape-1766"/>
          <p:cNvSpPr/>
          <p:nvPr/>
        </p:nvSpPr>
        <p:spPr>
          <a:xfrm>
            <a:off x="2346960" y="4023360"/>
            <a:ext cx="359664" cy="182880"/>
          </a:xfrm>
          <a:prstGeom prst="rect">
            <a:avLst/>
          </a:prstGeom>
          <a:solidFill>
            <a:srgbClr val="FFFFFF"/>
          </a:solidFill>
          <a:ln w="7620">
            <a:solidFill>
              <a:srgbClr val="1F2326"/>
            </a:solidFill>
            <a:prstDash val="solid"/>
          </a:ln>
        </p:spPr>
      </p:sp>
      <p:sp>
        <p:nvSpPr>
          <p:cNvPr id="28" name="shape-1767"/>
          <p:cNvSpPr/>
          <p:nvPr/>
        </p:nvSpPr>
        <p:spPr>
          <a:xfrm>
            <a:off x="2706624" y="4023360"/>
            <a:ext cx="359664" cy="182880"/>
          </a:xfrm>
          <a:prstGeom prst="rect">
            <a:avLst/>
          </a:prstGeom>
          <a:solidFill>
            <a:schemeClr val="accent1"/>
          </a:solidFill>
          <a:ln w="7620">
            <a:solidFill>
              <a:srgbClr val="1F2326"/>
            </a:solidFill>
            <a:prstDash val="solid"/>
          </a:ln>
        </p:spPr>
      </p:sp>
      <p:sp>
        <p:nvSpPr>
          <p:cNvPr id="29" name="shape-1768"/>
          <p:cNvSpPr/>
          <p:nvPr/>
        </p:nvSpPr>
        <p:spPr>
          <a:xfrm>
            <a:off x="3066288" y="4023360"/>
            <a:ext cx="359664" cy="182880"/>
          </a:xfrm>
          <a:prstGeom prst="rect">
            <a:avLst/>
          </a:prstGeom>
          <a:solidFill>
            <a:srgbClr val="FFFFFF"/>
          </a:solidFill>
          <a:ln w="7620">
            <a:solidFill>
              <a:srgbClr val="1F2326"/>
            </a:solidFill>
            <a:prstDash val="solid"/>
          </a:ln>
        </p:spPr>
      </p:sp>
      <p:sp>
        <p:nvSpPr>
          <p:cNvPr id="30" name="shape-1769"/>
          <p:cNvSpPr/>
          <p:nvPr/>
        </p:nvSpPr>
        <p:spPr>
          <a:xfrm>
            <a:off x="3425952" y="4023360"/>
            <a:ext cx="359664" cy="182880"/>
          </a:xfrm>
          <a:prstGeom prst="rect">
            <a:avLst/>
          </a:prstGeom>
          <a:solidFill>
            <a:schemeClr val="accent1"/>
          </a:solidFill>
          <a:ln w="7620">
            <a:solidFill>
              <a:srgbClr val="1F2326"/>
            </a:solidFill>
            <a:prstDash val="solid"/>
          </a:ln>
        </p:spPr>
      </p:sp>
      <p:sp>
        <p:nvSpPr>
          <p:cNvPr id="31" name="shape-1770"/>
          <p:cNvSpPr/>
          <p:nvPr/>
        </p:nvSpPr>
        <p:spPr>
          <a:xfrm>
            <a:off x="3785616" y="4023360"/>
            <a:ext cx="359664" cy="182880"/>
          </a:xfrm>
          <a:prstGeom prst="rect">
            <a:avLst/>
          </a:prstGeom>
          <a:solidFill>
            <a:srgbClr val="FFFFFF"/>
          </a:solidFill>
          <a:ln w="7620">
            <a:solidFill>
              <a:srgbClr val="1F2326"/>
            </a:solidFill>
            <a:prstDash val="solid"/>
          </a:ln>
        </p:spPr>
      </p:sp>
      <p:sp>
        <p:nvSpPr>
          <p:cNvPr id="32" name="shape-1771"/>
          <p:cNvSpPr/>
          <p:nvPr/>
        </p:nvSpPr>
        <p:spPr>
          <a:xfrm>
            <a:off x="4145280" y="4023360"/>
            <a:ext cx="359664" cy="182880"/>
          </a:xfrm>
          <a:prstGeom prst="rect">
            <a:avLst/>
          </a:prstGeom>
          <a:solidFill>
            <a:schemeClr val="accent1"/>
          </a:solidFill>
          <a:ln w="7620">
            <a:solidFill>
              <a:srgbClr val="1F2326"/>
            </a:solidFill>
            <a:prstDash val="solid"/>
          </a:ln>
        </p:spPr>
      </p:sp>
      <p:sp>
        <p:nvSpPr>
          <p:cNvPr id="33" name="shape-1772"/>
          <p:cNvSpPr/>
          <p:nvPr/>
        </p:nvSpPr>
        <p:spPr>
          <a:xfrm>
            <a:off x="4504944" y="4023360"/>
            <a:ext cx="359664" cy="182880"/>
          </a:xfrm>
          <a:prstGeom prst="rect">
            <a:avLst/>
          </a:prstGeom>
          <a:solidFill>
            <a:srgbClr val="FFFFFF"/>
          </a:solidFill>
          <a:ln w="7620">
            <a:solidFill>
              <a:srgbClr val="1F2326"/>
            </a:solidFill>
            <a:prstDash val="solid"/>
          </a:ln>
        </p:spPr>
      </p:sp>
      <p:sp>
        <p:nvSpPr>
          <p:cNvPr id="34" name="shape-1773"/>
          <p:cNvSpPr/>
          <p:nvPr/>
        </p:nvSpPr>
        <p:spPr>
          <a:xfrm>
            <a:off x="4864608" y="4023360"/>
            <a:ext cx="359664" cy="182880"/>
          </a:xfrm>
          <a:prstGeom prst="rect">
            <a:avLst/>
          </a:prstGeom>
          <a:solidFill>
            <a:schemeClr val="accent1"/>
          </a:solidFill>
          <a:ln w="7620">
            <a:solidFill>
              <a:srgbClr val="1F2326"/>
            </a:solidFill>
            <a:prstDash val="solid"/>
          </a:ln>
        </p:spPr>
      </p:sp>
      <p:sp>
        <p:nvSpPr>
          <p:cNvPr id="35" name="shape-1774"/>
          <p:cNvSpPr/>
          <p:nvPr/>
        </p:nvSpPr>
        <p:spPr>
          <a:xfrm>
            <a:off x="5224272" y="4023360"/>
            <a:ext cx="359664" cy="182880"/>
          </a:xfrm>
          <a:prstGeom prst="rect">
            <a:avLst/>
          </a:prstGeom>
          <a:solidFill>
            <a:srgbClr val="FFFFFF"/>
          </a:solidFill>
          <a:ln w="7620">
            <a:solidFill>
              <a:srgbClr val="1F2326"/>
            </a:solidFill>
            <a:prstDash val="solid"/>
          </a:ln>
        </p:spPr>
      </p:sp>
      <p:sp>
        <p:nvSpPr>
          <p:cNvPr id="36" name="shape-1775"/>
          <p:cNvSpPr/>
          <p:nvPr/>
        </p:nvSpPr>
        <p:spPr>
          <a:xfrm>
            <a:off x="5583936" y="4023360"/>
            <a:ext cx="359664" cy="182880"/>
          </a:xfrm>
          <a:prstGeom prst="rect">
            <a:avLst/>
          </a:prstGeom>
          <a:solidFill>
            <a:schemeClr val="accent1"/>
          </a:solidFill>
          <a:ln w="7620">
            <a:solidFill>
              <a:srgbClr val="1F2326"/>
            </a:solidFill>
            <a:prstDash val="solid"/>
          </a:ln>
        </p:spPr>
      </p:sp>
      <p:sp>
        <p:nvSpPr>
          <p:cNvPr id="37" name="shape-1776"/>
          <p:cNvSpPr/>
          <p:nvPr/>
        </p:nvSpPr>
        <p:spPr>
          <a:xfrm>
            <a:off x="5943600" y="4023360"/>
            <a:ext cx="359664" cy="182880"/>
          </a:xfrm>
          <a:prstGeom prst="rect">
            <a:avLst/>
          </a:prstGeom>
          <a:solidFill>
            <a:srgbClr val="FFFFFF"/>
          </a:solidFill>
          <a:ln w="7620">
            <a:solidFill>
              <a:srgbClr val="1F2326"/>
            </a:solidFill>
            <a:prstDash val="solid"/>
          </a:ln>
        </p:spPr>
      </p:sp>
      <p:sp>
        <p:nvSpPr>
          <p:cNvPr id="38" name="shape-1777"/>
          <p:cNvSpPr/>
          <p:nvPr/>
        </p:nvSpPr>
        <p:spPr>
          <a:xfrm>
            <a:off x="6303264" y="4023360"/>
            <a:ext cx="359664" cy="182880"/>
          </a:xfrm>
          <a:prstGeom prst="rect">
            <a:avLst/>
          </a:prstGeom>
          <a:solidFill>
            <a:schemeClr val="accent1"/>
          </a:solidFill>
          <a:ln w="7620">
            <a:solidFill>
              <a:srgbClr val="1F2326"/>
            </a:solidFill>
            <a:prstDash val="solid"/>
          </a:ln>
        </p:spPr>
      </p:sp>
      <p:sp>
        <p:nvSpPr>
          <p:cNvPr id="39" name="shape-1778"/>
          <p:cNvSpPr/>
          <p:nvPr/>
        </p:nvSpPr>
        <p:spPr>
          <a:xfrm>
            <a:off x="6662928" y="4023360"/>
            <a:ext cx="359664" cy="182880"/>
          </a:xfrm>
          <a:prstGeom prst="rect">
            <a:avLst/>
          </a:prstGeom>
          <a:solidFill>
            <a:srgbClr val="FFFFFF"/>
          </a:solidFill>
          <a:ln w="7620">
            <a:solidFill>
              <a:srgbClr val="1F2326"/>
            </a:solidFill>
            <a:prstDash val="solid"/>
          </a:ln>
        </p:spPr>
      </p:sp>
      <p:sp>
        <p:nvSpPr>
          <p:cNvPr id="40" name="shape-1779"/>
          <p:cNvSpPr/>
          <p:nvPr/>
        </p:nvSpPr>
        <p:spPr>
          <a:xfrm>
            <a:off x="7022592" y="4023360"/>
            <a:ext cx="359664" cy="182880"/>
          </a:xfrm>
          <a:prstGeom prst="rect">
            <a:avLst/>
          </a:prstGeom>
          <a:solidFill>
            <a:schemeClr val="accent1"/>
          </a:solidFill>
          <a:ln w="7620">
            <a:solidFill>
              <a:srgbClr val="1F2326"/>
            </a:solidFill>
            <a:prstDash val="solid"/>
          </a:ln>
        </p:spPr>
      </p:sp>
      <p:sp>
        <p:nvSpPr>
          <p:cNvPr id="41" name="shape-1780"/>
          <p:cNvSpPr/>
          <p:nvPr/>
        </p:nvSpPr>
        <p:spPr>
          <a:xfrm>
            <a:off x="7382256" y="4023360"/>
            <a:ext cx="359664" cy="182880"/>
          </a:xfrm>
          <a:prstGeom prst="rect">
            <a:avLst/>
          </a:prstGeom>
          <a:solidFill>
            <a:srgbClr val="FFFFFF"/>
          </a:solidFill>
          <a:ln w="7620">
            <a:solidFill>
              <a:srgbClr val="1F2326"/>
            </a:solidFill>
            <a:prstDash val="solid"/>
          </a:ln>
        </p:spPr>
      </p:sp>
      <p:sp>
        <p:nvSpPr>
          <p:cNvPr id="42" name="shape-1781"/>
          <p:cNvSpPr/>
          <p:nvPr/>
        </p:nvSpPr>
        <p:spPr>
          <a:xfrm>
            <a:off x="7741920" y="4023360"/>
            <a:ext cx="359664" cy="182880"/>
          </a:xfrm>
          <a:prstGeom prst="rect">
            <a:avLst/>
          </a:prstGeom>
          <a:solidFill>
            <a:schemeClr val="accent1"/>
          </a:solidFill>
          <a:ln w="7620">
            <a:solidFill>
              <a:srgbClr val="1F2326"/>
            </a:solidFill>
            <a:prstDash val="solid"/>
          </a:ln>
        </p:spPr>
      </p:sp>
      <p:sp>
        <p:nvSpPr>
          <p:cNvPr id="43" name="shape-1782"/>
          <p:cNvSpPr/>
          <p:nvPr/>
        </p:nvSpPr>
        <p:spPr>
          <a:xfrm>
            <a:off x="8101584" y="4023360"/>
            <a:ext cx="359664" cy="182880"/>
          </a:xfrm>
          <a:prstGeom prst="rect">
            <a:avLst/>
          </a:prstGeom>
          <a:solidFill>
            <a:srgbClr val="FFFFFF"/>
          </a:solidFill>
          <a:ln w="7620">
            <a:solidFill>
              <a:srgbClr val="1F2326"/>
            </a:solidFill>
            <a:prstDash val="solid"/>
          </a:ln>
        </p:spPr>
      </p:sp>
      <p:sp>
        <p:nvSpPr>
          <p:cNvPr id="44" name="shape-1783"/>
          <p:cNvSpPr/>
          <p:nvPr/>
        </p:nvSpPr>
        <p:spPr>
          <a:xfrm>
            <a:off x="8461248" y="4023360"/>
            <a:ext cx="359664" cy="182880"/>
          </a:xfrm>
          <a:prstGeom prst="rect">
            <a:avLst/>
          </a:prstGeom>
          <a:solidFill>
            <a:schemeClr val="accent1"/>
          </a:solidFill>
          <a:ln w="7620">
            <a:solidFill>
              <a:srgbClr val="1F2326"/>
            </a:solidFill>
            <a:prstDash val="solid"/>
          </a:ln>
        </p:spPr>
      </p:sp>
      <p:sp>
        <p:nvSpPr>
          <p:cNvPr id="45" name="shape-1784"/>
          <p:cNvSpPr/>
          <p:nvPr/>
        </p:nvSpPr>
        <p:spPr>
          <a:xfrm>
            <a:off x="8820912" y="4023360"/>
            <a:ext cx="359664" cy="182880"/>
          </a:xfrm>
          <a:prstGeom prst="rect">
            <a:avLst/>
          </a:prstGeom>
          <a:solidFill>
            <a:srgbClr val="FFFFFF"/>
          </a:solidFill>
          <a:ln w="7620">
            <a:solidFill>
              <a:srgbClr val="1F2326"/>
            </a:solidFill>
            <a:prstDash val="solid"/>
          </a:ln>
        </p:spPr>
      </p:sp>
      <p:sp>
        <p:nvSpPr>
          <p:cNvPr id="46" name="shape-1785"/>
          <p:cNvSpPr/>
          <p:nvPr/>
        </p:nvSpPr>
        <p:spPr>
          <a:xfrm>
            <a:off x="9180576" y="4023360"/>
            <a:ext cx="359664" cy="182880"/>
          </a:xfrm>
          <a:prstGeom prst="rect">
            <a:avLst/>
          </a:prstGeom>
          <a:solidFill>
            <a:schemeClr val="accent1"/>
          </a:solidFill>
          <a:ln w="7620">
            <a:solidFill>
              <a:srgbClr val="1F2326"/>
            </a:solidFill>
            <a:prstDash val="solid"/>
          </a:ln>
        </p:spPr>
      </p:sp>
      <p:sp>
        <p:nvSpPr>
          <p:cNvPr id="47" name="shape-1786"/>
          <p:cNvSpPr/>
          <p:nvPr/>
        </p:nvSpPr>
        <p:spPr>
          <a:xfrm>
            <a:off x="9540240" y="4023360"/>
            <a:ext cx="359664" cy="182880"/>
          </a:xfrm>
          <a:prstGeom prst="rect">
            <a:avLst/>
          </a:prstGeom>
          <a:solidFill>
            <a:srgbClr val="FFFFFF"/>
          </a:solidFill>
          <a:ln w="7620">
            <a:solidFill>
              <a:srgbClr val="1F2326"/>
            </a:solidFill>
            <a:prstDash val="solid"/>
          </a:ln>
        </p:spPr>
      </p:sp>
      <p:sp>
        <p:nvSpPr>
          <p:cNvPr id="48" name="shape-1787"/>
          <p:cNvSpPr/>
          <p:nvPr/>
        </p:nvSpPr>
        <p:spPr>
          <a:xfrm>
            <a:off x="9899904" y="4023360"/>
            <a:ext cx="359664" cy="182880"/>
          </a:xfrm>
          <a:prstGeom prst="rect">
            <a:avLst/>
          </a:prstGeom>
          <a:solidFill>
            <a:schemeClr val="accent1"/>
          </a:solidFill>
          <a:ln w="7620">
            <a:solidFill>
              <a:srgbClr val="1F2326"/>
            </a:solidFill>
            <a:prstDash val="solid"/>
          </a:ln>
        </p:spPr>
      </p:sp>
      <p:sp>
        <p:nvSpPr>
          <p:cNvPr id="49" name="shape-1788"/>
          <p:cNvSpPr/>
          <p:nvPr/>
        </p:nvSpPr>
        <p:spPr>
          <a:xfrm>
            <a:off x="10259568" y="4023360"/>
            <a:ext cx="359664" cy="182880"/>
          </a:xfrm>
          <a:prstGeom prst="rect">
            <a:avLst/>
          </a:prstGeom>
          <a:solidFill>
            <a:srgbClr val="FFFFFF"/>
          </a:solidFill>
          <a:ln w="7620">
            <a:solidFill>
              <a:srgbClr val="1F2326"/>
            </a:solidFill>
            <a:prstDash val="solid"/>
          </a:ln>
        </p:spPr>
      </p:sp>
      <p:sp>
        <p:nvSpPr>
          <p:cNvPr id="50" name="shape-1789"/>
          <p:cNvSpPr/>
          <p:nvPr/>
        </p:nvSpPr>
        <p:spPr>
          <a:xfrm>
            <a:off x="10619232" y="4023360"/>
            <a:ext cx="359664" cy="182880"/>
          </a:xfrm>
          <a:prstGeom prst="rect">
            <a:avLst/>
          </a:prstGeom>
          <a:solidFill>
            <a:schemeClr val="accent1"/>
          </a:solidFill>
          <a:ln w="7620">
            <a:solidFill>
              <a:srgbClr val="1F2326"/>
            </a:solidFill>
            <a:prstDash val="solid"/>
          </a:ln>
        </p:spPr>
      </p:sp>
      <p:sp>
        <p:nvSpPr>
          <p:cNvPr id="51" name="shape-1790"/>
          <p:cNvSpPr/>
          <p:nvPr/>
        </p:nvSpPr>
        <p:spPr>
          <a:xfrm>
            <a:off x="10978896" y="4023360"/>
            <a:ext cx="359664" cy="182880"/>
          </a:xfrm>
          <a:prstGeom prst="rect">
            <a:avLst/>
          </a:prstGeom>
          <a:solidFill>
            <a:srgbClr val="FFFFFF"/>
          </a:solidFill>
          <a:ln w="7620">
            <a:solidFill>
              <a:srgbClr val="1F2326"/>
            </a:solidFill>
            <a:prstDash val="solid"/>
          </a:ln>
        </p:spPr>
      </p:sp>
      <p:sp>
        <p:nvSpPr>
          <p:cNvPr id="52" name="text-1791">
            <a:hlinkClick r:id="rId1" tooltip=""/>
          </p:cNvPr>
          <p:cNvSpPr txBox="1"/>
          <p:nvPr/>
        </p:nvSpPr>
        <p:spPr>
          <a:xfrm>
            <a:off x="548640" y="4663440"/>
            <a:ext cx="10972800" cy="411480"/>
          </a:xfrm>
          <a:prstGeom prst="rect">
            <a:avLst/>
          </a:prstGeom>
          <a:noFill/>
          <a:ln/>
        </p:spPr>
        <p:txBody>
          <a:bodyPr wrap="square" lIns="0" tIns="0" rIns="0" bIns="0" rtlCol="0" anchor="t"/>
          <a:lstStyle/>
          <a:p>
            <a:pPr indent="0" marL="0">
              <a:buNone/>
            </a:pPr>
            <a:r>
              <a:rPr lang="en-US" sz="1800" b="1" u="sng" dirty="0">
                <a:solidFill>
                  <a:schemeClr val="bg1"/>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Developed by https://www.exceltokml.com/</a:t>
            </a:r>
            <a:endParaRPr lang="en-US" sz="1800" dirty="0"/>
          </a:p>
        </p:txBody>
      </p:sp>
      <p:sp>
        <p:nvSpPr>
          <p:cNvPr id="53" name="text-1792"/>
          <p:cNvSpPr txBox="1"/>
          <p:nvPr/>
        </p:nvSpPr>
        <p:spPr>
          <a:xfrm>
            <a:off x="548640" y="5212080"/>
            <a:ext cx="10972800" cy="320040"/>
          </a:xfrm>
          <a:prstGeom prst="rect">
            <a:avLst/>
          </a:prstGeom>
          <a:noFill/>
          <a:ln/>
        </p:spPr>
        <p:txBody>
          <a:bodyPr wrap="square" lIns="0" tIns="0" rIns="0" bIns="0" rtlCol="0" anchor="t"/>
          <a:lstStyle/>
          <a:p>
            <a:pPr indent="0" marL="0">
              <a:buNone/>
            </a:pPr>
            <a:r>
              <a:rPr lang="en-US" sz="1200" dirty="0">
                <a:solidFill>
                  <a:srgbClr val="C9CDD2"/>
                </a:solidFill>
                <a:latin typeface="Calibri" pitchFamily="34" charset="0"/>
                <a:ea typeface="Calibri" pitchFamily="34" charset="-122"/>
                <a:cs typeface="Calibri" pitchFamily="34" charset="-120"/>
              </a:rPr>
              <a:t>Standards reference: Oman HDS 2017 Section 19. Check QTCM / QHDM and your project specification for Qatar.</a:t>
            </a:r>
            <a:endParaRPr lang="en-US" sz="1200" dirty="0"/>
          </a:p>
        </p:txBody>
      </p:sp>
    </p:spTree>
  </p:cSld>
  <p:clrMapOvr>
    <a:masterClrMapping/>
  </p:clrMapOvr>
</p:sld>
</file>

<file path=ppt/theme/theme1.xml><?xml version="1.0" encoding="utf-8"?>
<a:theme xmlns:a="http://schemas.openxmlformats.org/drawingml/2006/main" name="RoadPro">
  <a:themeElements>
    <a:clrScheme name="RoadPro">
      <a:dk1>
        <a:srgbClr val="1F2326"/>
      </a:dk1>
      <a:lt1>
        <a:srgbClr val="FFFFFF"/>
      </a:lt1>
      <a:dk2>
        <a:srgbClr val="3A3F45"/>
      </a:dk2>
      <a:lt2>
        <a:srgbClr val="F1F2F4"/>
      </a:lt2>
      <a:accent1>
        <a:srgbClr val="D7262E"/>
      </a:accent1>
      <a:accent2>
        <a:srgbClr val="F2B705"/>
      </a:accent2>
      <a:accent3>
        <a:srgbClr val="0052A4"/>
      </a:accent3>
      <a:accent4>
        <a:srgbClr val="1E8C5A"/>
      </a:accent4>
      <a:accent5>
        <a:srgbClr val="5F646B"/>
      </a:accent5>
      <a:accent6>
        <a:srgbClr val="0E9AA7"/>
      </a:accent6>
      <a:hlink>
        <a:srgbClr val="0052A4"/>
      </a:hlink>
      <a:folHlink>
        <a:srgbClr val="6B3FA0"/>
      </a:folHlink>
    </a:clrScheme>
    <a:fontScheme name="RoadPr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exceltokml.com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RoadPro v3.4 - Complete User Manual</dc:title>
  <dc:subject>RoadPro road builder plugin for AutoCAD - step by step user manual</dc:subject>
  <dc:creator>Developed by https://www.exceltokml.com/</dc:creator>
  <cp:lastModifiedBy>Developed by https://www.exceltokml.com/</cp:lastModifiedBy>
  <cp:revision>1</cp:revision>
  <dcterms:created xsi:type="dcterms:W3CDTF">2026-10-23T10:07:29Z</dcterms:created>
  <dcterms:modified xsi:type="dcterms:W3CDTF">2026-10-23T10:07:29Z</dcterms:modified>
</cp:coreProperties>
</file>