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3914dd-6bd0-8daa-3470-024d81309759}">
          <p14:sldIdLst>
            <p14:sldId id="256"/>
            <p14:sldId id="257"/>
            <p14:sldId id="258"/>
          </p14:sldIdLst>
        </p14:section>
        <p14:section name="1  Getting started" id="{3371acf1-cefb-f62c-fe84-7369a4edba7f}">
          <p14:sldIdLst>
            <p14:sldId id="259"/>
            <p14:sldId id="260"/>
            <p14:sldId id="261"/>
          </p14:sldIdLst>
        </p14:section>
        <p14:section name="2  Closed traverse" id="{8bb65102-d9f3-866a-7663-6c6190ea027e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3  Open traverse" id="{0f179e83-0228-4c9f-39b3-3398790f2091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  Levelling" id="{41ad5f5d-75da-7027-3c72-c093ff12dc3a}">
          <p14:sldIdLst>
            <p14:sldId id="277"/>
            <p14:sldId id="278"/>
            <p14:sldId id="279"/>
            <p14:sldId id="280"/>
            <p14:sldId id="281"/>
          </p14:sldIdLst>
        </p14:section>
        <p14:section name="5  Simulator, jobs and tips" id="{a5245807-a17d-03fc-d855-869232c8313d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The red numbered squares on every screenshot match the numbered notes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Sections: 1 Getting started, 2 Closed traverse, 3 Open traverse (new), 4 Levelling, 5 Simulator, jobs and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tools and the common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screen. Demo mode: the site is not connected to the account server, so accounts and jobs are stored in this browser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all fields, press Create account. You are logged in straight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bar controls 1 to 5, the account menu and the navigation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Traverse screen has an input column on the left and a result column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details are shared between the Traverse and Levelling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bar controls and the traverse type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the three known points. Coordinates are Easting then Northing in metres.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C only appears for closed traverses and for open traverses with a closing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Misclosure is measured closing coordinates minus known closing coordinates. Corrections have the opposite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Bearings and distances table below the plan lists each leg computed from the output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still shows the corrections so you can see where the error sits, but the job should not be issued until the misclosure is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Warnings also appear when two points are less than 0.5 mm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 closing point there is no adjustment, as in the previous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open traverse now behaves like a closed one for checking and adjustment, but it ends on a different known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Misclosure = measured closing coordinates minus known closing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example data the open traverse with a closing point gives the same numbers as the closed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the closing point hides row C and the adjustment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and 2 of the PDF produced for the open traverse with a closing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bar and report details work exactly as in the Traverse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Marks 1 and 2 are on the Benchmarks card and 3 to 5 on the Method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reading outside -0.5 m to 6 m produces a warning because it looks unusual for a staff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checks also confirm that the Height of Instrument and Rise &amp; Fall methods give the same 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runs have no adjustment.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3 and 4 are Distance accuracy and Angle accuracy as they appear on the screen. Also on the left panel: Average leg (m), Scenario number with a New button, and Show true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simulator is a training tool and does not change your saved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asks for confirmation before removing a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 Share on a job card on the Dashboard to open this dialog.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table for choosing a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&amp; Level Adjustment  |  User manual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82880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 &amp; Level Adjustment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and open traverses, levelling, simulator, saved jobs and PDF reports, explained screen by screen.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with open-traverse closing point  |  October 2026</a:t>
            </a:r>
            <a:endParaRPr lang="en-US" sz="1200" dirty="0"/>
          </a:p>
        </p:txBody>
      </p:sp>
      <p:pic>
        <p:nvPicPr>
          <p:cNvPr id="6" name="Home screenshot" descr="Home screen of the softw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760720" cy="360045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manual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carries red numbered boxes.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number on the picture, then read the note with the same number beside it.</a:t>
            </a:r>
            <a:endParaRPr lang="en-US" sz="1600" dirty="0"/>
          </a:p>
        </p:txBody>
      </p:sp>
      <p:sp>
        <p:nvSpPr>
          <p:cNvPr id="5" name="Card 1"/>
          <p:cNvSpPr/>
          <p:nvPr/>
        </p:nvSpPr>
        <p:spPr>
          <a:xfrm>
            <a:off x="548640" y="214884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Card number"/>
          <p:cNvSpPr/>
          <p:nvPr/>
        </p:nvSpPr>
        <p:spPr>
          <a:xfrm>
            <a:off x="731520" y="2350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21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top bar and navigation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4-6</a:t>
            </a:r>
            <a:endParaRPr lang="en-US" sz="1200" dirty="0"/>
          </a:p>
        </p:txBody>
      </p:sp>
      <p:sp>
        <p:nvSpPr>
          <p:cNvPr id="11" name="Card 2"/>
          <p:cNvSpPr/>
          <p:nvPr/>
        </p:nvSpPr>
        <p:spPr>
          <a:xfrm>
            <a:off x="2798064" y="214884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ard number"/>
          <p:cNvSpPr/>
          <p:nvPr/>
        </p:nvSpPr>
        <p:spPr>
          <a:xfrm>
            <a:off x="2980944" y="2350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80944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traverse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721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points, readings, adjustment, results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80944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7-15</a:t>
            </a:r>
            <a:endParaRPr lang="en-US" sz="1200" dirty="0"/>
          </a:p>
        </p:txBody>
      </p:sp>
      <p:sp>
        <p:nvSpPr>
          <p:cNvPr id="17" name="Card 3"/>
          <p:cNvSpPr/>
          <p:nvPr/>
        </p:nvSpPr>
        <p:spPr>
          <a:xfrm>
            <a:off x="5047488" y="214884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Card number"/>
          <p:cNvSpPr/>
          <p:nvPr/>
        </p:nvSpPr>
        <p:spPr>
          <a:xfrm>
            <a:off x="5230368" y="23500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3036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traverse  (new)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721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closing point for checking and adjusting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16-21</a:t>
            </a:r>
            <a:endParaRPr lang="en-US" sz="1200" dirty="0"/>
          </a:p>
        </p:txBody>
      </p:sp>
      <p:sp>
        <p:nvSpPr>
          <p:cNvPr id="23" name="Card 4"/>
          <p:cNvSpPr/>
          <p:nvPr/>
        </p:nvSpPr>
        <p:spPr>
          <a:xfrm>
            <a:off x="7296912" y="214884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Card number"/>
          <p:cNvSpPr/>
          <p:nvPr/>
        </p:nvSpPr>
        <p:spPr>
          <a:xfrm>
            <a:off x="7479792" y="2350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79792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Levelling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3721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staff readings, reduced levels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22-26</a:t>
            </a:r>
            <a:endParaRPr lang="en-US" sz="1200" dirty="0"/>
          </a:p>
        </p:txBody>
      </p:sp>
      <p:sp>
        <p:nvSpPr>
          <p:cNvPr id="29" name="Card 5"/>
          <p:cNvSpPr/>
          <p:nvPr/>
        </p:nvSpPr>
        <p:spPr>
          <a:xfrm>
            <a:off x="9546336" y="2148840"/>
            <a:ext cx="2103120" cy="28346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Card number"/>
          <p:cNvSpPr/>
          <p:nvPr/>
        </p:nvSpPr>
        <p:spPr>
          <a:xfrm>
            <a:off x="9729216" y="2350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29216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Simulator, jobs and tips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37216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tool, dashboard, sharing, quick reference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729216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27-32</a:t>
            </a:r>
            <a:endParaRPr lang="en-US" sz="1200" dirty="0"/>
          </a:p>
        </p:txBody>
      </p:sp>
      <p:sp>
        <p:nvSpPr>
          <p:cNvPr id="35" name="Callout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 as you type, so there is no Calculate button. Fix anything shown in red and the answer appears by itself.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software does</a:t>
            </a:r>
            <a:endParaRPr lang="en-US" sz="3200" dirty="0"/>
          </a:p>
        </p:txBody>
      </p:sp>
      <p:sp>
        <p:nvSpPr>
          <p:cNvPr id="4" name="Feature card"/>
          <p:cNvSpPr/>
          <p:nvPr/>
        </p:nvSpPr>
        <p:spPr>
          <a:xfrm>
            <a:off x="548640" y="1417320"/>
            <a:ext cx="35661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Icon disc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 adjustment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known and measured coordinates. The app finds the misclosure, checks the precision you require, and adjusts the points by Bowditch, Transit or Equal distribution.</a:t>
            </a:r>
            <a:endParaRPr lang="en-US" sz="1400" dirty="0"/>
          </a:p>
        </p:txBody>
      </p:sp>
      <p:sp>
        <p:nvSpPr>
          <p:cNvPr id="9" name="Feature card"/>
          <p:cNvSpPr/>
          <p:nvPr/>
        </p:nvSpPr>
        <p:spPr>
          <a:xfrm>
            <a:off x="4297680" y="1417320"/>
            <a:ext cx="35661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Icon disc"/>
          <p:cNvSpPr/>
          <p:nvPr/>
        </p:nvSpPr>
        <p:spPr>
          <a:xfrm>
            <a:off x="452628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105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Levelling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staff readings by Rise &amp; Fall or Height of Instrument. It checks the arithmetic, compares the misclosure with the allowable value and adjusts the levels.</a:t>
            </a:r>
            <a:endParaRPr lang="en-US" sz="1400" dirty="0"/>
          </a:p>
        </p:txBody>
      </p:sp>
      <p:sp>
        <p:nvSpPr>
          <p:cNvPr id="14" name="Feature card"/>
          <p:cNvSpPr/>
          <p:nvPr/>
        </p:nvSpPr>
        <p:spPr>
          <a:xfrm>
            <a:off x="8046720" y="1417320"/>
            <a:ext cx="35661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Icon disc"/>
          <p:cNvSpPr/>
          <p:nvPr/>
        </p:nvSpPr>
        <p:spPr>
          <a:xfrm>
            <a:off x="827532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8105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 simulator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total station observe a traverse with realistic random errors, then send the result to the Traverse tool to practise adjusting it.</a:t>
            </a:r>
            <a:endParaRPr lang="en-US" sz="1400" dirty="0"/>
          </a:p>
        </p:txBody>
      </p:sp>
      <p:sp>
        <p:nvSpPr>
          <p:cNvPr id="19" name="Icon disc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0932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 and CSV</a:t>
            </a:r>
            <a:endParaRPr lang="en-US" sz="1400" dirty="0"/>
          </a:p>
        </p:txBody>
      </p:sp>
      <p:sp>
        <p:nvSpPr>
          <p:cNvPr id="22" name="Icon disc"/>
          <p:cNvSpPr/>
          <p:nvPr/>
        </p:nvSpPr>
        <p:spPr>
          <a:xfrm>
            <a:off x="3364992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509320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31920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jobs and offline use</a:t>
            </a:r>
            <a:endParaRPr lang="en-US" sz="1400" dirty="0"/>
          </a:p>
        </p:txBody>
      </p:sp>
      <p:sp>
        <p:nvSpPr>
          <p:cNvPr id="25" name="Icon disc"/>
          <p:cNvSpPr/>
          <p:nvPr/>
        </p:nvSpPr>
        <p:spPr>
          <a:xfrm>
            <a:off x="6181344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509320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48272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jobs with colleagues</a:t>
            </a:r>
            <a:endParaRPr lang="en-US" sz="1400" dirty="0"/>
          </a:p>
        </p:txBody>
      </p:sp>
      <p:sp>
        <p:nvSpPr>
          <p:cNvPr id="28" name="Icon disc"/>
          <p:cNvSpPr/>
          <p:nvPr/>
        </p:nvSpPr>
        <p:spPr>
          <a:xfrm>
            <a:off x="8997696" y="4983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4" y="509320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564624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themes</a:t>
            </a:r>
            <a:endParaRPr lang="en-US" sz="1400" dirty="0"/>
          </a:p>
        </p:txBody>
      </p:sp>
      <p:sp>
        <p:nvSpPr>
          <p:cNvPr id="31" name="Callout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85800" y="55778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traverses can now be checked on a closing point (section 3). Without one they are shown as measured, exactly as before.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GETTING STARTED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screen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Home screen with Log in and Register butt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72668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138160" y="1371600"/>
            <a:ext cx="350489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returning users. Enter your e-mail and password. After the first login the app also works offline.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726680" y="244043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440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138160" y="2422144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account form on the next slide. Registration is free.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726680" y="327406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3274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138160" y="3255772"/>
            <a:ext cx="350489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 Register, as the large button in the banner. Scroll down for a tour of every tool.</a:t>
            </a:r>
            <a:endParaRPr lang="en-US" sz="1500" dirty="0"/>
          </a:p>
        </p:txBody>
      </p:sp>
      <p:sp>
        <p:nvSpPr>
          <p:cNvPr id="15" name="Callout"/>
          <p:cNvSpPr/>
          <p:nvPr/>
        </p:nvSpPr>
        <p:spPr>
          <a:xfrm>
            <a:off x="7726680" y="5257800"/>
            <a:ext cx="39163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5257800"/>
            <a:ext cx="3642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"Demo mode" bar means the account server is not connected. Accounts and jobs are then kept only on this computer.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GETTING STARTED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account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473952" cy="40736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Create your account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0" cy="400050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45236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5236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863840" y="1371600"/>
            <a:ext cx="377921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the dashboard greeting and used as the Surveyor on reports.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45236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863840" y="2205228"/>
            <a:ext cx="377921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(optional)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for your organisation.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452360" y="284022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2360" y="2840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863840" y="2821940"/>
            <a:ext cx="377921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login name. Colleagues also use it to share jobs with you.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452360" y="367385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360" y="367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7863840" y="3655568"/>
            <a:ext cx="377921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and confirm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8 characters. Both boxes must match or an error appears.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7452360" y="450748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52360" y="45074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7863840" y="4489196"/>
            <a:ext cx="377921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 to your dashboard with a welcome message.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GETTING STARTED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bar and navigation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11137392" cy="58026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Top bar with five numbered contr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507111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548640" y="225856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960120" y="2240280"/>
            <a:ext cx="5897880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return to the home page.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548640" y="287528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75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960120" y="2856992"/>
            <a:ext cx="5897880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date and time. Click it to open a calendar.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548640" y="349199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9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960120" y="3473704"/>
            <a:ext cx="5897880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colour theme. Your choice is remembered.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548640" y="410870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108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960120" y="4090416"/>
            <a:ext cx="5897880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saved jobs and summary. Visible after login.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548640" y="47254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72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960120" y="4707128"/>
            <a:ext cx="5897880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button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your name and e-mail, links to every tool, and Log out.</a:t>
            </a:r>
            <a:endParaRPr lang="en-US" sz="1500" dirty="0"/>
          </a:p>
        </p:txBody>
      </p:sp>
      <p:sp>
        <p:nvSpPr>
          <p:cNvPr id="21" name="Screenshot frame"/>
          <p:cNvSpPr/>
          <p:nvPr/>
        </p:nvSpPr>
        <p:spPr>
          <a:xfrm>
            <a:off x="7232904" y="2295144"/>
            <a:ext cx="2816352" cy="18003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Screenshot" descr="Account men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31720"/>
            <a:ext cx="2743200" cy="1727200"/>
          </a:xfrm>
          <a:prstGeom prst="rect">
            <a:avLst/>
          </a:prstGeom>
        </p:spPr>
      </p:pic>
      <p:sp>
        <p:nvSpPr>
          <p:cNvPr id="23" name="Screenshot frame"/>
          <p:cNvSpPr/>
          <p:nvPr/>
        </p:nvSpPr>
        <p:spPr>
          <a:xfrm>
            <a:off x="10113264" y="2295144"/>
            <a:ext cx="1719072" cy="180756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4" name="Screenshot" descr="Calendar pop-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331720"/>
            <a:ext cx="1645920" cy="173441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69480" y="4132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menu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0149840" y="413928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27" name="Screenshot frame"/>
          <p:cNvSpPr/>
          <p:nvPr/>
        </p:nvSpPr>
        <p:spPr>
          <a:xfrm>
            <a:off x="512064" y="5312664"/>
            <a:ext cx="6382512" cy="57125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Screenshot" descr="Navigation tab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49240"/>
            <a:ext cx="6309360" cy="49810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48640" y="5957075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tabs, numbered left to right: Dashboard, Traverse, Levelling, Simulator. The tab you are on is dark.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Traverse screen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839712" cy="43022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Traverse screen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22910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8181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229600" y="1371600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bar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save, example and new.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818120" y="200660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2006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229600" y="1988312"/>
            <a:ext cx="34134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type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checks on a known point. Open is in section 3.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818120" y="284022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2840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229600" y="2821940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Known points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backsight and closing point.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818120" y="345694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3456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8229600" y="3438652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Site coordinates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as measured, in order observed.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7818120" y="407365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18120" y="40736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8229600" y="4055364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panel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live as you type.</a:t>
            </a:r>
            <a:endParaRPr lang="en-US" sz="1500" dirty="0"/>
          </a:p>
        </p:txBody>
      </p:sp>
      <p:sp>
        <p:nvSpPr>
          <p:cNvPr id="21" name="Callout"/>
          <p:cNvSpPr/>
          <p:nvPr/>
        </p:nvSpPr>
        <p:spPr>
          <a:xfrm>
            <a:off x="7818120" y="5257800"/>
            <a:ext cx="38249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280" y="5257800"/>
            <a:ext cx="3550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entries are saved on this device as you type, so closing the app does not lose work.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details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839712" cy="10204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Report details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947318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8181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229600" y="1371600"/>
            <a:ext cx="34134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at the top of every PDF report.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81812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229600" y="2205228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or corridor name.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818120" y="284022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2840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229600" y="2821940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Surveyor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name. Edit it if needed.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818120" y="345694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3456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8229600" y="3438652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or QA/QC engineer.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7818120" y="407365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18120" y="40736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8229600" y="4055364"/>
            <a:ext cx="34134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station or GPS model.</a:t>
            </a:r>
            <a:endParaRPr lang="en-US" sz="1500" dirty="0"/>
          </a:p>
        </p:txBody>
      </p:sp>
      <p:sp>
        <p:nvSpPr>
          <p:cNvPr id="21" name="Marker 6"/>
          <p:cNvSpPr/>
          <p:nvPr/>
        </p:nvSpPr>
        <p:spPr>
          <a:xfrm>
            <a:off x="7818120" y="469036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46903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tep 6"/>
          <p:cNvSpPr txBox="1"/>
          <p:nvPr/>
        </p:nvSpPr>
        <p:spPr>
          <a:xfrm>
            <a:off x="8229600" y="4672076"/>
            <a:ext cx="34134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by default. Change with the calendar button.</a:t>
            </a:r>
            <a:endParaRPr lang="en-US" sz="1500" dirty="0"/>
          </a:p>
        </p:txBody>
      </p:sp>
      <p:sp>
        <p:nvSpPr>
          <p:cNvPr id="24" name="Callout"/>
          <p:cNvSpPr/>
          <p:nvPr/>
        </p:nvSpPr>
        <p:spPr>
          <a:xfrm>
            <a:off x="7818120" y="5551424"/>
            <a:ext cx="3824935" cy="757936"/>
          </a:xfrm>
          <a:prstGeom prst="roundRect">
            <a:avLst>
              <a:gd name="adj" fmla="val 965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5551424"/>
            <a:ext cx="3550615" cy="757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"Report details" bar to open or close it. The same details are used on traverse and levelling reports.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bar: name, save, example, new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11137392" cy="5789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Job bar with five numbered contr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505794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48640" y="2286000"/>
            <a:ext cx="2103120" cy="23317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Marker 1"/>
          <p:cNvSpPr/>
          <p:nvPr/>
        </p:nvSpPr>
        <p:spPr>
          <a:xfrm>
            <a:off x="685800" y="242316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name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07792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name such as "Al Khor TP loop 1". If you leave it empty, one is made from the project and date.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2788920" y="2286000"/>
            <a:ext cx="2103120" cy="23317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Marker 2"/>
          <p:cNvSpPr/>
          <p:nvPr/>
        </p:nvSpPr>
        <p:spPr>
          <a:xfrm>
            <a:off x="2926080" y="242316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60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2907792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job under My jobs on the Dashboard. The text beside it shows Not saved yet, Unsaved changes or Saved.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029200" y="2286000"/>
            <a:ext cx="2103120" cy="23317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Marker 3"/>
          <p:cNvSpPr/>
          <p:nvPr/>
        </p:nvSpPr>
        <p:spPr>
          <a:xfrm>
            <a:off x="5166360" y="242316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new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2907792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separate copy with "(copy)" added, so you can try a variation.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7269480" y="2286000"/>
            <a:ext cx="2103120" cy="23317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Marker 4"/>
          <p:cNvSpPr/>
          <p:nvPr/>
        </p:nvSpPr>
        <p:spPr>
          <a:xfrm>
            <a:off x="7406640" y="242316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0664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81812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2907792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sample data for the traverse type you have selected, closed or open.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9509760" y="2286000"/>
            <a:ext cx="2103120" cy="23317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Marker 5"/>
          <p:cNvSpPr/>
          <p:nvPr/>
        </p:nvSpPr>
        <p:spPr>
          <a:xfrm>
            <a:off x="9646920" y="242316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4692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646920" y="2907792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screen after you confirm with Start new. Unsaved changes are lost.</a:t>
            </a:r>
            <a:endParaRPr lang="en-US" sz="1400" dirty="0"/>
          </a:p>
        </p:txBody>
      </p:sp>
      <p:sp>
        <p:nvSpPr>
          <p:cNvPr id="31" name="Screenshot frame"/>
          <p:cNvSpPr/>
          <p:nvPr/>
        </p:nvSpPr>
        <p:spPr>
          <a:xfrm>
            <a:off x="512064" y="4992624"/>
            <a:ext cx="5010912" cy="46271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Screenshot" descr="Closed and open traverse swi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0"/>
            <a:ext cx="4937760" cy="389567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943600" y="49834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type switch.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Closed traverse or Open traverse. Your known points and readings stay when you switch.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Known points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108192" cy="2495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Known points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2422348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08660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866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498080" y="1371600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name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 point where the traverse starts, for example CP-01.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08660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660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498080" y="2205228"/>
            <a:ext cx="414497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Easting and Northing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coordinates in metres. Commas and spaces are accepted. A box turns red if it is not a number.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086600" y="327406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86600" y="3274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498080" y="3255772"/>
            <a:ext cx="414497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Backsight name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known point that gives the starting direction. It must not have the same coordinates as the station.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086600" y="432460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86600" y="43246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7498080" y="4306316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name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 point where the traverse ends. It is used for the closure check.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7086600" y="515823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5158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7498080" y="5139944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point = station (loop)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copies the station into the closing point for a loop that returns to the start.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Site coordinates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108192" cy="41798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Site coordinates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4106684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08660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866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498080" y="1371600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S: station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station coordinates from step 1. Not editable here.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08660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660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498080" y="2205228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rows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point, in order. The x deletes a row.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086600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86600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498080" y="3038856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C: closing point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as measured on site, not the known values.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086600" y="389077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86600" y="3890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7498080" y="3872484"/>
            <a:ext cx="414497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point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empty row at the bottom.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7086600" y="450748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45074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7498080" y="4489196"/>
            <a:ext cx="414497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Point, Easting, Northing, Remark.</a:t>
            </a:r>
            <a:endParaRPr lang="en-US" sz="1500" dirty="0"/>
          </a:p>
        </p:txBody>
      </p:sp>
      <p:sp>
        <p:nvSpPr>
          <p:cNvPr id="21" name="Callout"/>
          <p:cNvSpPr/>
          <p:nvPr/>
        </p:nvSpPr>
        <p:spPr>
          <a:xfrm>
            <a:off x="7086600" y="5257800"/>
            <a:ext cx="455645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23760" y="5257800"/>
            <a:ext cx="4282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rows in Excel (Point, Easting, Northing, Remark) and paste into any cell. The rows fill automatically.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Adjustment method and precision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108192" cy="205507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Adjustment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1981921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08660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866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498080" y="1371600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Bowditch (compass rule)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choice. Each correction is in proportion to the distance travelled.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08660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660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498080" y="2205228"/>
            <a:ext cx="414497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Easting and Northing are corrected in proportion to their own changes. It needs some change in both directions.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086600" y="327406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86600" y="3274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498080" y="3255772"/>
            <a:ext cx="414497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receives the same share of the error.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086600" y="41076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86600" y="4107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7498080" y="4089400"/>
            <a:ext cx="414497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precision 1 : 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 only, for example 10000 for 1:10,000. The result is accepted when the achieved precision is equal or better.</a:t>
            </a:r>
            <a:endParaRPr lang="en-US" sz="1500" dirty="0"/>
          </a:p>
        </p:txBody>
      </p:sp>
      <p:sp>
        <p:nvSpPr>
          <p:cNvPr id="18" name="Callout"/>
          <p:cNvSpPr/>
          <p:nvPr/>
        </p:nvSpPr>
        <p:spPr>
          <a:xfrm>
            <a:off x="7086600" y="5257800"/>
            <a:ext cx="455645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23760" y="5257800"/>
            <a:ext cx="4282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method your specification asks for. The default is Bowditch.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2815207" cy="5010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Result column with status, stats, coordinates and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742055" cy="493776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3839335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39335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4250815" y="1371600"/>
            <a:ext cx="739224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Accepted when the achieved precision is equal to or better than required, for example 1 : 62,105 against 1 : 10,000.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3839335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39335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4250815" y="2205228"/>
            <a:ext cx="739224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 E and N and the linear misclosure in millimetres, the precision achieved, and the total traverse length.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3839335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9335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4250815" y="3038856"/>
            <a:ext cx="739224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table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 and N, the corrections in millimetres, and the Output E and N. Use the Output (adjusted) columns.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3839335" y="389077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39335" y="3890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4250815" y="3872484"/>
            <a:ext cx="739224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sketch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line is adjusted, dashed line is as measured, red triangles are known points, dotted line goes to the backsight.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3839335" y="472440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39335" y="472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4250815" y="4706112"/>
            <a:ext cx="739224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signed-off report for the job.</a:t>
            </a:r>
            <a:endParaRPr lang="en-US" sz="1500" dirty="0"/>
          </a:p>
        </p:txBody>
      </p:sp>
      <p:sp>
        <p:nvSpPr>
          <p:cNvPr id="21" name="Marker 6"/>
          <p:cNvSpPr/>
          <p:nvPr/>
        </p:nvSpPr>
        <p:spPr>
          <a:xfrm>
            <a:off x="3839335" y="534111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39335" y="5341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tep 6"/>
          <p:cNvSpPr txBox="1"/>
          <p:nvPr/>
        </p:nvSpPr>
        <p:spPr>
          <a:xfrm>
            <a:off x="4250815" y="5322824"/>
            <a:ext cx="739224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CSV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the table for Excel or CAD.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result is rejected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5074707" cy="39136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Rejected status with larger misclo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001555" cy="384048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037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15200" y="1371600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Rejected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achieved precision is worse than required. Here 1 : 4,391 against 1 : 10,000.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690372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15200" y="2205228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large the error is. Linear misclosure 212.0 mm on 931.74 m is too large for 1 : 10,000.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6903720" y="5257800"/>
            <a:ext cx="4739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5257800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rejected results. Check that known and measured closing values are not swapped, re-check typed coordinates, then re-observe if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CLOSED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for complete data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656832" cy="41879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New empty job showing what is mis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11480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63524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046720" y="1371600"/>
            <a:ext cx="359633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invalid box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with a red outline is missing or is not a number.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63524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3524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046720" y="2205228"/>
            <a:ext cx="359633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list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exactly what to fix, one line each. The result appears when the list is empty.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7635240" y="5257800"/>
            <a:ext cx="40078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5257800"/>
            <a:ext cx="3733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messages: enter known Easting and Northing; row N is missing a number; backsight has the same coordinates as the station; precision must be positive.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traverse: as measured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Open traverse not che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72668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138160" y="137160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traverse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 to run a traverse that does not end on a known point.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72668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138160" y="2205228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closing point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button. It is optional and is explained on the next slide.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726680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138160" y="3038856"/>
            <a:ext cx="350489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checked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closing point errors cannot be found, so coordinates are shown exactly as measured.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726680" y="41076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4107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8138160" y="408940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points, length and the starting bearing.</a:t>
            </a:r>
            <a:endParaRPr lang="en-US" sz="1500" dirty="0"/>
          </a:p>
        </p:txBody>
      </p:sp>
      <p:sp>
        <p:nvSpPr>
          <p:cNvPr id="18" name="Callout"/>
          <p:cNvSpPr/>
          <p:nvPr/>
        </p:nvSpPr>
        <p:spPr>
          <a:xfrm>
            <a:off x="7726680" y="5257800"/>
            <a:ext cx="39163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5257800"/>
            <a:ext cx="3642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Example while Open traverse is selected to load an open sample.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add a closing point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Open traverse with closing point ad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72668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138160" y="137160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closing point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it under Known points. The button then reads Remove closing point.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72668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138160" y="2205228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point known coordinates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name, Easting and Northing of the known point you finish on.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726680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138160" y="3038856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card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now: choose Bowditch, Transit or Equal and the required precision.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726680" y="389077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3890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8138160" y="3872484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"Accepted: open traverse closed on a known point" or Rejected.</a:t>
            </a:r>
            <a:endParaRPr lang="en-US" sz="1500" dirty="0"/>
          </a:p>
        </p:txBody>
      </p:sp>
      <p:sp>
        <p:nvSpPr>
          <p:cNvPr id="18" name="Marker 5"/>
          <p:cNvSpPr/>
          <p:nvPr/>
        </p:nvSpPr>
        <p:spPr>
          <a:xfrm>
            <a:off x="7726680" y="472440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26680" y="472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8138160" y="4706112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 E and N, linear misclosure, precision and length.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measured closing point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5994323" cy="4096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Site coordinates with closing row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21171" cy="402336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72731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72731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84211" y="1371600"/>
            <a:ext cx="425884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 appears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row at the bottom of Site coordinates, tagged "Closing point, as measured".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6972731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72731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84211" y="2205228"/>
            <a:ext cx="4258844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Easting and Northing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what you observed on site for the closing point. The known values stay in Known points.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6972731" y="5257800"/>
            <a:ext cx="4670324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09891" y="5257800"/>
            <a:ext cx="43960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known and the measured closing coordinates are needed. The status shows what is missing until both are complete.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traverse result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2815207" cy="5010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Open traverse result with adjust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742055" cy="493776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3839335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39335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4250815" y="1371600"/>
            <a:ext cx="739224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 : 62,105 is better than the required 1 : 10,000, adjusted by Bowditch.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3839335" y="200660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39335" y="2006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4250815" y="1988312"/>
            <a:ext cx="7392241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 mm East and -9.0 mm North, linear 15.0 mm, over 931.58 m.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3839335" y="262331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9335" y="262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4250815" y="2605024"/>
            <a:ext cx="739224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table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grow along the traverse. The closing point ends on its known coordinates.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3839335" y="345694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39335" y="3456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4250815" y="3438652"/>
            <a:ext cx="7392241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sketch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shows as measured and the gold line adjusted. The red triangle at the end is the known closing point.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Rejected, or remove the closing point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5074707" cy="39136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Open traverse rejected on closing 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001555" cy="384048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037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15200" y="1371600"/>
            <a:ext cx="4327855" cy="113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open traverse closed on a known point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misclosure is too large for the required precision. Check the closing coordinates and re-observe if needed.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6903720" y="265734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26573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15200" y="2639060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closing point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button again to go back to the unchecked open traverse. Your typed values are kept.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6903720" y="5257800"/>
            <a:ext cx="4739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5257800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traverse and open traverse without a closing point behave exactly as before.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TRAVERSE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report and CSV export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3182112" cy="447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PDF report p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108960" cy="4398408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3941064" y="1335024"/>
            <a:ext cx="3182112" cy="447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PDF report pag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371600"/>
            <a:ext cx="3108960" cy="4398408"/>
          </a:xfrm>
          <a:prstGeom prst="rect">
            <a:avLst/>
          </a:prstGeom>
        </p:spPr>
      </p:pic>
      <p:sp>
        <p:nvSpPr>
          <p:cNvPr id="8" name="Step 1"/>
          <p:cNvSpPr txBox="1"/>
          <p:nvPr/>
        </p:nvSpPr>
        <p:spPr>
          <a:xfrm>
            <a:off x="8046720" y="1371600"/>
            <a:ext cx="3596335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PDF report under the results. It contains: 1 Traverse details, 2 Closure check, 3 Input coordinates, 4 Output coordinates, 5 Bearings and distances, 6 Sketch.</a:t>
            </a:r>
            <a:endParaRPr lang="en-US" sz="1500" dirty="0"/>
          </a:p>
        </p:txBody>
      </p:sp>
      <p:sp>
        <p:nvSpPr>
          <p:cNvPr id="9" name="Step 2"/>
          <p:cNvSpPr txBox="1"/>
          <p:nvPr/>
        </p:nvSpPr>
        <p:spPr>
          <a:xfrm>
            <a:off x="8046720" y="2855976"/>
            <a:ext cx="359633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line in the report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Closed, Open (checked on a known closing point) or Open (no closing check).</a:t>
            </a:r>
            <a:endParaRPr lang="en-US" sz="1500" dirty="0"/>
          </a:p>
        </p:txBody>
      </p:sp>
      <p:sp>
        <p:nvSpPr>
          <p:cNvPr id="10" name="Step 3"/>
          <p:cNvSpPr txBox="1"/>
          <p:nvPr/>
        </p:nvSpPr>
        <p:spPr>
          <a:xfrm>
            <a:off x="8046720" y="3906520"/>
            <a:ext cx="359633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CSV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Coordinates CSV for Point, Measured E and N, Corr dE and dN, Output E and N, Remark.</a:t>
            </a:r>
            <a:endParaRPr lang="en-US" sz="1500" dirty="0"/>
          </a:p>
        </p:txBody>
      </p:sp>
      <p:sp>
        <p:nvSpPr>
          <p:cNvPr id="11" name="Callout"/>
          <p:cNvSpPr/>
          <p:nvPr/>
        </p:nvSpPr>
        <p:spPr>
          <a:xfrm>
            <a:off x="7635240" y="5166360"/>
            <a:ext cx="40078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0" y="5166360"/>
            <a:ext cx="3733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uses your Report details (project, location, surveyor, checker, instrument, date). Fill them in first.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LEVELLING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Levelling screen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839712" cy="485807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Levelling screen with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784925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8181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229600" y="1371600"/>
            <a:ext cx="34134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type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/ to a BM checks on a known benchmark. Open run is not checked.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81812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229600" y="2205228"/>
            <a:ext cx="34134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and staff readings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BM with its RL, closing BM, then one row per staff reading.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818120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229600" y="3038856"/>
            <a:ext cx="341345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when the misclosure is within the allowable value, here -2.0 mm against 17.3 mm.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818120" y="41076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4107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8229600" y="4089400"/>
            <a:ext cx="34134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Misclosure, allowable, number of set-ups, total BS and total FS.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LEVELLING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and method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382512" cy="215760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Benchmarks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309360" cy="2084453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12064" y="3785237"/>
            <a:ext cx="6382512" cy="182782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Method and allowable misclosure 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21813"/>
            <a:ext cx="6309360" cy="1754674"/>
          </a:xfrm>
          <a:prstGeom prst="rect">
            <a:avLst/>
          </a:prstGeom>
        </p:spPr>
      </p:pic>
      <p:sp>
        <p:nvSpPr>
          <p:cNvPr id="8" name="Marker 1"/>
          <p:cNvSpPr/>
          <p:nvPr/>
        </p:nvSpPr>
        <p:spPr>
          <a:xfrm>
            <a:off x="731520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tep 1"/>
          <p:cNvSpPr txBox="1"/>
          <p:nvPr/>
        </p:nvSpPr>
        <p:spPr>
          <a:xfrm>
            <a:off x="7726680" y="1371600"/>
            <a:ext cx="3931920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BM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known RL of the benchmark you start on.</a:t>
            </a:r>
            <a:endParaRPr lang="en-US" sz="1500" dirty="0"/>
          </a:p>
        </p:txBody>
      </p:sp>
      <p:sp>
        <p:nvSpPr>
          <p:cNvPr id="11" name="Marker 2"/>
          <p:cNvSpPr/>
          <p:nvPr/>
        </p:nvSpPr>
        <p:spPr>
          <a:xfrm>
            <a:off x="731520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tep 2"/>
          <p:cNvSpPr txBox="1"/>
          <p:nvPr/>
        </p:nvSpPr>
        <p:spPr>
          <a:xfrm>
            <a:off x="7726680" y="2205228"/>
            <a:ext cx="3931920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BM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you finish on. For a loop press "Closing BM = start BM".</a:t>
            </a:r>
            <a:endParaRPr lang="en-US" sz="1500" dirty="0"/>
          </a:p>
        </p:txBody>
      </p:sp>
      <p:sp>
        <p:nvSpPr>
          <p:cNvPr id="14" name="Marker 3"/>
          <p:cNvSpPr/>
          <p:nvPr/>
        </p:nvSpPr>
        <p:spPr>
          <a:xfrm>
            <a:off x="7315200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0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tep 3"/>
          <p:cNvSpPr txBox="1"/>
          <p:nvPr/>
        </p:nvSpPr>
        <p:spPr>
          <a:xfrm>
            <a:off x="7726680" y="3038856"/>
            <a:ext cx="3931920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&amp; Fall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shows rise and fall columns.</a:t>
            </a:r>
            <a:endParaRPr lang="en-US" sz="1500" dirty="0"/>
          </a:p>
        </p:txBody>
      </p:sp>
      <p:sp>
        <p:nvSpPr>
          <p:cNvPr id="17" name="Marker 4"/>
          <p:cNvSpPr/>
          <p:nvPr/>
        </p:nvSpPr>
        <p:spPr>
          <a:xfrm>
            <a:off x="7315200" y="367385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0" y="367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tep 4"/>
          <p:cNvSpPr txBox="1"/>
          <p:nvPr/>
        </p:nvSpPr>
        <p:spPr>
          <a:xfrm>
            <a:off x="7726680" y="3655568"/>
            <a:ext cx="3931920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Instrument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shows the HI column. Both methods give the same levels.</a:t>
            </a:r>
            <a:endParaRPr lang="en-US" sz="1500" dirty="0"/>
          </a:p>
        </p:txBody>
      </p:sp>
      <p:sp>
        <p:nvSpPr>
          <p:cNvPr id="20" name="Marker 5"/>
          <p:cNvSpPr/>
          <p:nvPr/>
        </p:nvSpPr>
        <p:spPr>
          <a:xfrm>
            <a:off x="7315200" y="450748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0" y="45074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tep 5"/>
          <p:cNvSpPr txBox="1"/>
          <p:nvPr/>
        </p:nvSpPr>
        <p:spPr>
          <a:xfrm>
            <a:off x="7726680" y="4489196"/>
            <a:ext cx="3931920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Allowable misclosure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blank for 10 mm x sqrt(set-ups), or type your own value in mm.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LEVELLING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readings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748272" cy="410192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Staff readings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028771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72668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138160" y="137160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table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reading: Station, BS, IS, FS, Remark.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72668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138160" y="2205228"/>
            <a:ext cx="350489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row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empty row.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726680" y="284022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2840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138160" y="282194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Station, BS, IS, FS, Remark from a file.</a:t>
            </a:r>
            <a:endParaRPr lang="en-US" sz="1500" dirty="0"/>
          </a:p>
        </p:txBody>
      </p:sp>
      <p:sp>
        <p:nvSpPr>
          <p:cNvPr id="15" name="Callout"/>
          <p:cNvSpPr/>
          <p:nvPr/>
        </p:nvSpPr>
        <p:spPr>
          <a:xfrm>
            <a:off x="7726680" y="5257800"/>
            <a:ext cx="39163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5257800"/>
            <a:ext cx="3642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row: BS only. Change point: FS and BS on the same row. Intermediate sight: IS alone. Last row: FS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LEVELLING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levelling result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4546355" cy="482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Levelling result colu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473203" cy="475488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037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15200" y="1371600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or Rejected, with the misclosure, allowable value, set-ups and sums of BS and FS.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690372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15200" y="2205228"/>
            <a:ext cx="432785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levels table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BS, IS, FS, Rise, Fall, RL, correction in mm and the adjusted RL. Correction is shared equally per set-up.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6903720" y="327406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20" y="3274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315200" y="3255772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checks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BS - Sum FS and Sum Rise - Sum Fall must equal last RL - first RL. All checks show OK.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6903720" y="41076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4107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7315200" y="4089400"/>
            <a:ext cx="43278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and Levels CSV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at the bottom of the result column.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LEVELLING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run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Open level run not che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72668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138160" y="137160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run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 when you do not close on a benchmark.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72668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138160" y="2205228"/>
            <a:ext cx="350489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checked banner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cannot be found. Reduced levels are shown as computed and no correction is applied.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7726680" y="5257800"/>
            <a:ext cx="39163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5257800"/>
            <a:ext cx="3642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BM boxes are hidden for an open run. Switch back to Closed loop to use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SIMULATOR, JOBS AND TIPS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 simulator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4645152" cy="443348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Simulator run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0" cy="4360333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037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15200" y="137160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CP-01 to CP-03, or loop back.</a:t>
            </a:r>
            <a:endParaRPr lang="en-US" sz="1400" dirty="0"/>
          </a:p>
        </p:txBody>
      </p:sp>
      <p:sp>
        <p:nvSpPr>
          <p:cNvPr id="9" name="Marker 2"/>
          <p:cNvSpPr/>
          <p:nvPr/>
        </p:nvSpPr>
        <p:spPr>
          <a:xfrm>
            <a:off x="6903720" y="188366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15200" y="1865376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points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for the number of points.</a:t>
            </a:r>
            <a:endParaRPr lang="en-US" sz="1400" dirty="0"/>
          </a:p>
        </p:txBody>
      </p:sp>
      <p:sp>
        <p:nvSpPr>
          <p:cNvPr id="12" name="Marker 3"/>
          <p:cNvSpPr/>
          <p:nvPr/>
        </p:nvSpPr>
        <p:spPr>
          <a:xfrm>
            <a:off x="6903720" y="237744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315200" y="2359152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accuracy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 1 mm + 1.5 ppm.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6903720" y="28712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7315200" y="2852928"/>
            <a:ext cx="43278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accuracy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second up to a poor 30 second set-up.</a:t>
            </a:r>
            <a:endParaRPr lang="en-US" sz="1400" dirty="0"/>
          </a:p>
        </p:txBody>
      </p:sp>
      <p:sp>
        <p:nvSpPr>
          <p:cNvPr id="18" name="Marker 5"/>
          <p:cNvSpPr/>
          <p:nvPr/>
        </p:nvSpPr>
        <p:spPr>
          <a:xfrm>
            <a:off x="6903720" y="348792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3487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tep 5"/>
          <p:cNvSpPr txBox="1"/>
          <p:nvPr/>
        </p:nvSpPr>
        <p:spPr>
          <a:xfrm>
            <a:off x="7315200" y="346964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very fast.</a:t>
            </a:r>
            <a:endParaRPr lang="en-US" sz="1400" dirty="0"/>
          </a:p>
        </p:txBody>
      </p:sp>
      <p:sp>
        <p:nvSpPr>
          <p:cNvPr id="21" name="Marker 6"/>
          <p:cNvSpPr/>
          <p:nvPr/>
        </p:nvSpPr>
        <p:spPr>
          <a:xfrm>
            <a:off x="6903720" y="398170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03720" y="3981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tep 6"/>
          <p:cNvSpPr txBox="1"/>
          <p:nvPr/>
        </p:nvSpPr>
        <p:spPr>
          <a:xfrm>
            <a:off x="7315200" y="3963416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Pause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or pauses. Reset clears.</a:t>
            </a:r>
            <a:endParaRPr lang="en-US" sz="1400" dirty="0"/>
          </a:p>
        </p:txBody>
      </p:sp>
      <p:sp>
        <p:nvSpPr>
          <p:cNvPr id="24" name="Marker 7"/>
          <p:cNvSpPr/>
          <p:nvPr/>
        </p:nvSpPr>
        <p:spPr>
          <a:xfrm>
            <a:off x="6903720" y="447548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03720" y="4475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Step 7"/>
          <p:cNvSpPr txBox="1"/>
          <p:nvPr/>
        </p:nvSpPr>
        <p:spPr>
          <a:xfrm>
            <a:off x="7315200" y="4457192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view with the moving instrument.</a:t>
            </a:r>
            <a:endParaRPr lang="en-US" sz="1400" dirty="0"/>
          </a:p>
        </p:txBody>
      </p:sp>
      <p:sp>
        <p:nvSpPr>
          <p:cNvPr id="27" name="Marker 8"/>
          <p:cNvSpPr/>
          <p:nvPr/>
        </p:nvSpPr>
        <p:spPr>
          <a:xfrm>
            <a:off x="6903720" y="496925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03720" y="4969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Step 8"/>
          <p:cNvSpPr txBox="1"/>
          <p:nvPr/>
        </p:nvSpPr>
        <p:spPr>
          <a:xfrm>
            <a:off x="7315200" y="4950968"/>
            <a:ext cx="43278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reading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backsight, angle, distance.</a:t>
            </a:r>
            <a:endParaRPr lang="en-US" sz="1400" dirty="0"/>
          </a:p>
        </p:txBody>
      </p:sp>
      <p:sp>
        <p:nvSpPr>
          <p:cNvPr id="30" name="Marker 9"/>
          <p:cNvSpPr/>
          <p:nvPr/>
        </p:nvSpPr>
        <p:spPr>
          <a:xfrm>
            <a:off x="6903720" y="558596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03720" y="558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Step 9"/>
          <p:cNvSpPr txBox="1"/>
          <p:nvPr/>
        </p:nvSpPr>
        <p:spPr>
          <a:xfrm>
            <a:off x="7315200" y="556768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book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reading with its errors.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SIMULATOR, JOBS AND TIPS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and adjust the simulated traverse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4517136" cy="5010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Simulator finished with result mess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443984" cy="493776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037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15200" y="1371600"/>
            <a:ext cx="432785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message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how the simulated traverse closed, for example "Closes within 1 : 10,000" with the misclosure.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6903720" y="2440432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2440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15200" y="2422144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in Traverse tool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simulated points to the Traverse screen so you can adjust them.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6903720" y="3274060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20" y="3274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7315200" y="3255772"/>
            <a:ext cx="432785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new traverse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again with a new scenario number.</a:t>
            </a:r>
            <a:endParaRPr lang="en-US" sz="1500" dirty="0"/>
          </a:p>
        </p:txBody>
      </p:sp>
      <p:sp>
        <p:nvSpPr>
          <p:cNvPr id="15" name="Callout"/>
          <p:cNvSpPr/>
          <p:nvPr/>
        </p:nvSpPr>
        <p:spPr>
          <a:xfrm>
            <a:off x="6903720" y="5257800"/>
            <a:ext cx="4739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0" y="5257800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simulator for training. Try poor angle accuracy to see a traverse that gets rejected.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SIMULATOR, JOBS AND TIPS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and saved jobs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931152" cy="435940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4286250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790956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8321040" y="1371600"/>
            <a:ext cx="332201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buttons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traverse, a new level run, or open the simulator.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790956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8321040" y="2205228"/>
            <a:ext cx="332201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tiles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jobs, traverses, level runs, pass rate and jobs shared with you.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7909560" y="3057144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09560" y="3057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tep 3"/>
          <p:cNvSpPr txBox="1"/>
          <p:nvPr/>
        </p:nvSpPr>
        <p:spPr>
          <a:xfrm>
            <a:off x="8321040" y="3038856"/>
            <a:ext cx="332201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jobs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All, Traverse or Levelling. Each job has Open, Share, Copy and Delete.</a:t>
            </a:r>
            <a:endParaRPr lang="en-US" sz="1500" dirty="0"/>
          </a:p>
        </p:txBody>
      </p:sp>
      <p:sp>
        <p:nvSpPr>
          <p:cNvPr id="15" name="Marker 4"/>
          <p:cNvSpPr/>
          <p:nvPr/>
        </p:nvSpPr>
        <p:spPr>
          <a:xfrm>
            <a:off x="7909560" y="41076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9560" y="4107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tep 4"/>
          <p:cNvSpPr txBox="1"/>
          <p:nvPr/>
        </p:nvSpPr>
        <p:spPr>
          <a:xfrm>
            <a:off x="8321040" y="4089400"/>
            <a:ext cx="3322015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jobs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part of a name to find a job.</a:t>
            </a:r>
            <a:endParaRPr lang="en-US" sz="1500" dirty="0"/>
          </a:p>
        </p:txBody>
      </p:sp>
      <p:sp>
        <p:nvSpPr>
          <p:cNvPr id="18" name="Callout"/>
          <p:cNvSpPr/>
          <p:nvPr/>
        </p:nvSpPr>
        <p:spPr>
          <a:xfrm>
            <a:off x="7909560" y="5257800"/>
            <a:ext cx="373349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5257800"/>
            <a:ext cx="3459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me lists jobs from colleagues. Activity shows jobs saved or edited per day over the last 7 days.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SIMULATOR, JOBS AND TIPS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a job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5742432" cy="38235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Share job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3750447"/>
          </a:xfrm>
          <a:prstGeom prst="rect">
            <a:avLst/>
          </a:prstGeom>
        </p:spPr>
      </p:pic>
      <p:sp>
        <p:nvSpPr>
          <p:cNvPr id="6" name="Marker 1"/>
          <p:cNvSpPr/>
          <p:nvPr/>
        </p:nvSpPr>
        <p:spPr>
          <a:xfrm>
            <a:off x="6903720" y="1389888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0372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tep 1"/>
          <p:cNvSpPr txBox="1"/>
          <p:nvPr/>
        </p:nvSpPr>
        <p:spPr>
          <a:xfrm>
            <a:off x="7315200" y="1371600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address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colleague's e-mail and press Share. They find the job under Shared with me.</a:t>
            </a:r>
            <a:endParaRPr lang="en-US" sz="1500" dirty="0"/>
          </a:p>
        </p:txBody>
      </p:sp>
      <p:sp>
        <p:nvSpPr>
          <p:cNvPr id="9" name="Marker 2"/>
          <p:cNvSpPr/>
          <p:nvPr/>
        </p:nvSpPr>
        <p:spPr>
          <a:xfrm>
            <a:off x="6903720" y="222351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2223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tep 2"/>
          <p:cNvSpPr txBox="1"/>
          <p:nvPr/>
        </p:nvSpPr>
        <p:spPr>
          <a:xfrm>
            <a:off x="7315200" y="2205228"/>
            <a:ext cx="432785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dialog. The people you shared with are listed in it.</a:t>
            </a:r>
            <a:endParaRPr lang="en-US" sz="1500" dirty="0"/>
          </a:p>
        </p:txBody>
      </p:sp>
      <p:sp>
        <p:nvSpPr>
          <p:cNvPr id="12" name="Callout"/>
          <p:cNvSpPr/>
          <p:nvPr/>
        </p:nvSpPr>
        <p:spPr>
          <a:xfrm>
            <a:off x="6903720" y="5257800"/>
            <a:ext cx="4739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5257800"/>
            <a:ext cx="4465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can open a copy. Your job stays unchanged.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SIMULATOR, JOBS AND TIPS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 and good practice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creenshot" descr="Traverse screen in dark m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Step 1"/>
          <p:cNvSpPr txBox="1"/>
          <p:nvPr/>
        </p:nvSpPr>
        <p:spPr>
          <a:xfrm>
            <a:off x="8138160" y="1371600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moon button in the top bar. It suits low light and is remembered.</a:t>
            </a:r>
            <a:endParaRPr lang="en-US" sz="1500" dirty="0"/>
          </a:p>
        </p:txBody>
      </p:sp>
      <p:sp>
        <p:nvSpPr>
          <p:cNvPr id="7" name="Step 2"/>
          <p:cNvSpPr txBox="1"/>
          <p:nvPr/>
        </p:nvSpPr>
        <p:spPr>
          <a:xfrm>
            <a:off x="8138160" y="2205228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often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Save after the first complete result and again after edits.</a:t>
            </a:r>
            <a:endParaRPr lang="en-US" sz="1500" dirty="0"/>
          </a:p>
        </p:txBody>
      </p:sp>
      <p:sp>
        <p:nvSpPr>
          <p:cNvPr id="8" name="Step 3"/>
          <p:cNvSpPr txBox="1"/>
          <p:nvPr/>
        </p:nvSpPr>
        <p:spPr>
          <a:xfrm>
            <a:off x="8138160" y="3038856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inputs first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and measured closing values are the most common mix-up.</a:t>
            </a:r>
            <a:endParaRPr lang="en-US" sz="1500" dirty="0"/>
          </a:p>
        </p:txBody>
      </p:sp>
      <p:sp>
        <p:nvSpPr>
          <p:cNvPr id="9" name="Step 4"/>
          <p:cNvSpPr txBox="1"/>
          <p:nvPr/>
        </p:nvSpPr>
        <p:spPr>
          <a:xfrm>
            <a:off x="8138160" y="3872484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details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them before the PDF so it is ready to issue.</a:t>
            </a:r>
            <a:endParaRPr lang="en-US" sz="1500" dirty="0"/>
          </a:p>
        </p:txBody>
      </p:sp>
      <p:sp>
        <p:nvSpPr>
          <p:cNvPr id="10" name="Step 5"/>
          <p:cNvSpPr txBox="1"/>
          <p:nvPr/>
        </p:nvSpPr>
        <p:spPr>
          <a:xfrm>
            <a:off x="8138160" y="4706112"/>
            <a:ext cx="35048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 data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Save as new before trying another method.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 should I use?</a:t>
            </a:r>
            <a:endParaRPr lang="en-US" sz="3200" dirty="0"/>
          </a:p>
        </p:txBody>
      </p:sp>
      <p:graphicFrame>
        <p:nvGraphicFramePr>
          <p:cNvPr id="33" name="Quick refere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traverse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traverse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+ closing point (new)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known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known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known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point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known and measured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Misclosure and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Bowditch, Transit or Equal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Bowditch, Transit or Equal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banner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or 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checked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or 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coordinates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measured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Levelling follows the same idea: a closed loop or run to a BM is checked and adjusted, an open run is not checked.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rvey Navy Gold">
  <a:themeElements>
    <a:clrScheme name="Survey Navy Gold">
      <a:dk1>
        <a:srgbClr val="14213D"/>
      </a:dk1>
      <a:lt1>
        <a:srgbClr val="FFFFFF"/>
      </a:lt1>
      <a:dk2>
        <a:srgbClr val="0B1B33"/>
      </a:dk2>
      <a:lt2>
        <a:srgbClr val="EEF2F7"/>
      </a:lt2>
      <a:accent1>
        <a:srgbClr val="C9A24A"/>
      </a:accent1>
      <a:accent2>
        <a:srgbClr val="1F7A4D"/>
      </a:accent2>
      <a:accent3>
        <a:srgbClr val="D62828"/>
      </a:accent3>
      <a:accent4>
        <a:srgbClr val="3A6EA5"/>
      </a:accent4>
      <a:accent5>
        <a:srgbClr val="D6892B"/>
      </a:accent5>
      <a:accent6>
        <a:srgbClr val="5F6F86"/>
      </a:accent6>
      <a:hlink>
        <a:srgbClr val="3A6EA5"/>
      </a:hlink>
      <a:folHlink>
        <a:srgbClr val="5F6F86"/>
      </a:folHlink>
    </a:clrScheme>
    <a:fontScheme name="Survey Navy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Traverse &amp; Level Adjustment - User Manual</dc:title>
  <dc:subject>PptxGenJS Presentation</dc:subject>
  <dc:creator>User manual</dc:creator>
  <cp:lastModifiedBy>User manual</cp:lastModifiedBy>
  <cp:revision>1</cp:revision>
  <dcterms:created xsi:type="dcterms:W3CDTF">2026-10-20T10:44:27Z</dcterms:created>
  <dcterms:modified xsi:type="dcterms:W3CDTF">2026-10-20T10:44:27Z</dcterms:modified>
</cp:coreProperties>
</file>