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328249e-0bbb-f64f-dd56-872873cfcf91}">
          <p14:sldIdLst>
            <p14:sldId id="256"/>
            <p14:sldId id="257"/>
          </p14:sldIdLst>
        </p14:section>
        <p14:section name="Getting started" id="{a191eba9-2a64-6e0a-1b48-3b022051be79}">
          <p14:sldIdLst>
            <p14:sldId id="258"/>
            <p14:sldId id="259"/>
            <p14:sldId id="260"/>
          </p14:sldIdLst>
        </p14:section>
        <p14:section name="Settings" id="{29746ef0-5075-9381-9387-70e4b11f5639}">
          <p14:sldIdLst>
            <p14:sldId id="261"/>
            <p14:sldId id="262"/>
            <p14:sldId id="263"/>
          </p14:sldIdLst>
        </p14:section>
        <p14:section name="Features" id="{57caedc5-a19c-ff8b-a830-16d9c478ad5f}">
          <p14:sldIdLst>
            <p14:sldId id="264"/>
            <p14:sldId id="265"/>
            <p14:sldId id="266"/>
            <p14:sldId id="267"/>
            <p14:sldId id="268"/>
            <p14:sldId id="269"/>
          </p14:sldIdLst>
        </p14:section>
        <p14:section name="Reference" id="{57deae40-1d32-5662-e919-1aa07c11071d}">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RoadPro builds a complete road drawing in AutoCAD from one centre line: edges, radius, barricades, chainage, signs, sections, cross sections and an Excel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outputs from a single run. Every output sits on its own layer so it can be frozen, plotted or edited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RoadPro to the Startup Suite means the commands are ready every time AutoCAD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versions in red are the fastest way to work. U undoes the complete road because RoadPro wraps everything in one undo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v2.5 the turning radius is measured at the centre line by default. Choose Inner edge (kerb line) in the same dropdown if your design gives the kerb radius; the centre line then gets R plus half the 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Freeze, lock or switch off any group to plot only what you need. White fills plot as white with the black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types and distances are a sensible default. Check them against the approved Traffic Management Plan and Qatar work-zone guidelines before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Curve numbers C1, C2 and straight numbers S1, S2 match the Curve Data and Road Sections tables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and end chainage are where the full extra width begins and ends. The tapers are added before the start and after the end. The widening follows straights and bends of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narrowing would bring the edge too close to the centre line, RoadPro stops and shows the chainage. Each run rebuilds that side's edge, surface, barricades and labels from all its tapers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3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5852160" cy="118872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640080" y="3017520"/>
            <a:ext cx="5669280" cy="1097280"/>
          </a:xfrm>
          <a:prstGeom prst="rect">
            <a:avLst/>
          </a:prstGeom>
          <a:noFill/>
          <a:ln/>
        </p:spPr>
        <p:txBody>
          <a:bodyPr wrap="square" rtlCol="0"/>
          <a:lstStyle>
            <a:lvl1pPr indent="0" marL="0">
              <a:buNone/>
              <a:defRPr lang="en-US" sz="2000" dirty="0">
                <a:solidFill>
                  <a:schemeClr val="accent6"/>
                </a:solidFill>
                <a:latin typeface="Calibri" pitchFamily="34" charset="0"/>
                <a:ea typeface="Calibri" pitchFamily="34" charset="-122"/>
                <a:cs typeface="Calibri" pitchFamily="34" charset="-120"/>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RoadPro v2.6  |  Road Builder for AutoCAD  |  Developed by www.exceltokml.com</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3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www.exceltokml.com/"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exceltokml.com/" TargetMode="Externa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5852160" cy="1188720"/>
          </a:xfrm>
          <a:prstGeom prst="rect">
            <a:avLst/>
          </a:prstGeom>
          <a:noFill/>
          <a:ln/>
        </p:spPr>
        <p:txBody>
          <a:bodyPr wrap="square" lIns="0" tIns="0" rIns="0" bIns="0" rtlCol="0" anchor="b"/>
          <a:lstStyle/>
          <a:p>
            <a:pPr algn="l" indent="0" marL="0">
              <a:buNone/>
            </a:pPr>
            <a:r>
              <a:rPr lang="en-US" sz="6000" b="1" dirty="0">
                <a:solidFill>
                  <a:schemeClr val="bg1"/>
                </a:solidFill>
                <a:latin typeface="Arial" pitchFamily="34" charset="0"/>
                <a:ea typeface="Arial" pitchFamily="34" charset="-122"/>
                <a:cs typeface="Arial" pitchFamily="34" charset="-120"/>
              </a:rPr>
              <a:t>RoadPro</a:t>
            </a:r>
            <a:endParaRPr lang="en-US" sz="6000" dirty="0"/>
          </a:p>
        </p:txBody>
      </p:sp>
      <p:sp>
        <p:nvSpPr>
          <p:cNvPr id="3" name="Text 0"/>
          <p:cNvSpPr/>
          <p:nvPr>
            <p:ph idx="101" type="body" hasCustomPrompt="1"/>
          </p:nvPr>
        </p:nvSpPr>
        <p:spPr>
          <a:xfrm>
            <a:off x="640080" y="3017520"/>
            <a:ext cx="5669280" cy="1097280"/>
          </a:xfrm>
          <a:prstGeom prst="rect">
            <a:avLst/>
          </a:prstGeom>
          <a:noFill/>
          <a:ln/>
        </p:spPr>
        <p:txBody>
          <a:bodyPr wrap="square" lIns="0" tIns="0" rIns="0" bIns="0" rtlCol="0" anchor="t"/>
          <a:lstStyle/>
          <a:p>
            <a:pPr indent="0" marL="0">
              <a:buNone/>
            </a:pPr>
            <a:r>
              <a:rPr lang="en-US" sz="2000" dirty="0">
                <a:solidFill>
                  <a:schemeClr val="accent6"/>
                </a:solidFill>
                <a:latin typeface="Calibri" pitchFamily="34" charset="0"/>
                <a:ea typeface="Calibri" pitchFamily="34" charset="-122"/>
                <a:cs typeface="Calibri" pitchFamily="34" charset="-120"/>
              </a:rPr>
              <a:t>Road builder plugin for AutoCAD</a:t>
            </a:r>
            <a:endParaRPr lang="en-US" sz="2000" dirty="0"/>
          </a:p>
          <a:p>
            <a:pPr indent="0" marL="0">
              <a:buNone/>
            </a:pPr>
            <a:r>
              <a:rPr lang="en-US" sz="2000" dirty="0">
                <a:solidFill>
                  <a:schemeClr val="accent6"/>
                </a:solidFill>
                <a:latin typeface="Calibri" pitchFamily="34" charset="0"/>
                <a:ea typeface="Calibri" pitchFamily="34" charset="-122"/>
                <a:cs typeface="Calibri" pitchFamily="34" charset="-120"/>
              </a:rPr>
              <a:t>User guide and command shortcuts</a:t>
            </a:r>
            <a:endParaRPr lang="en-US" sz="2000" dirty="0"/>
          </a:p>
        </p:txBody>
      </p:sp>
      <p:sp>
        <p:nvSpPr>
          <p:cNvPr id="4" name="Text 2"/>
          <p:cNvSpPr txBox="1"/>
          <p:nvPr/>
        </p:nvSpPr>
        <p:spPr>
          <a:xfrm>
            <a:off x="640080" y="4251960"/>
            <a:ext cx="5486400" cy="365760"/>
          </a:xfrm>
          <a:prstGeom prst="rect">
            <a:avLst/>
          </a:prstGeom>
          <a:noFill/>
          <a:ln/>
        </p:spPr>
        <p:txBody>
          <a:bodyPr wrap="square" lIns="0" tIns="0" rIns="0" bIns="0" rtlCol="0" anchor="ctr"/>
          <a:lstStyle/>
          <a:p>
            <a:pPr indent="0" marL="0">
              <a:buNone/>
            </a:pPr>
            <a:r>
              <a:rPr lang="en-US" sz="1400" dirty="0">
                <a:solidFill>
                  <a:schemeClr val="accent2"/>
                </a:solidFill>
              </a:rPr>
              <a:t>Version 2.6  ·  05 October 2026</a:t>
            </a:r>
            <a:endParaRPr lang="en-US" sz="1400" dirty="0"/>
          </a:p>
        </p:txBody>
      </p:sp>
      <p:sp>
        <p:nvSpPr>
          <p:cNvPr id="5" name="Text 3"/>
          <p:cNvSpPr txBox="1"/>
          <p:nvPr/>
        </p:nvSpPr>
        <p:spPr>
          <a:xfrm>
            <a:off x="640080" y="6172200"/>
            <a:ext cx="5486400" cy="365760"/>
          </a:xfrm>
          <a:prstGeom prst="rect">
            <a:avLst/>
          </a:prstGeom>
          <a:noFill/>
          <a:ln/>
        </p:spPr>
        <p:txBody>
          <a:bodyPr wrap="square" lIns="0" tIns="0" rIns="0" bIns="0" rtlCol="0" anchor="ctr"/>
          <a:lstStyle/>
          <a:p>
            <a:pPr indent="0" marL="0">
              <a:buNone/>
            </a:pPr>
            <a:r>
              <a:rPr lang="en-US" sz="1400" dirty="0">
                <a:solidFill>
                  <a:schemeClr val="accent6"/>
                </a:solidFill>
              </a:rPr>
              <a:t>Developed by  </a:t>
            </a:r>
            <a:pPr indent="0" marL="0">
              <a:buNone/>
            </a:pPr>
            <a:r>
              <a:rPr lang="en-US" sz="1400" b="1" u="sng" dirty="0">
                <a:solidFill>
                  <a:schemeClr val="bg1"/>
                </a:solidFill>
                <a:hlinkClick r:id="rId1" invalidUrl="" action="" tgtFrame="" tooltip="exceltokml.com" history="1" highlightClick="0" endSnd="0">
                  <a:extLst>
                    <a:ext uri="{A12FA001-AC4F-418D-AE19-62706E023703}">
                      <ahyp:hlinkClr xmlns:ahyp="http://schemas.microsoft.com/office/drawing/2018/hyperlinkcolor" val="tx"/>
                    </a:ext>
                  </a:extLst>
                </a:hlinkClick>
              </a:rPr>
              <a:t>www.exceltokml.com</a:t>
            </a:r>
            <a:endParaRPr lang="en-US" sz="1400" dirty="0"/>
          </a:p>
        </p:txBody>
      </p:sp>
      <p:sp>
        <p:nvSpPr>
          <p:cNvPr id="6" name="Text 4"/>
          <p:cNvSpPr txBox="1"/>
          <p:nvPr/>
        </p:nvSpPr>
        <p:spPr>
          <a:xfrm>
            <a:off x="640080" y="5257800"/>
            <a:ext cx="731520" cy="548640"/>
          </a:xfrm>
          <a:prstGeom prst="rect">
            <a:avLst/>
          </a:prstGeom>
          <a:noFill/>
          <a:ln/>
        </p:spPr>
        <p:txBody>
          <a:bodyPr wrap="square" lIns="0" tIns="0" rIns="0" bIns="0" rtlCol="0" anchor="ctr"/>
          <a:lstStyle/>
          <a:p>
            <a:pPr indent="0" marL="0">
              <a:buNone/>
            </a:pPr>
            <a:r>
              <a:rPr lang="en-US" sz="1800" dirty="0">
                <a:solidFill>
                  <a:schemeClr val="accent6"/>
                </a:solidFill>
              </a:rPr>
              <a:t>Type</a:t>
            </a:r>
            <a:endParaRPr lang="en-US" sz="1800" dirty="0"/>
          </a:p>
        </p:txBody>
      </p:sp>
      <p:sp>
        <p:nvSpPr>
          <p:cNvPr id="7" name="keycap RDP"/>
          <p:cNvSpPr/>
          <p:nvPr/>
        </p:nvSpPr>
        <p:spPr>
          <a:xfrm>
            <a:off x="1325880" y="5257800"/>
            <a:ext cx="1097280" cy="548640"/>
          </a:xfrm>
          <a:prstGeom prst="roundRect">
            <a:avLst>
              <a:gd name="adj" fmla="val 13333"/>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8" name="Text 6"/>
          <p:cNvSpPr txBox="1"/>
          <p:nvPr/>
        </p:nvSpPr>
        <p:spPr>
          <a:xfrm>
            <a:off x="1325880" y="5257800"/>
            <a:ext cx="109728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RDP</a:t>
            </a:r>
            <a:endParaRPr lang="en-US" sz="2000" dirty="0"/>
          </a:p>
        </p:txBody>
      </p:sp>
      <p:sp>
        <p:nvSpPr>
          <p:cNvPr id="9" name="Text 7"/>
          <p:cNvSpPr txBox="1"/>
          <p:nvPr/>
        </p:nvSpPr>
        <p:spPr>
          <a:xfrm>
            <a:off x="2560320" y="5257800"/>
            <a:ext cx="1463040" cy="548640"/>
          </a:xfrm>
          <a:prstGeom prst="rect">
            <a:avLst/>
          </a:prstGeom>
          <a:noFill/>
          <a:ln/>
        </p:spPr>
        <p:txBody>
          <a:bodyPr wrap="square" lIns="0" tIns="0" rIns="0" bIns="0" rtlCol="0" anchor="ctr"/>
          <a:lstStyle/>
          <a:p>
            <a:pPr indent="0" marL="0">
              <a:buNone/>
            </a:pPr>
            <a:r>
              <a:rPr lang="en-US" sz="1800" dirty="0">
                <a:solidFill>
                  <a:schemeClr val="accent6"/>
                </a:solidFill>
              </a:rPr>
              <a:t>to start</a:t>
            </a:r>
            <a:endParaRPr lang="en-US" sz="1800" dirty="0"/>
          </a:p>
        </p:txBody>
      </p:sp>
      <p:sp>
        <p:nvSpPr>
          <p:cNvPr id="10" name="plan panel"/>
          <p:cNvSpPr/>
          <p:nvPr/>
        </p:nvSpPr>
        <p:spPr>
          <a:xfrm>
            <a:off x="6949440" y="914400"/>
            <a:ext cx="4663440" cy="5029200"/>
          </a:xfrm>
          <a:prstGeom prst="roundRect">
            <a:avLst>
              <a:gd name="adj" fmla="val 2941"/>
            </a:avLst>
          </a:prstGeom>
          <a:solidFill>
            <a:srgbClr val="3A4045"/>
          </a:solidFill>
          <a:ln/>
        </p:spPr>
      </p:sp>
      <p:sp>
        <p:nvSpPr>
          <p:cNvPr id="11" name="Shape 9"/>
          <p:cNvSpPr/>
          <p:nvPr/>
        </p:nvSpPr>
        <p:spPr>
          <a:xfrm>
            <a:off x="7269480" y="1828800"/>
            <a:ext cx="502920" cy="201168"/>
          </a:xfrm>
          <a:prstGeom prst="rect">
            <a:avLst/>
          </a:prstGeom>
          <a:solidFill>
            <a:schemeClr val="accent1"/>
          </a:solidFill>
          <a:ln w="12700">
            <a:solidFill>
              <a:srgbClr val="000000"/>
            </a:solidFill>
            <a:prstDash val="solid"/>
          </a:ln>
        </p:spPr>
      </p:sp>
      <p:sp>
        <p:nvSpPr>
          <p:cNvPr id="12" name="Shape 10"/>
          <p:cNvSpPr/>
          <p:nvPr/>
        </p:nvSpPr>
        <p:spPr>
          <a:xfrm>
            <a:off x="7772400" y="1828800"/>
            <a:ext cx="502920" cy="201168"/>
          </a:xfrm>
          <a:prstGeom prst="rect">
            <a:avLst/>
          </a:prstGeom>
          <a:solidFill>
            <a:schemeClr val="bg1"/>
          </a:solidFill>
          <a:ln w="12700">
            <a:solidFill>
              <a:srgbClr val="000000"/>
            </a:solidFill>
            <a:prstDash val="solid"/>
          </a:ln>
        </p:spPr>
      </p:sp>
      <p:sp>
        <p:nvSpPr>
          <p:cNvPr id="13" name="Shape 11"/>
          <p:cNvSpPr/>
          <p:nvPr/>
        </p:nvSpPr>
        <p:spPr>
          <a:xfrm>
            <a:off x="8275320" y="1828800"/>
            <a:ext cx="502920" cy="201168"/>
          </a:xfrm>
          <a:prstGeom prst="rect">
            <a:avLst/>
          </a:prstGeom>
          <a:solidFill>
            <a:schemeClr val="accent1"/>
          </a:solidFill>
          <a:ln w="12700">
            <a:solidFill>
              <a:srgbClr val="000000"/>
            </a:solidFill>
            <a:prstDash val="solid"/>
          </a:ln>
        </p:spPr>
      </p:sp>
      <p:sp>
        <p:nvSpPr>
          <p:cNvPr id="14" name="Shape 12"/>
          <p:cNvSpPr/>
          <p:nvPr/>
        </p:nvSpPr>
        <p:spPr>
          <a:xfrm>
            <a:off x="8778240" y="1828800"/>
            <a:ext cx="502920" cy="201168"/>
          </a:xfrm>
          <a:prstGeom prst="rect">
            <a:avLst/>
          </a:prstGeom>
          <a:solidFill>
            <a:schemeClr val="bg1"/>
          </a:solidFill>
          <a:ln w="12700">
            <a:solidFill>
              <a:srgbClr val="000000"/>
            </a:solidFill>
            <a:prstDash val="solid"/>
          </a:ln>
        </p:spPr>
      </p:sp>
      <p:sp>
        <p:nvSpPr>
          <p:cNvPr id="15" name="Shape 13"/>
          <p:cNvSpPr/>
          <p:nvPr/>
        </p:nvSpPr>
        <p:spPr>
          <a:xfrm>
            <a:off x="9281160" y="1828800"/>
            <a:ext cx="502920" cy="201168"/>
          </a:xfrm>
          <a:prstGeom prst="rect">
            <a:avLst/>
          </a:prstGeom>
          <a:solidFill>
            <a:schemeClr val="accent1"/>
          </a:solidFill>
          <a:ln w="12700">
            <a:solidFill>
              <a:srgbClr val="000000"/>
            </a:solidFill>
            <a:prstDash val="solid"/>
          </a:ln>
        </p:spPr>
      </p:sp>
      <p:sp>
        <p:nvSpPr>
          <p:cNvPr id="16" name="Shape 14"/>
          <p:cNvSpPr/>
          <p:nvPr/>
        </p:nvSpPr>
        <p:spPr>
          <a:xfrm>
            <a:off x="9784080" y="1828800"/>
            <a:ext cx="502920" cy="201168"/>
          </a:xfrm>
          <a:prstGeom prst="rect">
            <a:avLst/>
          </a:prstGeom>
          <a:solidFill>
            <a:schemeClr val="bg1"/>
          </a:solidFill>
          <a:ln w="12700">
            <a:solidFill>
              <a:srgbClr val="000000"/>
            </a:solidFill>
            <a:prstDash val="solid"/>
          </a:ln>
        </p:spPr>
      </p:sp>
      <p:sp>
        <p:nvSpPr>
          <p:cNvPr id="17" name="Shape 15"/>
          <p:cNvSpPr/>
          <p:nvPr/>
        </p:nvSpPr>
        <p:spPr>
          <a:xfrm>
            <a:off x="10287000" y="1828800"/>
            <a:ext cx="502920" cy="201168"/>
          </a:xfrm>
          <a:prstGeom prst="rect">
            <a:avLst/>
          </a:prstGeom>
          <a:solidFill>
            <a:schemeClr val="accent1"/>
          </a:solidFill>
          <a:ln w="12700">
            <a:solidFill>
              <a:srgbClr val="000000"/>
            </a:solidFill>
            <a:prstDash val="solid"/>
          </a:ln>
        </p:spPr>
      </p:sp>
      <p:sp>
        <p:nvSpPr>
          <p:cNvPr id="18" name="Shape 16"/>
          <p:cNvSpPr/>
          <p:nvPr/>
        </p:nvSpPr>
        <p:spPr>
          <a:xfrm>
            <a:off x="10789920" y="1828800"/>
            <a:ext cx="502920" cy="201168"/>
          </a:xfrm>
          <a:prstGeom prst="rect">
            <a:avLst/>
          </a:prstGeom>
          <a:solidFill>
            <a:schemeClr val="bg1"/>
          </a:solidFill>
          <a:ln w="12700">
            <a:solidFill>
              <a:srgbClr val="000000"/>
            </a:solidFill>
            <a:prstDash val="solid"/>
          </a:ln>
        </p:spPr>
      </p:sp>
      <p:sp>
        <p:nvSpPr>
          <p:cNvPr id="19" name="Shape 17"/>
          <p:cNvSpPr/>
          <p:nvPr/>
        </p:nvSpPr>
        <p:spPr>
          <a:xfrm>
            <a:off x="7269480" y="2194560"/>
            <a:ext cx="4023360" cy="2103120"/>
          </a:xfrm>
          <a:prstGeom prst="rect">
            <a:avLst/>
          </a:prstGeom>
          <a:solidFill>
            <a:srgbClr val="5A6066"/>
          </a:solidFill>
          <a:ln/>
        </p:spPr>
      </p:sp>
      <p:sp>
        <p:nvSpPr>
          <p:cNvPr id="20" name="Shape 18"/>
          <p:cNvSpPr/>
          <p:nvPr/>
        </p:nvSpPr>
        <p:spPr>
          <a:xfrm>
            <a:off x="7360920" y="3218688"/>
            <a:ext cx="411480" cy="54864"/>
          </a:xfrm>
          <a:prstGeom prst="rect">
            <a:avLst/>
          </a:prstGeom>
          <a:solidFill>
            <a:srgbClr val="FFFFFF"/>
          </a:solidFill>
          <a:ln/>
        </p:spPr>
      </p:sp>
      <p:sp>
        <p:nvSpPr>
          <p:cNvPr id="21" name="Shape 19"/>
          <p:cNvSpPr/>
          <p:nvPr/>
        </p:nvSpPr>
        <p:spPr>
          <a:xfrm>
            <a:off x="8046720" y="3218688"/>
            <a:ext cx="411480" cy="54864"/>
          </a:xfrm>
          <a:prstGeom prst="rect">
            <a:avLst/>
          </a:prstGeom>
          <a:solidFill>
            <a:srgbClr val="FFFFFF"/>
          </a:solidFill>
          <a:ln/>
        </p:spPr>
      </p:sp>
      <p:sp>
        <p:nvSpPr>
          <p:cNvPr id="22" name="Shape 20"/>
          <p:cNvSpPr/>
          <p:nvPr/>
        </p:nvSpPr>
        <p:spPr>
          <a:xfrm>
            <a:off x="8732520" y="3218688"/>
            <a:ext cx="411480" cy="54864"/>
          </a:xfrm>
          <a:prstGeom prst="rect">
            <a:avLst/>
          </a:prstGeom>
          <a:solidFill>
            <a:srgbClr val="FFFFFF"/>
          </a:solidFill>
          <a:ln/>
        </p:spPr>
      </p:sp>
      <p:sp>
        <p:nvSpPr>
          <p:cNvPr id="23" name="Shape 21"/>
          <p:cNvSpPr/>
          <p:nvPr/>
        </p:nvSpPr>
        <p:spPr>
          <a:xfrm>
            <a:off x="9418320" y="3218688"/>
            <a:ext cx="411480" cy="54864"/>
          </a:xfrm>
          <a:prstGeom prst="rect">
            <a:avLst/>
          </a:prstGeom>
          <a:solidFill>
            <a:srgbClr val="FFFFFF"/>
          </a:solidFill>
          <a:ln/>
        </p:spPr>
      </p:sp>
      <p:sp>
        <p:nvSpPr>
          <p:cNvPr id="24" name="Shape 22"/>
          <p:cNvSpPr/>
          <p:nvPr/>
        </p:nvSpPr>
        <p:spPr>
          <a:xfrm>
            <a:off x="10104120" y="3218688"/>
            <a:ext cx="411480" cy="54864"/>
          </a:xfrm>
          <a:prstGeom prst="rect">
            <a:avLst/>
          </a:prstGeom>
          <a:solidFill>
            <a:srgbClr val="FFFFFF"/>
          </a:solidFill>
          <a:ln/>
        </p:spPr>
      </p:sp>
      <p:sp>
        <p:nvSpPr>
          <p:cNvPr id="25" name="Shape 23"/>
          <p:cNvSpPr/>
          <p:nvPr/>
        </p:nvSpPr>
        <p:spPr>
          <a:xfrm>
            <a:off x="7680960" y="3611880"/>
            <a:ext cx="822960" cy="292608"/>
          </a:xfrm>
          <a:prstGeom prst="rightArrow">
            <a:avLst/>
          </a:prstGeom>
          <a:solidFill>
            <a:srgbClr val="FFFFFF"/>
          </a:solidFill>
          <a:ln/>
        </p:spPr>
      </p:sp>
      <p:sp>
        <p:nvSpPr>
          <p:cNvPr id="26" name="Shape 24"/>
          <p:cNvSpPr/>
          <p:nvPr/>
        </p:nvSpPr>
        <p:spPr>
          <a:xfrm rot="10800000">
            <a:off x="10058400" y="2560320"/>
            <a:ext cx="822960" cy="292608"/>
          </a:xfrm>
          <a:prstGeom prst="rightArrow">
            <a:avLst/>
          </a:prstGeom>
          <a:solidFill>
            <a:srgbClr val="FFFFFF"/>
          </a:solidFill>
          <a:ln/>
        </p:spPr>
      </p:sp>
      <p:sp>
        <p:nvSpPr>
          <p:cNvPr id="27" name="Shape 25"/>
          <p:cNvSpPr/>
          <p:nvPr/>
        </p:nvSpPr>
        <p:spPr>
          <a:xfrm>
            <a:off x="7269480" y="4462272"/>
            <a:ext cx="502920" cy="201168"/>
          </a:xfrm>
          <a:prstGeom prst="rect">
            <a:avLst/>
          </a:prstGeom>
          <a:solidFill>
            <a:schemeClr val="accent1"/>
          </a:solidFill>
          <a:ln w="12700">
            <a:solidFill>
              <a:srgbClr val="000000"/>
            </a:solidFill>
            <a:prstDash val="solid"/>
          </a:ln>
        </p:spPr>
      </p:sp>
      <p:sp>
        <p:nvSpPr>
          <p:cNvPr id="28" name="Shape 26"/>
          <p:cNvSpPr/>
          <p:nvPr/>
        </p:nvSpPr>
        <p:spPr>
          <a:xfrm>
            <a:off x="7772400" y="4462272"/>
            <a:ext cx="502920" cy="201168"/>
          </a:xfrm>
          <a:prstGeom prst="rect">
            <a:avLst/>
          </a:prstGeom>
          <a:solidFill>
            <a:schemeClr val="bg1"/>
          </a:solidFill>
          <a:ln w="12700">
            <a:solidFill>
              <a:srgbClr val="000000"/>
            </a:solidFill>
            <a:prstDash val="solid"/>
          </a:ln>
        </p:spPr>
      </p:sp>
      <p:sp>
        <p:nvSpPr>
          <p:cNvPr id="29" name="Shape 27"/>
          <p:cNvSpPr/>
          <p:nvPr/>
        </p:nvSpPr>
        <p:spPr>
          <a:xfrm>
            <a:off x="8275320" y="4462272"/>
            <a:ext cx="502920" cy="201168"/>
          </a:xfrm>
          <a:prstGeom prst="rect">
            <a:avLst/>
          </a:prstGeom>
          <a:solidFill>
            <a:schemeClr val="accent1"/>
          </a:solidFill>
          <a:ln w="12700">
            <a:solidFill>
              <a:srgbClr val="000000"/>
            </a:solidFill>
            <a:prstDash val="solid"/>
          </a:ln>
        </p:spPr>
      </p:sp>
      <p:sp>
        <p:nvSpPr>
          <p:cNvPr id="30" name="Shape 28"/>
          <p:cNvSpPr/>
          <p:nvPr/>
        </p:nvSpPr>
        <p:spPr>
          <a:xfrm>
            <a:off x="8778240" y="4462272"/>
            <a:ext cx="502920" cy="201168"/>
          </a:xfrm>
          <a:prstGeom prst="rect">
            <a:avLst/>
          </a:prstGeom>
          <a:solidFill>
            <a:schemeClr val="bg1"/>
          </a:solidFill>
          <a:ln w="12700">
            <a:solidFill>
              <a:srgbClr val="000000"/>
            </a:solidFill>
            <a:prstDash val="solid"/>
          </a:ln>
        </p:spPr>
      </p:sp>
      <p:sp>
        <p:nvSpPr>
          <p:cNvPr id="31" name="Shape 29"/>
          <p:cNvSpPr/>
          <p:nvPr/>
        </p:nvSpPr>
        <p:spPr>
          <a:xfrm>
            <a:off x="9281160" y="4462272"/>
            <a:ext cx="502920" cy="201168"/>
          </a:xfrm>
          <a:prstGeom prst="rect">
            <a:avLst/>
          </a:prstGeom>
          <a:solidFill>
            <a:schemeClr val="accent1"/>
          </a:solidFill>
          <a:ln w="12700">
            <a:solidFill>
              <a:srgbClr val="000000"/>
            </a:solidFill>
            <a:prstDash val="solid"/>
          </a:ln>
        </p:spPr>
      </p:sp>
      <p:sp>
        <p:nvSpPr>
          <p:cNvPr id="32" name="Shape 30"/>
          <p:cNvSpPr/>
          <p:nvPr/>
        </p:nvSpPr>
        <p:spPr>
          <a:xfrm>
            <a:off x="9784080" y="4462272"/>
            <a:ext cx="502920" cy="201168"/>
          </a:xfrm>
          <a:prstGeom prst="rect">
            <a:avLst/>
          </a:prstGeom>
          <a:solidFill>
            <a:schemeClr val="bg1"/>
          </a:solidFill>
          <a:ln w="12700">
            <a:solidFill>
              <a:srgbClr val="000000"/>
            </a:solidFill>
            <a:prstDash val="solid"/>
          </a:ln>
        </p:spPr>
      </p:sp>
      <p:sp>
        <p:nvSpPr>
          <p:cNvPr id="33" name="Shape 31"/>
          <p:cNvSpPr/>
          <p:nvPr/>
        </p:nvSpPr>
        <p:spPr>
          <a:xfrm>
            <a:off x="10287000" y="4462272"/>
            <a:ext cx="502920" cy="201168"/>
          </a:xfrm>
          <a:prstGeom prst="rect">
            <a:avLst/>
          </a:prstGeom>
          <a:solidFill>
            <a:schemeClr val="accent1"/>
          </a:solidFill>
          <a:ln w="12700">
            <a:solidFill>
              <a:srgbClr val="000000"/>
            </a:solidFill>
            <a:prstDash val="solid"/>
          </a:ln>
        </p:spPr>
      </p:sp>
      <p:sp>
        <p:nvSpPr>
          <p:cNvPr id="34" name="Shape 32"/>
          <p:cNvSpPr/>
          <p:nvPr/>
        </p:nvSpPr>
        <p:spPr>
          <a:xfrm>
            <a:off x="10789920" y="4462272"/>
            <a:ext cx="502920" cy="201168"/>
          </a:xfrm>
          <a:prstGeom prst="rect">
            <a:avLst/>
          </a:prstGeom>
          <a:solidFill>
            <a:schemeClr val="bg1"/>
          </a:solidFill>
          <a:ln w="12700">
            <a:solidFill>
              <a:srgbClr val="000000"/>
            </a:solidFill>
            <a:prstDash val="solid"/>
          </a:ln>
        </p:spPr>
      </p:sp>
      <p:sp>
        <p:nvSpPr>
          <p:cNvPr id="35" name="Shape 33"/>
          <p:cNvSpPr/>
          <p:nvPr/>
        </p:nvSpPr>
        <p:spPr>
          <a:xfrm>
            <a:off x="7406640" y="4892040"/>
            <a:ext cx="777240" cy="777240"/>
          </a:xfrm>
          <a:prstGeom prst="ellipse">
            <a:avLst/>
          </a:prstGeom>
          <a:solidFill>
            <a:schemeClr val="accent1"/>
          </a:solidFill>
          <a:ln w="12700">
            <a:solidFill>
              <a:srgbClr val="000000"/>
            </a:solidFill>
            <a:prstDash val="solid"/>
          </a:ln>
        </p:spPr>
      </p:sp>
      <p:sp>
        <p:nvSpPr>
          <p:cNvPr id="36" name="Shape 34"/>
          <p:cNvSpPr/>
          <p:nvPr/>
        </p:nvSpPr>
        <p:spPr>
          <a:xfrm>
            <a:off x="7492136" y="4977536"/>
            <a:ext cx="606247" cy="606247"/>
          </a:xfrm>
          <a:prstGeom prst="ellipse">
            <a:avLst/>
          </a:prstGeom>
          <a:solidFill>
            <a:schemeClr val="bg1"/>
          </a:solidFill>
          <a:ln/>
        </p:spPr>
      </p:sp>
      <p:sp>
        <p:nvSpPr>
          <p:cNvPr id="37" name="Text 35"/>
          <p:cNvSpPr txBox="1"/>
          <p:nvPr/>
        </p:nvSpPr>
        <p:spPr>
          <a:xfrm>
            <a:off x="7406640" y="4892040"/>
            <a:ext cx="777240" cy="777240"/>
          </a:xfrm>
          <a:prstGeom prst="rect">
            <a:avLst/>
          </a:prstGeom>
          <a:noFill/>
          <a:ln/>
        </p:spPr>
        <p:txBody>
          <a:bodyPr wrap="square" lIns="0" tIns="0" rIns="0" bIns="0" rtlCol="0" anchor="ctr"/>
          <a:lstStyle/>
          <a:p>
            <a:pPr algn="ctr" indent="0" marL="0">
              <a:buNone/>
            </a:pPr>
            <a:r>
              <a:rPr lang="en-US" sz="1900" b="1" dirty="0">
                <a:solidFill>
                  <a:srgbClr val="000000"/>
                </a:solidFill>
                <a:latin typeface="Arial" pitchFamily="34" charset="0"/>
                <a:ea typeface="Arial" pitchFamily="34" charset="-122"/>
                <a:cs typeface="Arial" pitchFamily="34" charset="-120"/>
              </a:rPr>
              <a:t>30</a:t>
            </a:r>
            <a:endParaRPr lang="en-US" sz="1900" dirty="0"/>
          </a:p>
        </p:txBody>
      </p:sp>
      <p:sp>
        <p:nvSpPr>
          <p:cNvPr id="38" name="Shape 36"/>
          <p:cNvSpPr/>
          <p:nvPr/>
        </p:nvSpPr>
        <p:spPr>
          <a:xfrm>
            <a:off x="8458200" y="4892040"/>
            <a:ext cx="868680" cy="764438"/>
          </a:xfrm>
          <a:prstGeom prst="triangle">
            <a:avLst/>
          </a:prstGeom>
          <a:solidFill>
            <a:schemeClr val="accent1"/>
          </a:solidFill>
          <a:ln w="12700">
            <a:solidFill>
              <a:srgbClr val="000000"/>
            </a:solidFill>
            <a:prstDash val="solid"/>
          </a:ln>
        </p:spPr>
      </p:sp>
      <p:sp>
        <p:nvSpPr>
          <p:cNvPr id="39" name="Shape 37"/>
          <p:cNvSpPr/>
          <p:nvPr/>
        </p:nvSpPr>
        <p:spPr>
          <a:xfrm>
            <a:off x="8597189" y="5124429"/>
            <a:ext cx="590702" cy="519818"/>
          </a:xfrm>
          <a:prstGeom prst="triangle">
            <a:avLst/>
          </a:prstGeom>
          <a:solidFill>
            <a:schemeClr val="bg1"/>
          </a:solidFill>
          <a:ln/>
        </p:spPr>
      </p:sp>
      <p:sp>
        <p:nvSpPr>
          <p:cNvPr id="40" name="Text 38"/>
          <p:cNvSpPr txBox="1"/>
          <p:nvPr/>
        </p:nvSpPr>
        <p:spPr>
          <a:xfrm>
            <a:off x="8458200" y="5083150"/>
            <a:ext cx="868680" cy="538582"/>
          </a:xfrm>
          <a:prstGeom prst="rect">
            <a:avLst/>
          </a:prstGeom>
          <a:noFill/>
          <a:ln/>
        </p:spPr>
        <p:txBody>
          <a:bodyPr wrap="square" lIns="0" tIns="0" rIns="0" bIns="0" rtlCol="0" anchor="ctr"/>
          <a:lstStyle/>
          <a:p>
            <a:pPr algn="ctr" indent="0" marL="0">
              <a:buNone/>
            </a:pPr>
            <a:r>
              <a:rPr lang="en-US" sz="2100" b="1" dirty="0">
                <a:solidFill>
                  <a:srgbClr val="000000"/>
                </a:solidFill>
                <a:latin typeface="Arial" pitchFamily="34" charset="0"/>
                <a:ea typeface="Arial" pitchFamily="34" charset="-122"/>
                <a:cs typeface="Arial" pitchFamily="34" charset="-120"/>
              </a:rPr>
              <a:t>!</a:t>
            </a:r>
            <a:endParaRPr lang="en-US" sz="2100" dirty="0"/>
          </a:p>
        </p:txBody>
      </p:sp>
      <p:sp>
        <p:nvSpPr>
          <p:cNvPr id="41" name="Shape 39"/>
          <p:cNvSpPr/>
          <p:nvPr/>
        </p:nvSpPr>
        <p:spPr>
          <a:xfrm>
            <a:off x="9601200" y="4892040"/>
            <a:ext cx="777240" cy="777240"/>
          </a:xfrm>
          <a:prstGeom prst="octagon">
            <a:avLst/>
          </a:prstGeom>
          <a:solidFill>
            <a:schemeClr val="accent1"/>
          </a:solidFill>
          <a:ln w="12700">
            <a:solidFill>
              <a:srgbClr val="000000"/>
            </a:solidFill>
            <a:prstDash val="solid"/>
          </a:ln>
        </p:spPr>
      </p:sp>
      <p:sp>
        <p:nvSpPr>
          <p:cNvPr id="42" name="Shape 40"/>
          <p:cNvSpPr/>
          <p:nvPr/>
        </p:nvSpPr>
        <p:spPr>
          <a:xfrm>
            <a:off x="9640062" y="4930902"/>
            <a:ext cx="699516" cy="699516"/>
          </a:xfrm>
          <a:prstGeom prst="octagon">
            <a:avLst/>
          </a:prstGeom>
          <a:ln w="19050">
            <a:solidFill>
              <a:srgbClr val="FFFFFF"/>
            </a:solidFill>
            <a:prstDash val="solid"/>
          </a:ln>
        </p:spPr>
      </p:sp>
      <p:sp>
        <p:nvSpPr>
          <p:cNvPr id="43" name="Text 41"/>
          <p:cNvSpPr txBox="1"/>
          <p:nvPr/>
        </p:nvSpPr>
        <p:spPr>
          <a:xfrm>
            <a:off x="9601200" y="4892040"/>
            <a:ext cx="777240" cy="77724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STOP</a:t>
            </a:r>
            <a:endParaRPr lang="en-US" sz="1300" dirty="0"/>
          </a:p>
        </p:txBody>
      </p:sp>
      <p:sp>
        <p:nvSpPr>
          <p:cNvPr id="44" name="Text 42"/>
          <p:cNvSpPr txBox="1"/>
          <p:nvPr/>
        </p:nvSpPr>
        <p:spPr>
          <a:xfrm>
            <a:off x="10835640" y="3063240"/>
            <a:ext cx="457200" cy="365760"/>
          </a:xfrm>
          <a:prstGeom prst="rect">
            <a:avLst/>
          </a:prstGeom>
          <a:noFill/>
          <a:ln/>
        </p:spPr>
        <p:txBody>
          <a:bodyPr wrap="square" lIns="0" tIns="0" rIns="0" bIns="0" rtlCol="0" anchor="ctr"/>
          <a:lstStyle/>
          <a:p>
            <a:pPr indent="0" marL="0">
              <a:buNone/>
            </a:pPr>
            <a:r>
              <a:rPr lang="en-US" sz="1400" b="1" dirty="0">
                <a:solidFill>
                  <a:schemeClr val="accent2"/>
                </a:solidFill>
              </a:rPr>
              <a:t>CL</a:t>
            </a:r>
            <a:endParaRPr lang="en-US" sz="1400" dirty="0"/>
          </a:p>
        </p:txBody>
      </p:sp>
      <p:sp>
        <p:nvSpPr>
          <p:cNvPr id="45" name="Text 43"/>
          <p:cNvSpPr txBox="1"/>
          <p:nvPr/>
        </p:nvSpPr>
        <p:spPr>
          <a:xfrm>
            <a:off x="7269480" y="1143000"/>
            <a:ext cx="4023360" cy="365760"/>
          </a:xfrm>
          <a:prstGeom prst="rect">
            <a:avLst/>
          </a:prstGeom>
          <a:noFill/>
          <a:ln/>
        </p:spPr>
        <p:txBody>
          <a:bodyPr wrap="square" lIns="0" tIns="0" rIns="0" bIns="0" rtlCol="0" anchor="ctr"/>
          <a:lstStyle/>
          <a:p>
            <a:pPr indent="0" marL="0">
              <a:buNone/>
            </a:pPr>
            <a:r>
              <a:rPr lang="en-US" sz="1400" dirty="0">
                <a:solidFill>
                  <a:schemeClr val="accent6"/>
                </a:solidFill>
              </a:rPr>
              <a:t>Plan view built by one command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One command builds the complete road</a:t>
            </a:r>
            <a:endParaRPr lang="en-US" sz="3200" dirty="0"/>
          </a:p>
        </p:txBody>
      </p:sp>
      <p:sp>
        <p:nvSpPr>
          <p:cNvPr id="3" name="Shape 1"/>
          <p:cNvSpPr/>
          <p:nvPr/>
        </p:nvSpPr>
        <p:spPr>
          <a:xfrm>
            <a:off x="548640" y="1371600"/>
            <a:ext cx="2606040" cy="2240280"/>
          </a:xfrm>
          <a:prstGeom prst="roundRect">
            <a:avLst>
              <a:gd name="adj" fmla="val 4082"/>
            </a:avLst>
          </a:prstGeom>
          <a:solidFill>
            <a:schemeClr val="bg2"/>
          </a:solidFill>
          <a:ln w="9525">
            <a:solidFill>
              <a:schemeClr val="accent6"/>
            </a:solidFill>
            <a:prstDash val="solid"/>
          </a:ln>
        </p:spPr>
      </p:sp>
      <p:sp>
        <p:nvSpPr>
          <p:cNvPr id="4" name="Shape 2"/>
          <p:cNvSpPr/>
          <p:nvPr/>
        </p:nvSpPr>
        <p:spPr>
          <a:xfrm>
            <a:off x="777240" y="1600200"/>
            <a:ext cx="685800" cy="68580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41832" y="1764792"/>
            <a:ext cx="356616" cy="356616"/>
          </a:xfrm>
          <a:prstGeom prst="rect">
            <a:avLst/>
          </a:prstGeom>
        </p:spPr>
      </p:pic>
      <p:sp>
        <p:nvSpPr>
          <p:cNvPr id="6" name="Text 3"/>
          <p:cNvSpPr txBox="1"/>
          <p:nvPr/>
        </p:nvSpPr>
        <p:spPr>
          <a:xfrm>
            <a:off x="777240" y="239572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Road and edges</a:t>
            </a:r>
            <a:endParaRPr lang="en-US" sz="1700" dirty="0"/>
          </a:p>
        </p:txBody>
      </p:sp>
      <p:sp>
        <p:nvSpPr>
          <p:cNvPr id="7" name="Text 4"/>
          <p:cNvSpPr txBox="1"/>
          <p:nvPr/>
        </p:nvSpPr>
        <p:spPr>
          <a:xfrm>
            <a:off x="777240" y="2761488"/>
            <a:ext cx="2194560" cy="731520"/>
          </a:xfrm>
          <a:prstGeom prst="rect">
            <a:avLst/>
          </a:prstGeom>
          <a:noFill/>
          <a:ln/>
        </p:spPr>
        <p:txBody>
          <a:bodyPr wrap="square" lIns="0" tIns="0" rIns="0" bIns="0" rtlCol="0" anchor="t"/>
          <a:lstStyle/>
          <a:p>
            <a:pPr indent="0" marL="0">
              <a:buNone/>
            </a:pPr>
            <a:r>
              <a:rPr lang="en-US" sz="1400" dirty="0">
                <a:solidFill>
                  <a:schemeClr val="tx2"/>
                </a:solidFill>
              </a:rPr>
              <a:t>Width both sides of the CL, CL linetype, surface hatch, chainage</a:t>
            </a:r>
            <a:endParaRPr lang="en-US" sz="1400" dirty="0"/>
          </a:p>
        </p:txBody>
      </p:sp>
      <p:sp>
        <p:nvSpPr>
          <p:cNvPr id="8" name="Shape 5"/>
          <p:cNvSpPr/>
          <p:nvPr/>
        </p:nvSpPr>
        <p:spPr>
          <a:xfrm>
            <a:off x="3355848" y="1371600"/>
            <a:ext cx="2606040" cy="2240280"/>
          </a:xfrm>
          <a:prstGeom prst="roundRect">
            <a:avLst>
              <a:gd name="adj" fmla="val 4082"/>
            </a:avLst>
          </a:prstGeom>
          <a:solidFill>
            <a:schemeClr val="bg2"/>
          </a:solidFill>
          <a:ln w="9525">
            <a:solidFill>
              <a:schemeClr val="accent6"/>
            </a:solidFill>
            <a:prstDash val="solid"/>
          </a:ln>
        </p:spPr>
      </p:sp>
      <p:sp>
        <p:nvSpPr>
          <p:cNvPr id="9" name="Shape 6"/>
          <p:cNvSpPr/>
          <p:nvPr/>
        </p:nvSpPr>
        <p:spPr>
          <a:xfrm>
            <a:off x="3584448" y="1600200"/>
            <a:ext cx="685800" cy="68580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49040" y="1764792"/>
            <a:ext cx="356616" cy="356616"/>
          </a:xfrm>
          <a:prstGeom prst="rect">
            <a:avLst/>
          </a:prstGeom>
        </p:spPr>
      </p:pic>
      <p:sp>
        <p:nvSpPr>
          <p:cNvPr id="11" name="Text 7"/>
          <p:cNvSpPr txBox="1"/>
          <p:nvPr/>
        </p:nvSpPr>
        <p:spPr>
          <a:xfrm>
            <a:off x="3584448" y="239572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Turning radius</a:t>
            </a:r>
            <a:endParaRPr lang="en-US" sz="1700" dirty="0"/>
          </a:p>
        </p:txBody>
      </p:sp>
      <p:sp>
        <p:nvSpPr>
          <p:cNvPr id="12" name="Text 8"/>
          <p:cNvSpPr txBox="1"/>
          <p:nvPr/>
        </p:nvSpPr>
        <p:spPr>
          <a:xfrm>
            <a:off x="3584448" y="2761488"/>
            <a:ext cx="2194560" cy="731520"/>
          </a:xfrm>
          <a:prstGeom prst="rect">
            <a:avLst/>
          </a:prstGeom>
          <a:noFill/>
          <a:ln/>
        </p:spPr>
        <p:txBody>
          <a:bodyPr wrap="square" lIns="0" tIns="0" rIns="0" bIns="0" rtlCol="0" anchor="t"/>
          <a:lstStyle/>
          <a:p>
            <a:pPr indent="0" marL="0">
              <a:buNone/>
            </a:pPr>
            <a:r>
              <a:rPr lang="en-US" sz="1400" dirty="0">
                <a:solidFill>
                  <a:schemeClr val="tx2"/>
                </a:solidFill>
              </a:rPr>
              <a:t>Every bend filleted, default 10 m at the centre line</a:t>
            </a:r>
            <a:endParaRPr lang="en-US" sz="1400" dirty="0"/>
          </a:p>
        </p:txBody>
      </p:sp>
      <p:sp>
        <p:nvSpPr>
          <p:cNvPr id="13" name="Shape 9"/>
          <p:cNvSpPr/>
          <p:nvPr/>
        </p:nvSpPr>
        <p:spPr>
          <a:xfrm>
            <a:off x="6163056" y="1371600"/>
            <a:ext cx="2606040" cy="2240280"/>
          </a:xfrm>
          <a:prstGeom prst="roundRect">
            <a:avLst>
              <a:gd name="adj" fmla="val 4082"/>
            </a:avLst>
          </a:prstGeom>
          <a:solidFill>
            <a:schemeClr val="bg2"/>
          </a:solidFill>
          <a:ln w="9525">
            <a:solidFill>
              <a:schemeClr val="accent6"/>
            </a:solidFill>
            <a:prstDash val="solid"/>
          </a:ln>
        </p:spPr>
      </p:sp>
      <p:sp>
        <p:nvSpPr>
          <p:cNvPr id="14" name="Shape 10"/>
          <p:cNvSpPr/>
          <p:nvPr/>
        </p:nvSpPr>
        <p:spPr>
          <a:xfrm>
            <a:off x="6391656" y="1600200"/>
            <a:ext cx="685800" cy="68580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56248" y="1764792"/>
            <a:ext cx="356616" cy="356616"/>
          </a:xfrm>
          <a:prstGeom prst="rect">
            <a:avLst/>
          </a:prstGeom>
        </p:spPr>
      </p:pic>
      <p:sp>
        <p:nvSpPr>
          <p:cNvPr id="16" name="Text 11"/>
          <p:cNvSpPr txBox="1"/>
          <p:nvPr/>
        </p:nvSpPr>
        <p:spPr>
          <a:xfrm>
            <a:off x="6391656" y="239572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Barricades</a:t>
            </a:r>
            <a:endParaRPr lang="en-US" sz="1700" dirty="0"/>
          </a:p>
        </p:txBody>
      </p:sp>
      <p:sp>
        <p:nvSpPr>
          <p:cNvPr id="17" name="Text 12"/>
          <p:cNvSpPr txBox="1"/>
          <p:nvPr/>
        </p:nvSpPr>
        <p:spPr>
          <a:xfrm>
            <a:off x="6391656" y="2761488"/>
            <a:ext cx="2194560" cy="731520"/>
          </a:xfrm>
          <a:prstGeom prst="rect">
            <a:avLst/>
          </a:prstGeom>
          <a:noFill/>
          <a:ln/>
        </p:spPr>
        <p:txBody>
          <a:bodyPr wrap="square" lIns="0" tIns="0" rIns="0" bIns="0" rtlCol="0" anchor="t"/>
          <a:lstStyle/>
          <a:p>
            <a:pPr indent="0" marL="0">
              <a:buNone/>
            </a:pPr>
            <a:r>
              <a:rPr lang="en-US" sz="1400" dirty="0">
                <a:solidFill>
                  <a:schemeClr val="tx2"/>
                </a:solidFill>
              </a:rPr>
              <a:t>Red and white units, black outline, left / right / median</a:t>
            </a:r>
            <a:endParaRPr lang="en-US" sz="1400" dirty="0"/>
          </a:p>
        </p:txBody>
      </p:sp>
      <p:sp>
        <p:nvSpPr>
          <p:cNvPr id="18" name="Shape 13"/>
          <p:cNvSpPr/>
          <p:nvPr/>
        </p:nvSpPr>
        <p:spPr>
          <a:xfrm>
            <a:off x="8970264" y="1371600"/>
            <a:ext cx="2606040" cy="2240280"/>
          </a:xfrm>
          <a:prstGeom prst="roundRect">
            <a:avLst>
              <a:gd name="adj" fmla="val 4082"/>
            </a:avLst>
          </a:prstGeom>
          <a:solidFill>
            <a:schemeClr val="bg2"/>
          </a:solidFill>
          <a:ln w="9525">
            <a:solidFill>
              <a:schemeClr val="accent6"/>
            </a:solidFill>
            <a:prstDash val="solid"/>
          </a:ln>
        </p:spPr>
      </p:sp>
      <p:sp>
        <p:nvSpPr>
          <p:cNvPr id="19" name="Shape 14"/>
          <p:cNvSpPr/>
          <p:nvPr/>
        </p:nvSpPr>
        <p:spPr>
          <a:xfrm>
            <a:off x="9198864" y="1600200"/>
            <a:ext cx="685800" cy="68580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363456" y="1764792"/>
            <a:ext cx="356616" cy="356616"/>
          </a:xfrm>
          <a:prstGeom prst="rect">
            <a:avLst/>
          </a:prstGeom>
        </p:spPr>
      </p:pic>
      <p:sp>
        <p:nvSpPr>
          <p:cNvPr id="21" name="Text 15"/>
          <p:cNvSpPr txBox="1"/>
          <p:nvPr/>
        </p:nvSpPr>
        <p:spPr>
          <a:xfrm>
            <a:off x="9198864" y="239572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Widening and tapers</a:t>
            </a:r>
            <a:endParaRPr lang="en-US" sz="1700" dirty="0"/>
          </a:p>
        </p:txBody>
      </p:sp>
      <p:sp>
        <p:nvSpPr>
          <p:cNvPr id="22" name="Text 16"/>
          <p:cNvSpPr txBox="1"/>
          <p:nvPr/>
        </p:nvSpPr>
        <p:spPr>
          <a:xfrm>
            <a:off x="9198864" y="2761488"/>
            <a:ext cx="2194560" cy="731520"/>
          </a:xfrm>
          <a:prstGeom prst="rect">
            <a:avLst/>
          </a:prstGeom>
          <a:noFill/>
          <a:ln/>
        </p:spPr>
        <p:txBody>
          <a:bodyPr wrap="square" lIns="0" tIns="0" rIns="0" bIns="0" rtlCol="0" anchor="t"/>
          <a:lstStyle/>
          <a:p>
            <a:pPr indent="0" marL="0">
              <a:buNone/>
            </a:pPr>
            <a:r>
              <a:rPr lang="en-US" sz="1400" dirty="0">
                <a:solidFill>
                  <a:schemeClr val="tx2"/>
                </a:solidFill>
              </a:rPr>
              <a:t>Extra lane (RDW) or width change (RDT) anywhere</a:t>
            </a:r>
            <a:endParaRPr lang="en-US" sz="1400" dirty="0"/>
          </a:p>
        </p:txBody>
      </p:sp>
      <p:sp>
        <p:nvSpPr>
          <p:cNvPr id="23" name="Shape 17"/>
          <p:cNvSpPr/>
          <p:nvPr/>
        </p:nvSpPr>
        <p:spPr>
          <a:xfrm>
            <a:off x="548640" y="3840480"/>
            <a:ext cx="2606040" cy="2240280"/>
          </a:xfrm>
          <a:prstGeom prst="roundRect">
            <a:avLst>
              <a:gd name="adj" fmla="val 4082"/>
            </a:avLst>
          </a:prstGeom>
          <a:solidFill>
            <a:schemeClr val="bg2"/>
          </a:solidFill>
          <a:ln w="9525">
            <a:solidFill>
              <a:schemeClr val="accent6"/>
            </a:solidFill>
            <a:prstDash val="solid"/>
          </a:ln>
        </p:spPr>
      </p:sp>
      <p:sp>
        <p:nvSpPr>
          <p:cNvPr id="24" name="Shape 18"/>
          <p:cNvSpPr/>
          <p:nvPr/>
        </p:nvSpPr>
        <p:spPr>
          <a:xfrm>
            <a:off x="777240" y="4069080"/>
            <a:ext cx="685800" cy="685800"/>
          </a:xfrm>
          <a:prstGeom prst="ellipse">
            <a:avLst/>
          </a:prstGeom>
          <a:solidFill>
            <a:schemeClr val="tx1"/>
          </a:solidFill>
          <a:ln/>
        </p:spPr>
      </p:sp>
      <p:pic>
        <p:nvPicPr>
          <p:cNvPr id="25" name="Image 4" descr="preencoded.png">    </p:cNvPr>
          <p:cNvPicPr>
            <a:picLocks noChangeAspect="1"/>
          </p:cNvPicPr>
          <p:nvPr/>
        </p:nvPicPr>
        <p:blipFill>
          <a:blip r:embed="rId5"/>
          <a:stretch>
            <a:fillRect/>
          </a:stretch>
        </p:blipFill>
        <p:spPr>
          <a:xfrm>
            <a:off x="941832" y="4233672"/>
            <a:ext cx="356616" cy="356616"/>
          </a:xfrm>
          <a:prstGeom prst="rect">
            <a:avLst/>
          </a:prstGeom>
        </p:spPr>
      </p:pic>
      <p:sp>
        <p:nvSpPr>
          <p:cNvPr id="26" name="Text 19"/>
          <p:cNvSpPr txBox="1"/>
          <p:nvPr/>
        </p:nvSpPr>
        <p:spPr>
          <a:xfrm>
            <a:off x="777240" y="486460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Signs and markings</a:t>
            </a:r>
            <a:endParaRPr lang="en-US" sz="1700" dirty="0"/>
          </a:p>
        </p:txBody>
      </p:sp>
      <p:sp>
        <p:nvSpPr>
          <p:cNvPr id="27" name="Text 20"/>
          <p:cNvSpPr txBox="1"/>
          <p:nvPr/>
        </p:nvSpPr>
        <p:spPr>
          <a:xfrm>
            <a:off x="777240" y="5230368"/>
            <a:ext cx="2194560" cy="731520"/>
          </a:xfrm>
          <a:prstGeom prst="rect">
            <a:avLst/>
          </a:prstGeom>
          <a:noFill/>
          <a:ln/>
        </p:spPr>
        <p:txBody>
          <a:bodyPr wrap="square" lIns="0" tIns="0" rIns="0" bIns="0" rtlCol="0" anchor="t"/>
          <a:lstStyle/>
          <a:p>
            <a:pPr indent="0" marL="0">
              <a:buNone/>
            </a:pPr>
            <a:r>
              <a:rPr lang="en-US" sz="1400" dirty="0">
                <a:solidFill>
                  <a:schemeClr val="tx2"/>
                </a:solidFill>
              </a:rPr>
              <a:t>Posts, plates, IDs, lane arrows, sign schedule</a:t>
            </a:r>
            <a:endParaRPr lang="en-US" sz="1400" dirty="0"/>
          </a:p>
        </p:txBody>
      </p:sp>
      <p:sp>
        <p:nvSpPr>
          <p:cNvPr id="28" name="Shape 21"/>
          <p:cNvSpPr/>
          <p:nvPr/>
        </p:nvSpPr>
        <p:spPr>
          <a:xfrm>
            <a:off x="3355848" y="3840480"/>
            <a:ext cx="2606040" cy="2240280"/>
          </a:xfrm>
          <a:prstGeom prst="roundRect">
            <a:avLst>
              <a:gd name="adj" fmla="val 4082"/>
            </a:avLst>
          </a:prstGeom>
          <a:solidFill>
            <a:schemeClr val="bg2"/>
          </a:solidFill>
          <a:ln w="9525">
            <a:solidFill>
              <a:schemeClr val="accent6"/>
            </a:solidFill>
            <a:prstDash val="solid"/>
          </a:ln>
        </p:spPr>
      </p:sp>
      <p:sp>
        <p:nvSpPr>
          <p:cNvPr id="29" name="Shape 22"/>
          <p:cNvSpPr/>
          <p:nvPr/>
        </p:nvSpPr>
        <p:spPr>
          <a:xfrm>
            <a:off x="3584448" y="4069080"/>
            <a:ext cx="685800" cy="685800"/>
          </a:xfrm>
          <a:prstGeom prst="ellipse">
            <a:avLst/>
          </a:prstGeom>
          <a:solidFill>
            <a:schemeClr val="tx1"/>
          </a:solidFill>
          <a:ln/>
        </p:spPr>
      </p:sp>
      <p:pic>
        <p:nvPicPr>
          <p:cNvPr id="30" name="Image 5" descr="preencoded.png">    </p:cNvPr>
          <p:cNvPicPr>
            <a:picLocks noChangeAspect="1"/>
          </p:cNvPicPr>
          <p:nvPr/>
        </p:nvPicPr>
        <p:blipFill>
          <a:blip r:embed="rId6"/>
          <a:stretch>
            <a:fillRect/>
          </a:stretch>
        </p:blipFill>
        <p:spPr>
          <a:xfrm>
            <a:off x="3749040" y="4233672"/>
            <a:ext cx="356616" cy="356616"/>
          </a:xfrm>
          <a:prstGeom prst="rect">
            <a:avLst/>
          </a:prstGeom>
        </p:spPr>
      </p:pic>
      <p:sp>
        <p:nvSpPr>
          <p:cNvPr id="31" name="Text 23"/>
          <p:cNvSpPr txBox="1"/>
          <p:nvPr/>
        </p:nvSpPr>
        <p:spPr>
          <a:xfrm>
            <a:off x="3584448" y="486460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Radius and sections</a:t>
            </a:r>
            <a:endParaRPr lang="en-US" sz="1700" dirty="0"/>
          </a:p>
        </p:txBody>
      </p:sp>
      <p:sp>
        <p:nvSpPr>
          <p:cNvPr id="32" name="Text 24"/>
          <p:cNvSpPr txBox="1"/>
          <p:nvPr/>
        </p:nvSpPr>
        <p:spPr>
          <a:xfrm>
            <a:off x="3584448" y="5230368"/>
            <a:ext cx="2194560" cy="731520"/>
          </a:xfrm>
          <a:prstGeom prst="rect">
            <a:avLst/>
          </a:prstGeom>
          <a:noFill/>
          <a:ln/>
        </p:spPr>
        <p:txBody>
          <a:bodyPr wrap="square" lIns="0" tIns="0" rIns="0" bIns="0" rtlCol="0" anchor="t"/>
          <a:lstStyle/>
          <a:p>
            <a:pPr indent="0" marL="0">
              <a:buNone/>
            </a:pPr>
            <a:r>
              <a:rPr lang="en-US" sz="1400" dirty="0">
                <a:solidFill>
                  <a:schemeClr val="tx2"/>
                </a:solidFill>
              </a:rPr>
              <a:t>C1 curve data and S1 straight data on the plan</a:t>
            </a:r>
            <a:endParaRPr lang="en-US" sz="1400" dirty="0"/>
          </a:p>
        </p:txBody>
      </p:sp>
      <p:sp>
        <p:nvSpPr>
          <p:cNvPr id="33" name="Shape 25"/>
          <p:cNvSpPr/>
          <p:nvPr/>
        </p:nvSpPr>
        <p:spPr>
          <a:xfrm>
            <a:off x="6163056" y="3840480"/>
            <a:ext cx="2606040" cy="2240280"/>
          </a:xfrm>
          <a:prstGeom prst="roundRect">
            <a:avLst>
              <a:gd name="adj" fmla="val 4082"/>
            </a:avLst>
          </a:prstGeom>
          <a:solidFill>
            <a:schemeClr val="bg2"/>
          </a:solidFill>
          <a:ln w="9525">
            <a:solidFill>
              <a:schemeClr val="accent6"/>
            </a:solidFill>
            <a:prstDash val="solid"/>
          </a:ln>
        </p:spPr>
      </p:sp>
      <p:sp>
        <p:nvSpPr>
          <p:cNvPr id="34" name="Shape 26"/>
          <p:cNvSpPr/>
          <p:nvPr/>
        </p:nvSpPr>
        <p:spPr>
          <a:xfrm>
            <a:off x="6391656" y="4069080"/>
            <a:ext cx="685800" cy="685800"/>
          </a:xfrm>
          <a:prstGeom prst="ellipse">
            <a:avLst/>
          </a:prstGeom>
          <a:solidFill>
            <a:schemeClr val="tx1"/>
          </a:solidFill>
          <a:ln/>
        </p:spPr>
      </p:sp>
      <p:pic>
        <p:nvPicPr>
          <p:cNvPr id="35" name="Image 6" descr="preencoded.png">    </p:cNvPr>
          <p:cNvPicPr>
            <a:picLocks noChangeAspect="1"/>
          </p:cNvPicPr>
          <p:nvPr/>
        </p:nvPicPr>
        <p:blipFill>
          <a:blip r:embed="rId7"/>
          <a:stretch>
            <a:fillRect/>
          </a:stretch>
        </p:blipFill>
        <p:spPr>
          <a:xfrm>
            <a:off x="6556248" y="4233672"/>
            <a:ext cx="356616" cy="356616"/>
          </a:xfrm>
          <a:prstGeom prst="rect">
            <a:avLst/>
          </a:prstGeom>
        </p:spPr>
      </p:pic>
      <p:sp>
        <p:nvSpPr>
          <p:cNvPr id="36" name="Text 27"/>
          <p:cNvSpPr txBox="1"/>
          <p:nvPr/>
        </p:nvSpPr>
        <p:spPr>
          <a:xfrm>
            <a:off x="6391656" y="486460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Cross sections</a:t>
            </a:r>
            <a:endParaRPr lang="en-US" sz="1700" dirty="0"/>
          </a:p>
        </p:txBody>
      </p:sp>
      <p:sp>
        <p:nvSpPr>
          <p:cNvPr id="37" name="Text 28"/>
          <p:cNvSpPr txBox="1"/>
          <p:nvPr/>
        </p:nvSpPr>
        <p:spPr>
          <a:xfrm>
            <a:off x="6391656" y="5230368"/>
            <a:ext cx="2194560" cy="731520"/>
          </a:xfrm>
          <a:prstGeom prst="rect">
            <a:avLst/>
          </a:prstGeom>
          <a:noFill/>
          <a:ln/>
        </p:spPr>
        <p:txBody>
          <a:bodyPr wrap="square" lIns="0" tIns="0" rIns="0" bIns="0" rtlCol="0" anchor="t"/>
          <a:lstStyle/>
          <a:p>
            <a:pPr indent="0" marL="0">
              <a:buNone/>
            </a:pPr>
            <a:r>
              <a:rPr lang="en-US" sz="1400" dirty="0">
                <a:solidFill>
                  <a:schemeClr val="tx2"/>
                </a:solidFill>
              </a:rPr>
              <a:t>Layers, crossfall, barricade and sign heights, dims</a:t>
            </a:r>
            <a:endParaRPr lang="en-US" sz="1400" dirty="0"/>
          </a:p>
        </p:txBody>
      </p:sp>
      <p:sp>
        <p:nvSpPr>
          <p:cNvPr id="38" name="Shape 29"/>
          <p:cNvSpPr/>
          <p:nvPr/>
        </p:nvSpPr>
        <p:spPr>
          <a:xfrm>
            <a:off x="8970264" y="3840480"/>
            <a:ext cx="2606040" cy="2240280"/>
          </a:xfrm>
          <a:prstGeom prst="roundRect">
            <a:avLst>
              <a:gd name="adj" fmla="val 4082"/>
            </a:avLst>
          </a:prstGeom>
          <a:solidFill>
            <a:schemeClr val="bg2"/>
          </a:solidFill>
          <a:ln w="9525">
            <a:solidFill>
              <a:schemeClr val="accent6"/>
            </a:solidFill>
            <a:prstDash val="solid"/>
          </a:ln>
        </p:spPr>
      </p:sp>
      <p:sp>
        <p:nvSpPr>
          <p:cNvPr id="39" name="Shape 30"/>
          <p:cNvSpPr/>
          <p:nvPr/>
        </p:nvSpPr>
        <p:spPr>
          <a:xfrm>
            <a:off x="9198864" y="4069080"/>
            <a:ext cx="685800" cy="685800"/>
          </a:xfrm>
          <a:prstGeom prst="ellipse">
            <a:avLst/>
          </a:prstGeom>
          <a:solidFill>
            <a:schemeClr val="tx1"/>
          </a:solidFill>
          <a:ln/>
        </p:spPr>
      </p:sp>
      <p:pic>
        <p:nvPicPr>
          <p:cNvPr id="40" name="Image 7" descr="preencoded.png">    </p:cNvPr>
          <p:cNvPicPr>
            <a:picLocks noChangeAspect="1"/>
          </p:cNvPicPr>
          <p:nvPr/>
        </p:nvPicPr>
        <p:blipFill>
          <a:blip r:embed="rId8"/>
          <a:stretch>
            <a:fillRect/>
          </a:stretch>
        </p:blipFill>
        <p:spPr>
          <a:xfrm>
            <a:off x="9363456" y="4233672"/>
            <a:ext cx="356616" cy="356616"/>
          </a:xfrm>
          <a:prstGeom prst="rect">
            <a:avLst/>
          </a:prstGeom>
        </p:spPr>
      </p:pic>
      <p:sp>
        <p:nvSpPr>
          <p:cNvPr id="41" name="Text 31"/>
          <p:cNvSpPr txBox="1"/>
          <p:nvPr/>
        </p:nvSpPr>
        <p:spPr>
          <a:xfrm>
            <a:off x="9198864" y="4864608"/>
            <a:ext cx="2194560" cy="365760"/>
          </a:xfrm>
          <a:prstGeom prst="rect">
            <a:avLst/>
          </a:prstGeom>
          <a:noFill/>
          <a:ln/>
        </p:spPr>
        <p:txBody>
          <a:bodyPr wrap="square" lIns="0" tIns="0" rIns="0" bIns="0" rtlCol="0" anchor="ctr"/>
          <a:lstStyle/>
          <a:p>
            <a:pPr indent="0" marL="0">
              <a:buNone/>
            </a:pPr>
            <a:r>
              <a:rPr lang="en-US" sz="1700" b="1" dirty="0">
                <a:solidFill>
                  <a:schemeClr val="tx1"/>
                </a:solidFill>
              </a:rPr>
              <a:t>Report and Excel</a:t>
            </a:r>
            <a:endParaRPr lang="en-US" sz="1700" dirty="0"/>
          </a:p>
        </p:txBody>
      </p:sp>
      <p:sp>
        <p:nvSpPr>
          <p:cNvPr id="42" name="Text 32"/>
          <p:cNvSpPr txBox="1"/>
          <p:nvPr/>
        </p:nvSpPr>
        <p:spPr>
          <a:xfrm>
            <a:off x="9198864" y="5230368"/>
            <a:ext cx="2194560" cy="731520"/>
          </a:xfrm>
          <a:prstGeom prst="rect">
            <a:avLst/>
          </a:prstGeom>
          <a:noFill/>
          <a:ln/>
        </p:spPr>
        <p:txBody>
          <a:bodyPr wrap="square" lIns="0" tIns="0" rIns="0" bIns="0" rtlCol="0" anchor="t"/>
          <a:lstStyle/>
          <a:p>
            <a:pPr indent="0" marL="0">
              <a:buNone/>
            </a:pPr>
            <a:r>
              <a:rPr lang="en-US" sz="1400" dirty="0">
                <a:solidFill>
                  <a:schemeClr val="tx2"/>
                </a:solidFill>
              </a:rPr>
              <a:t>Tables in the drawing plus a CSV file for Excel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Install and load in under a minute</a:t>
            </a:r>
            <a:endParaRPr lang="en-US" sz="3200" dirty="0"/>
          </a:p>
        </p:txBody>
      </p:sp>
      <p:sp>
        <p:nvSpPr>
          <p:cNvPr id="3" name="Shape 1"/>
          <p:cNvSpPr/>
          <p:nvPr/>
        </p:nvSpPr>
        <p:spPr>
          <a:xfrm>
            <a:off x="548640" y="1417320"/>
            <a:ext cx="548640" cy="548640"/>
          </a:xfrm>
          <a:prstGeom prst="ellipse">
            <a:avLst/>
          </a:prstGeom>
          <a:solidFill>
            <a:schemeClr val="accent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Shape 3"/>
          <p:cNvSpPr/>
          <p:nvPr/>
        </p:nvSpPr>
        <p:spPr>
          <a:xfrm>
            <a:off x="1234440" y="1691640"/>
            <a:ext cx="1984248" cy="0"/>
          </a:xfrm>
          <a:prstGeom prst="line">
            <a:avLst/>
          </a:prstGeom>
          <a:noFill/>
          <a:ln w="19050">
            <a:solidFill>
              <a:schemeClr val="accent6"/>
            </a:solidFill>
            <a:prstDash val="dash"/>
          </a:ln>
        </p:spPr>
      </p:sp>
      <p:sp>
        <p:nvSpPr>
          <p:cNvPr id="6" name="keycap APPLOAD"/>
          <p:cNvSpPr/>
          <p:nvPr/>
        </p:nvSpPr>
        <p:spPr>
          <a:xfrm>
            <a:off x="548640" y="2240280"/>
            <a:ext cx="1828800" cy="548640"/>
          </a:xfrm>
          <a:prstGeom prst="roundRect">
            <a:avLst>
              <a:gd name="adj" fmla="val 13333"/>
            </a:avLst>
          </a:prstGeom>
          <a:solidFill>
            <a:schemeClr val="tx1"/>
          </a:solidFill>
          <a:ln w="12700">
            <a:solidFill>
              <a:schemeClr val="tx2"/>
            </a:solidFill>
            <a:prstDash val="solid"/>
          </a:ln>
          <a:effectLst>
            <a:outerShdw sx="100000" sy="100000" kx="0" ky="0" algn="bl" rotWithShape="0" blurRad="38100" dist="25400" dir="5400000">
              <a:srgbClr val="000000">
                <a:alpha val="25000"/>
              </a:srgbClr>
            </a:outerShdw>
          </a:effectLst>
        </p:spPr>
      </p:sp>
      <p:sp>
        <p:nvSpPr>
          <p:cNvPr id="7" name="Text 5"/>
          <p:cNvSpPr txBox="1"/>
          <p:nvPr/>
        </p:nvSpPr>
        <p:spPr>
          <a:xfrm>
            <a:off x="548640" y="2240280"/>
            <a:ext cx="18288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APPLOAD</a:t>
            </a:r>
            <a:endParaRPr lang="en-US" sz="1800" dirty="0"/>
          </a:p>
        </p:txBody>
      </p:sp>
      <p:sp>
        <p:nvSpPr>
          <p:cNvPr id="8" name="Text 6"/>
          <p:cNvSpPr txBox="1"/>
          <p:nvPr/>
        </p:nvSpPr>
        <p:spPr>
          <a:xfrm>
            <a:off x="548640" y="2971800"/>
            <a:ext cx="2514600" cy="822960"/>
          </a:xfrm>
          <a:prstGeom prst="rect">
            <a:avLst/>
          </a:prstGeom>
          <a:noFill/>
          <a:ln/>
        </p:spPr>
        <p:txBody>
          <a:bodyPr wrap="square" lIns="0" tIns="0" rIns="0" bIns="0" rtlCol="0" anchor="t"/>
          <a:lstStyle/>
          <a:p>
            <a:pPr indent="0" marL="0">
              <a:buNone/>
            </a:pPr>
            <a:r>
              <a:rPr lang="en-US" sz="1500" dirty="0">
                <a:solidFill>
                  <a:schemeClr val="tx2"/>
                </a:solidFill>
              </a:rPr>
              <a:t>Type APPLOAD in the AutoCAD command line</a:t>
            </a:r>
            <a:endParaRPr lang="en-US" sz="1500" dirty="0"/>
          </a:p>
        </p:txBody>
      </p:sp>
      <p:sp>
        <p:nvSpPr>
          <p:cNvPr id="9" name="Shape 7"/>
          <p:cNvSpPr/>
          <p:nvPr/>
        </p:nvSpPr>
        <p:spPr>
          <a:xfrm>
            <a:off x="3355848" y="1417320"/>
            <a:ext cx="548640" cy="548640"/>
          </a:xfrm>
          <a:prstGeom prst="ellipse">
            <a:avLst/>
          </a:prstGeom>
          <a:solidFill>
            <a:schemeClr val="accent1"/>
          </a:solidFill>
          <a:ln/>
        </p:spPr>
      </p:sp>
      <p:sp>
        <p:nvSpPr>
          <p:cNvPr id="10" name="Text 8"/>
          <p:cNvSpPr txBox="1"/>
          <p:nvPr/>
        </p:nvSpPr>
        <p:spPr>
          <a:xfrm>
            <a:off x="3355848"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Shape 9"/>
          <p:cNvSpPr/>
          <p:nvPr/>
        </p:nvSpPr>
        <p:spPr>
          <a:xfrm>
            <a:off x="4041648" y="1691640"/>
            <a:ext cx="1984248" cy="0"/>
          </a:xfrm>
          <a:prstGeom prst="line">
            <a:avLst/>
          </a:prstGeom>
          <a:noFill/>
          <a:ln w="19050">
            <a:solidFill>
              <a:schemeClr val="accent6"/>
            </a:solidFill>
            <a:prstDash val="dash"/>
          </a:ln>
        </p:spPr>
      </p:sp>
      <p:sp>
        <p:nvSpPr>
          <p:cNvPr id="12" name="keycap Load"/>
          <p:cNvSpPr/>
          <p:nvPr/>
        </p:nvSpPr>
        <p:spPr>
          <a:xfrm>
            <a:off x="3355848" y="2240280"/>
            <a:ext cx="1828800" cy="548640"/>
          </a:xfrm>
          <a:prstGeom prst="roundRect">
            <a:avLst>
              <a:gd name="adj" fmla="val 13333"/>
            </a:avLst>
          </a:prstGeom>
          <a:solidFill>
            <a:schemeClr val="tx1"/>
          </a:solidFill>
          <a:ln w="12700">
            <a:solidFill>
              <a:schemeClr val="tx2"/>
            </a:solidFill>
            <a:prstDash val="solid"/>
          </a:ln>
          <a:effectLst>
            <a:outerShdw sx="100000" sy="100000" kx="0" ky="0" algn="bl" rotWithShape="0" blurRad="38100" dist="25400" dir="5400000">
              <a:srgbClr val="000000">
                <a:alpha val="25000"/>
              </a:srgbClr>
            </a:outerShdw>
          </a:effectLst>
        </p:spPr>
      </p:sp>
      <p:sp>
        <p:nvSpPr>
          <p:cNvPr id="13" name="Text 11"/>
          <p:cNvSpPr txBox="1"/>
          <p:nvPr/>
        </p:nvSpPr>
        <p:spPr>
          <a:xfrm>
            <a:off x="3355848" y="2240280"/>
            <a:ext cx="18288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Load</a:t>
            </a:r>
            <a:endParaRPr lang="en-US" sz="1800" dirty="0"/>
          </a:p>
        </p:txBody>
      </p:sp>
      <p:sp>
        <p:nvSpPr>
          <p:cNvPr id="14" name="Text 12"/>
          <p:cNvSpPr txBox="1"/>
          <p:nvPr/>
        </p:nvSpPr>
        <p:spPr>
          <a:xfrm>
            <a:off x="3355848" y="2971800"/>
            <a:ext cx="2514600" cy="822960"/>
          </a:xfrm>
          <a:prstGeom prst="rect">
            <a:avLst/>
          </a:prstGeom>
          <a:noFill/>
          <a:ln/>
        </p:spPr>
        <p:txBody>
          <a:bodyPr wrap="square" lIns="0" tIns="0" rIns="0" bIns="0" rtlCol="0" anchor="t"/>
          <a:lstStyle/>
          <a:p>
            <a:pPr indent="0" marL="0">
              <a:buNone/>
            </a:pPr>
            <a:r>
              <a:rPr lang="en-US" sz="1500" dirty="0">
                <a:solidFill>
                  <a:schemeClr val="tx2"/>
                </a:solidFill>
              </a:rPr>
              <a:t>Select RoadPro.lsp and click Load</a:t>
            </a:r>
            <a:endParaRPr lang="en-US" sz="1500" dirty="0"/>
          </a:p>
        </p:txBody>
      </p:sp>
      <p:sp>
        <p:nvSpPr>
          <p:cNvPr id="15" name="Shape 13"/>
          <p:cNvSpPr/>
          <p:nvPr/>
        </p:nvSpPr>
        <p:spPr>
          <a:xfrm>
            <a:off x="6163056" y="1417320"/>
            <a:ext cx="548640" cy="548640"/>
          </a:xfrm>
          <a:prstGeom prst="ellipse">
            <a:avLst/>
          </a:prstGeom>
          <a:solidFill>
            <a:schemeClr val="accent1"/>
          </a:solidFill>
          <a:ln/>
        </p:spPr>
      </p:sp>
      <p:sp>
        <p:nvSpPr>
          <p:cNvPr id="16" name="Text 14"/>
          <p:cNvSpPr txBox="1"/>
          <p:nvPr/>
        </p:nvSpPr>
        <p:spPr>
          <a:xfrm>
            <a:off x="6163056"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Shape 15"/>
          <p:cNvSpPr/>
          <p:nvPr/>
        </p:nvSpPr>
        <p:spPr>
          <a:xfrm>
            <a:off x="6848856" y="1691640"/>
            <a:ext cx="1984248" cy="0"/>
          </a:xfrm>
          <a:prstGeom prst="line">
            <a:avLst/>
          </a:prstGeom>
          <a:noFill/>
          <a:ln w="19050">
            <a:solidFill>
              <a:schemeClr val="accent6"/>
            </a:solidFill>
            <a:prstDash val="dash"/>
          </a:ln>
        </p:spPr>
      </p:sp>
      <p:sp>
        <p:nvSpPr>
          <p:cNvPr id="18" name="keycap Startup"/>
          <p:cNvSpPr/>
          <p:nvPr/>
        </p:nvSpPr>
        <p:spPr>
          <a:xfrm>
            <a:off x="6163056" y="2240280"/>
            <a:ext cx="1828800" cy="548640"/>
          </a:xfrm>
          <a:prstGeom prst="roundRect">
            <a:avLst>
              <a:gd name="adj" fmla="val 13333"/>
            </a:avLst>
          </a:prstGeom>
          <a:solidFill>
            <a:schemeClr val="tx1"/>
          </a:solidFill>
          <a:ln w="12700">
            <a:solidFill>
              <a:schemeClr val="tx2"/>
            </a:solidFill>
            <a:prstDash val="solid"/>
          </a:ln>
          <a:effectLst>
            <a:outerShdw sx="100000" sy="100000" kx="0" ky="0" algn="bl" rotWithShape="0" blurRad="38100" dist="25400" dir="5400000">
              <a:srgbClr val="000000">
                <a:alpha val="25000"/>
              </a:srgbClr>
            </a:outerShdw>
          </a:effectLst>
        </p:spPr>
      </p:sp>
      <p:sp>
        <p:nvSpPr>
          <p:cNvPr id="19" name="Text 17"/>
          <p:cNvSpPr txBox="1"/>
          <p:nvPr/>
        </p:nvSpPr>
        <p:spPr>
          <a:xfrm>
            <a:off x="6163056" y="2240280"/>
            <a:ext cx="18288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Startup</a:t>
            </a:r>
            <a:endParaRPr lang="en-US" sz="1800" dirty="0"/>
          </a:p>
        </p:txBody>
      </p:sp>
      <p:sp>
        <p:nvSpPr>
          <p:cNvPr id="20" name="Text 18"/>
          <p:cNvSpPr txBox="1"/>
          <p:nvPr/>
        </p:nvSpPr>
        <p:spPr>
          <a:xfrm>
            <a:off x="6163056" y="2971800"/>
            <a:ext cx="2514600" cy="822960"/>
          </a:xfrm>
          <a:prstGeom prst="rect">
            <a:avLst/>
          </a:prstGeom>
          <a:noFill/>
          <a:ln/>
        </p:spPr>
        <p:txBody>
          <a:bodyPr wrap="square" lIns="0" tIns="0" rIns="0" bIns="0" rtlCol="0" anchor="t"/>
          <a:lstStyle/>
          <a:p>
            <a:pPr indent="0" marL="0">
              <a:buNone/>
            </a:pPr>
            <a:r>
              <a:rPr lang="en-US" sz="1500" dirty="0">
                <a:solidFill>
                  <a:schemeClr val="tx2"/>
                </a:solidFill>
              </a:rPr>
              <a:t>Contents &gt; Add it to the Startup Suite to load in every session</a:t>
            </a:r>
            <a:endParaRPr lang="en-US" sz="1500" dirty="0"/>
          </a:p>
        </p:txBody>
      </p:sp>
      <p:sp>
        <p:nvSpPr>
          <p:cNvPr id="21" name="Shape 19"/>
          <p:cNvSpPr/>
          <p:nvPr/>
        </p:nvSpPr>
        <p:spPr>
          <a:xfrm>
            <a:off x="8970264" y="1417320"/>
            <a:ext cx="548640" cy="548640"/>
          </a:xfrm>
          <a:prstGeom prst="ellipse">
            <a:avLst/>
          </a:prstGeom>
          <a:solidFill>
            <a:schemeClr val="accent1"/>
          </a:solidFill>
          <a:ln/>
        </p:spPr>
      </p:sp>
      <p:sp>
        <p:nvSpPr>
          <p:cNvPr id="22" name="Text 20"/>
          <p:cNvSpPr txBox="1"/>
          <p:nvPr/>
        </p:nvSpPr>
        <p:spPr>
          <a:xfrm>
            <a:off x="8970264"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keycap RDP"/>
          <p:cNvSpPr/>
          <p:nvPr/>
        </p:nvSpPr>
        <p:spPr>
          <a:xfrm>
            <a:off x="8970264" y="2240280"/>
            <a:ext cx="1828800" cy="548640"/>
          </a:xfrm>
          <a:prstGeom prst="roundRect">
            <a:avLst>
              <a:gd name="adj" fmla="val 13333"/>
            </a:avLst>
          </a:prstGeom>
          <a:solidFill>
            <a:schemeClr val="tx1"/>
          </a:solidFill>
          <a:ln w="12700">
            <a:solidFill>
              <a:schemeClr val="tx2"/>
            </a:solidFill>
            <a:prstDash val="solid"/>
          </a:ln>
          <a:effectLst>
            <a:outerShdw sx="100000" sy="100000" kx="0" ky="0" algn="bl" rotWithShape="0" blurRad="38100" dist="25400" dir="5400000">
              <a:srgbClr val="000000">
                <a:alpha val="25000"/>
              </a:srgbClr>
            </a:outerShdw>
          </a:effectLst>
        </p:spPr>
      </p:sp>
      <p:sp>
        <p:nvSpPr>
          <p:cNvPr id="24" name="Text 22"/>
          <p:cNvSpPr txBox="1"/>
          <p:nvPr/>
        </p:nvSpPr>
        <p:spPr>
          <a:xfrm>
            <a:off x="8970264" y="2240280"/>
            <a:ext cx="182880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RDP</a:t>
            </a:r>
            <a:endParaRPr lang="en-US" sz="1800" dirty="0"/>
          </a:p>
        </p:txBody>
      </p:sp>
      <p:sp>
        <p:nvSpPr>
          <p:cNvPr id="25" name="Text 23"/>
          <p:cNvSpPr txBox="1"/>
          <p:nvPr/>
        </p:nvSpPr>
        <p:spPr>
          <a:xfrm>
            <a:off x="8970264" y="2971800"/>
            <a:ext cx="2514600" cy="822960"/>
          </a:xfrm>
          <a:prstGeom prst="rect">
            <a:avLst/>
          </a:prstGeom>
          <a:noFill/>
          <a:ln/>
        </p:spPr>
        <p:txBody>
          <a:bodyPr wrap="square" lIns="0" tIns="0" rIns="0" bIns="0" rtlCol="0" anchor="t"/>
          <a:lstStyle/>
          <a:p>
            <a:pPr indent="0" marL="0">
              <a:buNone/>
            </a:pPr>
            <a:r>
              <a:rPr lang="en-US" sz="1500" dirty="0">
                <a:solidFill>
                  <a:schemeClr val="tx2"/>
                </a:solidFill>
              </a:rPr>
              <a:t>Type RDP to open the RoadPro dialog</a:t>
            </a:r>
            <a:endParaRPr lang="en-US" sz="1500" dirty="0"/>
          </a:p>
        </p:txBody>
      </p:sp>
      <p:sp>
        <p:nvSpPr>
          <p:cNvPr id="26" name="Shape 24"/>
          <p:cNvSpPr/>
          <p:nvPr/>
        </p:nvSpPr>
        <p:spPr>
          <a:xfrm>
            <a:off x="548640" y="4114800"/>
            <a:ext cx="11064240" cy="2011680"/>
          </a:xfrm>
          <a:prstGeom prst="roundRect">
            <a:avLst>
              <a:gd name="adj" fmla="val 4545"/>
            </a:avLst>
          </a:prstGeom>
          <a:solidFill>
            <a:schemeClr val="bg2"/>
          </a:solidFill>
          <a:ln w="9525">
            <a:solidFill>
              <a:schemeClr val="accent6"/>
            </a:solidFill>
            <a:prstDash val="solid"/>
          </a:ln>
        </p:spPr>
      </p:sp>
      <p:sp>
        <p:nvSpPr>
          <p:cNvPr id="27" name="Shape 25"/>
          <p:cNvSpPr/>
          <p:nvPr/>
        </p:nvSpPr>
        <p:spPr>
          <a:xfrm>
            <a:off x="822960" y="4434840"/>
            <a:ext cx="640080" cy="640080"/>
          </a:xfrm>
          <a:prstGeom prst="ellipse">
            <a:avLst/>
          </a:prstGeom>
          <a:solidFill>
            <a:schemeClr val="accent2"/>
          </a:solidFill>
          <a:ln/>
        </p:spPr>
      </p:sp>
      <p:pic>
        <p:nvPicPr>
          <p:cNvPr id="28" name="Image 0" descr="preencoded.png">    </p:cNvPr>
          <p:cNvPicPr>
            <a:picLocks noChangeAspect="1"/>
          </p:cNvPicPr>
          <p:nvPr/>
        </p:nvPicPr>
        <p:blipFill>
          <a:blip r:embed="rId1"/>
          <a:stretch>
            <a:fillRect/>
          </a:stretch>
        </p:blipFill>
        <p:spPr>
          <a:xfrm>
            <a:off x="976579" y="4588459"/>
            <a:ext cx="332842" cy="332842"/>
          </a:xfrm>
          <a:prstGeom prst="rect">
            <a:avLst/>
          </a:prstGeom>
        </p:spPr>
      </p:pic>
      <p:sp>
        <p:nvSpPr>
          <p:cNvPr id="29" name="Text 26"/>
          <p:cNvSpPr txBox="1"/>
          <p:nvPr/>
        </p:nvSpPr>
        <p:spPr>
          <a:xfrm>
            <a:off x="1691640" y="4389120"/>
            <a:ext cx="4572000" cy="365760"/>
          </a:xfrm>
          <a:prstGeom prst="rect">
            <a:avLst/>
          </a:prstGeom>
          <a:noFill/>
          <a:ln/>
        </p:spPr>
        <p:txBody>
          <a:bodyPr wrap="square" lIns="0" tIns="0" rIns="0" bIns="0" rtlCol="0" anchor="ctr"/>
          <a:lstStyle/>
          <a:p>
            <a:pPr indent="0" marL="0">
              <a:buNone/>
            </a:pPr>
            <a:r>
              <a:rPr lang="en-US" sz="1800" b="1" dirty="0">
                <a:solidFill>
                  <a:schemeClr val="tx1"/>
                </a:solidFill>
              </a:rPr>
              <a:t>Before you start</a:t>
            </a:r>
            <a:endParaRPr lang="en-US" sz="1800" dirty="0"/>
          </a:p>
        </p:txBody>
      </p:sp>
      <p:sp>
        <p:nvSpPr>
          <p:cNvPr id="30" name="Text 27"/>
          <p:cNvSpPr txBox="1"/>
          <p:nvPr/>
        </p:nvSpPr>
        <p:spPr>
          <a:xfrm>
            <a:off x="1691640" y="4800600"/>
            <a:ext cx="9692640" cy="118872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Full AutoCAD, Civil 3D or Map 3D 2013 or newer (AutoCAD LT is not supported)</a:t>
            </a:r>
            <a:endParaRPr lang="en-US" sz="1500" dirty="0"/>
          </a:p>
          <a:p>
            <a:pPr marL="342900" indent="-342900">
              <a:spcAft>
                <a:spcPts val="400"/>
              </a:spcAft>
              <a:buSzPct val="100000"/>
              <a:buChar char="•"/>
            </a:pPr>
            <a:r>
              <a:rPr lang="en-US" sz="1500" dirty="0">
                <a:solidFill>
                  <a:schemeClr val="tx2"/>
                </a:solidFill>
              </a:rPr>
              <a:t>Type all sizes in metres. For millimetre drawings choose Millimeters in the dialog</a:t>
            </a:r>
            <a:endParaRPr lang="en-US" sz="1500" dirty="0"/>
          </a:p>
          <a:p>
            <a:pPr marL="342900" indent="-342900">
              <a:spcAft>
                <a:spcPts val="400"/>
              </a:spcAft>
              <a:buSzPct val="100000"/>
              <a:buChar char="•"/>
            </a:pPr>
            <a:r>
              <a:rPr lang="en-US" sz="1500" dirty="0">
                <a:solidFill>
                  <a:schemeClr val="tx2"/>
                </a:solidFill>
              </a:rPr>
              <a:t>Save the DWG first: the Excel report is saved in the drawing folder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All commands and shortcuts</a:t>
            </a:r>
            <a:endParaRPr lang="en-US" sz="3200" dirty="0"/>
          </a:p>
        </p:txBody>
      </p:sp>
      <p:sp>
        <p:nvSpPr>
          <p:cNvPr id="3" name="Text 1"/>
          <p:cNvSpPr txBox="1"/>
          <p:nvPr/>
        </p:nvSpPr>
        <p:spPr>
          <a:xfrm>
            <a:off x="548640" y="1234440"/>
            <a:ext cx="2377440" cy="320040"/>
          </a:xfrm>
          <a:prstGeom prst="rect">
            <a:avLst/>
          </a:prstGeom>
          <a:noFill/>
          <a:ln/>
        </p:spPr>
        <p:txBody>
          <a:bodyPr wrap="square" lIns="0" tIns="0" rIns="0" bIns="0" rtlCol="0" anchor="ctr"/>
          <a:lstStyle/>
          <a:p>
            <a:pPr indent="0" marL="0">
              <a:buNone/>
            </a:pPr>
            <a:r>
              <a:rPr lang="en-US" sz="1200" b="1" dirty="0">
                <a:solidFill>
                  <a:schemeClr val="accent4"/>
                </a:solidFill>
              </a:rPr>
              <a:t>FULL COMMAND</a:t>
            </a:r>
            <a:endParaRPr lang="en-US" sz="1200" dirty="0"/>
          </a:p>
        </p:txBody>
      </p:sp>
      <p:sp>
        <p:nvSpPr>
          <p:cNvPr id="4" name="Text 2"/>
          <p:cNvSpPr txBox="1"/>
          <p:nvPr/>
        </p:nvSpPr>
        <p:spPr>
          <a:xfrm>
            <a:off x="3063240" y="1234440"/>
            <a:ext cx="1463040" cy="320040"/>
          </a:xfrm>
          <a:prstGeom prst="rect">
            <a:avLst/>
          </a:prstGeom>
          <a:noFill/>
          <a:ln/>
        </p:spPr>
        <p:txBody>
          <a:bodyPr wrap="square" lIns="0" tIns="0" rIns="0" bIns="0" rtlCol="0" anchor="ctr"/>
          <a:lstStyle/>
          <a:p>
            <a:pPr indent="0" marL="0">
              <a:buNone/>
            </a:pPr>
            <a:r>
              <a:rPr lang="en-US" sz="1200" b="1" dirty="0">
                <a:solidFill>
                  <a:schemeClr val="accent4"/>
                </a:solidFill>
              </a:rPr>
              <a:t>SHORTCUT</a:t>
            </a:r>
            <a:endParaRPr lang="en-US" sz="1200" dirty="0"/>
          </a:p>
        </p:txBody>
      </p:sp>
      <p:sp>
        <p:nvSpPr>
          <p:cNvPr id="5" name="Text 3"/>
          <p:cNvSpPr txBox="1"/>
          <p:nvPr/>
        </p:nvSpPr>
        <p:spPr>
          <a:xfrm>
            <a:off x="4709160" y="1234440"/>
            <a:ext cx="3200400" cy="320040"/>
          </a:xfrm>
          <a:prstGeom prst="rect">
            <a:avLst/>
          </a:prstGeom>
          <a:noFill/>
          <a:ln/>
        </p:spPr>
        <p:txBody>
          <a:bodyPr wrap="square" lIns="0" tIns="0" rIns="0" bIns="0" rtlCol="0" anchor="ctr"/>
          <a:lstStyle/>
          <a:p>
            <a:pPr indent="0" marL="0">
              <a:buNone/>
            </a:pPr>
            <a:r>
              <a:rPr lang="en-US" sz="1200" b="1" dirty="0">
                <a:solidFill>
                  <a:schemeClr val="accent4"/>
                </a:solidFill>
              </a:rPr>
              <a:t>WHAT IT DOES</a:t>
            </a:r>
            <a:endParaRPr lang="en-US" sz="1200" dirty="0"/>
          </a:p>
        </p:txBody>
      </p:sp>
      <p:sp>
        <p:nvSpPr>
          <p:cNvPr id="6" name="Shape 4"/>
          <p:cNvSpPr/>
          <p:nvPr/>
        </p:nvSpPr>
        <p:spPr>
          <a:xfrm>
            <a:off x="411480" y="1508760"/>
            <a:ext cx="7543800" cy="566928"/>
          </a:xfrm>
          <a:prstGeom prst="rect">
            <a:avLst/>
          </a:prstGeom>
          <a:solidFill>
            <a:schemeClr val="bg2"/>
          </a:solidFill>
          <a:ln/>
        </p:spPr>
      </p:sp>
      <p:sp>
        <p:nvSpPr>
          <p:cNvPr id="7" name="Text 5"/>
          <p:cNvSpPr txBox="1"/>
          <p:nvPr/>
        </p:nvSpPr>
        <p:spPr>
          <a:xfrm>
            <a:off x="548640" y="1572768"/>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ROADPRO</a:t>
            </a:r>
            <a:endParaRPr lang="en-US" sz="1600" dirty="0"/>
          </a:p>
        </p:txBody>
      </p:sp>
      <p:sp>
        <p:nvSpPr>
          <p:cNvPr id="8" name="keycap RDP"/>
          <p:cNvSpPr/>
          <p:nvPr/>
        </p:nvSpPr>
        <p:spPr>
          <a:xfrm>
            <a:off x="3063240" y="1572768"/>
            <a:ext cx="1417320" cy="438912"/>
          </a:xfrm>
          <a:prstGeom prst="roundRect">
            <a:avLst>
              <a:gd name="adj" fmla="val 16667"/>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9" name="Text 7"/>
          <p:cNvSpPr txBox="1"/>
          <p:nvPr/>
        </p:nvSpPr>
        <p:spPr>
          <a:xfrm>
            <a:off x="3063240" y="1572768"/>
            <a:ext cx="1417320"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RDP</a:t>
            </a:r>
            <a:endParaRPr lang="en-US" sz="1600" dirty="0"/>
          </a:p>
        </p:txBody>
      </p:sp>
      <p:sp>
        <p:nvSpPr>
          <p:cNvPr id="10" name="Text 8"/>
          <p:cNvSpPr txBox="1"/>
          <p:nvPr/>
        </p:nvSpPr>
        <p:spPr>
          <a:xfrm>
            <a:off x="4709160" y="1572768"/>
            <a:ext cx="3200400" cy="438912"/>
          </a:xfrm>
          <a:prstGeom prst="rect">
            <a:avLst/>
          </a:prstGeom>
          <a:noFill/>
          <a:ln/>
        </p:spPr>
        <p:txBody>
          <a:bodyPr wrap="square" lIns="0" tIns="0" rIns="0" bIns="0" rtlCol="0" anchor="ctr"/>
          <a:lstStyle/>
          <a:p>
            <a:pPr indent="0" marL="0">
              <a:buNone/>
            </a:pPr>
            <a:r>
              <a:rPr lang="en-US" sz="1400" dirty="0">
                <a:solidFill>
                  <a:schemeClr val="tx2"/>
                </a:solidFill>
              </a:rPr>
              <a:t>Build a complete road from a centre line</a:t>
            </a:r>
            <a:endParaRPr lang="en-US" sz="1400" dirty="0"/>
          </a:p>
        </p:txBody>
      </p:sp>
      <p:sp>
        <p:nvSpPr>
          <p:cNvPr id="11" name="Text 9"/>
          <p:cNvSpPr txBox="1"/>
          <p:nvPr/>
        </p:nvSpPr>
        <p:spPr>
          <a:xfrm>
            <a:off x="548640" y="2157984"/>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ROADREPORT</a:t>
            </a:r>
            <a:endParaRPr lang="en-US" sz="1600" dirty="0"/>
          </a:p>
        </p:txBody>
      </p:sp>
      <p:sp>
        <p:nvSpPr>
          <p:cNvPr id="12" name="keycap RDR"/>
          <p:cNvSpPr/>
          <p:nvPr/>
        </p:nvSpPr>
        <p:spPr>
          <a:xfrm>
            <a:off x="3063240" y="2157984"/>
            <a:ext cx="1417320" cy="438912"/>
          </a:xfrm>
          <a:prstGeom prst="roundRect">
            <a:avLst>
              <a:gd name="adj" fmla="val 16667"/>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13" name="Text 11"/>
          <p:cNvSpPr txBox="1"/>
          <p:nvPr/>
        </p:nvSpPr>
        <p:spPr>
          <a:xfrm>
            <a:off x="3063240" y="2157984"/>
            <a:ext cx="1417320"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RDR</a:t>
            </a:r>
            <a:endParaRPr lang="en-US" sz="1600" dirty="0"/>
          </a:p>
        </p:txBody>
      </p:sp>
      <p:sp>
        <p:nvSpPr>
          <p:cNvPr id="14" name="Text 12"/>
          <p:cNvSpPr txBox="1"/>
          <p:nvPr/>
        </p:nvSpPr>
        <p:spPr>
          <a:xfrm>
            <a:off x="4709160" y="2157984"/>
            <a:ext cx="3200400" cy="438912"/>
          </a:xfrm>
          <a:prstGeom prst="rect">
            <a:avLst/>
          </a:prstGeom>
          <a:noFill/>
          <a:ln/>
        </p:spPr>
        <p:txBody>
          <a:bodyPr wrap="square" lIns="0" tIns="0" rIns="0" bIns="0" rtlCol="0" anchor="ctr"/>
          <a:lstStyle/>
          <a:p>
            <a:pPr indent="0" marL="0">
              <a:buNone/>
            </a:pPr>
            <a:r>
              <a:rPr lang="en-US" sz="1400" dirty="0">
                <a:solidFill>
                  <a:schemeClr val="tx2"/>
                </a:solidFill>
              </a:rPr>
              <a:t>Report tables and Excel file for any RoadPro road</a:t>
            </a:r>
            <a:endParaRPr lang="en-US" sz="1400" dirty="0"/>
          </a:p>
        </p:txBody>
      </p:sp>
      <p:sp>
        <p:nvSpPr>
          <p:cNvPr id="15" name="Shape 13"/>
          <p:cNvSpPr/>
          <p:nvPr/>
        </p:nvSpPr>
        <p:spPr>
          <a:xfrm>
            <a:off x="411480" y="2679192"/>
            <a:ext cx="7543800" cy="566928"/>
          </a:xfrm>
          <a:prstGeom prst="rect">
            <a:avLst/>
          </a:prstGeom>
          <a:solidFill>
            <a:schemeClr val="bg2"/>
          </a:solidFill>
          <a:ln/>
        </p:spPr>
      </p:sp>
      <p:sp>
        <p:nvSpPr>
          <p:cNvPr id="16" name="Text 14"/>
          <p:cNvSpPr txBox="1"/>
          <p:nvPr/>
        </p:nvSpPr>
        <p:spPr>
          <a:xfrm>
            <a:off x="548640" y="2743200"/>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ROADRADIUS</a:t>
            </a:r>
            <a:endParaRPr lang="en-US" sz="1600" dirty="0"/>
          </a:p>
        </p:txBody>
      </p:sp>
      <p:sp>
        <p:nvSpPr>
          <p:cNvPr id="17" name="keycap RDRAD"/>
          <p:cNvSpPr/>
          <p:nvPr/>
        </p:nvSpPr>
        <p:spPr>
          <a:xfrm>
            <a:off x="3063240" y="2743200"/>
            <a:ext cx="1417320" cy="438912"/>
          </a:xfrm>
          <a:prstGeom prst="roundRect">
            <a:avLst>
              <a:gd name="adj" fmla="val 16667"/>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18" name="Text 16"/>
          <p:cNvSpPr txBox="1"/>
          <p:nvPr/>
        </p:nvSpPr>
        <p:spPr>
          <a:xfrm>
            <a:off x="3063240" y="2743200"/>
            <a:ext cx="1417320"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RDRAD</a:t>
            </a:r>
            <a:endParaRPr lang="en-US" sz="1600" dirty="0"/>
          </a:p>
        </p:txBody>
      </p:sp>
      <p:sp>
        <p:nvSpPr>
          <p:cNvPr id="19" name="Text 17"/>
          <p:cNvSpPr txBox="1"/>
          <p:nvPr/>
        </p:nvSpPr>
        <p:spPr>
          <a:xfrm>
            <a:off x="4709160" y="2743200"/>
            <a:ext cx="3200400" cy="438912"/>
          </a:xfrm>
          <a:prstGeom prst="rect">
            <a:avLst/>
          </a:prstGeom>
          <a:noFill/>
          <a:ln/>
        </p:spPr>
        <p:txBody>
          <a:bodyPr wrap="square" lIns="0" tIns="0" rIns="0" bIns="0" rtlCol="0" anchor="ctr"/>
          <a:lstStyle/>
          <a:p>
            <a:pPr indent="0" marL="0">
              <a:buNone/>
            </a:pPr>
            <a:r>
              <a:rPr lang="en-US" sz="1400" dirty="0">
                <a:solidFill>
                  <a:schemeClr val="tx2"/>
                </a:solidFill>
              </a:rPr>
              <a:t>Add radius, TC / CT and curve data to the plan</a:t>
            </a:r>
            <a:endParaRPr lang="en-US" sz="1400" dirty="0"/>
          </a:p>
        </p:txBody>
      </p:sp>
      <p:sp>
        <p:nvSpPr>
          <p:cNvPr id="20" name="Text 18"/>
          <p:cNvSpPr txBox="1"/>
          <p:nvPr/>
        </p:nvSpPr>
        <p:spPr>
          <a:xfrm>
            <a:off x="548640" y="3328416"/>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ROADSECTIONS</a:t>
            </a:r>
            <a:endParaRPr lang="en-US" sz="1600" dirty="0"/>
          </a:p>
        </p:txBody>
      </p:sp>
      <p:sp>
        <p:nvSpPr>
          <p:cNvPr id="21" name="keycap RDSEC"/>
          <p:cNvSpPr/>
          <p:nvPr/>
        </p:nvSpPr>
        <p:spPr>
          <a:xfrm>
            <a:off x="3063240" y="3328416"/>
            <a:ext cx="1417320" cy="438912"/>
          </a:xfrm>
          <a:prstGeom prst="roundRect">
            <a:avLst>
              <a:gd name="adj" fmla="val 16667"/>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22" name="Text 20"/>
          <p:cNvSpPr txBox="1"/>
          <p:nvPr/>
        </p:nvSpPr>
        <p:spPr>
          <a:xfrm>
            <a:off x="3063240" y="3328416"/>
            <a:ext cx="1417320"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RDSEC</a:t>
            </a:r>
            <a:endParaRPr lang="en-US" sz="1600" dirty="0"/>
          </a:p>
        </p:txBody>
      </p:sp>
      <p:sp>
        <p:nvSpPr>
          <p:cNvPr id="23" name="Text 21"/>
          <p:cNvSpPr txBox="1"/>
          <p:nvPr/>
        </p:nvSpPr>
        <p:spPr>
          <a:xfrm>
            <a:off x="4709160" y="3328416"/>
            <a:ext cx="3200400" cy="438912"/>
          </a:xfrm>
          <a:prstGeom prst="rect">
            <a:avLst/>
          </a:prstGeom>
          <a:noFill/>
          <a:ln/>
        </p:spPr>
        <p:txBody>
          <a:bodyPr wrap="square" lIns="0" tIns="0" rIns="0" bIns="0" rtlCol="0" anchor="ctr"/>
          <a:lstStyle/>
          <a:p>
            <a:pPr indent="0" marL="0">
              <a:buNone/>
            </a:pPr>
            <a:r>
              <a:rPr lang="en-US" sz="1400" dirty="0">
                <a:solidFill>
                  <a:schemeClr val="tx2"/>
                </a:solidFill>
              </a:rPr>
              <a:t>Add straight section labels S1, S2 ... to the plan</a:t>
            </a:r>
            <a:endParaRPr lang="en-US" sz="1400" dirty="0"/>
          </a:p>
        </p:txBody>
      </p:sp>
      <p:sp>
        <p:nvSpPr>
          <p:cNvPr id="24" name="Shape 22"/>
          <p:cNvSpPr/>
          <p:nvPr/>
        </p:nvSpPr>
        <p:spPr>
          <a:xfrm>
            <a:off x="411480" y="3849624"/>
            <a:ext cx="7543800" cy="566928"/>
          </a:xfrm>
          <a:prstGeom prst="rect">
            <a:avLst/>
          </a:prstGeom>
          <a:solidFill>
            <a:schemeClr val="bg2"/>
          </a:solidFill>
          <a:ln/>
        </p:spPr>
      </p:sp>
      <p:sp>
        <p:nvSpPr>
          <p:cNvPr id="25" name="Text 23"/>
          <p:cNvSpPr txBox="1"/>
          <p:nvPr/>
        </p:nvSpPr>
        <p:spPr>
          <a:xfrm>
            <a:off x="548640" y="3913632"/>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ROADXSEC</a:t>
            </a:r>
            <a:endParaRPr lang="en-US" sz="1600" dirty="0"/>
          </a:p>
        </p:txBody>
      </p:sp>
      <p:sp>
        <p:nvSpPr>
          <p:cNvPr id="26" name="keycap RDX"/>
          <p:cNvSpPr/>
          <p:nvPr/>
        </p:nvSpPr>
        <p:spPr>
          <a:xfrm>
            <a:off x="3063240" y="3913632"/>
            <a:ext cx="1417320" cy="438912"/>
          </a:xfrm>
          <a:prstGeom prst="roundRect">
            <a:avLst>
              <a:gd name="adj" fmla="val 16667"/>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27" name="Text 25"/>
          <p:cNvSpPr txBox="1"/>
          <p:nvPr/>
        </p:nvSpPr>
        <p:spPr>
          <a:xfrm>
            <a:off x="3063240" y="3913632"/>
            <a:ext cx="1417320"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RDX</a:t>
            </a:r>
            <a:endParaRPr lang="en-US" sz="1600" dirty="0"/>
          </a:p>
        </p:txBody>
      </p:sp>
      <p:sp>
        <p:nvSpPr>
          <p:cNvPr id="28" name="Text 26"/>
          <p:cNvSpPr txBox="1"/>
          <p:nvPr/>
        </p:nvSpPr>
        <p:spPr>
          <a:xfrm>
            <a:off x="4709160" y="3913632"/>
            <a:ext cx="3200400" cy="438912"/>
          </a:xfrm>
          <a:prstGeom prst="rect">
            <a:avLst/>
          </a:prstGeom>
          <a:noFill/>
          <a:ln/>
        </p:spPr>
        <p:txBody>
          <a:bodyPr wrap="square" lIns="0" tIns="0" rIns="0" bIns="0" rtlCol="0" anchor="ctr"/>
          <a:lstStyle/>
          <a:p>
            <a:pPr indent="0" marL="0">
              <a:buNone/>
            </a:pPr>
            <a:r>
              <a:rPr lang="en-US" sz="1400" dirty="0">
                <a:solidFill>
                  <a:schemeClr val="tx2"/>
                </a:solidFill>
              </a:rPr>
              <a:t>Cross sections: typical, one chainage, every interval</a:t>
            </a:r>
            <a:endParaRPr lang="en-US" sz="1400" dirty="0"/>
          </a:p>
        </p:txBody>
      </p:sp>
      <p:sp>
        <p:nvSpPr>
          <p:cNvPr id="29" name="Text 27"/>
          <p:cNvSpPr txBox="1"/>
          <p:nvPr/>
        </p:nvSpPr>
        <p:spPr>
          <a:xfrm>
            <a:off x="548640" y="4498848"/>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ROADWIDEN</a:t>
            </a:r>
            <a:endParaRPr lang="en-US" sz="1600" dirty="0"/>
          </a:p>
        </p:txBody>
      </p:sp>
      <p:sp>
        <p:nvSpPr>
          <p:cNvPr id="30" name="keycap RDW"/>
          <p:cNvSpPr/>
          <p:nvPr/>
        </p:nvSpPr>
        <p:spPr>
          <a:xfrm>
            <a:off x="3063240" y="4498848"/>
            <a:ext cx="1417320" cy="438912"/>
          </a:xfrm>
          <a:prstGeom prst="roundRect">
            <a:avLst>
              <a:gd name="adj" fmla="val 16667"/>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31" name="Text 29"/>
          <p:cNvSpPr txBox="1"/>
          <p:nvPr/>
        </p:nvSpPr>
        <p:spPr>
          <a:xfrm>
            <a:off x="3063240" y="4498848"/>
            <a:ext cx="1417320"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RDW</a:t>
            </a:r>
            <a:endParaRPr lang="en-US" sz="1600" dirty="0"/>
          </a:p>
        </p:txBody>
      </p:sp>
      <p:sp>
        <p:nvSpPr>
          <p:cNvPr id="32" name="Text 30"/>
          <p:cNvSpPr txBox="1"/>
          <p:nvPr/>
        </p:nvSpPr>
        <p:spPr>
          <a:xfrm>
            <a:off x="4709160" y="4498848"/>
            <a:ext cx="3200400" cy="438912"/>
          </a:xfrm>
          <a:prstGeom prst="rect">
            <a:avLst/>
          </a:prstGeom>
          <a:noFill/>
          <a:ln/>
        </p:spPr>
        <p:txBody>
          <a:bodyPr wrap="square" lIns="0" tIns="0" rIns="0" bIns="0" rtlCol="0" anchor="ctr"/>
          <a:lstStyle/>
          <a:p>
            <a:pPr indent="0" marL="0">
              <a:buNone/>
            </a:pPr>
            <a:r>
              <a:rPr lang="en-US" sz="1400" dirty="0">
                <a:solidFill>
                  <a:schemeClr val="tx2"/>
                </a:solidFill>
              </a:rPr>
              <a:t>Lane widening with taper, fillet or direct link</a:t>
            </a:r>
            <a:endParaRPr lang="en-US" sz="1400" dirty="0"/>
          </a:p>
        </p:txBody>
      </p:sp>
      <p:sp>
        <p:nvSpPr>
          <p:cNvPr id="33" name="Shape 31"/>
          <p:cNvSpPr/>
          <p:nvPr/>
        </p:nvSpPr>
        <p:spPr>
          <a:xfrm>
            <a:off x="411480" y="5020056"/>
            <a:ext cx="7543800" cy="566928"/>
          </a:xfrm>
          <a:prstGeom prst="rect">
            <a:avLst/>
          </a:prstGeom>
          <a:solidFill>
            <a:schemeClr val="bg2"/>
          </a:solidFill>
          <a:ln/>
        </p:spPr>
      </p:sp>
      <p:sp>
        <p:nvSpPr>
          <p:cNvPr id="34" name="Text 32"/>
          <p:cNvSpPr txBox="1"/>
          <p:nvPr/>
        </p:nvSpPr>
        <p:spPr>
          <a:xfrm>
            <a:off x="548640" y="5084064"/>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ROADTAPER</a:t>
            </a:r>
            <a:endParaRPr lang="en-US" sz="1600" dirty="0"/>
          </a:p>
        </p:txBody>
      </p:sp>
      <p:sp>
        <p:nvSpPr>
          <p:cNvPr id="35" name="keycap RDT"/>
          <p:cNvSpPr/>
          <p:nvPr/>
        </p:nvSpPr>
        <p:spPr>
          <a:xfrm>
            <a:off x="3063240" y="5084064"/>
            <a:ext cx="1417320" cy="438912"/>
          </a:xfrm>
          <a:prstGeom prst="roundRect">
            <a:avLst>
              <a:gd name="adj" fmla="val 16667"/>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36" name="Text 34"/>
          <p:cNvSpPr txBox="1"/>
          <p:nvPr/>
        </p:nvSpPr>
        <p:spPr>
          <a:xfrm>
            <a:off x="3063240" y="5084064"/>
            <a:ext cx="1417320"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RDT</a:t>
            </a:r>
            <a:endParaRPr lang="en-US" sz="1600" dirty="0"/>
          </a:p>
        </p:txBody>
      </p:sp>
      <p:sp>
        <p:nvSpPr>
          <p:cNvPr id="37" name="Text 35"/>
          <p:cNvSpPr txBox="1"/>
          <p:nvPr/>
        </p:nvSpPr>
        <p:spPr>
          <a:xfrm>
            <a:off x="4709160" y="5084064"/>
            <a:ext cx="3200400" cy="438912"/>
          </a:xfrm>
          <a:prstGeom prst="rect">
            <a:avLst/>
          </a:prstGeom>
          <a:noFill/>
          <a:ln/>
        </p:spPr>
        <p:txBody>
          <a:bodyPr wrap="square" lIns="0" tIns="0" rIns="0" bIns="0" rtlCol="0" anchor="ctr"/>
          <a:lstStyle/>
          <a:p>
            <a:pPr indent="0" marL="0">
              <a:buNone/>
            </a:pPr>
            <a:r>
              <a:rPr lang="en-US" sz="1400" dirty="0">
                <a:solidFill>
                  <a:schemeClr val="tx2"/>
                </a:solidFill>
              </a:rPr>
              <a:t>Road taper: wider or narrower from any start to end</a:t>
            </a:r>
            <a:endParaRPr lang="en-US" sz="1400" dirty="0"/>
          </a:p>
        </p:txBody>
      </p:sp>
      <p:sp>
        <p:nvSpPr>
          <p:cNvPr id="38" name="Text 36"/>
          <p:cNvSpPr txBox="1"/>
          <p:nvPr/>
        </p:nvSpPr>
        <p:spPr>
          <a:xfrm>
            <a:off x="548640" y="5669280"/>
            <a:ext cx="2377440" cy="438912"/>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ROADPRORESET</a:t>
            </a:r>
            <a:endParaRPr lang="en-US" sz="1600" dirty="0"/>
          </a:p>
        </p:txBody>
      </p:sp>
      <p:sp>
        <p:nvSpPr>
          <p:cNvPr id="39" name="Text 37"/>
          <p:cNvSpPr txBox="1"/>
          <p:nvPr/>
        </p:nvSpPr>
        <p:spPr>
          <a:xfrm>
            <a:off x="3063240" y="5669280"/>
            <a:ext cx="1417320" cy="438912"/>
          </a:xfrm>
          <a:prstGeom prst="rect">
            <a:avLst/>
          </a:prstGeom>
          <a:noFill/>
          <a:ln/>
        </p:spPr>
        <p:txBody>
          <a:bodyPr wrap="square" lIns="0" tIns="0" rIns="0" bIns="0" rtlCol="0" anchor="ctr"/>
          <a:lstStyle/>
          <a:p>
            <a:pPr algn="ctr" indent="0" marL="0">
              <a:buNone/>
            </a:pPr>
            <a:r>
              <a:rPr lang="en-US" sz="1600" dirty="0">
                <a:solidFill>
                  <a:schemeClr val="accent4"/>
                </a:solidFill>
              </a:rPr>
              <a:t>-</a:t>
            </a:r>
            <a:endParaRPr lang="en-US" sz="1600" dirty="0"/>
          </a:p>
        </p:txBody>
      </p:sp>
      <p:sp>
        <p:nvSpPr>
          <p:cNvPr id="40" name="Text 38"/>
          <p:cNvSpPr txBox="1"/>
          <p:nvPr/>
        </p:nvSpPr>
        <p:spPr>
          <a:xfrm>
            <a:off x="4709160" y="5669280"/>
            <a:ext cx="3200400" cy="438912"/>
          </a:xfrm>
          <a:prstGeom prst="rect">
            <a:avLst/>
          </a:prstGeom>
          <a:noFill/>
          <a:ln/>
        </p:spPr>
        <p:txBody>
          <a:bodyPr wrap="square" lIns="0" tIns="0" rIns="0" bIns="0" rtlCol="0" anchor="ctr"/>
          <a:lstStyle/>
          <a:p>
            <a:pPr indent="0" marL="0">
              <a:buNone/>
            </a:pPr>
            <a:r>
              <a:rPr lang="en-US" sz="1400" dirty="0">
                <a:solidFill>
                  <a:schemeClr val="tx2"/>
                </a:solidFill>
              </a:rPr>
              <a:t>Restore all settings to the factory defaults</a:t>
            </a:r>
            <a:endParaRPr lang="en-US" sz="1400" dirty="0"/>
          </a:p>
        </p:txBody>
      </p:sp>
      <p:sp>
        <p:nvSpPr>
          <p:cNvPr id="41" name="Shape 39"/>
          <p:cNvSpPr/>
          <p:nvPr/>
        </p:nvSpPr>
        <p:spPr>
          <a:xfrm>
            <a:off x="8275320" y="1234440"/>
            <a:ext cx="3337560" cy="4892040"/>
          </a:xfrm>
          <a:prstGeom prst="roundRect">
            <a:avLst>
              <a:gd name="adj" fmla="val 2740"/>
            </a:avLst>
          </a:prstGeom>
          <a:solidFill>
            <a:schemeClr val="tx1"/>
          </a:solidFill>
          <a:ln w="9525">
            <a:solidFill>
              <a:schemeClr val="accent6"/>
            </a:solidFill>
            <a:prstDash val="solid"/>
          </a:ln>
        </p:spPr>
      </p:sp>
      <p:sp>
        <p:nvSpPr>
          <p:cNvPr id="42" name="Text 40"/>
          <p:cNvSpPr txBox="1"/>
          <p:nvPr/>
        </p:nvSpPr>
        <p:spPr>
          <a:xfrm>
            <a:off x="8549640" y="1417320"/>
            <a:ext cx="2926080" cy="365760"/>
          </a:xfrm>
          <a:prstGeom prst="rect">
            <a:avLst/>
          </a:prstGeom>
          <a:noFill/>
          <a:ln/>
        </p:spPr>
        <p:txBody>
          <a:bodyPr wrap="square" lIns="0" tIns="0" rIns="0" bIns="0" rtlCol="0" anchor="ctr"/>
          <a:lstStyle/>
          <a:p>
            <a:pPr indent="0" marL="0">
              <a:buNone/>
            </a:pPr>
            <a:r>
              <a:rPr lang="en-US" sz="1700" b="1" dirty="0">
                <a:solidFill>
                  <a:schemeClr val="bg1"/>
                </a:solidFill>
              </a:rPr>
              <a:t>Useful AutoCAD keys</a:t>
            </a:r>
            <a:endParaRPr lang="en-US" sz="1700" dirty="0"/>
          </a:p>
        </p:txBody>
      </p:sp>
      <p:sp>
        <p:nvSpPr>
          <p:cNvPr id="43" name="keycap U"/>
          <p:cNvSpPr/>
          <p:nvPr/>
        </p:nvSpPr>
        <p:spPr>
          <a:xfrm>
            <a:off x="8549640" y="2011680"/>
            <a:ext cx="868680" cy="502920"/>
          </a:xfrm>
          <a:prstGeom prst="roundRect">
            <a:avLst>
              <a:gd name="adj" fmla="val 14545"/>
            </a:avLst>
          </a:prstGeom>
          <a:solidFill>
            <a:schemeClr val="bg1"/>
          </a:solidFill>
          <a:ln w="12700">
            <a:solidFill>
              <a:schemeClr val="accent6"/>
            </a:solidFill>
            <a:prstDash val="solid"/>
          </a:ln>
          <a:effectLst>
            <a:outerShdw sx="100000" sy="100000" kx="0" ky="0" algn="bl" rotWithShape="0" blurRad="38100" dist="25400" dir="5400000">
              <a:srgbClr val="000000">
                <a:alpha val="25000"/>
              </a:srgbClr>
            </a:outerShdw>
          </a:effectLst>
        </p:spPr>
      </p:sp>
      <p:sp>
        <p:nvSpPr>
          <p:cNvPr id="44" name="Text 42"/>
          <p:cNvSpPr txBox="1"/>
          <p:nvPr/>
        </p:nvSpPr>
        <p:spPr>
          <a:xfrm>
            <a:off x="8549640" y="2011680"/>
            <a:ext cx="868680" cy="50292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U</a:t>
            </a:r>
            <a:endParaRPr lang="en-US" sz="1600" dirty="0"/>
          </a:p>
        </p:txBody>
      </p:sp>
      <p:sp>
        <p:nvSpPr>
          <p:cNvPr id="45" name="Text 43"/>
          <p:cNvSpPr txBox="1"/>
          <p:nvPr/>
        </p:nvSpPr>
        <p:spPr>
          <a:xfrm>
            <a:off x="9555480" y="1965960"/>
            <a:ext cx="1920240" cy="640080"/>
          </a:xfrm>
          <a:prstGeom prst="rect">
            <a:avLst/>
          </a:prstGeom>
          <a:noFill/>
          <a:ln/>
        </p:spPr>
        <p:txBody>
          <a:bodyPr wrap="square" lIns="0" tIns="0" rIns="0" bIns="0" rtlCol="0" anchor="ctr"/>
          <a:lstStyle/>
          <a:p>
            <a:pPr indent="0" marL="0">
              <a:buNone/>
            </a:pPr>
            <a:r>
              <a:rPr lang="en-US" sz="1400" dirty="0">
                <a:solidFill>
                  <a:schemeClr val="accent6"/>
                </a:solidFill>
              </a:rPr>
              <a:t>Undo the whole road in one step</a:t>
            </a:r>
            <a:endParaRPr lang="en-US" sz="1400" dirty="0"/>
          </a:p>
        </p:txBody>
      </p:sp>
      <p:sp>
        <p:nvSpPr>
          <p:cNvPr id="46" name="keycap F2"/>
          <p:cNvSpPr/>
          <p:nvPr/>
        </p:nvSpPr>
        <p:spPr>
          <a:xfrm>
            <a:off x="8549640" y="3017520"/>
            <a:ext cx="868680" cy="502920"/>
          </a:xfrm>
          <a:prstGeom prst="roundRect">
            <a:avLst>
              <a:gd name="adj" fmla="val 14545"/>
            </a:avLst>
          </a:prstGeom>
          <a:solidFill>
            <a:schemeClr val="bg1"/>
          </a:solidFill>
          <a:ln w="12700">
            <a:solidFill>
              <a:schemeClr val="accent6"/>
            </a:solidFill>
            <a:prstDash val="solid"/>
          </a:ln>
          <a:effectLst>
            <a:outerShdw sx="100000" sy="100000" kx="0" ky="0" algn="bl" rotWithShape="0" blurRad="38100" dist="25400" dir="5400000">
              <a:srgbClr val="000000">
                <a:alpha val="25000"/>
              </a:srgbClr>
            </a:outerShdw>
          </a:effectLst>
        </p:spPr>
      </p:sp>
      <p:sp>
        <p:nvSpPr>
          <p:cNvPr id="47" name="Text 45"/>
          <p:cNvSpPr txBox="1"/>
          <p:nvPr/>
        </p:nvSpPr>
        <p:spPr>
          <a:xfrm>
            <a:off x="8549640" y="3017520"/>
            <a:ext cx="868680" cy="50292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F2</a:t>
            </a:r>
            <a:endParaRPr lang="en-US" sz="1600" dirty="0"/>
          </a:p>
        </p:txBody>
      </p:sp>
      <p:sp>
        <p:nvSpPr>
          <p:cNvPr id="48" name="Text 46"/>
          <p:cNvSpPr txBox="1"/>
          <p:nvPr/>
        </p:nvSpPr>
        <p:spPr>
          <a:xfrm>
            <a:off x="9555480" y="2971800"/>
            <a:ext cx="1920240" cy="640080"/>
          </a:xfrm>
          <a:prstGeom prst="rect">
            <a:avLst/>
          </a:prstGeom>
          <a:noFill/>
          <a:ln/>
        </p:spPr>
        <p:txBody>
          <a:bodyPr wrap="square" lIns="0" tIns="0" rIns="0" bIns="0" rtlCol="0" anchor="ctr"/>
          <a:lstStyle/>
          <a:p>
            <a:pPr indent="0" marL="0">
              <a:buNone/>
            </a:pPr>
            <a:r>
              <a:rPr lang="en-US" sz="1400" dirty="0">
                <a:solidFill>
                  <a:schemeClr val="accent6"/>
                </a:solidFill>
              </a:rPr>
              <a:t>Show the summary and file path</a:t>
            </a:r>
            <a:endParaRPr lang="en-US" sz="1400" dirty="0"/>
          </a:p>
        </p:txBody>
      </p:sp>
      <p:sp>
        <p:nvSpPr>
          <p:cNvPr id="49" name="keycap Enter"/>
          <p:cNvSpPr/>
          <p:nvPr/>
        </p:nvSpPr>
        <p:spPr>
          <a:xfrm>
            <a:off x="8549640" y="4023360"/>
            <a:ext cx="868680" cy="502920"/>
          </a:xfrm>
          <a:prstGeom prst="roundRect">
            <a:avLst>
              <a:gd name="adj" fmla="val 14545"/>
            </a:avLst>
          </a:prstGeom>
          <a:solidFill>
            <a:schemeClr val="bg1"/>
          </a:solidFill>
          <a:ln w="12700">
            <a:solidFill>
              <a:schemeClr val="accent6"/>
            </a:solidFill>
            <a:prstDash val="solid"/>
          </a:ln>
          <a:effectLst>
            <a:outerShdw sx="100000" sy="100000" kx="0" ky="0" algn="bl" rotWithShape="0" blurRad="38100" dist="25400" dir="5400000">
              <a:srgbClr val="000000">
                <a:alpha val="25000"/>
              </a:srgbClr>
            </a:outerShdw>
          </a:effectLst>
        </p:spPr>
      </p:sp>
      <p:sp>
        <p:nvSpPr>
          <p:cNvPr id="50" name="Text 48"/>
          <p:cNvSpPr txBox="1"/>
          <p:nvPr/>
        </p:nvSpPr>
        <p:spPr>
          <a:xfrm>
            <a:off x="8549640" y="4023360"/>
            <a:ext cx="868680" cy="50292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Enter</a:t>
            </a:r>
            <a:endParaRPr lang="en-US" sz="1600" dirty="0"/>
          </a:p>
        </p:txBody>
      </p:sp>
      <p:sp>
        <p:nvSpPr>
          <p:cNvPr id="51" name="Text 49"/>
          <p:cNvSpPr txBox="1"/>
          <p:nvPr/>
        </p:nvSpPr>
        <p:spPr>
          <a:xfrm>
            <a:off x="9555480" y="3977640"/>
            <a:ext cx="1920240" cy="640080"/>
          </a:xfrm>
          <a:prstGeom prst="rect">
            <a:avLst/>
          </a:prstGeom>
          <a:noFill/>
          <a:ln/>
        </p:spPr>
        <p:txBody>
          <a:bodyPr wrap="square" lIns="0" tIns="0" rIns="0" bIns="0" rtlCol="0" anchor="ctr"/>
          <a:lstStyle/>
          <a:p>
            <a:pPr indent="0" marL="0">
              <a:buNone/>
            </a:pPr>
            <a:r>
              <a:rPr lang="en-US" sz="1400" dirty="0">
                <a:solidFill>
                  <a:schemeClr val="accent6"/>
                </a:solidFill>
              </a:rPr>
              <a:t>Finish the centre line or skip a prompt</a:t>
            </a:r>
            <a:endParaRPr lang="en-US" sz="1400" dirty="0"/>
          </a:p>
        </p:txBody>
      </p:sp>
      <p:sp>
        <p:nvSpPr>
          <p:cNvPr id="52" name="keycap Esc"/>
          <p:cNvSpPr/>
          <p:nvPr/>
        </p:nvSpPr>
        <p:spPr>
          <a:xfrm>
            <a:off x="8549640" y="5029200"/>
            <a:ext cx="868680" cy="502920"/>
          </a:xfrm>
          <a:prstGeom prst="roundRect">
            <a:avLst>
              <a:gd name="adj" fmla="val 14545"/>
            </a:avLst>
          </a:prstGeom>
          <a:solidFill>
            <a:schemeClr val="bg1"/>
          </a:solidFill>
          <a:ln w="12700">
            <a:solidFill>
              <a:schemeClr val="accent6"/>
            </a:solidFill>
            <a:prstDash val="solid"/>
          </a:ln>
          <a:effectLst>
            <a:outerShdw sx="100000" sy="100000" kx="0" ky="0" algn="bl" rotWithShape="0" blurRad="38100" dist="25400" dir="5400000">
              <a:srgbClr val="000000">
                <a:alpha val="25000"/>
              </a:srgbClr>
            </a:outerShdw>
          </a:effectLst>
        </p:spPr>
      </p:sp>
      <p:sp>
        <p:nvSpPr>
          <p:cNvPr id="53" name="Text 51"/>
          <p:cNvSpPr txBox="1"/>
          <p:nvPr/>
        </p:nvSpPr>
        <p:spPr>
          <a:xfrm>
            <a:off x="8549640" y="5029200"/>
            <a:ext cx="868680" cy="50292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Esc</a:t>
            </a:r>
            <a:endParaRPr lang="en-US" sz="1600" dirty="0"/>
          </a:p>
        </p:txBody>
      </p:sp>
      <p:sp>
        <p:nvSpPr>
          <p:cNvPr id="54" name="Text 52"/>
          <p:cNvSpPr txBox="1"/>
          <p:nvPr/>
        </p:nvSpPr>
        <p:spPr>
          <a:xfrm>
            <a:off x="9555480" y="4983480"/>
            <a:ext cx="1920240" cy="640080"/>
          </a:xfrm>
          <a:prstGeom prst="rect">
            <a:avLst/>
          </a:prstGeom>
          <a:noFill/>
          <a:ln/>
        </p:spPr>
        <p:txBody>
          <a:bodyPr wrap="square" lIns="0" tIns="0" rIns="0" bIns="0" rtlCol="0" anchor="ctr"/>
          <a:lstStyle/>
          <a:p>
            <a:pPr indent="0" marL="0">
              <a:buNone/>
            </a:pPr>
            <a:r>
              <a:rPr lang="en-US" sz="1400" dirty="0">
                <a:solidFill>
                  <a:schemeClr val="accent6"/>
                </a:solidFill>
              </a:rPr>
              <a:t>Cancel the command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From centre line to finished drawing in six steps</a:t>
            </a:r>
            <a:endParaRPr lang="en-US" sz="3200" dirty="0"/>
          </a:p>
        </p:txBody>
      </p:sp>
      <p:sp>
        <p:nvSpPr>
          <p:cNvPr id="3" name="Shape 1"/>
          <p:cNvSpPr/>
          <p:nvPr/>
        </p:nvSpPr>
        <p:spPr>
          <a:xfrm>
            <a:off x="960120" y="1554480"/>
            <a:ext cx="868680" cy="86868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1168603" y="1762963"/>
            <a:ext cx="451714" cy="451714"/>
          </a:xfrm>
          <a:prstGeom prst="rect">
            <a:avLst/>
          </a:prstGeom>
        </p:spPr>
      </p:pic>
      <p:sp>
        <p:nvSpPr>
          <p:cNvPr id="5" name="Shape 2"/>
          <p:cNvSpPr/>
          <p:nvPr/>
        </p:nvSpPr>
        <p:spPr>
          <a:xfrm>
            <a:off x="1965960" y="1856232"/>
            <a:ext cx="365760" cy="274320"/>
          </a:xfrm>
          <a:prstGeom prst="rightArrow">
            <a:avLst/>
          </a:prstGeom>
          <a:solidFill>
            <a:schemeClr val="accent6"/>
          </a:solidFill>
          <a:ln/>
        </p:spPr>
      </p:sp>
      <p:sp>
        <p:nvSpPr>
          <p:cNvPr id="6" name="Text 3"/>
          <p:cNvSpPr txBox="1"/>
          <p:nvPr/>
        </p:nvSpPr>
        <p:spPr>
          <a:xfrm>
            <a:off x="548640" y="2651760"/>
            <a:ext cx="1737360" cy="411480"/>
          </a:xfrm>
          <a:prstGeom prst="rect">
            <a:avLst/>
          </a:prstGeom>
          <a:noFill/>
          <a:ln/>
        </p:spPr>
        <p:txBody>
          <a:bodyPr wrap="square" lIns="0" tIns="0" rIns="0" bIns="0" rtlCol="0" anchor="ctr"/>
          <a:lstStyle/>
          <a:p>
            <a:pPr indent="0" marL="0">
              <a:buNone/>
            </a:pPr>
            <a:r>
              <a:rPr lang="en-US" sz="1600" b="1" dirty="0">
                <a:solidFill>
                  <a:schemeClr val="tx1"/>
                </a:solidFill>
              </a:rPr>
              <a:t>1. Set options</a:t>
            </a:r>
            <a:endParaRPr lang="en-US" sz="1600" dirty="0"/>
          </a:p>
        </p:txBody>
      </p:sp>
      <p:sp>
        <p:nvSpPr>
          <p:cNvPr id="7" name="Text 4"/>
          <p:cNvSpPr txBox="1"/>
          <p:nvPr/>
        </p:nvSpPr>
        <p:spPr>
          <a:xfrm>
            <a:off x="548640" y="3090672"/>
            <a:ext cx="1691640" cy="1280160"/>
          </a:xfrm>
          <a:prstGeom prst="rect">
            <a:avLst/>
          </a:prstGeom>
          <a:noFill/>
          <a:ln/>
        </p:spPr>
        <p:txBody>
          <a:bodyPr wrap="square" lIns="0" tIns="0" rIns="0" bIns="0" rtlCol="0" anchor="t"/>
          <a:lstStyle/>
          <a:p>
            <a:pPr indent="0" marL="0">
              <a:buNone/>
            </a:pPr>
            <a:r>
              <a:rPr lang="en-US" sz="1400" dirty="0">
                <a:solidFill>
                  <a:schemeClr val="tx2"/>
                </a:solidFill>
              </a:rPr>
              <a:t>RDP opens the dialog. Defaults are ready, press OK</a:t>
            </a:r>
            <a:endParaRPr lang="en-US" sz="1400" dirty="0"/>
          </a:p>
        </p:txBody>
      </p:sp>
      <p:sp>
        <p:nvSpPr>
          <p:cNvPr id="8" name="Shape 5"/>
          <p:cNvSpPr/>
          <p:nvPr/>
        </p:nvSpPr>
        <p:spPr>
          <a:xfrm>
            <a:off x="2834640" y="1554480"/>
            <a:ext cx="868680" cy="868680"/>
          </a:xfrm>
          <a:prstGeom prst="ellipse">
            <a:avLst/>
          </a:prstGeom>
          <a:solidFill>
            <a:schemeClr val="tx1"/>
          </a:solidFill>
          <a:ln/>
        </p:spPr>
      </p:sp>
      <p:pic>
        <p:nvPicPr>
          <p:cNvPr id="9" name="Image 1" descr="preencoded.png">    </p:cNvPr>
          <p:cNvPicPr>
            <a:picLocks noChangeAspect="1"/>
          </p:cNvPicPr>
          <p:nvPr/>
        </p:nvPicPr>
        <p:blipFill>
          <a:blip r:embed="rId2"/>
          <a:stretch>
            <a:fillRect/>
          </a:stretch>
        </p:blipFill>
        <p:spPr>
          <a:xfrm>
            <a:off x="3043123" y="1762963"/>
            <a:ext cx="451714" cy="451714"/>
          </a:xfrm>
          <a:prstGeom prst="rect">
            <a:avLst/>
          </a:prstGeom>
        </p:spPr>
      </p:pic>
      <p:sp>
        <p:nvSpPr>
          <p:cNvPr id="10" name="Shape 6"/>
          <p:cNvSpPr/>
          <p:nvPr/>
        </p:nvSpPr>
        <p:spPr>
          <a:xfrm>
            <a:off x="3840480" y="1856232"/>
            <a:ext cx="365760" cy="274320"/>
          </a:xfrm>
          <a:prstGeom prst="rightArrow">
            <a:avLst/>
          </a:prstGeom>
          <a:solidFill>
            <a:schemeClr val="accent6"/>
          </a:solidFill>
          <a:ln/>
        </p:spPr>
      </p:sp>
      <p:sp>
        <p:nvSpPr>
          <p:cNvPr id="11" name="Text 7"/>
          <p:cNvSpPr txBox="1"/>
          <p:nvPr/>
        </p:nvSpPr>
        <p:spPr>
          <a:xfrm>
            <a:off x="2423160" y="2651760"/>
            <a:ext cx="1737360" cy="411480"/>
          </a:xfrm>
          <a:prstGeom prst="rect">
            <a:avLst/>
          </a:prstGeom>
          <a:noFill/>
          <a:ln/>
        </p:spPr>
        <p:txBody>
          <a:bodyPr wrap="square" lIns="0" tIns="0" rIns="0" bIns="0" rtlCol="0" anchor="ctr"/>
          <a:lstStyle/>
          <a:p>
            <a:pPr indent="0" marL="0">
              <a:buNone/>
            </a:pPr>
            <a:r>
              <a:rPr lang="en-US" sz="1600" b="1" dirty="0">
                <a:solidFill>
                  <a:schemeClr val="tx1"/>
                </a:solidFill>
              </a:rPr>
              <a:t>2. Centre line</a:t>
            </a:r>
            <a:endParaRPr lang="en-US" sz="1600" dirty="0"/>
          </a:p>
        </p:txBody>
      </p:sp>
      <p:sp>
        <p:nvSpPr>
          <p:cNvPr id="12" name="Text 8"/>
          <p:cNvSpPr txBox="1"/>
          <p:nvPr/>
        </p:nvSpPr>
        <p:spPr>
          <a:xfrm>
            <a:off x="2423160" y="3090672"/>
            <a:ext cx="1691640" cy="1280160"/>
          </a:xfrm>
          <a:prstGeom prst="rect">
            <a:avLst/>
          </a:prstGeom>
          <a:noFill/>
          <a:ln/>
        </p:spPr>
        <p:txBody>
          <a:bodyPr wrap="square" lIns="0" tIns="0" rIns="0" bIns="0" rtlCol="0" anchor="t"/>
          <a:lstStyle/>
          <a:p>
            <a:pPr indent="0" marL="0">
              <a:buNone/>
            </a:pPr>
            <a:r>
              <a:rPr lang="en-US" sz="1400" dirty="0">
                <a:solidFill>
                  <a:schemeClr val="tx2"/>
                </a:solidFill>
              </a:rPr>
              <a:t>Pick points (Arc allowed, Enter to finish) or select a line</a:t>
            </a:r>
            <a:endParaRPr lang="en-US" sz="1400" dirty="0"/>
          </a:p>
        </p:txBody>
      </p:sp>
      <p:sp>
        <p:nvSpPr>
          <p:cNvPr id="13" name="Shape 9"/>
          <p:cNvSpPr/>
          <p:nvPr/>
        </p:nvSpPr>
        <p:spPr>
          <a:xfrm>
            <a:off x="4709160" y="1554480"/>
            <a:ext cx="868680" cy="868680"/>
          </a:xfrm>
          <a:prstGeom prst="ellipse">
            <a:avLst/>
          </a:prstGeom>
          <a:solidFill>
            <a:schemeClr val="accent1"/>
          </a:solidFill>
          <a:ln/>
        </p:spPr>
      </p:sp>
      <p:pic>
        <p:nvPicPr>
          <p:cNvPr id="14" name="Image 2" descr="preencoded.png">    </p:cNvPr>
          <p:cNvPicPr>
            <a:picLocks noChangeAspect="1"/>
          </p:cNvPicPr>
          <p:nvPr/>
        </p:nvPicPr>
        <p:blipFill>
          <a:blip r:embed="rId3"/>
          <a:stretch>
            <a:fillRect/>
          </a:stretch>
        </p:blipFill>
        <p:spPr>
          <a:xfrm>
            <a:off x="4917643" y="1762963"/>
            <a:ext cx="451714" cy="451714"/>
          </a:xfrm>
          <a:prstGeom prst="rect">
            <a:avLst/>
          </a:prstGeom>
        </p:spPr>
      </p:pic>
      <p:sp>
        <p:nvSpPr>
          <p:cNvPr id="15" name="Shape 10"/>
          <p:cNvSpPr/>
          <p:nvPr/>
        </p:nvSpPr>
        <p:spPr>
          <a:xfrm>
            <a:off x="5715000" y="1856232"/>
            <a:ext cx="365760" cy="274320"/>
          </a:xfrm>
          <a:prstGeom prst="rightArrow">
            <a:avLst/>
          </a:prstGeom>
          <a:solidFill>
            <a:schemeClr val="accent6"/>
          </a:solidFill>
          <a:ln/>
        </p:spPr>
      </p:sp>
      <p:sp>
        <p:nvSpPr>
          <p:cNvPr id="16" name="Text 11"/>
          <p:cNvSpPr txBox="1"/>
          <p:nvPr/>
        </p:nvSpPr>
        <p:spPr>
          <a:xfrm>
            <a:off x="4297680" y="2651760"/>
            <a:ext cx="1737360" cy="411480"/>
          </a:xfrm>
          <a:prstGeom prst="rect">
            <a:avLst/>
          </a:prstGeom>
          <a:noFill/>
          <a:ln/>
        </p:spPr>
        <p:txBody>
          <a:bodyPr wrap="square" lIns="0" tIns="0" rIns="0" bIns="0" rtlCol="0" anchor="ctr"/>
          <a:lstStyle/>
          <a:p>
            <a:pPr indent="0" marL="0">
              <a:buNone/>
            </a:pPr>
            <a:r>
              <a:rPr lang="en-US" sz="1600" b="1" dirty="0">
                <a:solidFill>
                  <a:schemeClr val="tx1"/>
                </a:solidFill>
              </a:rPr>
              <a:t>3. Auto build</a:t>
            </a:r>
            <a:endParaRPr lang="en-US" sz="1600" dirty="0"/>
          </a:p>
        </p:txBody>
      </p:sp>
      <p:sp>
        <p:nvSpPr>
          <p:cNvPr id="17" name="Text 12"/>
          <p:cNvSpPr txBox="1"/>
          <p:nvPr/>
        </p:nvSpPr>
        <p:spPr>
          <a:xfrm>
            <a:off x="4297680" y="3090672"/>
            <a:ext cx="1691640" cy="1280160"/>
          </a:xfrm>
          <a:prstGeom prst="rect">
            <a:avLst/>
          </a:prstGeom>
          <a:noFill/>
          <a:ln/>
        </p:spPr>
        <p:txBody>
          <a:bodyPr wrap="square" lIns="0" tIns="0" rIns="0" bIns="0" rtlCol="0" anchor="t"/>
          <a:lstStyle/>
          <a:p>
            <a:pPr indent="0" marL="0">
              <a:buNone/>
            </a:pPr>
            <a:r>
              <a:rPr lang="en-US" sz="1400" dirty="0">
                <a:solidFill>
                  <a:schemeClr val="tx2"/>
                </a:solidFill>
              </a:rPr>
              <a:t>Radius, edges, CL, surface, barricades, chainage</a:t>
            </a:r>
            <a:endParaRPr lang="en-US" sz="1400" dirty="0"/>
          </a:p>
        </p:txBody>
      </p:sp>
      <p:sp>
        <p:nvSpPr>
          <p:cNvPr id="18" name="Shape 13"/>
          <p:cNvSpPr/>
          <p:nvPr/>
        </p:nvSpPr>
        <p:spPr>
          <a:xfrm>
            <a:off x="6583680" y="1554480"/>
            <a:ext cx="868680" cy="868680"/>
          </a:xfrm>
          <a:prstGeom prst="ellipse">
            <a:avLst/>
          </a:prstGeom>
          <a:solidFill>
            <a:schemeClr val="tx1"/>
          </a:solidFill>
          <a:ln/>
        </p:spPr>
      </p:sp>
      <p:pic>
        <p:nvPicPr>
          <p:cNvPr id="19" name="Image 3" descr="preencoded.png">    </p:cNvPr>
          <p:cNvPicPr>
            <a:picLocks noChangeAspect="1"/>
          </p:cNvPicPr>
          <p:nvPr/>
        </p:nvPicPr>
        <p:blipFill>
          <a:blip r:embed="rId4"/>
          <a:stretch>
            <a:fillRect/>
          </a:stretch>
        </p:blipFill>
        <p:spPr>
          <a:xfrm>
            <a:off x="6792163" y="1762963"/>
            <a:ext cx="451714" cy="451714"/>
          </a:xfrm>
          <a:prstGeom prst="rect">
            <a:avLst/>
          </a:prstGeom>
        </p:spPr>
      </p:pic>
      <p:sp>
        <p:nvSpPr>
          <p:cNvPr id="20" name="Shape 14"/>
          <p:cNvSpPr/>
          <p:nvPr/>
        </p:nvSpPr>
        <p:spPr>
          <a:xfrm>
            <a:off x="7589520" y="1856232"/>
            <a:ext cx="365760" cy="274320"/>
          </a:xfrm>
          <a:prstGeom prst="rightArrow">
            <a:avLst/>
          </a:prstGeom>
          <a:solidFill>
            <a:schemeClr val="accent6"/>
          </a:solidFill>
          <a:ln/>
        </p:spPr>
      </p:sp>
      <p:sp>
        <p:nvSpPr>
          <p:cNvPr id="21" name="Text 15"/>
          <p:cNvSpPr txBox="1"/>
          <p:nvPr/>
        </p:nvSpPr>
        <p:spPr>
          <a:xfrm>
            <a:off x="6172200" y="2651760"/>
            <a:ext cx="1737360" cy="411480"/>
          </a:xfrm>
          <a:prstGeom prst="rect">
            <a:avLst/>
          </a:prstGeom>
          <a:noFill/>
          <a:ln/>
        </p:spPr>
        <p:txBody>
          <a:bodyPr wrap="square" lIns="0" tIns="0" rIns="0" bIns="0" rtlCol="0" anchor="ctr"/>
          <a:lstStyle/>
          <a:p>
            <a:pPr indent="0" marL="0">
              <a:buNone/>
            </a:pPr>
            <a:r>
              <a:rPr lang="en-US" sz="1600" b="1" dirty="0">
                <a:solidFill>
                  <a:schemeClr val="tx1"/>
                </a:solidFill>
              </a:rPr>
              <a:t>4. Signs and ends</a:t>
            </a:r>
            <a:endParaRPr lang="en-US" sz="1600" dirty="0"/>
          </a:p>
        </p:txBody>
      </p:sp>
      <p:sp>
        <p:nvSpPr>
          <p:cNvPr id="22" name="Text 16"/>
          <p:cNvSpPr txBox="1"/>
          <p:nvPr/>
        </p:nvSpPr>
        <p:spPr>
          <a:xfrm>
            <a:off x="6172200" y="3090672"/>
            <a:ext cx="1691640" cy="1280160"/>
          </a:xfrm>
          <a:prstGeom prst="rect">
            <a:avLst/>
          </a:prstGeom>
          <a:noFill/>
          <a:ln/>
        </p:spPr>
        <p:txBody>
          <a:bodyPr wrap="square" lIns="0" tIns="0" rIns="0" bIns="0" rtlCol="0" anchor="t"/>
          <a:lstStyle/>
          <a:p>
            <a:pPr indent="0" marL="0">
              <a:buNone/>
            </a:pPr>
            <a:r>
              <a:rPr lang="en-US" sz="1400" dirty="0">
                <a:solidFill>
                  <a:schemeClr val="tx2"/>
                </a:solidFill>
              </a:rPr>
              <a:t>Signs with IDs, tie-in or road closed, lane arrows</a:t>
            </a:r>
            <a:endParaRPr lang="en-US" sz="1400" dirty="0"/>
          </a:p>
        </p:txBody>
      </p:sp>
      <p:sp>
        <p:nvSpPr>
          <p:cNvPr id="23" name="Shape 17"/>
          <p:cNvSpPr/>
          <p:nvPr/>
        </p:nvSpPr>
        <p:spPr>
          <a:xfrm>
            <a:off x="8458200" y="1554480"/>
            <a:ext cx="868680" cy="868680"/>
          </a:xfrm>
          <a:prstGeom prst="ellipse">
            <a:avLst/>
          </a:prstGeom>
          <a:solidFill>
            <a:schemeClr val="accent1"/>
          </a:solidFill>
          <a:ln/>
        </p:spPr>
      </p:sp>
      <p:pic>
        <p:nvPicPr>
          <p:cNvPr id="24" name="Image 4" descr="preencoded.png">    </p:cNvPr>
          <p:cNvPicPr>
            <a:picLocks noChangeAspect="1"/>
          </p:cNvPicPr>
          <p:nvPr/>
        </p:nvPicPr>
        <p:blipFill>
          <a:blip r:embed="rId5"/>
          <a:stretch>
            <a:fillRect/>
          </a:stretch>
        </p:blipFill>
        <p:spPr>
          <a:xfrm>
            <a:off x="8666683" y="1762963"/>
            <a:ext cx="451714" cy="451714"/>
          </a:xfrm>
          <a:prstGeom prst="rect">
            <a:avLst/>
          </a:prstGeom>
        </p:spPr>
      </p:pic>
      <p:sp>
        <p:nvSpPr>
          <p:cNvPr id="25" name="Shape 18"/>
          <p:cNvSpPr/>
          <p:nvPr/>
        </p:nvSpPr>
        <p:spPr>
          <a:xfrm>
            <a:off x="9464040" y="1856232"/>
            <a:ext cx="365760" cy="274320"/>
          </a:xfrm>
          <a:prstGeom prst="rightArrow">
            <a:avLst/>
          </a:prstGeom>
          <a:solidFill>
            <a:schemeClr val="accent6"/>
          </a:solidFill>
          <a:ln/>
        </p:spPr>
      </p:sp>
      <p:sp>
        <p:nvSpPr>
          <p:cNvPr id="26" name="Text 19"/>
          <p:cNvSpPr txBox="1"/>
          <p:nvPr/>
        </p:nvSpPr>
        <p:spPr>
          <a:xfrm>
            <a:off x="8046720" y="2651760"/>
            <a:ext cx="1737360" cy="411480"/>
          </a:xfrm>
          <a:prstGeom prst="rect">
            <a:avLst/>
          </a:prstGeom>
          <a:noFill/>
          <a:ln/>
        </p:spPr>
        <p:txBody>
          <a:bodyPr wrap="square" lIns="0" tIns="0" rIns="0" bIns="0" rtlCol="0" anchor="ctr"/>
          <a:lstStyle/>
          <a:p>
            <a:pPr indent="0" marL="0">
              <a:buNone/>
            </a:pPr>
            <a:r>
              <a:rPr lang="en-US" sz="1600" b="1" dirty="0">
                <a:solidFill>
                  <a:schemeClr val="tx1"/>
                </a:solidFill>
              </a:rPr>
              <a:t>5. Report</a:t>
            </a:r>
            <a:endParaRPr lang="en-US" sz="1600" dirty="0"/>
          </a:p>
        </p:txBody>
      </p:sp>
      <p:sp>
        <p:nvSpPr>
          <p:cNvPr id="27" name="Text 20"/>
          <p:cNvSpPr txBox="1"/>
          <p:nvPr/>
        </p:nvSpPr>
        <p:spPr>
          <a:xfrm>
            <a:off x="8046720" y="3090672"/>
            <a:ext cx="1691640" cy="1280160"/>
          </a:xfrm>
          <a:prstGeom prst="rect">
            <a:avLst/>
          </a:prstGeom>
          <a:noFill/>
          <a:ln/>
        </p:spPr>
        <p:txBody>
          <a:bodyPr wrap="square" lIns="0" tIns="0" rIns="0" bIns="0" rtlCol="0" anchor="t"/>
          <a:lstStyle/>
          <a:p>
            <a:pPr indent="0" marL="0">
              <a:buNone/>
            </a:pPr>
            <a:r>
              <a:rPr lang="en-US" sz="1400" dirty="0">
                <a:solidFill>
                  <a:schemeClr val="tx2"/>
                </a:solidFill>
              </a:rPr>
              <a:t>Summary on screen, Excel file saved, place tables</a:t>
            </a:r>
            <a:endParaRPr lang="en-US" sz="1400" dirty="0"/>
          </a:p>
        </p:txBody>
      </p:sp>
      <p:sp>
        <p:nvSpPr>
          <p:cNvPr id="28" name="Shape 21"/>
          <p:cNvSpPr/>
          <p:nvPr/>
        </p:nvSpPr>
        <p:spPr>
          <a:xfrm>
            <a:off x="10332720" y="1554480"/>
            <a:ext cx="868680" cy="868680"/>
          </a:xfrm>
          <a:prstGeom prst="ellipse">
            <a:avLst/>
          </a:prstGeom>
          <a:solidFill>
            <a:schemeClr val="tx1"/>
          </a:solidFill>
          <a:ln/>
        </p:spPr>
      </p:sp>
      <p:pic>
        <p:nvPicPr>
          <p:cNvPr id="29" name="Image 5" descr="preencoded.png">    </p:cNvPr>
          <p:cNvPicPr>
            <a:picLocks noChangeAspect="1"/>
          </p:cNvPicPr>
          <p:nvPr/>
        </p:nvPicPr>
        <p:blipFill>
          <a:blip r:embed="rId6"/>
          <a:stretch>
            <a:fillRect/>
          </a:stretch>
        </p:blipFill>
        <p:spPr>
          <a:xfrm>
            <a:off x="10541203" y="1762963"/>
            <a:ext cx="451714" cy="451714"/>
          </a:xfrm>
          <a:prstGeom prst="rect">
            <a:avLst/>
          </a:prstGeom>
        </p:spPr>
      </p:pic>
      <p:sp>
        <p:nvSpPr>
          <p:cNvPr id="30" name="Text 22"/>
          <p:cNvSpPr txBox="1"/>
          <p:nvPr/>
        </p:nvSpPr>
        <p:spPr>
          <a:xfrm>
            <a:off x="9921240" y="2651760"/>
            <a:ext cx="1737360" cy="411480"/>
          </a:xfrm>
          <a:prstGeom prst="rect">
            <a:avLst/>
          </a:prstGeom>
          <a:noFill/>
          <a:ln/>
        </p:spPr>
        <p:txBody>
          <a:bodyPr wrap="square" lIns="0" tIns="0" rIns="0" bIns="0" rtlCol="0" anchor="ctr"/>
          <a:lstStyle/>
          <a:p>
            <a:pPr indent="0" marL="0">
              <a:buNone/>
            </a:pPr>
            <a:r>
              <a:rPr lang="en-US" sz="1600" b="1" dirty="0">
                <a:solidFill>
                  <a:schemeClr val="tx1"/>
                </a:solidFill>
              </a:rPr>
              <a:t>6. Cross section</a:t>
            </a:r>
            <a:endParaRPr lang="en-US" sz="1600" dirty="0"/>
          </a:p>
        </p:txBody>
      </p:sp>
      <p:sp>
        <p:nvSpPr>
          <p:cNvPr id="31" name="Text 23"/>
          <p:cNvSpPr txBox="1"/>
          <p:nvPr/>
        </p:nvSpPr>
        <p:spPr>
          <a:xfrm>
            <a:off x="9921240" y="3090672"/>
            <a:ext cx="1691640" cy="1280160"/>
          </a:xfrm>
          <a:prstGeom prst="rect">
            <a:avLst/>
          </a:prstGeom>
          <a:noFill/>
          <a:ln/>
        </p:spPr>
        <p:txBody>
          <a:bodyPr wrap="square" lIns="0" tIns="0" rIns="0" bIns="0" rtlCol="0" anchor="t"/>
          <a:lstStyle/>
          <a:p>
            <a:pPr indent="0" marL="0">
              <a:buNone/>
            </a:pPr>
            <a:r>
              <a:rPr lang="en-US" sz="1400" dirty="0">
                <a:solidFill>
                  <a:schemeClr val="tx2"/>
                </a:solidFill>
              </a:rPr>
              <a:t>Pick a point to place the typical section</a:t>
            </a:r>
            <a:endParaRPr lang="en-US" sz="1400" dirty="0"/>
          </a:p>
        </p:txBody>
      </p:sp>
      <p:sp>
        <p:nvSpPr>
          <p:cNvPr id="32" name="Shape 24"/>
          <p:cNvSpPr/>
          <p:nvPr/>
        </p:nvSpPr>
        <p:spPr>
          <a:xfrm>
            <a:off x="548640" y="4206240"/>
            <a:ext cx="11064240" cy="1417320"/>
          </a:xfrm>
          <a:prstGeom prst="roundRect">
            <a:avLst>
              <a:gd name="adj" fmla="val 6452"/>
            </a:avLst>
          </a:prstGeom>
          <a:solidFill>
            <a:schemeClr val="bg2"/>
          </a:solidFill>
          <a:ln w="9525">
            <a:solidFill>
              <a:schemeClr val="accent6"/>
            </a:solidFill>
            <a:prstDash val="solid"/>
          </a:ln>
        </p:spPr>
      </p:sp>
      <p:sp>
        <p:nvSpPr>
          <p:cNvPr id="33" name="Text 25"/>
          <p:cNvSpPr txBox="1"/>
          <p:nvPr/>
        </p:nvSpPr>
        <p:spPr>
          <a:xfrm>
            <a:off x="822960" y="4343400"/>
            <a:ext cx="10515600" cy="1143000"/>
          </a:xfrm>
          <a:prstGeom prst="rect">
            <a:avLst/>
          </a:prstGeom>
          <a:noFill/>
          <a:ln/>
        </p:spPr>
        <p:txBody>
          <a:bodyPr wrap="square" lIns="0" tIns="0" rIns="0" bIns="0" rtlCol="0" anchor="ctr"/>
          <a:lstStyle/>
          <a:p>
            <a:pPr indent="0" marL="0">
              <a:buNone/>
            </a:pPr>
            <a:r>
              <a:rPr lang="en-US" sz="1500" b="1" dirty="0">
                <a:solidFill>
                  <a:schemeClr val="accent1"/>
                </a:solidFill>
              </a:rPr>
              <a:t>Tip: </a:t>
            </a:r>
            <a:pPr indent="0" marL="0">
              <a:buNone/>
            </a:pPr>
            <a:r>
              <a:rPr lang="en-US" sz="1500" dirty="0">
                <a:solidFill>
                  <a:schemeClr val="tx2"/>
                </a:solidFill>
              </a:rPr>
              <a:t>the whole sequence runs from one command. Steps 5 and 6 ask for a placement point; press Enter to skip the drawing tables or the section. The Excel file is saved either 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Dialog settings: road geometry and barricades</a:t>
            </a:r>
            <a:endParaRPr lang="en-US" sz="3200" dirty="0"/>
          </a:p>
        </p:txBody>
      </p:sp>
      <p:sp>
        <p:nvSpPr>
          <p:cNvPr id="3" name="Shape 1"/>
          <p:cNvSpPr/>
          <p:nvPr/>
        </p:nvSpPr>
        <p:spPr>
          <a:xfrm>
            <a:off x="548640" y="1280160"/>
            <a:ext cx="5394960" cy="4846320"/>
          </a:xfrm>
          <a:prstGeom prst="roundRect">
            <a:avLst>
              <a:gd name="adj" fmla="val 1887"/>
            </a:avLst>
          </a:prstGeom>
          <a:solidFill>
            <a:schemeClr val="bg2"/>
          </a:solidFill>
          <a:ln w="9525">
            <a:solidFill>
              <a:schemeClr val="accent6"/>
            </a:solidFill>
            <a:prstDash val="solid"/>
          </a:ln>
        </p:spPr>
      </p:sp>
      <p:sp>
        <p:nvSpPr>
          <p:cNvPr id="4" name="Shape 2"/>
          <p:cNvSpPr/>
          <p:nvPr/>
        </p:nvSpPr>
        <p:spPr>
          <a:xfrm>
            <a:off x="548640" y="1280160"/>
            <a:ext cx="5394960" cy="548640"/>
          </a:xfrm>
          <a:prstGeom prst="roundRect">
            <a:avLst>
              <a:gd name="adj" fmla="val 16667"/>
            </a:avLst>
          </a:prstGeom>
          <a:solidFill>
            <a:schemeClr val="tx1"/>
          </a:solidFill>
          <a:ln/>
        </p:spPr>
      </p:sp>
      <p:sp>
        <p:nvSpPr>
          <p:cNvPr id="5" name="Text 3"/>
          <p:cNvSpPr txBox="1"/>
          <p:nvPr/>
        </p:nvSpPr>
        <p:spPr>
          <a:xfrm>
            <a:off x="777240" y="1280160"/>
            <a:ext cx="4937760" cy="548640"/>
          </a:xfrm>
          <a:prstGeom prst="rect">
            <a:avLst/>
          </a:prstGeom>
          <a:noFill/>
          <a:ln/>
        </p:spPr>
        <p:txBody>
          <a:bodyPr wrap="square" lIns="0" tIns="0" rIns="0" bIns="0" rtlCol="0" anchor="ctr"/>
          <a:lstStyle/>
          <a:p>
            <a:pPr indent="0" marL="0">
              <a:buNone/>
            </a:pPr>
            <a:r>
              <a:rPr lang="en-US" sz="1700" b="1" dirty="0">
                <a:solidFill>
                  <a:schemeClr val="bg1"/>
                </a:solidFill>
              </a:rPr>
              <a:t>Road Geometry</a:t>
            </a:r>
            <a:endParaRPr lang="en-US" sz="1700" dirty="0"/>
          </a:p>
        </p:txBody>
      </p:sp>
      <p:sp>
        <p:nvSpPr>
          <p:cNvPr id="6" name="Text 4"/>
          <p:cNvSpPr txBox="1"/>
          <p:nvPr/>
        </p:nvSpPr>
        <p:spPr>
          <a:xfrm>
            <a:off x="777240" y="1965960"/>
            <a:ext cx="2967228" cy="508635"/>
          </a:xfrm>
          <a:prstGeom prst="rect">
            <a:avLst/>
          </a:prstGeom>
          <a:noFill/>
          <a:ln/>
        </p:spPr>
        <p:txBody>
          <a:bodyPr wrap="square" lIns="0" tIns="0" rIns="0" bIns="0" rtlCol="0" anchor="ctr"/>
          <a:lstStyle/>
          <a:p>
            <a:pPr indent="0" marL="0">
              <a:buNone/>
            </a:pPr>
            <a:r>
              <a:rPr lang="en-US" sz="1400" dirty="0">
                <a:solidFill>
                  <a:schemeClr val="tx2"/>
                </a:solidFill>
              </a:rPr>
              <a:t>Road name / ID</a:t>
            </a:r>
            <a:endParaRPr lang="en-US" sz="1400" dirty="0"/>
          </a:p>
        </p:txBody>
      </p:sp>
      <p:sp>
        <p:nvSpPr>
          <p:cNvPr id="7" name="Text 5"/>
          <p:cNvSpPr txBox="1"/>
          <p:nvPr/>
        </p:nvSpPr>
        <p:spPr>
          <a:xfrm>
            <a:off x="3515868" y="1965960"/>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ROAD-01</a:t>
            </a:r>
            <a:endParaRPr lang="en-US" sz="1400" dirty="0"/>
          </a:p>
        </p:txBody>
      </p:sp>
      <p:sp>
        <p:nvSpPr>
          <p:cNvPr id="8" name="Text 6"/>
          <p:cNvSpPr txBox="1"/>
          <p:nvPr/>
        </p:nvSpPr>
        <p:spPr>
          <a:xfrm>
            <a:off x="777240" y="2474595"/>
            <a:ext cx="2967228" cy="508635"/>
          </a:xfrm>
          <a:prstGeom prst="rect">
            <a:avLst/>
          </a:prstGeom>
          <a:noFill/>
          <a:ln/>
        </p:spPr>
        <p:txBody>
          <a:bodyPr wrap="square" lIns="0" tIns="0" rIns="0" bIns="0" rtlCol="0" anchor="ctr"/>
          <a:lstStyle/>
          <a:p>
            <a:pPr indent="0" marL="0">
              <a:buNone/>
            </a:pPr>
            <a:r>
              <a:rPr lang="en-US" sz="1400" dirty="0">
                <a:solidFill>
                  <a:schemeClr val="tx2"/>
                </a:solidFill>
              </a:rPr>
              <a:t>Road width</a:t>
            </a:r>
            <a:endParaRPr lang="en-US" sz="1400" dirty="0"/>
          </a:p>
        </p:txBody>
      </p:sp>
      <p:sp>
        <p:nvSpPr>
          <p:cNvPr id="9" name="Text 7"/>
          <p:cNvSpPr txBox="1"/>
          <p:nvPr/>
        </p:nvSpPr>
        <p:spPr>
          <a:xfrm>
            <a:off x="3515868" y="2474595"/>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7.30 m</a:t>
            </a:r>
            <a:endParaRPr lang="en-US" sz="1400" dirty="0"/>
          </a:p>
        </p:txBody>
      </p:sp>
      <p:sp>
        <p:nvSpPr>
          <p:cNvPr id="10" name="Text 8"/>
          <p:cNvSpPr txBox="1"/>
          <p:nvPr/>
        </p:nvSpPr>
        <p:spPr>
          <a:xfrm>
            <a:off x="777240" y="2983230"/>
            <a:ext cx="2967228" cy="508635"/>
          </a:xfrm>
          <a:prstGeom prst="rect">
            <a:avLst/>
          </a:prstGeom>
          <a:noFill/>
          <a:ln/>
        </p:spPr>
        <p:txBody>
          <a:bodyPr wrap="square" lIns="0" tIns="0" rIns="0" bIns="0" rtlCol="0" anchor="ctr"/>
          <a:lstStyle/>
          <a:p>
            <a:pPr indent="0" marL="0">
              <a:buNone/>
            </a:pPr>
            <a:r>
              <a:rPr lang="en-US" sz="1400" dirty="0">
                <a:solidFill>
                  <a:schemeClr val="tx2"/>
                </a:solidFill>
              </a:rPr>
              <a:t>Turning radius</a:t>
            </a:r>
            <a:endParaRPr lang="en-US" sz="1400" dirty="0"/>
          </a:p>
        </p:txBody>
      </p:sp>
      <p:sp>
        <p:nvSpPr>
          <p:cNvPr id="11" name="Text 9"/>
          <p:cNvSpPr txBox="1"/>
          <p:nvPr/>
        </p:nvSpPr>
        <p:spPr>
          <a:xfrm>
            <a:off x="3515868" y="2983230"/>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10.0 m</a:t>
            </a:r>
            <a:endParaRPr lang="en-US" sz="1400" dirty="0"/>
          </a:p>
        </p:txBody>
      </p:sp>
      <p:sp>
        <p:nvSpPr>
          <p:cNvPr id="12" name="Text 10"/>
          <p:cNvSpPr txBox="1"/>
          <p:nvPr/>
        </p:nvSpPr>
        <p:spPr>
          <a:xfrm>
            <a:off x="777240" y="3491865"/>
            <a:ext cx="2967228" cy="508635"/>
          </a:xfrm>
          <a:prstGeom prst="rect">
            <a:avLst/>
          </a:prstGeom>
          <a:noFill/>
          <a:ln/>
        </p:spPr>
        <p:txBody>
          <a:bodyPr wrap="square" lIns="0" tIns="0" rIns="0" bIns="0" rtlCol="0" anchor="ctr"/>
          <a:lstStyle/>
          <a:p>
            <a:pPr indent="0" marL="0">
              <a:buNone/>
            </a:pPr>
            <a:r>
              <a:rPr lang="en-US" sz="1400" dirty="0">
                <a:solidFill>
                  <a:schemeClr val="tx2"/>
                </a:solidFill>
              </a:rPr>
              <a:t>Radius measured at</a:t>
            </a:r>
            <a:endParaRPr lang="en-US" sz="1400" dirty="0"/>
          </a:p>
        </p:txBody>
      </p:sp>
      <p:sp>
        <p:nvSpPr>
          <p:cNvPr id="13" name="Text 11"/>
          <p:cNvSpPr txBox="1"/>
          <p:nvPr/>
        </p:nvSpPr>
        <p:spPr>
          <a:xfrm>
            <a:off x="3515868" y="3491865"/>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Centre line (CL)</a:t>
            </a:r>
            <a:endParaRPr lang="en-US" sz="1400" dirty="0"/>
          </a:p>
        </p:txBody>
      </p:sp>
      <p:sp>
        <p:nvSpPr>
          <p:cNvPr id="14" name="Text 12"/>
          <p:cNvSpPr txBox="1"/>
          <p:nvPr/>
        </p:nvSpPr>
        <p:spPr>
          <a:xfrm>
            <a:off x="777240" y="4000500"/>
            <a:ext cx="2967228" cy="508635"/>
          </a:xfrm>
          <a:prstGeom prst="rect">
            <a:avLst/>
          </a:prstGeom>
          <a:noFill/>
          <a:ln/>
        </p:spPr>
        <p:txBody>
          <a:bodyPr wrap="square" lIns="0" tIns="0" rIns="0" bIns="0" rtlCol="0" anchor="ctr"/>
          <a:lstStyle/>
          <a:p>
            <a:pPr indent="0" marL="0">
              <a:buNone/>
            </a:pPr>
            <a:r>
              <a:rPr lang="en-US" sz="1400" dirty="0">
                <a:solidFill>
                  <a:schemeClr val="tx2"/>
                </a:solidFill>
              </a:rPr>
              <a:t>Drawing units</a:t>
            </a:r>
            <a:endParaRPr lang="en-US" sz="1400" dirty="0"/>
          </a:p>
        </p:txBody>
      </p:sp>
      <p:sp>
        <p:nvSpPr>
          <p:cNvPr id="15" name="Text 13"/>
          <p:cNvSpPr txBox="1"/>
          <p:nvPr/>
        </p:nvSpPr>
        <p:spPr>
          <a:xfrm>
            <a:off x="3515868" y="4000500"/>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Meters or Millimeters</a:t>
            </a:r>
            <a:endParaRPr lang="en-US" sz="1400" dirty="0"/>
          </a:p>
        </p:txBody>
      </p:sp>
      <p:sp>
        <p:nvSpPr>
          <p:cNvPr id="16" name="Text 14"/>
          <p:cNvSpPr txBox="1"/>
          <p:nvPr/>
        </p:nvSpPr>
        <p:spPr>
          <a:xfrm>
            <a:off x="777240" y="4509135"/>
            <a:ext cx="2967228" cy="508635"/>
          </a:xfrm>
          <a:prstGeom prst="rect">
            <a:avLst/>
          </a:prstGeom>
          <a:noFill/>
          <a:ln/>
        </p:spPr>
        <p:txBody>
          <a:bodyPr wrap="square" lIns="0" tIns="0" rIns="0" bIns="0" rtlCol="0" anchor="ctr"/>
          <a:lstStyle/>
          <a:p>
            <a:pPr indent="0" marL="0">
              <a:buNone/>
            </a:pPr>
            <a:r>
              <a:rPr lang="en-US" sz="1400" dirty="0">
                <a:solidFill>
                  <a:schemeClr val="tx2"/>
                </a:solidFill>
              </a:rPr>
              <a:t>Centre line input</a:t>
            </a:r>
            <a:endParaRPr lang="en-US" sz="1400" dirty="0"/>
          </a:p>
        </p:txBody>
      </p:sp>
      <p:sp>
        <p:nvSpPr>
          <p:cNvPr id="17" name="Text 15"/>
          <p:cNvSpPr txBox="1"/>
          <p:nvPr/>
        </p:nvSpPr>
        <p:spPr>
          <a:xfrm>
            <a:off x="3515868" y="4509135"/>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Pick points or select</a:t>
            </a:r>
            <a:endParaRPr lang="en-US" sz="1400" dirty="0"/>
          </a:p>
        </p:txBody>
      </p:sp>
      <p:sp>
        <p:nvSpPr>
          <p:cNvPr id="18" name="Text 16"/>
          <p:cNvSpPr txBox="1"/>
          <p:nvPr/>
        </p:nvSpPr>
        <p:spPr>
          <a:xfrm>
            <a:off x="777240" y="5017770"/>
            <a:ext cx="2967228" cy="508635"/>
          </a:xfrm>
          <a:prstGeom prst="rect">
            <a:avLst/>
          </a:prstGeom>
          <a:noFill/>
          <a:ln/>
        </p:spPr>
        <p:txBody>
          <a:bodyPr wrap="square" lIns="0" tIns="0" rIns="0" bIns="0" rtlCol="0" anchor="ctr"/>
          <a:lstStyle/>
          <a:p>
            <a:pPr indent="0" marL="0">
              <a:buNone/>
            </a:pPr>
            <a:r>
              <a:rPr lang="en-US" sz="1400" dirty="0">
                <a:solidFill>
                  <a:schemeClr val="tx2"/>
                </a:solidFill>
              </a:rPr>
              <a:t>Radius, TC / CT on plan</a:t>
            </a:r>
            <a:endParaRPr lang="en-US" sz="1400" dirty="0"/>
          </a:p>
        </p:txBody>
      </p:sp>
      <p:sp>
        <p:nvSpPr>
          <p:cNvPr id="19" name="Text 17"/>
          <p:cNvSpPr txBox="1"/>
          <p:nvPr/>
        </p:nvSpPr>
        <p:spPr>
          <a:xfrm>
            <a:off x="3515868" y="5017770"/>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20" name="Text 18"/>
          <p:cNvSpPr txBox="1"/>
          <p:nvPr/>
        </p:nvSpPr>
        <p:spPr>
          <a:xfrm>
            <a:off x="777240" y="5526405"/>
            <a:ext cx="2967228" cy="508635"/>
          </a:xfrm>
          <a:prstGeom prst="rect">
            <a:avLst/>
          </a:prstGeom>
          <a:noFill/>
          <a:ln/>
        </p:spPr>
        <p:txBody>
          <a:bodyPr wrap="square" lIns="0" tIns="0" rIns="0" bIns="0" rtlCol="0" anchor="ctr"/>
          <a:lstStyle/>
          <a:p>
            <a:pPr indent="0" marL="0">
              <a:buNone/>
            </a:pPr>
            <a:r>
              <a:rPr lang="en-US" sz="1400" dirty="0">
                <a:solidFill>
                  <a:schemeClr val="tx2"/>
                </a:solidFill>
              </a:rPr>
              <a:t>Straight sections on plan</a:t>
            </a:r>
            <a:endParaRPr lang="en-US" sz="1400" dirty="0"/>
          </a:p>
        </p:txBody>
      </p:sp>
      <p:sp>
        <p:nvSpPr>
          <p:cNvPr id="21" name="Text 19"/>
          <p:cNvSpPr txBox="1"/>
          <p:nvPr/>
        </p:nvSpPr>
        <p:spPr>
          <a:xfrm>
            <a:off x="3515868" y="5526405"/>
            <a:ext cx="2199132" cy="508635"/>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22" name="Shape 20"/>
          <p:cNvSpPr/>
          <p:nvPr/>
        </p:nvSpPr>
        <p:spPr>
          <a:xfrm>
            <a:off x="6217920" y="1280160"/>
            <a:ext cx="5394960" cy="3246120"/>
          </a:xfrm>
          <a:prstGeom prst="roundRect">
            <a:avLst>
              <a:gd name="adj" fmla="val 2817"/>
            </a:avLst>
          </a:prstGeom>
          <a:solidFill>
            <a:schemeClr val="bg2"/>
          </a:solidFill>
          <a:ln w="9525">
            <a:solidFill>
              <a:schemeClr val="accent6"/>
            </a:solidFill>
            <a:prstDash val="solid"/>
          </a:ln>
        </p:spPr>
      </p:sp>
      <p:sp>
        <p:nvSpPr>
          <p:cNvPr id="23" name="Shape 21"/>
          <p:cNvSpPr/>
          <p:nvPr/>
        </p:nvSpPr>
        <p:spPr>
          <a:xfrm>
            <a:off x="6217920" y="1280160"/>
            <a:ext cx="5394960" cy="548640"/>
          </a:xfrm>
          <a:prstGeom prst="roundRect">
            <a:avLst>
              <a:gd name="adj" fmla="val 16667"/>
            </a:avLst>
          </a:prstGeom>
          <a:solidFill>
            <a:schemeClr val="accent1"/>
          </a:solidFill>
          <a:ln/>
        </p:spPr>
      </p:sp>
      <p:sp>
        <p:nvSpPr>
          <p:cNvPr id="24" name="Text 22"/>
          <p:cNvSpPr txBox="1"/>
          <p:nvPr/>
        </p:nvSpPr>
        <p:spPr>
          <a:xfrm>
            <a:off x="6446520" y="1280160"/>
            <a:ext cx="4937760" cy="548640"/>
          </a:xfrm>
          <a:prstGeom prst="rect">
            <a:avLst/>
          </a:prstGeom>
          <a:noFill/>
          <a:ln/>
        </p:spPr>
        <p:txBody>
          <a:bodyPr wrap="square" lIns="0" tIns="0" rIns="0" bIns="0" rtlCol="0" anchor="ctr"/>
          <a:lstStyle/>
          <a:p>
            <a:pPr indent="0" marL="0">
              <a:buNone/>
            </a:pPr>
            <a:r>
              <a:rPr lang="en-US" sz="1700" b="1" dirty="0">
                <a:solidFill>
                  <a:schemeClr val="bg1"/>
                </a:solidFill>
              </a:rPr>
              <a:t>Barricades</a:t>
            </a:r>
            <a:endParaRPr lang="en-US" sz="1700" dirty="0"/>
          </a:p>
        </p:txBody>
      </p:sp>
      <p:sp>
        <p:nvSpPr>
          <p:cNvPr id="25" name="Text 23"/>
          <p:cNvSpPr txBox="1"/>
          <p:nvPr/>
        </p:nvSpPr>
        <p:spPr>
          <a:xfrm>
            <a:off x="6446520" y="1965960"/>
            <a:ext cx="2967228" cy="493776"/>
          </a:xfrm>
          <a:prstGeom prst="rect">
            <a:avLst/>
          </a:prstGeom>
          <a:noFill/>
          <a:ln/>
        </p:spPr>
        <p:txBody>
          <a:bodyPr wrap="square" lIns="0" tIns="0" rIns="0" bIns="0" rtlCol="0" anchor="ctr"/>
          <a:lstStyle/>
          <a:p>
            <a:pPr indent="0" marL="0">
              <a:buNone/>
            </a:pPr>
            <a:r>
              <a:rPr lang="en-US" sz="1400" dirty="0">
                <a:solidFill>
                  <a:schemeClr val="tx2"/>
                </a:solidFill>
              </a:rPr>
              <a:t>Sides</a:t>
            </a:r>
            <a:endParaRPr lang="en-US" sz="1400" dirty="0"/>
          </a:p>
        </p:txBody>
      </p:sp>
      <p:sp>
        <p:nvSpPr>
          <p:cNvPr id="26" name="Text 24"/>
          <p:cNvSpPr txBox="1"/>
          <p:nvPr/>
        </p:nvSpPr>
        <p:spPr>
          <a:xfrm>
            <a:off x="9185148" y="1965960"/>
            <a:ext cx="2199132" cy="493776"/>
          </a:xfrm>
          <a:prstGeom prst="rect">
            <a:avLst/>
          </a:prstGeom>
          <a:noFill/>
          <a:ln/>
        </p:spPr>
        <p:txBody>
          <a:bodyPr wrap="square" lIns="0" tIns="0" rIns="0" bIns="0" rtlCol="0" anchor="ctr"/>
          <a:lstStyle/>
          <a:p>
            <a:pPr algn="r" indent="0" marL="0">
              <a:buNone/>
            </a:pPr>
            <a:r>
              <a:rPr lang="en-US" sz="1400" b="1" dirty="0">
                <a:solidFill>
                  <a:schemeClr val="tx1"/>
                </a:solidFill>
              </a:rPr>
              <a:t>Left + Right (Centre optional)</a:t>
            </a:r>
            <a:endParaRPr lang="en-US" sz="1400" dirty="0"/>
          </a:p>
        </p:txBody>
      </p:sp>
      <p:sp>
        <p:nvSpPr>
          <p:cNvPr id="27" name="Text 25"/>
          <p:cNvSpPr txBox="1"/>
          <p:nvPr/>
        </p:nvSpPr>
        <p:spPr>
          <a:xfrm>
            <a:off x="6446520" y="2459736"/>
            <a:ext cx="2967228" cy="493776"/>
          </a:xfrm>
          <a:prstGeom prst="rect">
            <a:avLst/>
          </a:prstGeom>
          <a:noFill/>
          <a:ln/>
        </p:spPr>
        <p:txBody>
          <a:bodyPr wrap="square" lIns="0" tIns="0" rIns="0" bIns="0" rtlCol="0" anchor="ctr"/>
          <a:lstStyle/>
          <a:p>
            <a:pPr indent="0" marL="0">
              <a:buNone/>
            </a:pPr>
            <a:r>
              <a:rPr lang="en-US" sz="1400" dirty="0">
                <a:solidFill>
                  <a:schemeClr val="tx2"/>
                </a:solidFill>
              </a:rPr>
              <a:t>Unit length</a:t>
            </a:r>
            <a:endParaRPr lang="en-US" sz="1400" dirty="0"/>
          </a:p>
        </p:txBody>
      </p:sp>
      <p:sp>
        <p:nvSpPr>
          <p:cNvPr id="28" name="Text 26"/>
          <p:cNvSpPr txBox="1"/>
          <p:nvPr/>
        </p:nvSpPr>
        <p:spPr>
          <a:xfrm>
            <a:off x="9185148" y="2459736"/>
            <a:ext cx="2199132" cy="493776"/>
          </a:xfrm>
          <a:prstGeom prst="rect">
            <a:avLst/>
          </a:prstGeom>
          <a:noFill/>
          <a:ln/>
        </p:spPr>
        <p:txBody>
          <a:bodyPr wrap="square" lIns="0" tIns="0" rIns="0" bIns="0" rtlCol="0" anchor="ctr"/>
          <a:lstStyle/>
          <a:p>
            <a:pPr algn="r" indent="0" marL="0">
              <a:buNone/>
            </a:pPr>
            <a:r>
              <a:rPr lang="en-US" sz="1400" b="1" dirty="0">
                <a:solidFill>
                  <a:schemeClr val="tx1"/>
                </a:solidFill>
              </a:rPr>
              <a:t>2.00 m</a:t>
            </a:r>
            <a:endParaRPr lang="en-US" sz="1400" dirty="0"/>
          </a:p>
        </p:txBody>
      </p:sp>
      <p:sp>
        <p:nvSpPr>
          <p:cNvPr id="29" name="Text 27"/>
          <p:cNvSpPr txBox="1"/>
          <p:nvPr/>
        </p:nvSpPr>
        <p:spPr>
          <a:xfrm>
            <a:off x="6446520" y="2953512"/>
            <a:ext cx="2967228" cy="493776"/>
          </a:xfrm>
          <a:prstGeom prst="rect">
            <a:avLst/>
          </a:prstGeom>
          <a:noFill/>
          <a:ln/>
        </p:spPr>
        <p:txBody>
          <a:bodyPr wrap="square" lIns="0" tIns="0" rIns="0" bIns="0" rtlCol="0" anchor="ctr"/>
          <a:lstStyle/>
          <a:p>
            <a:pPr indent="0" marL="0">
              <a:buNone/>
            </a:pPr>
            <a:r>
              <a:rPr lang="en-US" sz="1400" dirty="0">
                <a:solidFill>
                  <a:schemeClr val="tx2"/>
                </a:solidFill>
              </a:rPr>
              <a:t>Unit width</a:t>
            </a:r>
            <a:endParaRPr lang="en-US" sz="1400" dirty="0"/>
          </a:p>
        </p:txBody>
      </p:sp>
      <p:sp>
        <p:nvSpPr>
          <p:cNvPr id="30" name="Text 28"/>
          <p:cNvSpPr txBox="1"/>
          <p:nvPr/>
        </p:nvSpPr>
        <p:spPr>
          <a:xfrm>
            <a:off x="9185148" y="2953512"/>
            <a:ext cx="2199132" cy="493776"/>
          </a:xfrm>
          <a:prstGeom prst="rect">
            <a:avLst/>
          </a:prstGeom>
          <a:noFill/>
          <a:ln/>
        </p:spPr>
        <p:txBody>
          <a:bodyPr wrap="square" lIns="0" tIns="0" rIns="0" bIns="0" rtlCol="0" anchor="ctr"/>
          <a:lstStyle/>
          <a:p>
            <a:pPr algn="r" indent="0" marL="0">
              <a:buNone/>
            </a:pPr>
            <a:r>
              <a:rPr lang="en-US" sz="1400" b="1" dirty="0">
                <a:solidFill>
                  <a:schemeClr val="tx1"/>
                </a:solidFill>
              </a:rPr>
              <a:t>0.50 m</a:t>
            </a:r>
            <a:endParaRPr lang="en-US" sz="1400" dirty="0"/>
          </a:p>
        </p:txBody>
      </p:sp>
      <p:sp>
        <p:nvSpPr>
          <p:cNvPr id="31" name="Text 29"/>
          <p:cNvSpPr txBox="1"/>
          <p:nvPr/>
        </p:nvSpPr>
        <p:spPr>
          <a:xfrm>
            <a:off x="6446520" y="3447288"/>
            <a:ext cx="2967228" cy="493776"/>
          </a:xfrm>
          <a:prstGeom prst="rect">
            <a:avLst/>
          </a:prstGeom>
          <a:noFill/>
          <a:ln/>
        </p:spPr>
        <p:txBody>
          <a:bodyPr wrap="square" lIns="0" tIns="0" rIns="0" bIns="0" rtlCol="0" anchor="ctr"/>
          <a:lstStyle/>
          <a:p>
            <a:pPr indent="0" marL="0">
              <a:buNone/>
            </a:pPr>
            <a:r>
              <a:rPr lang="en-US" sz="1400" dirty="0">
                <a:solidFill>
                  <a:schemeClr val="tx2"/>
                </a:solidFill>
              </a:rPr>
              <a:t>Gap from road edge</a:t>
            </a:r>
            <a:endParaRPr lang="en-US" sz="1400" dirty="0"/>
          </a:p>
        </p:txBody>
      </p:sp>
      <p:sp>
        <p:nvSpPr>
          <p:cNvPr id="32" name="Text 30"/>
          <p:cNvSpPr txBox="1"/>
          <p:nvPr/>
        </p:nvSpPr>
        <p:spPr>
          <a:xfrm>
            <a:off x="9185148" y="3447288"/>
            <a:ext cx="2199132" cy="493776"/>
          </a:xfrm>
          <a:prstGeom prst="rect">
            <a:avLst/>
          </a:prstGeom>
          <a:noFill/>
          <a:ln/>
        </p:spPr>
        <p:txBody>
          <a:bodyPr wrap="square" lIns="0" tIns="0" rIns="0" bIns="0" rtlCol="0" anchor="ctr"/>
          <a:lstStyle/>
          <a:p>
            <a:pPr algn="r" indent="0" marL="0">
              <a:buNone/>
            </a:pPr>
            <a:r>
              <a:rPr lang="en-US" sz="1400" b="1" dirty="0">
                <a:solidFill>
                  <a:schemeClr val="tx1"/>
                </a:solidFill>
              </a:rPr>
              <a:t>0.50 m</a:t>
            </a:r>
            <a:endParaRPr lang="en-US" sz="1400" dirty="0"/>
          </a:p>
        </p:txBody>
      </p:sp>
      <p:sp>
        <p:nvSpPr>
          <p:cNvPr id="33" name="Text 31"/>
          <p:cNvSpPr txBox="1"/>
          <p:nvPr/>
        </p:nvSpPr>
        <p:spPr>
          <a:xfrm>
            <a:off x="6446520" y="3941064"/>
            <a:ext cx="2967228" cy="493776"/>
          </a:xfrm>
          <a:prstGeom prst="rect">
            <a:avLst/>
          </a:prstGeom>
          <a:noFill/>
          <a:ln/>
        </p:spPr>
        <p:txBody>
          <a:bodyPr wrap="square" lIns="0" tIns="0" rIns="0" bIns="0" rtlCol="0" anchor="ctr"/>
          <a:lstStyle/>
          <a:p>
            <a:pPr indent="0" marL="0">
              <a:buNone/>
            </a:pPr>
            <a:r>
              <a:rPr lang="en-US" sz="1400" dirty="0">
                <a:solidFill>
                  <a:schemeClr val="tx2"/>
                </a:solidFill>
              </a:rPr>
              <a:t>Fill and outline</a:t>
            </a:r>
            <a:endParaRPr lang="en-US" sz="1400" dirty="0"/>
          </a:p>
        </p:txBody>
      </p:sp>
      <p:sp>
        <p:nvSpPr>
          <p:cNvPr id="34" name="Text 32"/>
          <p:cNvSpPr txBox="1"/>
          <p:nvPr/>
        </p:nvSpPr>
        <p:spPr>
          <a:xfrm>
            <a:off x="9185148" y="3941064"/>
            <a:ext cx="2199132" cy="493776"/>
          </a:xfrm>
          <a:prstGeom prst="rect">
            <a:avLst/>
          </a:prstGeom>
          <a:noFill/>
          <a:ln/>
        </p:spPr>
        <p:txBody>
          <a:bodyPr wrap="square" lIns="0" tIns="0" rIns="0" bIns="0" rtlCol="0" anchor="ctr"/>
          <a:lstStyle/>
          <a:p>
            <a:pPr algn="r" indent="0" marL="0">
              <a:buNone/>
            </a:pPr>
            <a:r>
              <a:rPr lang="en-US" sz="1400" b="1" dirty="0">
                <a:solidFill>
                  <a:schemeClr val="tx1"/>
                </a:solidFill>
              </a:rPr>
              <a:t>Red / white, black</a:t>
            </a:r>
            <a:endParaRPr lang="en-US" sz="1400" dirty="0"/>
          </a:p>
        </p:txBody>
      </p:sp>
      <p:sp>
        <p:nvSpPr>
          <p:cNvPr id="35" name="Shape 33"/>
          <p:cNvSpPr/>
          <p:nvPr/>
        </p:nvSpPr>
        <p:spPr>
          <a:xfrm>
            <a:off x="6217920" y="4754880"/>
            <a:ext cx="5394960" cy="1371600"/>
          </a:xfrm>
          <a:prstGeom prst="roundRect">
            <a:avLst>
              <a:gd name="adj" fmla="val 6667"/>
            </a:avLst>
          </a:prstGeom>
          <a:solidFill>
            <a:schemeClr val="bg2"/>
          </a:solidFill>
          <a:ln w="9525">
            <a:solidFill>
              <a:schemeClr val="accent6"/>
            </a:solidFill>
            <a:prstDash val="solid"/>
          </a:ln>
        </p:spPr>
      </p:sp>
      <p:sp>
        <p:nvSpPr>
          <p:cNvPr id="36" name="Shape 34"/>
          <p:cNvSpPr/>
          <p:nvPr/>
        </p:nvSpPr>
        <p:spPr>
          <a:xfrm>
            <a:off x="6492240" y="5029200"/>
            <a:ext cx="548640" cy="274320"/>
          </a:xfrm>
          <a:prstGeom prst="rect">
            <a:avLst/>
          </a:prstGeom>
          <a:solidFill>
            <a:schemeClr val="accent1"/>
          </a:solidFill>
          <a:ln w="12700">
            <a:solidFill>
              <a:srgbClr val="000000"/>
            </a:solidFill>
            <a:prstDash val="solid"/>
          </a:ln>
        </p:spPr>
      </p:sp>
      <p:sp>
        <p:nvSpPr>
          <p:cNvPr id="37" name="Shape 35"/>
          <p:cNvSpPr/>
          <p:nvPr/>
        </p:nvSpPr>
        <p:spPr>
          <a:xfrm>
            <a:off x="7040880" y="5029200"/>
            <a:ext cx="548640" cy="274320"/>
          </a:xfrm>
          <a:prstGeom prst="rect">
            <a:avLst/>
          </a:prstGeom>
          <a:solidFill>
            <a:schemeClr val="bg1"/>
          </a:solidFill>
          <a:ln w="12700">
            <a:solidFill>
              <a:srgbClr val="000000"/>
            </a:solidFill>
            <a:prstDash val="solid"/>
          </a:ln>
        </p:spPr>
      </p:sp>
      <p:sp>
        <p:nvSpPr>
          <p:cNvPr id="38" name="Shape 36"/>
          <p:cNvSpPr/>
          <p:nvPr/>
        </p:nvSpPr>
        <p:spPr>
          <a:xfrm>
            <a:off x="7589520" y="5029200"/>
            <a:ext cx="548640" cy="274320"/>
          </a:xfrm>
          <a:prstGeom prst="rect">
            <a:avLst/>
          </a:prstGeom>
          <a:solidFill>
            <a:schemeClr val="accent1"/>
          </a:solidFill>
          <a:ln w="12700">
            <a:solidFill>
              <a:srgbClr val="000000"/>
            </a:solidFill>
            <a:prstDash val="solid"/>
          </a:ln>
        </p:spPr>
      </p:sp>
      <p:sp>
        <p:nvSpPr>
          <p:cNvPr id="39" name="Shape 37"/>
          <p:cNvSpPr/>
          <p:nvPr/>
        </p:nvSpPr>
        <p:spPr>
          <a:xfrm>
            <a:off x="8138160" y="5029200"/>
            <a:ext cx="548640" cy="274320"/>
          </a:xfrm>
          <a:prstGeom prst="rect">
            <a:avLst/>
          </a:prstGeom>
          <a:solidFill>
            <a:schemeClr val="bg1"/>
          </a:solidFill>
          <a:ln w="12700">
            <a:solidFill>
              <a:srgbClr val="000000"/>
            </a:solidFill>
            <a:prstDash val="solid"/>
          </a:ln>
        </p:spPr>
      </p:sp>
      <p:sp>
        <p:nvSpPr>
          <p:cNvPr id="40" name="Shape 38"/>
          <p:cNvSpPr/>
          <p:nvPr/>
        </p:nvSpPr>
        <p:spPr>
          <a:xfrm>
            <a:off x="8686800" y="5029200"/>
            <a:ext cx="548640" cy="274320"/>
          </a:xfrm>
          <a:prstGeom prst="rect">
            <a:avLst/>
          </a:prstGeom>
          <a:solidFill>
            <a:schemeClr val="accent1"/>
          </a:solidFill>
          <a:ln w="12700">
            <a:solidFill>
              <a:srgbClr val="000000"/>
            </a:solidFill>
            <a:prstDash val="solid"/>
          </a:ln>
        </p:spPr>
      </p:sp>
      <p:sp>
        <p:nvSpPr>
          <p:cNvPr id="41" name="Shape 39"/>
          <p:cNvSpPr/>
          <p:nvPr/>
        </p:nvSpPr>
        <p:spPr>
          <a:xfrm>
            <a:off x="9235440" y="5029200"/>
            <a:ext cx="548640" cy="274320"/>
          </a:xfrm>
          <a:prstGeom prst="rect">
            <a:avLst/>
          </a:prstGeom>
          <a:solidFill>
            <a:schemeClr val="bg1"/>
          </a:solidFill>
          <a:ln w="12700">
            <a:solidFill>
              <a:srgbClr val="000000"/>
            </a:solidFill>
            <a:prstDash val="solid"/>
          </a:ln>
        </p:spPr>
      </p:sp>
      <p:sp>
        <p:nvSpPr>
          <p:cNvPr id="42" name="Shape 40"/>
          <p:cNvSpPr/>
          <p:nvPr/>
        </p:nvSpPr>
        <p:spPr>
          <a:xfrm>
            <a:off x="9784080" y="5029200"/>
            <a:ext cx="548640" cy="274320"/>
          </a:xfrm>
          <a:prstGeom prst="rect">
            <a:avLst/>
          </a:prstGeom>
          <a:solidFill>
            <a:schemeClr val="accent1"/>
          </a:solidFill>
          <a:ln w="12700">
            <a:solidFill>
              <a:srgbClr val="000000"/>
            </a:solidFill>
            <a:prstDash val="solid"/>
          </a:ln>
        </p:spPr>
      </p:sp>
      <p:sp>
        <p:nvSpPr>
          <p:cNvPr id="43" name="Shape 41"/>
          <p:cNvSpPr/>
          <p:nvPr/>
        </p:nvSpPr>
        <p:spPr>
          <a:xfrm>
            <a:off x="10332720" y="5029200"/>
            <a:ext cx="548640" cy="274320"/>
          </a:xfrm>
          <a:prstGeom prst="rect">
            <a:avLst/>
          </a:prstGeom>
          <a:solidFill>
            <a:schemeClr val="bg1"/>
          </a:solidFill>
          <a:ln w="12700">
            <a:solidFill>
              <a:srgbClr val="000000"/>
            </a:solidFill>
            <a:prstDash val="solid"/>
          </a:ln>
        </p:spPr>
      </p:sp>
      <p:sp>
        <p:nvSpPr>
          <p:cNvPr id="44" name="Shape 42"/>
          <p:cNvSpPr/>
          <p:nvPr/>
        </p:nvSpPr>
        <p:spPr>
          <a:xfrm>
            <a:off x="10881360" y="5029200"/>
            <a:ext cx="548640" cy="274320"/>
          </a:xfrm>
          <a:prstGeom prst="rect">
            <a:avLst/>
          </a:prstGeom>
          <a:solidFill>
            <a:schemeClr val="accent1"/>
          </a:solidFill>
          <a:ln w="12700">
            <a:solidFill>
              <a:srgbClr val="000000"/>
            </a:solidFill>
            <a:prstDash val="solid"/>
          </a:ln>
        </p:spPr>
      </p:sp>
      <p:sp>
        <p:nvSpPr>
          <p:cNvPr id="45" name="Text 43"/>
          <p:cNvSpPr txBox="1"/>
          <p:nvPr/>
        </p:nvSpPr>
        <p:spPr>
          <a:xfrm>
            <a:off x="6492240" y="5394960"/>
            <a:ext cx="4937760" cy="640080"/>
          </a:xfrm>
          <a:prstGeom prst="rect">
            <a:avLst/>
          </a:prstGeom>
          <a:noFill/>
          <a:ln/>
        </p:spPr>
        <p:txBody>
          <a:bodyPr wrap="square" lIns="0" tIns="0" rIns="0" bIns="0" rtlCol="0" anchor="t"/>
          <a:lstStyle/>
          <a:p>
            <a:pPr indent="0" marL="0">
              <a:buNone/>
            </a:pPr>
            <a:r>
              <a:rPr lang="en-US" sz="1400" dirty="0">
                <a:solidFill>
                  <a:schemeClr val="tx2"/>
                </a:solidFill>
              </a:rPr>
              <a:t>Units alternate red and white. The count of each colour is in the report for ordering.</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Dialog settings: signs, surface, chainage and outputs</a:t>
            </a:r>
            <a:endParaRPr lang="en-US" sz="3200" dirty="0"/>
          </a:p>
        </p:txBody>
      </p:sp>
      <p:sp>
        <p:nvSpPr>
          <p:cNvPr id="3" name="Shape 1"/>
          <p:cNvSpPr/>
          <p:nvPr/>
        </p:nvSpPr>
        <p:spPr>
          <a:xfrm>
            <a:off x="548640" y="1280160"/>
            <a:ext cx="3657600" cy="4846320"/>
          </a:xfrm>
          <a:prstGeom prst="roundRect">
            <a:avLst>
              <a:gd name="adj" fmla="val 2500"/>
            </a:avLst>
          </a:prstGeom>
          <a:solidFill>
            <a:schemeClr val="bg2"/>
          </a:solidFill>
          <a:ln w="9525">
            <a:solidFill>
              <a:schemeClr val="accent6"/>
            </a:solidFill>
            <a:prstDash val="solid"/>
          </a:ln>
        </p:spPr>
      </p:sp>
      <p:sp>
        <p:nvSpPr>
          <p:cNvPr id="4" name="Shape 2"/>
          <p:cNvSpPr/>
          <p:nvPr/>
        </p:nvSpPr>
        <p:spPr>
          <a:xfrm>
            <a:off x="548640" y="1280160"/>
            <a:ext cx="3657600" cy="548640"/>
          </a:xfrm>
          <a:prstGeom prst="roundRect">
            <a:avLst>
              <a:gd name="adj" fmla="val 16667"/>
            </a:avLst>
          </a:prstGeom>
          <a:solidFill>
            <a:schemeClr val="accent1"/>
          </a:solidFill>
          <a:ln/>
        </p:spPr>
      </p:sp>
      <p:sp>
        <p:nvSpPr>
          <p:cNvPr id="5" name="Text 3"/>
          <p:cNvSpPr txBox="1"/>
          <p:nvPr/>
        </p:nvSpPr>
        <p:spPr>
          <a:xfrm>
            <a:off x="777240" y="1280160"/>
            <a:ext cx="3200400" cy="548640"/>
          </a:xfrm>
          <a:prstGeom prst="rect">
            <a:avLst/>
          </a:prstGeom>
          <a:noFill/>
          <a:ln/>
        </p:spPr>
        <p:txBody>
          <a:bodyPr wrap="square" lIns="0" tIns="0" rIns="0" bIns="0" rtlCol="0" anchor="ctr"/>
          <a:lstStyle/>
          <a:p>
            <a:pPr indent="0" marL="0">
              <a:buNone/>
            </a:pPr>
            <a:r>
              <a:rPr lang="en-US" sz="1700" b="1" dirty="0">
                <a:solidFill>
                  <a:schemeClr val="bg1"/>
                </a:solidFill>
              </a:rPr>
              <a:t>Signs and Markings</a:t>
            </a:r>
            <a:endParaRPr lang="en-US" sz="1700" dirty="0"/>
          </a:p>
        </p:txBody>
      </p:sp>
      <p:sp>
        <p:nvSpPr>
          <p:cNvPr id="6" name="Text 4"/>
          <p:cNvSpPr txBox="1"/>
          <p:nvPr/>
        </p:nvSpPr>
        <p:spPr>
          <a:xfrm>
            <a:off x="777240" y="1965960"/>
            <a:ext cx="2011680" cy="508635"/>
          </a:xfrm>
          <a:prstGeom prst="rect">
            <a:avLst/>
          </a:prstGeom>
          <a:noFill/>
          <a:ln/>
        </p:spPr>
        <p:txBody>
          <a:bodyPr wrap="square" lIns="0" tIns="0" rIns="0" bIns="0" rtlCol="0" anchor="ctr"/>
          <a:lstStyle/>
          <a:p>
            <a:pPr indent="0" marL="0">
              <a:buNone/>
            </a:pPr>
            <a:r>
              <a:rPr lang="en-US" sz="1400" dirty="0">
                <a:solidFill>
                  <a:schemeClr val="tx2"/>
                </a:solidFill>
              </a:rPr>
              <a:t>Speed limit</a:t>
            </a:r>
            <a:endParaRPr lang="en-US" sz="1400" dirty="0"/>
          </a:p>
        </p:txBody>
      </p:sp>
      <p:sp>
        <p:nvSpPr>
          <p:cNvPr id="7" name="Text 5"/>
          <p:cNvSpPr txBox="1"/>
          <p:nvPr/>
        </p:nvSpPr>
        <p:spPr>
          <a:xfrm>
            <a:off x="2560320" y="1965960"/>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30 km/h</a:t>
            </a:r>
            <a:endParaRPr lang="en-US" sz="1400" dirty="0"/>
          </a:p>
        </p:txBody>
      </p:sp>
      <p:sp>
        <p:nvSpPr>
          <p:cNvPr id="8" name="Text 6"/>
          <p:cNvSpPr txBox="1"/>
          <p:nvPr/>
        </p:nvSpPr>
        <p:spPr>
          <a:xfrm>
            <a:off x="777240" y="2474595"/>
            <a:ext cx="2011680" cy="508635"/>
          </a:xfrm>
          <a:prstGeom prst="rect">
            <a:avLst/>
          </a:prstGeom>
          <a:noFill/>
          <a:ln/>
        </p:spPr>
        <p:txBody>
          <a:bodyPr wrap="square" lIns="0" tIns="0" rIns="0" bIns="0" rtlCol="0" anchor="ctr"/>
          <a:lstStyle/>
          <a:p>
            <a:pPr indent="0" marL="0">
              <a:buNone/>
            </a:pPr>
            <a:r>
              <a:rPr lang="en-US" sz="1400" dirty="0">
                <a:solidFill>
                  <a:schemeClr val="tx2"/>
                </a:solidFill>
              </a:rPr>
              <a:t>Bend ahead</a:t>
            </a:r>
            <a:endParaRPr lang="en-US" sz="1400" dirty="0"/>
          </a:p>
        </p:txBody>
      </p:sp>
      <p:sp>
        <p:nvSpPr>
          <p:cNvPr id="9" name="Text 7"/>
          <p:cNvSpPr txBox="1"/>
          <p:nvPr/>
        </p:nvSpPr>
        <p:spPr>
          <a:xfrm>
            <a:off x="2560320" y="2474595"/>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30 m before</a:t>
            </a:r>
            <a:endParaRPr lang="en-US" sz="1400" dirty="0"/>
          </a:p>
        </p:txBody>
      </p:sp>
      <p:sp>
        <p:nvSpPr>
          <p:cNvPr id="10" name="Text 8"/>
          <p:cNvSpPr txBox="1"/>
          <p:nvPr/>
        </p:nvSpPr>
        <p:spPr>
          <a:xfrm>
            <a:off x="777240" y="2983230"/>
            <a:ext cx="2011680" cy="508635"/>
          </a:xfrm>
          <a:prstGeom prst="rect">
            <a:avLst/>
          </a:prstGeom>
          <a:noFill/>
          <a:ln/>
        </p:spPr>
        <p:txBody>
          <a:bodyPr wrap="square" lIns="0" tIns="0" rIns="0" bIns="0" rtlCol="0" anchor="ctr"/>
          <a:lstStyle/>
          <a:p>
            <a:pPr indent="0" marL="0">
              <a:buNone/>
            </a:pPr>
            <a:r>
              <a:rPr lang="en-US" sz="1400" dirty="0">
                <a:solidFill>
                  <a:schemeClr val="tx2"/>
                </a:solidFill>
              </a:rPr>
              <a:t>Road works ahead</a:t>
            </a:r>
            <a:endParaRPr lang="en-US" sz="1400" dirty="0"/>
          </a:p>
        </p:txBody>
      </p:sp>
      <p:sp>
        <p:nvSpPr>
          <p:cNvPr id="11" name="Text 9"/>
          <p:cNvSpPr txBox="1"/>
          <p:nvPr/>
        </p:nvSpPr>
        <p:spPr>
          <a:xfrm>
            <a:off x="2560320" y="2983230"/>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12" name="Text 10"/>
          <p:cNvSpPr txBox="1"/>
          <p:nvPr/>
        </p:nvSpPr>
        <p:spPr>
          <a:xfrm>
            <a:off x="777240" y="3491865"/>
            <a:ext cx="2011680" cy="508635"/>
          </a:xfrm>
          <a:prstGeom prst="rect">
            <a:avLst/>
          </a:prstGeom>
          <a:noFill/>
          <a:ln/>
        </p:spPr>
        <p:txBody>
          <a:bodyPr wrap="square" lIns="0" tIns="0" rIns="0" bIns="0" rtlCol="0" anchor="ctr"/>
          <a:lstStyle/>
          <a:p>
            <a:pPr indent="0" marL="0">
              <a:buNone/>
            </a:pPr>
            <a:r>
              <a:rPr lang="en-US" sz="1400" dirty="0">
                <a:solidFill>
                  <a:schemeClr val="tx2"/>
                </a:solidFill>
              </a:rPr>
              <a:t>Chevron boards</a:t>
            </a:r>
            <a:endParaRPr lang="en-US" sz="1400" dirty="0"/>
          </a:p>
        </p:txBody>
      </p:sp>
      <p:sp>
        <p:nvSpPr>
          <p:cNvPr id="13" name="Text 11"/>
          <p:cNvSpPr txBox="1"/>
          <p:nvPr/>
        </p:nvSpPr>
        <p:spPr>
          <a:xfrm>
            <a:off x="2560320" y="3491865"/>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14" name="Text 12"/>
          <p:cNvSpPr txBox="1"/>
          <p:nvPr/>
        </p:nvSpPr>
        <p:spPr>
          <a:xfrm>
            <a:off x="777240" y="4000500"/>
            <a:ext cx="2011680" cy="508635"/>
          </a:xfrm>
          <a:prstGeom prst="rect">
            <a:avLst/>
          </a:prstGeom>
          <a:noFill/>
          <a:ln/>
        </p:spPr>
        <p:txBody>
          <a:bodyPr wrap="square" lIns="0" tIns="0" rIns="0" bIns="0" rtlCol="0" anchor="ctr"/>
          <a:lstStyle/>
          <a:p>
            <a:pPr indent="0" marL="0">
              <a:buNone/>
            </a:pPr>
            <a:r>
              <a:rPr lang="en-US" sz="1400" dirty="0">
                <a:solidFill>
                  <a:schemeClr val="tx2"/>
                </a:solidFill>
              </a:rPr>
              <a:t>Keep right (median)</a:t>
            </a:r>
            <a:endParaRPr lang="en-US" sz="1400" dirty="0"/>
          </a:p>
        </p:txBody>
      </p:sp>
      <p:sp>
        <p:nvSpPr>
          <p:cNvPr id="15" name="Text 13"/>
          <p:cNvSpPr txBox="1"/>
          <p:nvPr/>
        </p:nvSpPr>
        <p:spPr>
          <a:xfrm>
            <a:off x="2560320" y="4000500"/>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16" name="Text 14"/>
          <p:cNvSpPr txBox="1"/>
          <p:nvPr/>
        </p:nvSpPr>
        <p:spPr>
          <a:xfrm>
            <a:off x="777240" y="4509135"/>
            <a:ext cx="2011680" cy="508635"/>
          </a:xfrm>
          <a:prstGeom prst="rect">
            <a:avLst/>
          </a:prstGeom>
          <a:noFill/>
          <a:ln/>
        </p:spPr>
        <p:txBody>
          <a:bodyPr wrap="square" lIns="0" tIns="0" rIns="0" bIns="0" rtlCol="0" anchor="ctr"/>
          <a:lstStyle/>
          <a:p>
            <a:pPr indent="0" marL="0">
              <a:buNone/>
            </a:pPr>
            <a:r>
              <a:rPr lang="en-US" sz="1400" dirty="0">
                <a:solidFill>
                  <a:schemeClr val="tx2"/>
                </a:solidFill>
              </a:rPr>
              <a:t>Lane arrows</a:t>
            </a:r>
            <a:endParaRPr lang="en-US" sz="1400" dirty="0"/>
          </a:p>
        </p:txBody>
      </p:sp>
      <p:sp>
        <p:nvSpPr>
          <p:cNvPr id="17" name="Text 15"/>
          <p:cNvSpPr txBox="1"/>
          <p:nvPr/>
        </p:nvSpPr>
        <p:spPr>
          <a:xfrm>
            <a:off x="2560320" y="4509135"/>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18" name="Text 16"/>
          <p:cNvSpPr txBox="1"/>
          <p:nvPr/>
        </p:nvSpPr>
        <p:spPr>
          <a:xfrm>
            <a:off x="777240" y="5017770"/>
            <a:ext cx="2011680" cy="508635"/>
          </a:xfrm>
          <a:prstGeom prst="rect">
            <a:avLst/>
          </a:prstGeom>
          <a:noFill/>
          <a:ln/>
        </p:spPr>
        <p:txBody>
          <a:bodyPr wrap="square" lIns="0" tIns="0" rIns="0" bIns="0" rtlCol="0" anchor="ctr"/>
          <a:lstStyle/>
          <a:p>
            <a:pPr indent="0" marL="0">
              <a:buNone/>
            </a:pPr>
            <a:r>
              <a:rPr lang="en-US" sz="1400" dirty="0">
                <a:solidFill>
                  <a:schemeClr val="tx2"/>
                </a:solidFill>
              </a:rPr>
              <a:t>At tie-in</a:t>
            </a:r>
            <a:endParaRPr lang="en-US" sz="1400" dirty="0"/>
          </a:p>
        </p:txBody>
      </p:sp>
      <p:sp>
        <p:nvSpPr>
          <p:cNvPr id="19" name="Text 17"/>
          <p:cNvSpPr txBox="1"/>
          <p:nvPr/>
        </p:nvSpPr>
        <p:spPr>
          <a:xfrm>
            <a:off x="2560320" y="5017770"/>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STOP / GIVE WAY</a:t>
            </a:r>
            <a:endParaRPr lang="en-US" sz="1400" dirty="0"/>
          </a:p>
        </p:txBody>
      </p:sp>
      <p:sp>
        <p:nvSpPr>
          <p:cNvPr id="20" name="Text 18"/>
          <p:cNvSpPr txBox="1"/>
          <p:nvPr/>
        </p:nvSpPr>
        <p:spPr>
          <a:xfrm>
            <a:off x="777240" y="5526405"/>
            <a:ext cx="2011680" cy="508635"/>
          </a:xfrm>
          <a:prstGeom prst="rect">
            <a:avLst/>
          </a:prstGeom>
          <a:noFill/>
          <a:ln/>
        </p:spPr>
        <p:txBody>
          <a:bodyPr wrap="square" lIns="0" tIns="0" rIns="0" bIns="0" rtlCol="0" anchor="ctr"/>
          <a:lstStyle/>
          <a:p>
            <a:pPr indent="0" marL="0">
              <a:buNone/>
            </a:pPr>
            <a:r>
              <a:rPr lang="en-US" sz="1400" dirty="0">
                <a:solidFill>
                  <a:schemeClr val="tx2"/>
                </a:solidFill>
              </a:rPr>
              <a:t>Symbol / spacing</a:t>
            </a:r>
            <a:endParaRPr lang="en-US" sz="1400" dirty="0"/>
          </a:p>
        </p:txBody>
      </p:sp>
      <p:sp>
        <p:nvSpPr>
          <p:cNvPr id="21" name="Text 19"/>
          <p:cNvSpPr txBox="1"/>
          <p:nvPr/>
        </p:nvSpPr>
        <p:spPr>
          <a:xfrm>
            <a:off x="2560320" y="5526405"/>
            <a:ext cx="1417320" cy="508635"/>
          </a:xfrm>
          <a:prstGeom prst="rect">
            <a:avLst/>
          </a:prstGeom>
          <a:noFill/>
          <a:ln/>
        </p:spPr>
        <p:txBody>
          <a:bodyPr wrap="square" lIns="0" tIns="0" rIns="0" bIns="0" rtlCol="0" anchor="ctr"/>
          <a:lstStyle/>
          <a:p>
            <a:pPr algn="r" indent="0" marL="0">
              <a:buNone/>
            </a:pPr>
            <a:r>
              <a:rPr lang="en-US" sz="1400" b="1" dirty="0">
                <a:solidFill>
                  <a:schemeClr val="tx1"/>
                </a:solidFill>
              </a:rPr>
              <a:t>2.0 m / 15 m</a:t>
            </a:r>
            <a:endParaRPr lang="en-US" sz="1400" dirty="0"/>
          </a:p>
        </p:txBody>
      </p:sp>
      <p:sp>
        <p:nvSpPr>
          <p:cNvPr id="22" name="Shape 20"/>
          <p:cNvSpPr/>
          <p:nvPr/>
        </p:nvSpPr>
        <p:spPr>
          <a:xfrm>
            <a:off x="4270248" y="1280160"/>
            <a:ext cx="3657600" cy="4846320"/>
          </a:xfrm>
          <a:prstGeom prst="roundRect">
            <a:avLst>
              <a:gd name="adj" fmla="val 2500"/>
            </a:avLst>
          </a:prstGeom>
          <a:solidFill>
            <a:schemeClr val="bg2"/>
          </a:solidFill>
          <a:ln w="9525">
            <a:solidFill>
              <a:schemeClr val="accent6"/>
            </a:solidFill>
            <a:prstDash val="solid"/>
          </a:ln>
        </p:spPr>
      </p:sp>
      <p:sp>
        <p:nvSpPr>
          <p:cNvPr id="23" name="Shape 21"/>
          <p:cNvSpPr/>
          <p:nvPr/>
        </p:nvSpPr>
        <p:spPr>
          <a:xfrm>
            <a:off x="4270248" y="1280160"/>
            <a:ext cx="3657600" cy="548640"/>
          </a:xfrm>
          <a:prstGeom prst="roundRect">
            <a:avLst>
              <a:gd name="adj" fmla="val 16667"/>
            </a:avLst>
          </a:prstGeom>
          <a:solidFill>
            <a:schemeClr val="tx1"/>
          </a:solidFill>
          <a:ln/>
        </p:spPr>
      </p:sp>
      <p:sp>
        <p:nvSpPr>
          <p:cNvPr id="24" name="Text 22"/>
          <p:cNvSpPr txBox="1"/>
          <p:nvPr/>
        </p:nvSpPr>
        <p:spPr>
          <a:xfrm>
            <a:off x="4498848" y="1280160"/>
            <a:ext cx="3200400" cy="548640"/>
          </a:xfrm>
          <a:prstGeom prst="rect">
            <a:avLst/>
          </a:prstGeom>
          <a:noFill/>
          <a:ln/>
        </p:spPr>
        <p:txBody>
          <a:bodyPr wrap="square" lIns="0" tIns="0" rIns="0" bIns="0" rtlCol="0" anchor="ctr"/>
          <a:lstStyle/>
          <a:p>
            <a:pPr indent="0" marL="0">
              <a:buNone/>
            </a:pPr>
            <a:r>
              <a:rPr lang="en-US" sz="1700" b="1" dirty="0">
                <a:solidFill>
                  <a:schemeClr val="bg1"/>
                </a:solidFill>
              </a:rPr>
              <a:t>Surface and Chainage</a:t>
            </a:r>
            <a:endParaRPr lang="en-US" sz="1700" dirty="0"/>
          </a:p>
        </p:txBody>
      </p:sp>
      <p:sp>
        <p:nvSpPr>
          <p:cNvPr id="25" name="Text 23"/>
          <p:cNvSpPr txBox="1"/>
          <p:nvPr/>
        </p:nvSpPr>
        <p:spPr>
          <a:xfrm>
            <a:off x="4498848" y="1965960"/>
            <a:ext cx="2011680" cy="678180"/>
          </a:xfrm>
          <a:prstGeom prst="rect">
            <a:avLst/>
          </a:prstGeom>
          <a:noFill/>
          <a:ln/>
        </p:spPr>
        <p:txBody>
          <a:bodyPr wrap="square" lIns="0" tIns="0" rIns="0" bIns="0" rtlCol="0" anchor="ctr"/>
          <a:lstStyle/>
          <a:p>
            <a:pPr indent="0" marL="0">
              <a:buNone/>
            </a:pPr>
            <a:r>
              <a:rPr lang="en-US" sz="1400" dirty="0">
                <a:solidFill>
                  <a:schemeClr val="tx2"/>
                </a:solidFill>
              </a:rPr>
              <a:t>Hatch road surface</a:t>
            </a:r>
            <a:endParaRPr lang="en-US" sz="1400" dirty="0"/>
          </a:p>
        </p:txBody>
      </p:sp>
      <p:sp>
        <p:nvSpPr>
          <p:cNvPr id="26" name="Text 24"/>
          <p:cNvSpPr txBox="1"/>
          <p:nvPr/>
        </p:nvSpPr>
        <p:spPr>
          <a:xfrm>
            <a:off x="6281928" y="1965960"/>
            <a:ext cx="1417320" cy="678180"/>
          </a:xfrm>
          <a:prstGeom prst="rect">
            <a:avLst/>
          </a:prstGeom>
          <a:noFill/>
          <a:ln/>
        </p:spPr>
        <p:txBody>
          <a:bodyPr wrap="square" lIns="0" tIns="0" rIns="0" bIns="0" rtlCol="0" anchor="ctr"/>
          <a:lstStyle/>
          <a:p>
            <a:pPr algn="r" indent="0" marL="0">
              <a:buNone/>
            </a:pPr>
            <a:r>
              <a:rPr lang="en-US" sz="1400" b="1" dirty="0">
                <a:solidFill>
                  <a:schemeClr val="tx1"/>
                </a:solidFill>
              </a:rPr>
              <a:t>SOLID, 50%</a:t>
            </a:r>
            <a:endParaRPr lang="en-US" sz="1400" dirty="0"/>
          </a:p>
        </p:txBody>
      </p:sp>
      <p:sp>
        <p:nvSpPr>
          <p:cNvPr id="27" name="Text 25"/>
          <p:cNvSpPr txBox="1"/>
          <p:nvPr/>
        </p:nvSpPr>
        <p:spPr>
          <a:xfrm>
            <a:off x="4498848" y="2644140"/>
            <a:ext cx="2011680" cy="678180"/>
          </a:xfrm>
          <a:prstGeom prst="rect">
            <a:avLst/>
          </a:prstGeom>
          <a:noFill/>
          <a:ln/>
        </p:spPr>
        <p:txBody>
          <a:bodyPr wrap="square" lIns="0" tIns="0" rIns="0" bIns="0" rtlCol="0" anchor="ctr"/>
          <a:lstStyle/>
          <a:p>
            <a:pPr indent="0" marL="0">
              <a:buNone/>
            </a:pPr>
            <a:r>
              <a:rPr lang="en-US" sz="1400" dirty="0">
                <a:solidFill>
                  <a:schemeClr val="tx2"/>
                </a:solidFill>
              </a:rPr>
              <a:t>CL text in line</a:t>
            </a:r>
            <a:endParaRPr lang="en-US" sz="1400" dirty="0"/>
          </a:p>
        </p:txBody>
      </p:sp>
      <p:sp>
        <p:nvSpPr>
          <p:cNvPr id="28" name="Text 26"/>
          <p:cNvSpPr txBox="1"/>
          <p:nvPr/>
        </p:nvSpPr>
        <p:spPr>
          <a:xfrm>
            <a:off x="6281928" y="2644140"/>
            <a:ext cx="1417320" cy="678180"/>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29" name="Text 27"/>
          <p:cNvSpPr txBox="1"/>
          <p:nvPr/>
        </p:nvSpPr>
        <p:spPr>
          <a:xfrm>
            <a:off x="4498848" y="3322320"/>
            <a:ext cx="2011680" cy="678180"/>
          </a:xfrm>
          <a:prstGeom prst="rect">
            <a:avLst/>
          </a:prstGeom>
          <a:noFill/>
          <a:ln/>
        </p:spPr>
        <p:txBody>
          <a:bodyPr wrap="square" lIns="0" tIns="0" rIns="0" bIns="0" rtlCol="0" anchor="ctr"/>
          <a:lstStyle/>
          <a:p>
            <a:pPr indent="0" marL="0">
              <a:buNone/>
            </a:pPr>
            <a:r>
              <a:rPr lang="en-US" sz="1400" dirty="0">
                <a:solidFill>
                  <a:schemeClr val="tx2"/>
                </a:solidFill>
              </a:rPr>
              <a:t>Chainage marks</a:t>
            </a:r>
            <a:endParaRPr lang="en-US" sz="1400" dirty="0"/>
          </a:p>
        </p:txBody>
      </p:sp>
      <p:sp>
        <p:nvSpPr>
          <p:cNvPr id="30" name="Text 28"/>
          <p:cNvSpPr txBox="1"/>
          <p:nvPr/>
        </p:nvSpPr>
        <p:spPr>
          <a:xfrm>
            <a:off x="6281928" y="3322320"/>
            <a:ext cx="1417320" cy="678180"/>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31" name="Text 29"/>
          <p:cNvSpPr txBox="1"/>
          <p:nvPr/>
        </p:nvSpPr>
        <p:spPr>
          <a:xfrm>
            <a:off x="4498848" y="4000500"/>
            <a:ext cx="2011680" cy="678180"/>
          </a:xfrm>
          <a:prstGeom prst="rect">
            <a:avLst/>
          </a:prstGeom>
          <a:noFill/>
          <a:ln/>
        </p:spPr>
        <p:txBody>
          <a:bodyPr wrap="square" lIns="0" tIns="0" rIns="0" bIns="0" rtlCol="0" anchor="ctr"/>
          <a:lstStyle/>
          <a:p>
            <a:pPr indent="0" marL="0">
              <a:buNone/>
            </a:pPr>
            <a:r>
              <a:rPr lang="en-US" sz="1400" dirty="0">
                <a:solidFill>
                  <a:schemeClr val="tx2"/>
                </a:solidFill>
              </a:rPr>
              <a:t>Interval</a:t>
            </a:r>
            <a:endParaRPr lang="en-US" sz="1400" dirty="0"/>
          </a:p>
        </p:txBody>
      </p:sp>
      <p:sp>
        <p:nvSpPr>
          <p:cNvPr id="32" name="Text 30"/>
          <p:cNvSpPr txBox="1"/>
          <p:nvPr/>
        </p:nvSpPr>
        <p:spPr>
          <a:xfrm>
            <a:off x="6281928" y="4000500"/>
            <a:ext cx="1417320" cy="678180"/>
          </a:xfrm>
          <a:prstGeom prst="rect">
            <a:avLst/>
          </a:prstGeom>
          <a:noFill/>
          <a:ln/>
        </p:spPr>
        <p:txBody>
          <a:bodyPr wrap="square" lIns="0" tIns="0" rIns="0" bIns="0" rtlCol="0" anchor="ctr"/>
          <a:lstStyle/>
          <a:p>
            <a:pPr algn="r" indent="0" marL="0">
              <a:buNone/>
            </a:pPr>
            <a:r>
              <a:rPr lang="en-US" sz="1400" b="1" dirty="0">
                <a:solidFill>
                  <a:schemeClr val="tx1"/>
                </a:solidFill>
              </a:rPr>
              <a:t>20 m</a:t>
            </a:r>
            <a:endParaRPr lang="en-US" sz="1400" dirty="0"/>
          </a:p>
        </p:txBody>
      </p:sp>
      <p:sp>
        <p:nvSpPr>
          <p:cNvPr id="33" name="Text 31"/>
          <p:cNvSpPr txBox="1"/>
          <p:nvPr/>
        </p:nvSpPr>
        <p:spPr>
          <a:xfrm>
            <a:off x="4498848" y="4678680"/>
            <a:ext cx="2011680" cy="678180"/>
          </a:xfrm>
          <a:prstGeom prst="rect">
            <a:avLst/>
          </a:prstGeom>
          <a:noFill/>
          <a:ln/>
        </p:spPr>
        <p:txBody>
          <a:bodyPr wrap="square" lIns="0" tIns="0" rIns="0" bIns="0" rtlCol="0" anchor="ctr"/>
          <a:lstStyle/>
          <a:p>
            <a:pPr indent="0" marL="0">
              <a:buNone/>
            </a:pPr>
            <a:r>
              <a:rPr lang="en-US" sz="1400" dirty="0">
                <a:solidFill>
                  <a:schemeClr val="tx2"/>
                </a:solidFill>
              </a:rPr>
              <a:t>Start chainage</a:t>
            </a:r>
            <a:endParaRPr lang="en-US" sz="1400" dirty="0"/>
          </a:p>
        </p:txBody>
      </p:sp>
      <p:sp>
        <p:nvSpPr>
          <p:cNvPr id="34" name="Text 32"/>
          <p:cNvSpPr txBox="1"/>
          <p:nvPr/>
        </p:nvSpPr>
        <p:spPr>
          <a:xfrm>
            <a:off x="6281928" y="4678680"/>
            <a:ext cx="1417320" cy="678180"/>
          </a:xfrm>
          <a:prstGeom prst="rect">
            <a:avLst/>
          </a:prstGeom>
          <a:noFill/>
          <a:ln/>
        </p:spPr>
        <p:txBody>
          <a:bodyPr wrap="square" lIns="0" tIns="0" rIns="0" bIns="0" rtlCol="0" anchor="ctr"/>
          <a:lstStyle/>
          <a:p>
            <a:pPr algn="r" indent="0" marL="0">
              <a:buNone/>
            </a:pPr>
            <a:r>
              <a:rPr lang="en-US" sz="1400" b="1" dirty="0">
                <a:solidFill>
                  <a:schemeClr val="tx1"/>
                </a:solidFill>
              </a:rPr>
              <a:t>0 m</a:t>
            </a:r>
            <a:endParaRPr lang="en-US" sz="1400" dirty="0"/>
          </a:p>
        </p:txBody>
      </p:sp>
      <p:sp>
        <p:nvSpPr>
          <p:cNvPr id="35" name="Text 33"/>
          <p:cNvSpPr txBox="1"/>
          <p:nvPr/>
        </p:nvSpPr>
        <p:spPr>
          <a:xfrm>
            <a:off x="4498848" y="5356860"/>
            <a:ext cx="2011680" cy="678180"/>
          </a:xfrm>
          <a:prstGeom prst="rect">
            <a:avLst/>
          </a:prstGeom>
          <a:noFill/>
          <a:ln/>
        </p:spPr>
        <p:txBody>
          <a:bodyPr wrap="square" lIns="0" tIns="0" rIns="0" bIns="0" rtlCol="0" anchor="ctr"/>
          <a:lstStyle/>
          <a:p>
            <a:pPr indent="0" marL="0">
              <a:buNone/>
            </a:pPr>
            <a:r>
              <a:rPr lang="en-US" sz="1400" dirty="0">
                <a:solidFill>
                  <a:schemeClr val="tx2"/>
                </a:solidFill>
              </a:rPr>
              <a:t>Text height</a:t>
            </a:r>
            <a:endParaRPr lang="en-US" sz="1400" dirty="0"/>
          </a:p>
        </p:txBody>
      </p:sp>
      <p:sp>
        <p:nvSpPr>
          <p:cNvPr id="36" name="Text 34"/>
          <p:cNvSpPr txBox="1"/>
          <p:nvPr/>
        </p:nvSpPr>
        <p:spPr>
          <a:xfrm>
            <a:off x="6281928" y="5356860"/>
            <a:ext cx="1417320" cy="678180"/>
          </a:xfrm>
          <a:prstGeom prst="rect">
            <a:avLst/>
          </a:prstGeom>
          <a:noFill/>
          <a:ln/>
        </p:spPr>
        <p:txBody>
          <a:bodyPr wrap="square" lIns="0" tIns="0" rIns="0" bIns="0" rtlCol="0" anchor="ctr"/>
          <a:lstStyle/>
          <a:p>
            <a:pPr algn="r" indent="0" marL="0">
              <a:buNone/>
            </a:pPr>
            <a:r>
              <a:rPr lang="en-US" sz="1400" b="1" dirty="0">
                <a:solidFill>
                  <a:schemeClr val="tx1"/>
                </a:solidFill>
              </a:rPr>
              <a:t>1.0 m</a:t>
            </a:r>
            <a:endParaRPr lang="en-US" sz="1400" dirty="0"/>
          </a:p>
        </p:txBody>
      </p:sp>
      <p:sp>
        <p:nvSpPr>
          <p:cNvPr id="37" name="Shape 35"/>
          <p:cNvSpPr/>
          <p:nvPr/>
        </p:nvSpPr>
        <p:spPr>
          <a:xfrm>
            <a:off x="7991856" y="1280160"/>
            <a:ext cx="3621024" cy="4846320"/>
          </a:xfrm>
          <a:prstGeom prst="roundRect">
            <a:avLst>
              <a:gd name="adj" fmla="val 2525"/>
            </a:avLst>
          </a:prstGeom>
          <a:solidFill>
            <a:schemeClr val="bg2"/>
          </a:solidFill>
          <a:ln w="9525">
            <a:solidFill>
              <a:schemeClr val="accent6"/>
            </a:solidFill>
            <a:prstDash val="solid"/>
          </a:ln>
        </p:spPr>
      </p:sp>
      <p:sp>
        <p:nvSpPr>
          <p:cNvPr id="38" name="Shape 36"/>
          <p:cNvSpPr/>
          <p:nvPr/>
        </p:nvSpPr>
        <p:spPr>
          <a:xfrm>
            <a:off x="7991856" y="1280160"/>
            <a:ext cx="3621024" cy="548640"/>
          </a:xfrm>
          <a:prstGeom prst="roundRect">
            <a:avLst>
              <a:gd name="adj" fmla="val 16667"/>
            </a:avLst>
          </a:prstGeom>
          <a:solidFill>
            <a:schemeClr val="accent3"/>
          </a:solidFill>
          <a:ln/>
        </p:spPr>
      </p:sp>
      <p:sp>
        <p:nvSpPr>
          <p:cNvPr id="39" name="Text 37"/>
          <p:cNvSpPr txBox="1"/>
          <p:nvPr/>
        </p:nvSpPr>
        <p:spPr>
          <a:xfrm>
            <a:off x="8220456" y="1280160"/>
            <a:ext cx="3163824" cy="548640"/>
          </a:xfrm>
          <a:prstGeom prst="rect">
            <a:avLst/>
          </a:prstGeom>
          <a:noFill/>
          <a:ln/>
        </p:spPr>
        <p:txBody>
          <a:bodyPr wrap="square" lIns="0" tIns="0" rIns="0" bIns="0" rtlCol="0" anchor="ctr"/>
          <a:lstStyle/>
          <a:p>
            <a:pPr indent="0" marL="0">
              <a:buNone/>
            </a:pPr>
            <a:r>
              <a:rPr lang="en-US" sz="1700" b="1" dirty="0">
                <a:solidFill>
                  <a:schemeClr val="bg1"/>
                </a:solidFill>
              </a:rPr>
              <a:t>Road Ends and Outputs</a:t>
            </a:r>
            <a:endParaRPr lang="en-US" sz="1700" dirty="0"/>
          </a:p>
        </p:txBody>
      </p:sp>
      <p:sp>
        <p:nvSpPr>
          <p:cNvPr id="40" name="Text 38"/>
          <p:cNvSpPr txBox="1"/>
          <p:nvPr/>
        </p:nvSpPr>
        <p:spPr>
          <a:xfrm>
            <a:off x="8220456" y="1965960"/>
            <a:ext cx="1991563" cy="678180"/>
          </a:xfrm>
          <a:prstGeom prst="rect">
            <a:avLst/>
          </a:prstGeom>
          <a:noFill/>
          <a:ln/>
        </p:spPr>
        <p:txBody>
          <a:bodyPr wrap="square" lIns="0" tIns="0" rIns="0" bIns="0" rtlCol="0" anchor="ctr"/>
          <a:lstStyle/>
          <a:p>
            <a:pPr indent="0" marL="0">
              <a:buNone/>
            </a:pPr>
            <a:r>
              <a:rPr lang="en-US" sz="1400" dirty="0">
                <a:solidFill>
                  <a:schemeClr val="tx2"/>
                </a:solidFill>
              </a:rPr>
              <a:t>Start end</a:t>
            </a:r>
            <a:endParaRPr lang="en-US" sz="1400" dirty="0"/>
          </a:p>
        </p:txBody>
      </p:sp>
      <p:sp>
        <p:nvSpPr>
          <p:cNvPr id="41" name="Text 39"/>
          <p:cNvSpPr txBox="1"/>
          <p:nvPr/>
        </p:nvSpPr>
        <p:spPr>
          <a:xfrm>
            <a:off x="9983419" y="1965960"/>
            <a:ext cx="1400861" cy="678180"/>
          </a:xfrm>
          <a:prstGeom prst="rect">
            <a:avLst/>
          </a:prstGeom>
          <a:noFill/>
          <a:ln/>
        </p:spPr>
        <p:txBody>
          <a:bodyPr wrap="square" lIns="0" tIns="0" rIns="0" bIns="0" rtlCol="0" anchor="ctr"/>
          <a:lstStyle/>
          <a:p>
            <a:pPr algn="r" indent="0" marL="0">
              <a:buNone/>
            </a:pPr>
            <a:r>
              <a:rPr lang="en-US" sz="1400" b="1" dirty="0">
                <a:solidFill>
                  <a:schemeClr val="tx1"/>
                </a:solidFill>
              </a:rPr>
              <a:t>Tie-in line</a:t>
            </a:r>
            <a:endParaRPr lang="en-US" sz="1400" dirty="0"/>
          </a:p>
        </p:txBody>
      </p:sp>
      <p:sp>
        <p:nvSpPr>
          <p:cNvPr id="42" name="Text 40"/>
          <p:cNvSpPr txBox="1"/>
          <p:nvPr/>
        </p:nvSpPr>
        <p:spPr>
          <a:xfrm>
            <a:off x="8220456" y="2644140"/>
            <a:ext cx="1991563" cy="678180"/>
          </a:xfrm>
          <a:prstGeom prst="rect">
            <a:avLst/>
          </a:prstGeom>
          <a:noFill/>
          <a:ln/>
        </p:spPr>
        <p:txBody>
          <a:bodyPr wrap="square" lIns="0" tIns="0" rIns="0" bIns="0" rtlCol="0" anchor="ctr"/>
          <a:lstStyle/>
          <a:p>
            <a:pPr indent="0" marL="0">
              <a:buNone/>
            </a:pPr>
            <a:r>
              <a:rPr lang="en-US" sz="1400" dirty="0">
                <a:solidFill>
                  <a:schemeClr val="tx2"/>
                </a:solidFill>
              </a:rPr>
              <a:t>Finish end</a:t>
            </a:r>
            <a:endParaRPr lang="en-US" sz="1400" dirty="0"/>
          </a:p>
        </p:txBody>
      </p:sp>
      <p:sp>
        <p:nvSpPr>
          <p:cNvPr id="43" name="Text 41"/>
          <p:cNvSpPr txBox="1"/>
          <p:nvPr/>
        </p:nvSpPr>
        <p:spPr>
          <a:xfrm>
            <a:off x="9983419" y="2644140"/>
            <a:ext cx="1400861" cy="678180"/>
          </a:xfrm>
          <a:prstGeom prst="rect">
            <a:avLst/>
          </a:prstGeom>
          <a:noFill/>
          <a:ln/>
        </p:spPr>
        <p:txBody>
          <a:bodyPr wrap="square" lIns="0" tIns="0" rIns="0" bIns="0" rtlCol="0" anchor="ctr"/>
          <a:lstStyle/>
          <a:p>
            <a:pPr algn="r" indent="0" marL="0">
              <a:buNone/>
            </a:pPr>
            <a:r>
              <a:rPr lang="en-US" sz="1400" b="1" dirty="0">
                <a:solidFill>
                  <a:schemeClr val="tx1"/>
                </a:solidFill>
              </a:rPr>
              <a:t>Tie-in line</a:t>
            </a:r>
            <a:endParaRPr lang="en-US" sz="1400" dirty="0"/>
          </a:p>
        </p:txBody>
      </p:sp>
      <p:sp>
        <p:nvSpPr>
          <p:cNvPr id="44" name="Text 42"/>
          <p:cNvSpPr txBox="1"/>
          <p:nvPr/>
        </p:nvSpPr>
        <p:spPr>
          <a:xfrm>
            <a:off x="8220456" y="3322320"/>
            <a:ext cx="1991563" cy="678180"/>
          </a:xfrm>
          <a:prstGeom prst="rect">
            <a:avLst/>
          </a:prstGeom>
          <a:noFill/>
          <a:ln/>
        </p:spPr>
        <p:txBody>
          <a:bodyPr wrap="square" lIns="0" tIns="0" rIns="0" bIns="0" rtlCol="0" anchor="ctr"/>
          <a:lstStyle/>
          <a:p>
            <a:pPr indent="0" marL="0">
              <a:buNone/>
            </a:pPr>
            <a:r>
              <a:rPr lang="en-US" sz="1400" dirty="0">
                <a:solidFill>
                  <a:schemeClr val="tx2"/>
                </a:solidFill>
              </a:rPr>
              <a:t>Other options</a:t>
            </a:r>
            <a:endParaRPr lang="en-US" sz="1400" dirty="0"/>
          </a:p>
        </p:txBody>
      </p:sp>
      <p:sp>
        <p:nvSpPr>
          <p:cNvPr id="45" name="Text 43"/>
          <p:cNvSpPr txBox="1"/>
          <p:nvPr/>
        </p:nvSpPr>
        <p:spPr>
          <a:xfrm>
            <a:off x="9983419" y="3322320"/>
            <a:ext cx="1400861" cy="678180"/>
          </a:xfrm>
          <a:prstGeom prst="rect">
            <a:avLst/>
          </a:prstGeom>
          <a:noFill/>
          <a:ln/>
        </p:spPr>
        <p:txBody>
          <a:bodyPr wrap="square" lIns="0" tIns="0" rIns="0" bIns="0" rtlCol="0" anchor="ctr"/>
          <a:lstStyle/>
          <a:p>
            <a:pPr algn="r" indent="0" marL="0">
              <a:buNone/>
            </a:pPr>
            <a:r>
              <a:rPr lang="en-US" sz="1400" b="1" dirty="0">
                <a:solidFill>
                  <a:schemeClr val="tx1"/>
                </a:solidFill>
              </a:rPr>
              <a:t>Closed / None</a:t>
            </a:r>
            <a:endParaRPr lang="en-US" sz="1400" dirty="0"/>
          </a:p>
        </p:txBody>
      </p:sp>
      <p:sp>
        <p:nvSpPr>
          <p:cNvPr id="46" name="Text 44"/>
          <p:cNvSpPr txBox="1"/>
          <p:nvPr/>
        </p:nvSpPr>
        <p:spPr>
          <a:xfrm>
            <a:off x="8220456" y="4000500"/>
            <a:ext cx="1991563" cy="678180"/>
          </a:xfrm>
          <a:prstGeom prst="rect">
            <a:avLst/>
          </a:prstGeom>
          <a:noFill/>
          <a:ln/>
        </p:spPr>
        <p:txBody>
          <a:bodyPr wrap="square" lIns="0" tIns="0" rIns="0" bIns="0" rtlCol="0" anchor="ctr"/>
          <a:lstStyle/>
          <a:p>
            <a:pPr indent="0" marL="0">
              <a:buNone/>
            </a:pPr>
            <a:r>
              <a:rPr lang="en-US" sz="1400" dirty="0">
                <a:solidFill>
                  <a:schemeClr val="tx2"/>
                </a:solidFill>
              </a:rPr>
              <a:t>Report + Excel</a:t>
            </a:r>
            <a:endParaRPr lang="en-US" sz="1400" dirty="0"/>
          </a:p>
        </p:txBody>
      </p:sp>
      <p:sp>
        <p:nvSpPr>
          <p:cNvPr id="47" name="Text 45"/>
          <p:cNvSpPr txBox="1"/>
          <p:nvPr/>
        </p:nvSpPr>
        <p:spPr>
          <a:xfrm>
            <a:off x="9983419" y="4000500"/>
            <a:ext cx="1400861" cy="678180"/>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48" name="Text 46"/>
          <p:cNvSpPr txBox="1"/>
          <p:nvPr/>
        </p:nvSpPr>
        <p:spPr>
          <a:xfrm>
            <a:off x="8220456" y="4678680"/>
            <a:ext cx="1991563" cy="678180"/>
          </a:xfrm>
          <a:prstGeom prst="rect">
            <a:avLst/>
          </a:prstGeom>
          <a:noFill/>
          <a:ln/>
        </p:spPr>
        <p:txBody>
          <a:bodyPr wrap="square" lIns="0" tIns="0" rIns="0" bIns="0" rtlCol="0" anchor="ctr"/>
          <a:lstStyle/>
          <a:p>
            <a:pPr indent="0" marL="0">
              <a:buNone/>
            </a:pPr>
            <a:r>
              <a:rPr lang="en-US" sz="1400" dirty="0">
                <a:solidFill>
                  <a:schemeClr val="tx2"/>
                </a:solidFill>
              </a:rPr>
              <a:t>Typical section</a:t>
            </a:r>
            <a:endParaRPr lang="en-US" sz="1400" dirty="0"/>
          </a:p>
        </p:txBody>
      </p:sp>
      <p:sp>
        <p:nvSpPr>
          <p:cNvPr id="49" name="Text 47"/>
          <p:cNvSpPr txBox="1"/>
          <p:nvPr/>
        </p:nvSpPr>
        <p:spPr>
          <a:xfrm>
            <a:off x="9983419" y="4678680"/>
            <a:ext cx="1400861" cy="678180"/>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50" name="Text 48"/>
          <p:cNvSpPr txBox="1"/>
          <p:nvPr/>
        </p:nvSpPr>
        <p:spPr>
          <a:xfrm>
            <a:off x="8220456" y="5356860"/>
            <a:ext cx="1991563" cy="678180"/>
          </a:xfrm>
          <a:prstGeom prst="rect">
            <a:avLst/>
          </a:prstGeom>
          <a:noFill/>
          <a:ln/>
        </p:spPr>
        <p:txBody>
          <a:bodyPr wrap="square" lIns="0" tIns="0" rIns="0" bIns="0" rtlCol="0" anchor="ctr"/>
          <a:lstStyle/>
          <a:p>
            <a:pPr indent="0" marL="0">
              <a:buNone/>
            </a:pPr>
            <a:r>
              <a:rPr lang="en-US" sz="1400" dirty="0">
                <a:solidFill>
                  <a:schemeClr val="tx2"/>
                </a:solidFill>
              </a:rPr>
              <a:t>Two-way traffic</a:t>
            </a:r>
            <a:endParaRPr lang="en-US" sz="1400" dirty="0"/>
          </a:p>
        </p:txBody>
      </p:sp>
      <p:sp>
        <p:nvSpPr>
          <p:cNvPr id="51" name="Text 49"/>
          <p:cNvSpPr txBox="1"/>
          <p:nvPr/>
        </p:nvSpPr>
        <p:spPr>
          <a:xfrm>
            <a:off x="9983419" y="5356860"/>
            <a:ext cx="1400861" cy="678180"/>
          </a:xfrm>
          <a:prstGeom prst="rect">
            <a:avLst/>
          </a:prstGeom>
          <a:noFill/>
          <a:ln/>
        </p:spPr>
        <p:txBody>
          <a:bodyPr wrap="square" lIns="0" tIns="0" rIns="0" bIns="0" rtlCol="0" anchor="ctr"/>
          <a:lstStyle/>
          <a:p>
            <a:pPr algn="r" indent="0" marL="0">
              <a:buNone/>
            </a:pPr>
            <a:r>
              <a:rPr lang="en-US" sz="1400" b="1" dirty="0">
                <a:solidFill>
                  <a:schemeClr val="tx1"/>
                </a:solidFill>
              </a:rPr>
              <a:t>On</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Everything on its own layer</a:t>
            </a:r>
            <a:endParaRPr lang="en-US" sz="3200" dirty="0"/>
          </a:p>
        </p:txBody>
      </p:sp>
      <p:sp>
        <p:nvSpPr>
          <p:cNvPr id="3" name="Shape 1"/>
          <p:cNvSpPr/>
          <p:nvPr/>
        </p:nvSpPr>
        <p:spPr>
          <a:xfrm>
            <a:off x="548640" y="1325880"/>
            <a:ext cx="640080" cy="640080"/>
          </a:xfrm>
          <a:prstGeom prst="roundRect">
            <a:avLst>
              <a:gd name="adj" fmla="val 11429"/>
            </a:avLst>
          </a:prstGeom>
          <a:solidFill>
            <a:srgbClr val="D7262E"/>
          </a:solidFill>
          <a:ln w="12700">
            <a:solidFill>
              <a:srgbClr val="9AA0A6"/>
            </a:solidFill>
            <a:prstDash val="solid"/>
          </a:ln>
        </p:spPr>
      </p:sp>
      <p:sp>
        <p:nvSpPr>
          <p:cNvPr id="4" name="Text 2"/>
          <p:cNvSpPr txBox="1"/>
          <p:nvPr/>
        </p:nvSpPr>
        <p:spPr>
          <a:xfrm>
            <a:off x="1371600" y="130759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ROAD-CL</a:t>
            </a:r>
            <a:endParaRPr lang="en-US" sz="1400" dirty="0"/>
          </a:p>
        </p:txBody>
      </p:sp>
      <p:sp>
        <p:nvSpPr>
          <p:cNvPr id="5" name="Text 3"/>
          <p:cNvSpPr txBox="1"/>
          <p:nvPr/>
        </p:nvSpPr>
        <p:spPr>
          <a:xfrm>
            <a:off x="1371600" y="1636776"/>
            <a:ext cx="2834640" cy="329184"/>
          </a:xfrm>
          <a:prstGeom prst="rect">
            <a:avLst/>
          </a:prstGeom>
          <a:noFill/>
          <a:ln/>
        </p:spPr>
        <p:txBody>
          <a:bodyPr wrap="square" lIns="0" tIns="0" rIns="0" bIns="0" rtlCol="0" anchor="ctr"/>
          <a:lstStyle/>
          <a:p>
            <a:pPr indent="0" marL="0">
              <a:buNone/>
            </a:pPr>
            <a:r>
              <a:rPr lang="en-US" sz="1400" dirty="0">
                <a:solidFill>
                  <a:schemeClr val="tx2"/>
                </a:solidFill>
              </a:rPr>
              <a:t>Centre line, CL linetype</a:t>
            </a:r>
            <a:endParaRPr lang="en-US" sz="1400" dirty="0"/>
          </a:p>
        </p:txBody>
      </p:sp>
      <p:sp>
        <p:nvSpPr>
          <p:cNvPr id="6" name="Shape 4"/>
          <p:cNvSpPr/>
          <p:nvPr/>
        </p:nvSpPr>
        <p:spPr>
          <a:xfrm>
            <a:off x="548640" y="2286000"/>
            <a:ext cx="640080" cy="640080"/>
          </a:xfrm>
          <a:prstGeom prst="roundRect">
            <a:avLst>
              <a:gd name="adj" fmla="val 11429"/>
            </a:avLst>
          </a:prstGeom>
          <a:solidFill>
            <a:srgbClr val="1F2326"/>
          </a:solidFill>
          <a:ln w="12700">
            <a:solidFill>
              <a:srgbClr val="9AA0A6"/>
            </a:solidFill>
            <a:prstDash val="solid"/>
          </a:ln>
        </p:spPr>
      </p:sp>
      <p:sp>
        <p:nvSpPr>
          <p:cNvPr id="7" name="Text 5"/>
          <p:cNvSpPr txBox="1"/>
          <p:nvPr/>
        </p:nvSpPr>
        <p:spPr>
          <a:xfrm>
            <a:off x="1371600" y="226771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ROAD-EDGE</a:t>
            </a:r>
            <a:endParaRPr lang="en-US" sz="1400" dirty="0"/>
          </a:p>
        </p:txBody>
      </p:sp>
      <p:sp>
        <p:nvSpPr>
          <p:cNvPr id="8" name="Text 6"/>
          <p:cNvSpPr txBox="1"/>
          <p:nvPr/>
        </p:nvSpPr>
        <p:spPr>
          <a:xfrm>
            <a:off x="1371600" y="2596896"/>
            <a:ext cx="2834640" cy="329184"/>
          </a:xfrm>
          <a:prstGeom prst="rect">
            <a:avLst/>
          </a:prstGeom>
          <a:noFill/>
          <a:ln/>
        </p:spPr>
        <p:txBody>
          <a:bodyPr wrap="square" lIns="0" tIns="0" rIns="0" bIns="0" rtlCol="0" anchor="ctr"/>
          <a:lstStyle/>
          <a:p>
            <a:pPr indent="0" marL="0">
              <a:buNone/>
            </a:pPr>
            <a:r>
              <a:rPr lang="en-US" sz="1400" dirty="0">
                <a:solidFill>
                  <a:schemeClr val="tx2"/>
                </a:solidFill>
              </a:rPr>
              <a:t>Left and right edges</a:t>
            </a:r>
            <a:endParaRPr lang="en-US" sz="1400" dirty="0"/>
          </a:p>
        </p:txBody>
      </p:sp>
      <p:sp>
        <p:nvSpPr>
          <p:cNvPr id="9" name="Shape 7"/>
          <p:cNvSpPr/>
          <p:nvPr/>
        </p:nvSpPr>
        <p:spPr>
          <a:xfrm>
            <a:off x="548640" y="3246120"/>
            <a:ext cx="640080" cy="640080"/>
          </a:xfrm>
          <a:prstGeom prst="roundRect">
            <a:avLst>
              <a:gd name="adj" fmla="val 11429"/>
            </a:avLst>
          </a:prstGeom>
          <a:solidFill>
            <a:srgbClr val="8C9196"/>
          </a:solidFill>
          <a:ln w="12700">
            <a:solidFill>
              <a:srgbClr val="9AA0A6"/>
            </a:solidFill>
            <a:prstDash val="solid"/>
          </a:ln>
        </p:spPr>
      </p:sp>
      <p:sp>
        <p:nvSpPr>
          <p:cNvPr id="10" name="Text 8"/>
          <p:cNvSpPr txBox="1"/>
          <p:nvPr/>
        </p:nvSpPr>
        <p:spPr>
          <a:xfrm>
            <a:off x="1371600" y="322783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ROAD-SURFACE</a:t>
            </a:r>
            <a:endParaRPr lang="en-US" sz="1400" dirty="0"/>
          </a:p>
        </p:txBody>
      </p:sp>
      <p:sp>
        <p:nvSpPr>
          <p:cNvPr id="11" name="Text 9"/>
          <p:cNvSpPr txBox="1"/>
          <p:nvPr/>
        </p:nvSpPr>
        <p:spPr>
          <a:xfrm>
            <a:off x="1371600" y="3557016"/>
            <a:ext cx="2834640" cy="329184"/>
          </a:xfrm>
          <a:prstGeom prst="rect">
            <a:avLst/>
          </a:prstGeom>
          <a:noFill/>
          <a:ln/>
        </p:spPr>
        <p:txBody>
          <a:bodyPr wrap="square" lIns="0" tIns="0" rIns="0" bIns="0" rtlCol="0" anchor="ctr"/>
          <a:lstStyle/>
          <a:p>
            <a:pPr indent="0" marL="0">
              <a:buNone/>
            </a:pPr>
            <a:r>
              <a:rPr lang="en-US" sz="1400" dirty="0">
                <a:solidFill>
                  <a:schemeClr val="tx2"/>
                </a:solidFill>
              </a:rPr>
              <a:t>Surface hatch</a:t>
            </a:r>
            <a:endParaRPr lang="en-US" sz="1400" dirty="0"/>
          </a:p>
        </p:txBody>
      </p:sp>
      <p:sp>
        <p:nvSpPr>
          <p:cNvPr id="12" name="Shape 10"/>
          <p:cNvSpPr/>
          <p:nvPr/>
        </p:nvSpPr>
        <p:spPr>
          <a:xfrm>
            <a:off x="548640" y="4206240"/>
            <a:ext cx="640080" cy="640080"/>
          </a:xfrm>
          <a:prstGeom prst="roundRect">
            <a:avLst>
              <a:gd name="adj" fmla="val 11429"/>
            </a:avLst>
          </a:prstGeom>
          <a:solidFill>
            <a:srgbClr val="D7262E"/>
          </a:solidFill>
          <a:ln w="12700">
            <a:solidFill>
              <a:srgbClr val="9AA0A6"/>
            </a:solidFill>
            <a:prstDash val="solid"/>
          </a:ln>
        </p:spPr>
      </p:sp>
      <p:sp>
        <p:nvSpPr>
          <p:cNvPr id="13" name="Text 11"/>
          <p:cNvSpPr txBox="1"/>
          <p:nvPr/>
        </p:nvSpPr>
        <p:spPr>
          <a:xfrm>
            <a:off x="1371600" y="418795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ROAD-BARRIER-RED</a:t>
            </a:r>
            <a:endParaRPr lang="en-US" sz="1400" dirty="0"/>
          </a:p>
        </p:txBody>
      </p:sp>
      <p:sp>
        <p:nvSpPr>
          <p:cNvPr id="14" name="Text 12"/>
          <p:cNvSpPr txBox="1"/>
          <p:nvPr/>
        </p:nvSpPr>
        <p:spPr>
          <a:xfrm>
            <a:off x="1371600" y="4517136"/>
            <a:ext cx="2834640" cy="329184"/>
          </a:xfrm>
          <a:prstGeom prst="rect">
            <a:avLst/>
          </a:prstGeom>
          <a:noFill/>
          <a:ln/>
        </p:spPr>
        <p:txBody>
          <a:bodyPr wrap="square" lIns="0" tIns="0" rIns="0" bIns="0" rtlCol="0" anchor="ctr"/>
          <a:lstStyle/>
          <a:p>
            <a:pPr indent="0" marL="0">
              <a:buNone/>
            </a:pPr>
            <a:r>
              <a:rPr lang="en-US" sz="1400" dirty="0">
                <a:solidFill>
                  <a:schemeClr val="tx2"/>
                </a:solidFill>
              </a:rPr>
              <a:t>Red barricade fill</a:t>
            </a:r>
            <a:endParaRPr lang="en-US" sz="1400" dirty="0"/>
          </a:p>
        </p:txBody>
      </p:sp>
      <p:sp>
        <p:nvSpPr>
          <p:cNvPr id="15" name="Shape 13"/>
          <p:cNvSpPr/>
          <p:nvPr/>
        </p:nvSpPr>
        <p:spPr>
          <a:xfrm>
            <a:off x="548640" y="5166360"/>
            <a:ext cx="640080" cy="640080"/>
          </a:xfrm>
          <a:prstGeom prst="roundRect">
            <a:avLst>
              <a:gd name="adj" fmla="val 11429"/>
            </a:avLst>
          </a:prstGeom>
          <a:solidFill>
            <a:srgbClr val="FFFFFF"/>
          </a:solidFill>
          <a:ln w="12700">
            <a:solidFill>
              <a:srgbClr val="9AA0A6"/>
            </a:solidFill>
            <a:prstDash val="solid"/>
          </a:ln>
        </p:spPr>
      </p:sp>
      <p:sp>
        <p:nvSpPr>
          <p:cNvPr id="16" name="Text 14"/>
          <p:cNvSpPr txBox="1"/>
          <p:nvPr/>
        </p:nvSpPr>
        <p:spPr>
          <a:xfrm>
            <a:off x="1371600" y="514807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ROAD-BARRIER-WHITE</a:t>
            </a:r>
            <a:endParaRPr lang="en-US" sz="1400" dirty="0"/>
          </a:p>
        </p:txBody>
      </p:sp>
      <p:sp>
        <p:nvSpPr>
          <p:cNvPr id="17" name="Text 15"/>
          <p:cNvSpPr txBox="1"/>
          <p:nvPr/>
        </p:nvSpPr>
        <p:spPr>
          <a:xfrm>
            <a:off x="1371600" y="5477256"/>
            <a:ext cx="2834640" cy="329184"/>
          </a:xfrm>
          <a:prstGeom prst="rect">
            <a:avLst/>
          </a:prstGeom>
          <a:noFill/>
          <a:ln/>
        </p:spPr>
        <p:txBody>
          <a:bodyPr wrap="square" lIns="0" tIns="0" rIns="0" bIns="0" rtlCol="0" anchor="ctr"/>
          <a:lstStyle/>
          <a:p>
            <a:pPr indent="0" marL="0">
              <a:buNone/>
            </a:pPr>
            <a:r>
              <a:rPr lang="en-US" sz="1400" dirty="0">
                <a:solidFill>
                  <a:schemeClr val="tx2"/>
                </a:solidFill>
              </a:rPr>
              <a:t>White barricade fill</a:t>
            </a:r>
            <a:endParaRPr lang="en-US" sz="1400" dirty="0"/>
          </a:p>
        </p:txBody>
      </p:sp>
      <p:sp>
        <p:nvSpPr>
          <p:cNvPr id="18" name="Shape 16"/>
          <p:cNvSpPr/>
          <p:nvPr/>
        </p:nvSpPr>
        <p:spPr>
          <a:xfrm>
            <a:off x="4297680" y="1325880"/>
            <a:ext cx="640080" cy="640080"/>
          </a:xfrm>
          <a:prstGeom prst="roundRect">
            <a:avLst>
              <a:gd name="adj" fmla="val 11429"/>
            </a:avLst>
          </a:prstGeom>
          <a:solidFill>
            <a:srgbClr val="000000"/>
          </a:solidFill>
          <a:ln w="12700">
            <a:solidFill>
              <a:srgbClr val="9AA0A6"/>
            </a:solidFill>
            <a:prstDash val="solid"/>
          </a:ln>
        </p:spPr>
      </p:sp>
      <p:sp>
        <p:nvSpPr>
          <p:cNvPr id="19" name="Text 17"/>
          <p:cNvSpPr txBox="1"/>
          <p:nvPr/>
        </p:nvSpPr>
        <p:spPr>
          <a:xfrm>
            <a:off x="5120640" y="130759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ROAD-BARRIER-OUTLINE</a:t>
            </a:r>
            <a:endParaRPr lang="en-US" sz="1400" dirty="0"/>
          </a:p>
        </p:txBody>
      </p:sp>
      <p:sp>
        <p:nvSpPr>
          <p:cNvPr id="20" name="Text 18"/>
          <p:cNvSpPr txBox="1"/>
          <p:nvPr/>
        </p:nvSpPr>
        <p:spPr>
          <a:xfrm>
            <a:off x="5120640" y="1636776"/>
            <a:ext cx="2834640" cy="329184"/>
          </a:xfrm>
          <a:prstGeom prst="rect">
            <a:avLst/>
          </a:prstGeom>
          <a:noFill/>
          <a:ln/>
        </p:spPr>
        <p:txBody>
          <a:bodyPr wrap="square" lIns="0" tIns="0" rIns="0" bIns="0" rtlCol="0" anchor="ctr"/>
          <a:lstStyle/>
          <a:p>
            <a:pPr indent="0" marL="0">
              <a:buNone/>
            </a:pPr>
            <a:r>
              <a:rPr lang="en-US" sz="1400" dirty="0">
                <a:solidFill>
                  <a:schemeClr val="tx2"/>
                </a:solidFill>
              </a:rPr>
              <a:t>Black outline</a:t>
            </a:r>
            <a:endParaRPr lang="en-US" sz="1400" dirty="0"/>
          </a:p>
        </p:txBody>
      </p:sp>
      <p:sp>
        <p:nvSpPr>
          <p:cNvPr id="21" name="Shape 19"/>
          <p:cNvSpPr/>
          <p:nvPr/>
        </p:nvSpPr>
        <p:spPr>
          <a:xfrm>
            <a:off x="4297680" y="2286000"/>
            <a:ext cx="640080" cy="640080"/>
          </a:xfrm>
          <a:prstGeom prst="roundRect">
            <a:avLst>
              <a:gd name="adj" fmla="val 11429"/>
            </a:avLst>
          </a:prstGeom>
          <a:solidFill>
            <a:srgbClr val="2E8B57"/>
          </a:solidFill>
          <a:ln w="12700">
            <a:solidFill>
              <a:srgbClr val="9AA0A6"/>
            </a:solidFill>
            <a:prstDash val="solid"/>
          </a:ln>
        </p:spPr>
      </p:sp>
      <p:sp>
        <p:nvSpPr>
          <p:cNvPr id="22" name="Text 20"/>
          <p:cNvSpPr txBox="1"/>
          <p:nvPr/>
        </p:nvSpPr>
        <p:spPr>
          <a:xfrm>
            <a:off x="5120640" y="226771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ROAD-CHAINAGE</a:t>
            </a:r>
            <a:endParaRPr lang="en-US" sz="1400" dirty="0"/>
          </a:p>
        </p:txBody>
      </p:sp>
      <p:sp>
        <p:nvSpPr>
          <p:cNvPr id="23" name="Text 21"/>
          <p:cNvSpPr txBox="1"/>
          <p:nvPr/>
        </p:nvSpPr>
        <p:spPr>
          <a:xfrm>
            <a:off x="5120640" y="2596896"/>
            <a:ext cx="2834640" cy="329184"/>
          </a:xfrm>
          <a:prstGeom prst="rect">
            <a:avLst/>
          </a:prstGeom>
          <a:noFill/>
          <a:ln/>
        </p:spPr>
        <p:txBody>
          <a:bodyPr wrap="square" lIns="0" tIns="0" rIns="0" bIns="0" rtlCol="0" anchor="ctr"/>
          <a:lstStyle/>
          <a:p>
            <a:pPr indent="0" marL="0">
              <a:buNone/>
            </a:pPr>
            <a:r>
              <a:rPr lang="en-US" sz="1400" dirty="0">
                <a:solidFill>
                  <a:schemeClr val="tx2"/>
                </a:solidFill>
              </a:rPr>
              <a:t>Ticks and labels</a:t>
            </a:r>
            <a:endParaRPr lang="en-US" sz="1400" dirty="0"/>
          </a:p>
        </p:txBody>
      </p:sp>
      <p:sp>
        <p:nvSpPr>
          <p:cNvPr id="24" name="Shape 22"/>
          <p:cNvSpPr/>
          <p:nvPr/>
        </p:nvSpPr>
        <p:spPr>
          <a:xfrm>
            <a:off x="4297680" y="3246120"/>
            <a:ext cx="640080" cy="640080"/>
          </a:xfrm>
          <a:prstGeom prst="roundRect">
            <a:avLst>
              <a:gd name="adj" fmla="val 11429"/>
            </a:avLst>
          </a:prstGeom>
          <a:solidFill>
            <a:srgbClr val="0033CC"/>
          </a:solidFill>
          <a:ln w="12700">
            <a:solidFill>
              <a:srgbClr val="9AA0A6"/>
            </a:solidFill>
            <a:prstDash val="solid"/>
          </a:ln>
        </p:spPr>
      </p:sp>
      <p:sp>
        <p:nvSpPr>
          <p:cNvPr id="25" name="Text 23"/>
          <p:cNvSpPr txBox="1"/>
          <p:nvPr/>
        </p:nvSpPr>
        <p:spPr>
          <a:xfrm>
            <a:off x="5120640" y="322783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ROAD-CURVE</a:t>
            </a:r>
            <a:endParaRPr lang="en-US" sz="1400" dirty="0"/>
          </a:p>
        </p:txBody>
      </p:sp>
      <p:sp>
        <p:nvSpPr>
          <p:cNvPr id="26" name="Text 24"/>
          <p:cNvSpPr txBox="1"/>
          <p:nvPr/>
        </p:nvSpPr>
        <p:spPr>
          <a:xfrm>
            <a:off x="5120640" y="3557016"/>
            <a:ext cx="2834640" cy="329184"/>
          </a:xfrm>
          <a:prstGeom prst="rect">
            <a:avLst/>
          </a:prstGeom>
          <a:noFill/>
          <a:ln/>
        </p:spPr>
        <p:txBody>
          <a:bodyPr wrap="square" lIns="0" tIns="0" rIns="0" bIns="0" rtlCol="0" anchor="ctr"/>
          <a:lstStyle/>
          <a:p>
            <a:pPr indent="0" marL="0">
              <a:buNone/>
            </a:pPr>
            <a:r>
              <a:rPr lang="en-US" sz="1400" dirty="0">
                <a:solidFill>
                  <a:schemeClr val="tx2"/>
                </a:solidFill>
              </a:rPr>
              <a:t>Radius, TC / CT, C1</a:t>
            </a:r>
            <a:endParaRPr lang="en-US" sz="1400" dirty="0"/>
          </a:p>
        </p:txBody>
      </p:sp>
      <p:sp>
        <p:nvSpPr>
          <p:cNvPr id="27" name="Shape 25"/>
          <p:cNvSpPr/>
          <p:nvPr/>
        </p:nvSpPr>
        <p:spPr>
          <a:xfrm>
            <a:off x="4297680" y="4206240"/>
            <a:ext cx="640080" cy="640080"/>
          </a:xfrm>
          <a:prstGeom prst="roundRect">
            <a:avLst>
              <a:gd name="adj" fmla="val 11429"/>
            </a:avLst>
          </a:prstGeom>
          <a:solidFill>
            <a:srgbClr val="F28C28"/>
          </a:solidFill>
          <a:ln w="12700">
            <a:solidFill>
              <a:srgbClr val="9AA0A6"/>
            </a:solidFill>
            <a:prstDash val="solid"/>
          </a:ln>
        </p:spPr>
      </p:sp>
      <p:sp>
        <p:nvSpPr>
          <p:cNvPr id="28" name="Text 26"/>
          <p:cNvSpPr txBox="1"/>
          <p:nvPr/>
        </p:nvSpPr>
        <p:spPr>
          <a:xfrm>
            <a:off x="5120640" y="418795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ROAD-SECTION</a:t>
            </a:r>
            <a:endParaRPr lang="en-US" sz="1400" dirty="0"/>
          </a:p>
        </p:txBody>
      </p:sp>
      <p:sp>
        <p:nvSpPr>
          <p:cNvPr id="29" name="Text 27"/>
          <p:cNvSpPr txBox="1"/>
          <p:nvPr/>
        </p:nvSpPr>
        <p:spPr>
          <a:xfrm>
            <a:off x="5120640" y="4517136"/>
            <a:ext cx="2834640" cy="329184"/>
          </a:xfrm>
          <a:prstGeom prst="rect">
            <a:avLst/>
          </a:prstGeom>
          <a:noFill/>
          <a:ln/>
        </p:spPr>
        <p:txBody>
          <a:bodyPr wrap="square" lIns="0" tIns="0" rIns="0" bIns="0" rtlCol="0" anchor="ctr"/>
          <a:lstStyle/>
          <a:p>
            <a:pPr indent="0" marL="0">
              <a:buNone/>
            </a:pPr>
            <a:r>
              <a:rPr lang="en-US" sz="1400" dirty="0">
                <a:solidFill>
                  <a:schemeClr val="tx2"/>
                </a:solidFill>
              </a:rPr>
              <a:t>Straights S1, S2</a:t>
            </a:r>
            <a:endParaRPr lang="en-US" sz="1400" dirty="0"/>
          </a:p>
        </p:txBody>
      </p:sp>
      <p:sp>
        <p:nvSpPr>
          <p:cNvPr id="30" name="Shape 28"/>
          <p:cNvSpPr/>
          <p:nvPr/>
        </p:nvSpPr>
        <p:spPr>
          <a:xfrm>
            <a:off x="4297680" y="5166360"/>
            <a:ext cx="640080" cy="640080"/>
          </a:xfrm>
          <a:prstGeom prst="roundRect">
            <a:avLst>
              <a:gd name="adj" fmla="val 11429"/>
            </a:avLst>
          </a:prstGeom>
          <a:solidFill>
            <a:srgbClr val="000000"/>
          </a:solidFill>
          <a:ln w="12700">
            <a:solidFill>
              <a:srgbClr val="9AA0A6"/>
            </a:solidFill>
            <a:prstDash val="solid"/>
          </a:ln>
        </p:spPr>
      </p:sp>
      <p:sp>
        <p:nvSpPr>
          <p:cNvPr id="31" name="Text 29"/>
          <p:cNvSpPr txBox="1"/>
          <p:nvPr/>
        </p:nvSpPr>
        <p:spPr>
          <a:xfrm>
            <a:off x="5120640" y="514807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ROAD-SIGN*</a:t>
            </a:r>
            <a:endParaRPr lang="en-US" sz="1400" dirty="0"/>
          </a:p>
        </p:txBody>
      </p:sp>
      <p:sp>
        <p:nvSpPr>
          <p:cNvPr id="32" name="Text 30"/>
          <p:cNvSpPr txBox="1"/>
          <p:nvPr/>
        </p:nvSpPr>
        <p:spPr>
          <a:xfrm>
            <a:off x="5120640" y="5477256"/>
            <a:ext cx="2834640" cy="329184"/>
          </a:xfrm>
          <a:prstGeom prst="rect">
            <a:avLst/>
          </a:prstGeom>
          <a:noFill/>
          <a:ln/>
        </p:spPr>
        <p:txBody>
          <a:bodyPr wrap="square" lIns="0" tIns="0" rIns="0" bIns="0" rtlCol="0" anchor="ctr"/>
          <a:lstStyle/>
          <a:p>
            <a:pPr indent="0" marL="0">
              <a:buNone/>
            </a:pPr>
            <a:r>
              <a:rPr lang="en-US" sz="1400" dirty="0">
                <a:solidFill>
                  <a:schemeClr val="tx2"/>
                </a:solidFill>
              </a:rPr>
              <a:t>Posts, plates, symbols</a:t>
            </a:r>
            <a:endParaRPr lang="en-US" sz="1400" dirty="0"/>
          </a:p>
        </p:txBody>
      </p:sp>
      <p:sp>
        <p:nvSpPr>
          <p:cNvPr id="33" name="Shape 31"/>
          <p:cNvSpPr/>
          <p:nvPr/>
        </p:nvSpPr>
        <p:spPr>
          <a:xfrm>
            <a:off x="8046720" y="1325880"/>
            <a:ext cx="640080" cy="640080"/>
          </a:xfrm>
          <a:prstGeom prst="roundRect">
            <a:avLst>
              <a:gd name="adj" fmla="val 11429"/>
            </a:avLst>
          </a:prstGeom>
          <a:solidFill>
            <a:srgbClr val="C9CDD1"/>
          </a:solidFill>
          <a:ln w="12700">
            <a:solidFill>
              <a:srgbClr val="9AA0A6"/>
            </a:solidFill>
            <a:prstDash val="solid"/>
          </a:ln>
        </p:spPr>
      </p:sp>
      <p:sp>
        <p:nvSpPr>
          <p:cNvPr id="34" name="Text 32"/>
          <p:cNvSpPr txBox="1"/>
          <p:nvPr/>
        </p:nvSpPr>
        <p:spPr>
          <a:xfrm>
            <a:off x="8869680" y="130759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ROAD-MARKING*</a:t>
            </a:r>
            <a:endParaRPr lang="en-US" sz="1400" dirty="0"/>
          </a:p>
        </p:txBody>
      </p:sp>
      <p:sp>
        <p:nvSpPr>
          <p:cNvPr id="35" name="Text 33"/>
          <p:cNvSpPr txBox="1"/>
          <p:nvPr/>
        </p:nvSpPr>
        <p:spPr>
          <a:xfrm>
            <a:off x="8869680" y="1636776"/>
            <a:ext cx="2834640" cy="329184"/>
          </a:xfrm>
          <a:prstGeom prst="rect">
            <a:avLst/>
          </a:prstGeom>
          <a:noFill/>
          <a:ln/>
        </p:spPr>
        <p:txBody>
          <a:bodyPr wrap="square" lIns="0" tIns="0" rIns="0" bIns="0" rtlCol="0" anchor="ctr"/>
          <a:lstStyle/>
          <a:p>
            <a:pPr indent="0" marL="0">
              <a:buNone/>
            </a:pPr>
            <a:r>
              <a:rPr lang="en-US" sz="1400" dirty="0">
                <a:solidFill>
                  <a:schemeClr val="tx2"/>
                </a:solidFill>
              </a:rPr>
              <a:t>Lane arrows</a:t>
            </a:r>
            <a:endParaRPr lang="en-US" sz="1400" dirty="0"/>
          </a:p>
        </p:txBody>
      </p:sp>
      <p:sp>
        <p:nvSpPr>
          <p:cNvPr id="36" name="Shape 34"/>
          <p:cNvSpPr/>
          <p:nvPr/>
        </p:nvSpPr>
        <p:spPr>
          <a:xfrm>
            <a:off x="8046720" y="2286000"/>
            <a:ext cx="640080" cy="640080"/>
          </a:xfrm>
          <a:prstGeom prst="roundRect">
            <a:avLst>
              <a:gd name="adj" fmla="val 11429"/>
            </a:avLst>
          </a:prstGeom>
          <a:solidFill>
            <a:srgbClr val="C2185B"/>
          </a:solidFill>
          <a:ln w="12700">
            <a:solidFill>
              <a:srgbClr val="9AA0A6"/>
            </a:solidFill>
            <a:prstDash val="solid"/>
          </a:ln>
        </p:spPr>
      </p:sp>
      <p:sp>
        <p:nvSpPr>
          <p:cNvPr id="37" name="Text 35"/>
          <p:cNvSpPr txBox="1"/>
          <p:nvPr/>
        </p:nvSpPr>
        <p:spPr>
          <a:xfrm>
            <a:off x="8869680" y="226771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ROAD-TIEIN</a:t>
            </a:r>
            <a:endParaRPr lang="en-US" sz="1400" dirty="0"/>
          </a:p>
        </p:txBody>
      </p:sp>
      <p:sp>
        <p:nvSpPr>
          <p:cNvPr id="38" name="Text 36"/>
          <p:cNvSpPr txBox="1"/>
          <p:nvPr/>
        </p:nvSpPr>
        <p:spPr>
          <a:xfrm>
            <a:off x="8869680" y="2596896"/>
            <a:ext cx="2834640" cy="329184"/>
          </a:xfrm>
          <a:prstGeom prst="rect">
            <a:avLst/>
          </a:prstGeom>
          <a:noFill/>
          <a:ln/>
        </p:spPr>
        <p:txBody>
          <a:bodyPr wrap="square" lIns="0" tIns="0" rIns="0" bIns="0" rtlCol="0" anchor="ctr"/>
          <a:lstStyle/>
          <a:p>
            <a:pPr indent="0" marL="0">
              <a:buNone/>
            </a:pPr>
            <a:r>
              <a:rPr lang="en-US" sz="1400" dirty="0">
                <a:solidFill>
                  <a:schemeClr val="tx2"/>
                </a:solidFill>
              </a:rPr>
              <a:t>Tie-in line and E / N</a:t>
            </a:r>
            <a:endParaRPr lang="en-US" sz="1400" dirty="0"/>
          </a:p>
        </p:txBody>
      </p:sp>
      <p:sp>
        <p:nvSpPr>
          <p:cNvPr id="39" name="Shape 37"/>
          <p:cNvSpPr/>
          <p:nvPr/>
        </p:nvSpPr>
        <p:spPr>
          <a:xfrm>
            <a:off x="8046720" y="3246120"/>
            <a:ext cx="640080" cy="640080"/>
          </a:xfrm>
          <a:prstGeom prst="roundRect">
            <a:avLst>
              <a:gd name="adj" fmla="val 11429"/>
            </a:avLst>
          </a:prstGeom>
          <a:solidFill>
            <a:srgbClr val="1F2326"/>
          </a:solidFill>
          <a:ln w="12700">
            <a:solidFill>
              <a:srgbClr val="9AA0A6"/>
            </a:solidFill>
            <a:prstDash val="solid"/>
          </a:ln>
        </p:spPr>
      </p:sp>
      <p:sp>
        <p:nvSpPr>
          <p:cNvPr id="40" name="Text 38"/>
          <p:cNvSpPr txBox="1"/>
          <p:nvPr/>
        </p:nvSpPr>
        <p:spPr>
          <a:xfrm>
            <a:off x="8869680" y="322783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ROAD-REPORT</a:t>
            </a:r>
            <a:endParaRPr lang="en-US" sz="1400" dirty="0"/>
          </a:p>
        </p:txBody>
      </p:sp>
      <p:sp>
        <p:nvSpPr>
          <p:cNvPr id="41" name="Text 39"/>
          <p:cNvSpPr txBox="1"/>
          <p:nvPr/>
        </p:nvSpPr>
        <p:spPr>
          <a:xfrm>
            <a:off x="8869680" y="3557016"/>
            <a:ext cx="2834640" cy="329184"/>
          </a:xfrm>
          <a:prstGeom prst="rect">
            <a:avLst/>
          </a:prstGeom>
          <a:noFill/>
          <a:ln/>
        </p:spPr>
        <p:txBody>
          <a:bodyPr wrap="square" lIns="0" tIns="0" rIns="0" bIns="0" rtlCol="0" anchor="ctr"/>
          <a:lstStyle/>
          <a:p>
            <a:pPr indent="0" marL="0">
              <a:buNone/>
            </a:pPr>
            <a:r>
              <a:rPr lang="en-US" sz="1400" dirty="0">
                <a:solidFill>
                  <a:schemeClr val="tx2"/>
                </a:solidFill>
              </a:rPr>
              <a:t>Tables and legend</a:t>
            </a:r>
            <a:endParaRPr lang="en-US" sz="1400" dirty="0"/>
          </a:p>
        </p:txBody>
      </p:sp>
      <p:sp>
        <p:nvSpPr>
          <p:cNvPr id="42" name="Shape 40"/>
          <p:cNvSpPr/>
          <p:nvPr/>
        </p:nvSpPr>
        <p:spPr>
          <a:xfrm>
            <a:off x="8046720" y="4206240"/>
            <a:ext cx="640080" cy="640080"/>
          </a:xfrm>
          <a:prstGeom prst="roundRect">
            <a:avLst>
              <a:gd name="adj" fmla="val 11429"/>
            </a:avLst>
          </a:prstGeom>
          <a:solidFill>
            <a:srgbClr val="B58C5A"/>
          </a:solidFill>
          <a:ln w="12700">
            <a:solidFill>
              <a:srgbClr val="9AA0A6"/>
            </a:solidFill>
            <a:prstDash val="solid"/>
          </a:ln>
        </p:spPr>
      </p:sp>
      <p:sp>
        <p:nvSpPr>
          <p:cNvPr id="43" name="Text 41"/>
          <p:cNvSpPr txBox="1"/>
          <p:nvPr/>
        </p:nvSpPr>
        <p:spPr>
          <a:xfrm>
            <a:off x="8869680" y="418795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ROAD-XSEC*</a:t>
            </a:r>
            <a:endParaRPr lang="en-US" sz="1400" dirty="0"/>
          </a:p>
        </p:txBody>
      </p:sp>
      <p:sp>
        <p:nvSpPr>
          <p:cNvPr id="44" name="Text 42"/>
          <p:cNvSpPr txBox="1"/>
          <p:nvPr/>
        </p:nvSpPr>
        <p:spPr>
          <a:xfrm>
            <a:off x="8869680" y="4517136"/>
            <a:ext cx="2834640" cy="329184"/>
          </a:xfrm>
          <a:prstGeom prst="rect">
            <a:avLst/>
          </a:prstGeom>
          <a:noFill/>
          <a:ln/>
        </p:spPr>
        <p:txBody>
          <a:bodyPr wrap="square" lIns="0" tIns="0" rIns="0" bIns="0" rtlCol="0" anchor="ctr"/>
          <a:lstStyle/>
          <a:p>
            <a:pPr indent="0" marL="0">
              <a:buNone/>
            </a:pPr>
            <a:r>
              <a:rPr lang="en-US" sz="1400" dirty="0">
                <a:solidFill>
                  <a:schemeClr val="tx2"/>
                </a:solidFill>
              </a:rPr>
              <a:t>Cross section parts</a:t>
            </a:r>
            <a:endParaRPr lang="en-US" sz="1400" dirty="0"/>
          </a:p>
        </p:txBody>
      </p:sp>
      <p:sp>
        <p:nvSpPr>
          <p:cNvPr id="45" name="Shape 43"/>
          <p:cNvSpPr/>
          <p:nvPr/>
        </p:nvSpPr>
        <p:spPr>
          <a:xfrm>
            <a:off x="8046720" y="5166360"/>
            <a:ext cx="640080" cy="640080"/>
          </a:xfrm>
          <a:prstGeom prst="roundRect">
            <a:avLst>
              <a:gd name="adj" fmla="val 11429"/>
            </a:avLst>
          </a:prstGeom>
          <a:solidFill>
            <a:srgbClr val="FF7F00"/>
          </a:solidFill>
          <a:ln w="12700">
            <a:solidFill>
              <a:srgbClr val="9AA0A6"/>
            </a:solidFill>
            <a:prstDash val="solid"/>
          </a:ln>
        </p:spPr>
      </p:sp>
      <p:sp>
        <p:nvSpPr>
          <p:cNvPr id="46" name="Text 44"/>
          <p:cNvSpPr txBox="1"/>
          <p:nvPr/>
        </p:nvSpPr>
        <p:spPr>
          <a:xfrm>
            <a:off x="8869680" y="5148072"/>
            <a:ext cx="2834640" cy="347472"/>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ROAD-WIDENING</a:t>
            </a:r>
            <a:endParaRPr lang="en-US" sz="1400" dirty="0"/>
          </a:p>
        </p:txBody>
      </p:sp>
      <p:sp>
        <p:nvSpPr>
          <p:cNvPr id="47" name="Text 45"/>
          <p:cNvSpPr txBox="1"/>
          <p:nvPr/>
        </p:nvSpPr>
        <p:spPr>
          <a:xfrm>
            <a:off x="8869680" y="5477256"/>
            <a:ext cx="2834640" cy="329184"/>
          </a:xfrm>
          <a:prstGeom prst="rect">
            <a:avLst/>
          </a:prstGeom>
          <a:noFill/>
          <a:ln/>
        </p:spPr>
        <p:txBody>
          <a:bodyPr wrap="square" lIns="0" tIns="0" rIns="0" bIns="0" rtlCol="0" anchor="ctr"/>
          <a:lstStyle/>
          <a:p>
            <a:pPr indent="0" marL="0">
              <a:buNone/>
            </a:pPr>
            <a:r>
              <a:rPr lang="en-US" sz="1400" dirty="0">
                <a:solidFill>
                  <a:schemeClr val="tx2"/>
                </a:solidFill>
              </a:rPr>
              <a:t>Widening / taper labels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Signage placed automatically, traffic keeps right</a:t>
            </a:r>
            <a:endParaRPr lang="en-US" sz="3200" dirty="0"/>
          </a:p>
        </p:txBody>
      </p:sp>
      <p:sp>
        <p:nvSpPr>
          <p:cNvPr id="3" name="Shape 1"/>
          <p:cNvSpPr/>
          <p:nvPr/>
        </p:nvSpPr>
        <p:spPr>
          <a:xfrm>
            <a:off x="777240" y="1417320"/>
            <a:ext cx="1005840" cy="885139"/>
          </a:xfrm>
          <a:prstGeom prst="triangle">
            <a:avLst/>
          </a:prstGeom>
          <a:solidFill>
            <a:schemeClr val="accent1"/>
          </a:solidFill>
          <a:ln w="12700">
            <a:solidFill>
              <a:srgbClr val="000000"/>
            </a:solidFill>
            <a:prstDash val="solid"/>
          </a:ln>
        </p:spPr>
      </p:sp>
      <p:sp>
        <p:nvSpPr>
          <p:cNvPr id="4" name="Shape 2"/>
          <p:cNvSpPr/>
          <p:nvPr/>
        </p:nvSpPr>
        <p:spPr>
          <a:xfrm>
            <a:off x="938174" y="1686402"/>
            <a:ext cx="683971" cy="601895"/>
          </a:xfrm>
          <a:prstGeom prst="triangle">
            <a:avLst/>
          </a:prstGeom>
          <a:solidFill>
            <a:schemeClr val="bg1"/>
          </a:solidFill>
          <a:ln/>
        </p:spPr>
      </p:sp>
      <p:sp>
        <p:nvSpPr>
          <p:cNvPr id="5" name="Text 3"/>
          <p:cNvSpPr txBox="1"/>
          <p:nvPr/>
        </p:nvSpPr>
        <p:spPr>
          <a:xfrm>
            <a:off x="777240" y="1638605"/>
            <a:ext cx="1005840" cy="623621"/>
          </a:xfrm>
          <a:prstGeom prst="rect">
            <a:avLst/>
          </a:prstGeom>
          <a:noFill/>
          <a:ln/>
        </p:spPr>
        <p:txBody>
          <a:bodyPr wrap="square" lIns="0" tIns="0" rIns="0" bIns="0" rtlCol="0" anchor="ctr"/>
          <a:lstStyle/>
          <a:p>
            <a:pPr algn="ctr" indent="0" marL="0">
              <a:buNone/>
            </a:pPr>
            <a:r>
              <a:rPr lang="en-US" sz="2400" b="1" dirty="0">
                <a:solidFill>
                  <a:srgbClr val="000000"/>
                </a:solidFill>
                <a:latin typeface="Arial" pitchFamily="34" charset="0"/>
                <a:ea typeface="Arial" pitchFamily="34" charset="-122"/>
                <a:cs typeface="Arial" pitchFamily="34" charset="-120"/>
              </a:rPr>
              <a:t>!</a:t>
            </a:r>
            <a:endParaRPr lang="en-US" sz="2400" dirty="0"/>
          </a:p>
        </p:txBody>
      </p:sp>
      <p:sp>
        <p:nvSpPr>
          <p:cNvPr id="6" name="Text 4"/>
          <p:cNvSpPr txBox="1"/>
          <p:nvPr/>
        </p:nvSpPr>
        <p:spPr>
          <a:xfrm>
            <a:off x="548640" y="2606040"/>
            <a:ext cx="1463040" cy="365760"/>
          </a:xfrm>
          <a:prstGeom prst="rect">
            <a:avLst/>
          </a:prstGeom>
          <a:noFill/>
          <a:ln/>
        </p:spPr>
        <p:txBody>
          <a:bodyPr wrap="square" lIns="0" tIns="0" rIns="0" bIns="0" rtlCol="0" anchor="ctr"/>
          <a:lstStyle/>
          <a:p>
            <a:pPr algn="ctr" indent="0" marL="0">
              <a:buNone/>
            </a:pPr>
            <a:r>
              <a:rPr lang="en-US" sz="1500" b="1" dirty="0">
                <a:solidFill>
                  <a:schemeClr val="tx1"/>
                </a:solidFill>
              </a:rPr>
              <a:t>Road works ahead</a:t>
            </a:r>
            <a:endParaRPr lang="en-US" sz="1500" dirty="0"/>
          </a:p>
        </p:txBody>
      </p:sp>
      <p:sp>
        <p:nvSpPr>
          <p:cNvPr id="7" name="Text 5"/>
          <p:cNvSpPr txBox="1"/>
          <p:nvPr/>
        </p:nvSpPr>
        <p:spPr>
          <a:xfrm>
            <a:off x="548640" y="2971800"/>
            <a:ext cx="1463040" cy="548640"/>
          </a:xfrm>
          <a:prstGeom prst="rect">
            <a:avLst/>
          </a:prstGeom>
          <a:noFill/>
          <a:ln/>
        </p:spPr>
        <p:txBody>
          <a:bodyPr wrap="square" lIns="0" tIns="0" rIns="0" bIns="0" rtlCol="0" anchor="t"/>
          <a:lstStyle/>
          <a:p>
            <a:pPr algn="ctr" indent="0" marL="0">
              <a:buNone/>
            </a:pPr>
            <a:r>
              <a:rPr lang="en-US" sz="1200" dirty="0">
                <a:solidFill>
                  <a:schemeClr val="tx2"/>
                </a:solidFill>
              </a:rPr>
              <a:t>Entry of each direction</a:t>
            </a:r>
            <a:endParaRPr lang="en-US" sz="1200" dirty="0"/>
          </a:p>
        </p:txBody>
      </p:sp>
      <p:sp>
        <p:nvSpPr>
          <p:cNvPr id="8" name="Shape 6"/>
          <p:cNvSpPr/>
          <p:nvPr/>
        </p:nvSpPr>
        <p:spPr>
          <a:xfrm>
            <a:off x="2377440" y="1417320"/>
            <a:ext cx="1005840" cy="1005840"/>
          </a:xfrm>
          <a:prstGeom prst="ellipse">
            <a:avLst/>
          </a:prstGeom>
          <a:solidFill>
            <a:schemeClr val="accent1"/>
          </a:solidFill>
          <a:ln w="12700">
            <a:solidFill>
              <a:srgbClr val="000000"/>
            </a:solidFill>
            <a:prstDash val="solid"/>
          </a:ln>
        </p:spPr>
      </p:sp>
      <p:sp>
        <p:nvSpPr>
          <p:cNvPr id="9" name="Shape 7"/>
          <p:cNvSpPr/>
          <p:nvPr/>
        </p:nvSpPr>
        <p:spPr>
          <a:xfrm>
            <a:off x="2488082" y="1527962"/>
            <a:ext cx="784555" cy="784555"/>
          </a:xfrm>
          <a:prstGeom prst="ellipse">
            <a:avLst/>
          </a:prstGeom>
          <a:solidFill>
            <a:schemeClr val="bg1"/>
          </a:solidFill>
          <a:ln/>
        </p:spPr>
      </p:sp>
      <p:sp>
        <p:nvSpPr>
          <p:cNvPr id="10" name="Text 8"/>
          <p:cNvSpPr txBox="1"/>
          <p:nvPr/>
        </p:nvSpPr>
        <p:spPr>
          <a:xfrm>
            <a:off x="2377440" y="1417320"/>
            <a:ext cx="1005840" cy="1005840"/>
          </a:xfrm>
          <a:prstGeom prst="rect">
            <a:avLst/>
          </a:prstGeom>
          <a:noFill/>
          <a:ln/>
        </p:spPr>
        <p:txBody>
          <a:bodyPr wrap="square" lIns="0" tIns="0" rIns="0" bIns="0" rtlCol="0" anchor="ctr"/>
          <a:lstStyle/>
          <a:p>
            <a:pPr algn="ctr" indent="0" marL="0">
              <a:buNone/>
            </a:pPr>
            <a:r>
              <a:rPr lang="en-US" sz="2400" b="1" dirty="0">
                <a:solidFill>
                  <a:srgbClr val="000000"/>
                </a:solidFill>
                <a:latin typeface="Arial" pitchFamily="34" charset="0"/>
                <a:ea typeface="Arial" pitchFamily="34" charset="-122"/>
                <a:cs typeface="Arial" pitchFamily="34" charset="-120"/>
              </a:rPr>
              <a:t>30</a:t>
            </a:r>
            <a:endParaRPr lang="en-US" sz="2400" dirty="0"/>
          </a:p>
        </p:txBody>
      </p:sp>
      <p:sp>
        <p:nvSpPr>
          <p:cNvPr id="11" name="Text 9"/>
          <p:cNvSpPr txBox="1"/>
          <p:nvPr/>
        </p:nvSpPr>
        <p:spPr>
          <a:xfrm>
            <a:off x="2148840" y="2606040"/>
            <a:ext cx="1463040" cy="365760"/>
          </a:xfrm>
          <a:prstGeom prst="rect">
            <a:avLst/>
          </a:prstGeom>
          <a:noFill/>
          <a:ln/>
        </p:spPr>
        <p:txBody>
          <a:bodyPr wrap="square" lIns="0" tIns="0" rIns="0" bIns="0" rtlCol="0" anchor="ctr"/>
          <a:lstStyle/>
          <a:p>
            <a:pPr algn="ctr" indent="0" marL="0">
              <a:buNone/>
            </a:pPr>
            <a:r>
              <a:rPr lang="en-US" sz="1500" b="1" dirty="0">
                <a:solidFill>
                  <a:schemeClr val="tx1"/>
                </a:solidFill>
              </a:rPr>
              <a:t>Speed limit</a:t>
            </a:r>
            <a:endParaRPr lang="en-US" sz="1500" dirty="0"/>
          </a:p>
        </p:txBody>
      </p:sp>
      <p:sp>
        <p:nvSpPr>
          <p:cNvPr id="12" name="Text 10"/>
          <p:cNvSpPr txBox="1"/>
          <p:nvPr/>
        </p:nvSpPr>
        <p:spPr>
          <a:xfrm>
            <a:off x="2148840" y="2971800"/>
            <a:ext cx="1463040" cy="548640"/>
          </a:xfrm>
          <a:prstGeom prst="rect">
            <a:avLst/>
          </a:prstGeom>
          <a:noFill/>
          <a:ln/>
        </p:spPr>
        <p:txBody>
          <a:bodyPr wrap="square" lIns="0" tIns="0" rIns="0" bIns="0" rtlCol="0" anchor="t"/>
          <a:lstStyle/>
          <a:p>
            <a:pPr algn="ctr" indent="0" marL="0">
              <a:buNone/>
            </a:pPr>
            <a:r>
              <a:rPr lang="en-US" sz="1200" dirty="0">
                <a:solidFill>
                  <a:schemeClr val="tx2"/>
                </a:solidFill>
              </a:rPr>
              <a:t>One spacing after entry</a:t>
            </a:r>
            <a:endParaRPr lang="en-US" sz="1200" dirty="0"/>
          </a:p>
        </p:txBody>
      </p:sp>
      <p:sp>
        <p:nvSpPr>
          <p:cNvPr id="13" name="Shape 11"/>
          <p:cNvSpPr/>
          <p:nvPr/>
        </p:nvSpPr>
        <p:spPr>
          <a:xfrm>
            <a:off x="3977640" y="1417320"/>
            <a:ext cx="1005840" cy="885139"/>
          </a:xfrm>
          <a:prstGeom prst="triangle">
            <a:avLst/>
          </a:prstGeom>
          <a:solidFill>
            <a:schemeClr val="accent1"/>
          </a:solidFill>
          <a:ln w="12700">
            <a:solidFill>
              <a:srgbClr val="000000"/>
            </a:solidFill>
            <a:prstDash val="solid"/>
          </a:ln>
        </p:spPr>
      </p:sp>
      <p:sp>
        <p:nvSpPr>
          <p:cNvPr id="14" name="Shape 12"/>
          <p:cNvSpPr/>
          <p:nvPr/>
        </p:nvSpPr>
        <p:spPr>
          <a:xfrm>
            <a:off x="4138574" y="1686402"/>
            <a:ext cx="683971" cy="601895"/>
          </a:xfrm>
          <a:prstGeom prst="triangle">
            <a:avLst/>
          </a:prstGeom>
          <a:solidFill>
            <a:schemeClr val="bg1"/>
          </a:solidFill>
          <a:ln/>
        </p:spPr>
      </p:sp>
      <p:sp>
        <p:nvSpPr>
          <p:cNvPr id="15" name="Text 13"/>
          <p:cNvSpPr txBox="1"/>
          <p:nvPr/>
        </p:nvSpPr>
        <p:spPr>
          <a:xfrm>
            <a:off x="3977640" y="1638605"/>
            <a:ext cx="1005840" cy="623621"/>
          </a:xfrm>
          <a:prstGeom prst="rect">
            <a:avLst/>
          </a:prstGeom>
          <a:noFill/>
          <a:ln/>
        </p:spPr>
        <p:txBody>
          <a:bodyPr wrap="square" lIns="0" tIns="0" rIns="0" bIns="0" rtlCol="0" anchor="ctr"/>
          <a:lstStyle/>
          <a:p>
            <a:pPr algn="ctr" indent="0" marL="0">
              <a:buNone/>
            </a:pPr>
            <a:r>
              <a:rPr lang="en-US" sz="2400" b="1" dirty="0">
                <a:solidFill>
                  <a:srgbClr val="000000"/>
                </a:solidFill>
                <a:latin typeface="Arial" pitchFamily="34" charset="0"/>
                <a:ea typeface="Arial" pitchFamily="34" charset="-122"/>
                <a:cs typeface="Arial" pitchFamily="34" charset="-120"/>
              </a:rPr>
              <a:t>↱</a:t>
            </a:r>
            <a:endParaRPr lang="en-US" sz="2400" dirty="0"/>
          </a:p>
        </p:txBody>
      </p:sp>
      <p:sp>
        <p:nvSpPr>
          <p:cNvPr id="16" name="Text 14"/>
          <p:cNvSpPr txBox="1"/>
          <p:nvPr/>
        </p:nvSpPr>
        <p:spPr>
          <a:xfrm>
            <a:off x="3749040" y="2606040"/>
            <a:ext cx="1463040" cy="365760"/>
          </a:xfrm>
          <a:prstGeom prst="rect">
            <a:avLst/>
          </a:prstGeom>
          <a:noFill/>
          <a:ln/>
        </p:spPr>
        <p:txBody>
          <a:bodyPr wrap="square" lIns="0" tIns="0" rIns="0" bIns="0" rtlCol="0" anchor="ctr"/>
          <a:lstStyle/>
          <a:p>
            <a:pPr algn="ctr" indent="0" marL="0">
              <a:buNone/>
            </a:pPr>
            <a:r>
              <a:rPr lang="en-US" sz="1500" b="1" dirty="0">
                <a:solidFill>
                  <a:schemeClr val="tx1"/>
                </a:solidFill>
              </a:rPr>
              <a:t>Bend ahead</a:t>
            </a:r>
            <a:endParaRPr lang="en-US" sz="1500" dirty="0"/>
          </a:p>
        </p:txBody>
      </p:sp>
      <p:sp>
        <p:nvSpPr>
          <p:cNvPr id="17" name="Text 15"/>
          <p:cNvSpPr txBox="1"/>
          <p:nvPr/>
        </p:nvSpPr>
        <p:spPr>
          <a:xfrm>
            <a:off x="3749040" y="2971800"/>
            <a:ext cx="1463040" cy="548640"/>
          </a:xfrm>
          <a:prstGeom prst="rect">
            <a:avLst/>
          </a:prstGeom>
          <a:noFill/>
          <a:ln/>
        </p:spPr>
        <p:txBody>
          <a:bodyPr wrap="square" lIns="0" tIns="0" rIns="0" bIns="0" rtlCol="0" anchor="t"/>
          <a:lstStyle/>
          <a:p>
            <a:pPr algn="ctr" indent="0" marL="0">
              <a:buNone/>
            </a:pPr>
            <a:r>
              <a:rPr lang="en-US" sz="1200" dirty="0">
                <a:solidFill>
                  <a:schemeClr val="tx2"/>
                </a:solidFill>
              </a:rPr>
              <a:t>Before each bend</a:t>
            </a:r>
            <a:endParaRPr lang="en-US" sz="1200" dirty="0"/>
          </a:p>
        </p:txBody>
      </p:sp>
      <p:sp>
        <p:nvSpPr>
          <p:cNvPr id="18" name="Shape 16"/>
          <p:cNvSpPr/>
          <p:nvPr/>
        </p:nvSpPr>
        <p:spPr>
          <a:xfrm>
            <a:off x="5577840" y="1417320"/>
            <a:ext cx="1005840" cy="1005840"/>
          </a:xfrm>
          <a:prstGeom prst="octagon">
            <a:avLst/>
          </a:prstGeom>
          <a:solidFill>
            <a:schemeClr val="accent1"/>
          </a:solidFill>
          <a:ln w="12700">
            <a:solidFill>
              <a:srgbClr val="000000"/>
            </a:solidFill>
            <a:prstDash val="solid"/>
          </a:ln>
        </p:spPr>
      </p:sp>
      <p:sp>
        <p:nvSpPr>
          <p:cNvPr id="19" name="Shape 17"/>
          <p:cNvSpPr/>
          <p:nvPr/>
        </p:nvSpPr>
        <p:spPr>
          <a:xfrm>
            <a:off x="5628132" y="1467612"/>
            <a:ext cx="905256" cy="905256"/>
          </a:xfrm>
          <a:prstGeom prst="octagon">
            <a:avLst/>
          </a:prstGeom>
          <a:ln w="19050">
            <a:solidFill>
              <a:srgbClr val="FFFFFF"/>
            </a:solidFill>
            <a:prstDash val="solid"/>
          </a:ln>
        </p:spPr>
      </p:sp>
      <p:sp>
        <p:nvSpPr>
          <p:cNvPr id="20" name="Text 18"/>
          <p:cNvSpPr txBox="1"/>
          <p:nvPr/>
        </p:nvSpPr>
        <p:spPr>
          <a:xfrm>
            <a:off x="5577840" y="1417320"/>
            <a:ext cx="1005840" cy="1005840"/>
          </a:xfrm>
          <a:prstGeom prst="rect">
            <a:avLst/>
          </a:prstGeom>
          <a:noFill/>
          <a:ln/>
        </p:spPr>
        <p:txBody>
          <a:bodyPr wrap="square" lIns="0" tIns="0" rIns="0" bIns="0" rtlCol="0" anchor="ctr"/>
          <a:lstStyle/>
          <a:p>
            <a:pPr algn="ctr" indent="0" marL="0">
              <a:buNone/>
            </a:pPr>
            <a:r>
              <a:rPr lang="en-US" sz="1700" b="1" dirty="0">
                <a:solidFill>
                  <a:schemeClr val="bg1"/>
                </a:solidFill>
                <a:latin typeface="Arial" pitchFamily="34" charset="0"/>
                <a:ea typeface="Arial" pitchFamily="34" charset="-122"/>
                <a:cs typeface="Arial" pitchFamily="34" charset="-120"/>
              </a:rPr>
              <a:t>STOP</a:t>
            </a:r>
            <a:endParaRPr lang="en-US" sz="1700" dirty="0"/>
          </a:p>
        </p:txBody>
      </p:sp>
      <p:sp>
        <p:nvSpPr>
          <p:cNvPr id="21" name="Text 19"/>
          <p:cNvSpPr txBox="1"/>
          <p:nvPr/>
        </p:nvSpPr>
        <p:spPr>
          <a:xfrm>
            <a:off x="5349240" y="2606040"/>
            <a:ext cx="1463040" cy="365760"/>
          </a:xfrm>
          <a:prstGeom prst="rect">
            <a:avLst/>
          </a:prstGeom>
          <a:noFill/>
          <a:ln/>
        </p:spPr>
        <p:txBody>
          <a:bodyPr wrap="square" lIns="0" tIns="0" rIns="0" bIns="0" rtlCol="0" anchor="ctr"/>
          <a:lstStyle/>
          <a:p>
            <a:pPr algn="ctr" indent="0" marL="0">
              <a:buNone/>
            </a:pPr>
            <a:r>
              <a:rPr lang="en-US" sz="1500" b="1" dirty="0">
                <a:solidFill>
                  <a:schemeClr val="tx1"/>
                </a:solidFill>
              </a:rPr>
              <a:t>STOP</a:t>
            </a:r>
            <a:endParaRPr lang="en-US" sz="1500" dirty="0"/>
          </a:p>
        </p:txBody>
      </p:sp>
      <p:sp>
        <p:nvSpPr>
          <p:cNvPr id="22" name="Text 20"/>
          <p:cNvSpPr txBox="1"/>
          <p:nvPr/>
        </p:nvSpPr>
        <p:spPr>
          <a:xfrm>
            <a:off x="5349240" y="2971800"/>
            <a:ext cx="1463040" cy="548640"/>
          </a:xfrm>
          <a:prstGeom prst="rect">
            <a:avLst/>
          </a:prstGeom>
          <a:noFill/>
          <a:ln/>
        </p:spPr>
        <p:txBody>
          <a:bodyPr wrap="square" lIns="0" tIns="0" rIns="0" bIns="0" rtlCol="0" anchor="t"/>
          <a:lstStyle/>
          <a:p>
            <a:pPr algn="ctr" indent="0" marL="0">
              <a:buNone/>
            </a:pPr>
            <a:r>
              <a:rPr lang="en-US" sz="1200" dirty="0">
                <a:solidFill>
                  <a:schemeClr val="tx2"/>
                </a:solidFill>
              </a:rPr>
              <a:t>Before each tie-in</a:t>
            </a:r>
            <a:endParaRPr lang="en-US" sz="1200" dirty="0"/>
          </a:p>
        </p:txBody>
      </p:sp>
      <p:sp>
        <p:nvSpPr>
          <p:cNvPr id="23" name="Shape 21"/>
          <p:cNvSpPr/>
          <p:nvPr/>
        </p:nvSpPr>
        <p:spPr>
          <a:xfrm rot="10800000">
            <a:off x="7178040" y="1417320"/>
            <a:ext cx="1005840" cy="885139"/>
          </a:xfrm>
          <a:prstGeom prst="triangle">
            <a:avLst/>
          </a:prstGeom>
          <a:solidFill>
            <a:schemeClr val="accent1"/>
          </a:solidFill>
          <a:ln w="12700">
            <a:solidFill>
              <a:srgbClr val="000000"/>
            </a:solidFill>
            <a:prstDash val="solid"/>
          </a:ln>
        </p:spPr>
      </p:sp>
      <p:sp>
        <p:nvSpPr>
          <p:cNvPr id="24" name="Shape 22"/>
          <p:cNvSpPr/>
          <p:nvPr/>
        </p:nvSpPr>
        <p:spPr>
          <a:xfrm rot="10800000">
            <a:off x="7338974" y="1523537"/>
            <a:ext cx="683971" cy="601895"/>
          </a:xfrm>
          <a:prstGeom prst="triangle">
            <a:avLst/>
          </a:prstGeom>
          <a:solidFill>
            <a:schemeClr val="bg1"/>
          </a:solidFill>
          <a:ln/>
        </p:spPr>
      </p:sp>
      <p:sp>
        <p:nvSpPr>
          <p:cNvPr id="25" name="Text 23"/>
          <p:cNvSpPr txBox="1"/>
          <p:nvPr/>
        </p:nvSpPr>
        <p:spPr>
          <a:xfrm>
            <a:off x="6949440" y="2606040"/>
            <a:ext cx="1463040" cy="365760"/>
          </a:xfrm>
          <a:prstGeom prst="rect">
            <a:avLst/>
          </a:prstGeom>
          <a:noFill/>
          <a:ln/>
        </p:spPr>
        <p:txBody>
          <a:bodyPr wrap="square" lIns="0" tIns="0" rIns="0" bIns="0" rtlCol="0" anchor="ctr"/>
          <a:lstStyle/>
          <a:p>
            <a:pPr algn="ctr" indent="0" marL="0">
              <a:buNone/>
            </a:pPr>
            <a:r>
              <a:rPr lang="en-US" sz="1500" b="1" dirty="0">
                <a:solidFill>
                  <a:schemeClr val="tx1"/>
                </a:solidFill>
              </a:rPr>
              <a:t>Give way</a:t>
            </a:r>
            <a:endParaRPr lang="en-US" sz="1500" dirty="0"/>
          </a:p>
        </p:txBody>
      </p:sp>
      <p:sp>
        <p:nvSpPr>
          <p:cNvPr id="26" name="Text 24"/>
          <p:cNvSpPr txBox="1"/>
          <p:nvPr/>
        </p:nvSpPr>
        <p:spPr>
          <a:xfrm>
            <a:off x="6949440" y="2971800"/>
            <a:ext cx="1463040" cy="548640"/>
          </a:xfrm>
          <a:prstGeom prst="rect">
            <a:avLst/>
          </a:prstGeom>
          <a:noFill/>
          <a:ln/>
        </p:spPr>
        <p:txBody>
          <a:bodyPr wrap="square" lIns="0" tIns="0" rIns="0" bIns="0" rtlCol="0" anchor="t"/>
          <a:lstStyle/>
          <a:p>
            <a:pPr algn="ctr" indent="0" marL="0">
              <a:buNone/>
            </a:pPr>
            <a:r>
              <a:rPr lang="en-US" sz="1200" dirty="0">
                <a:solidFill>
                  <a:schemeClr val="tx2"/>
                </a:solidFill>
              </a:rPr>
              <a:t>Option at tie-ins</a:t>
            </a:r>
            <a:endParaRPr lang="en-US" sz="1200" dirty="0"/>
          </a:p>
        </p:txBody>
      </p:sp>
      <p:sp>
        <p:nvSpPr>
          <p:cNvPr id="27" name="Shape 25"/>
          <p:cNvSpPr/>
          <p:nvPr/>
        </p:nvSpPr>
        <p:spPr>
          <a:xfrm>
            <a:off x="8778240" y="1417320"/>
            <a:ext cx="1005840" cy="1005840"/>
          </a:xfrm>
          <a:prstGeom prst="ellipse">
            <a:avLst/>
          </a:prstGeom>
          <a:solidFill>
            <a:schemeClr val="accent1"/>
          </a:solidFill>
          <a:ln w="12700">
            <a:solidFill>
              <a:srgbClr val="000000"/>
            </a:solidFill>
            <a:prstDash val="solid"/>
          </a:ln>
        </p:spPr>
      </p:sp>
      <p:sp>
        <p:nvSpPr>
          <p:cNvPr id="28" name="Shape 26"/>
          <p:cNvSpPr/>
          <p:nvPr/>
        </p:nvSpPr>
        <p:spPr>
          <a:xfrm>
            <a:off x="8939174" y="1839773"/>
            <a:ext cx="683971" cy="160934"/>
          </a:xfrm>
          <a:prstGeom prst="rect">
            <a:avLst/>
          </a:prstGeom>
          <a:solidFill>
            <a:schemeClr val="bg1"/>
          </a:solidFill>
          <a:ln/>
        </p:spPr>
      </p:sp>
      <p:sp>
        <p:nvSpPr>
          <p:cNvPr id="29" name="Text 27"/>
          <p:cNvSpPr txBox="1"/>
          <p:nvPr/>
        </p:nvSpPr>
        <p:spPr>
          <a:xfrm>
            <a:off x="8549640" y="2606040"/>
            <a:ext cx="1463040" cy="365760"/>
          </a:xfrm>
          <a:prstGeom prst="rect">
            <a:avLst/>
          </a:prstGeom>
          <a:noFill/>
          <a:ln/>
        </p:spPr>
        <p:txBody>
          <a:bodyPr wrap="square" lIns="0" tIns="0" rIns="0" bIns="0" rtlCol="0" anchor="ctr"/>
          <a:lstStyle/>
          <a:p>
            <a:pPr algn="ctr" indent="0" marL="0">
              <a:buNone/>
            </a:pPr>
            <a:r>
              <a:rPr lang="en-US" sz="1500" b="1" dirty="0">
                <a:solidFill>
                  <a:schemeClr val="tx1"/>
                </a:solidFill>
              </a:rPr>
              <a:t>No entry</a:t>
            </a:r>
            <a:endParaRPr lang="en-US" sz="1500" dirty="0"/>
          </a:p>
        </p:txBody>
      </p:sp>
      <p:sp>
        <p:nvSpPr>
          <p:cNvPr id="30" name="Text 28"/>
          <p:cNvSpPr txBox="1"/>
          <p:nvPr/>
        </p:nvSpPr>
        <p:spPr>
          <a:xfrm>
            <a:off x="8549640" y="2971800"/>
            <a:ext cx="1463040" cy="548640"/>
          </a:xfrm>
          <a:prstGeom prst="rect">
            <a:avLst/>
          </a:prstGeom>
          <a:noFill/>
          <a:ln/>
        </p:spPr>
        <p:txBody>
          <a:bodyPr wrap="square" lIns="0" tIns="0" rIns="0" bIns="0" rtlCol="0" anchor="t"/>
          <a:lstStyle/>
          <a:p>
            <a:pPr algn="ctr" indent="0" marL="0">
              <a:buNone/>
            </a:pPr>
            <a:r>
              <a:rPr lang="en-US" sz="1200" dirty="0">
                <a:solidFill>
                  <a:schemeClr val="tx2"/>
                </a:solidFill>
              </a:rPr>
              <a:t>Far end, one-way road</a:t>
            </a:r>
            <a:endParaRPr lang="en-US" sz="1200" dirty="0"/>
          </a:p>
        </p:txBody>
      </p:sp>
      <p:sp>
        <p:nvSpPr>
          <p:cNvPr id="31" name="Shape 29"/>
          <p:cNvSpPr/>
          <p:nvPr/>
        </p:nvSpPr>
        <p:spPr>
          <a:xfrm>
            <a:off x="10378440" y="1417320"/>
            <a:ext cx="1005840" cy="1005840"/>
          </a:xfrm>
          <a:prstGeom prst="ellipse">
            <a:avLst/>
          </a:prstGeom>
          <a:solidFill>
            <a:schemeClr val="accent3"/>
          </a:solidFill>
          <a:ln w="12700">
            <a:solidFill>
              <a:srgbClr val="000000"/>
            </a:solidFill>
            <a:prstDash val="solid"/>
          </a:ln>
        </p:spPr>
      </p:sp>
      <p:sp>
        <p:nvSpPr>
          <p:cNvPr id="32" name="Shape 30"/>
          <p:cNvSpPr/>
          <p:nvPr/>
        </p:nvSpPr>
        <p:spPr>
          <a:xfrm rot="2700000">
            <a:off x="10579608" y="1799539"/>
            <a:ext cx="603504" cy="241402"/>
          </a:xfrm>
          <a:prstGeom prst="rightArrow">
            <a:avLst/>
          </a:prstGeom>
          <a:solidFill>
            <a:schemeClr val="bg1"/>
          </a:solidFill>
          <a:ln/>
        </p:spPr>
      </p:sp>
      <p:sp>
        <p:nvSpPr>
          <p:cNvPr id="33" name="Text 31"/>
          <p:cNvSpPr txBox="1"/>
          <p:nvPr/>
        </p:nvSpPr>
        <p:spPr>
          <a:xfrm>
            <a:off x="10149840" y="2606040"/>
            <a:ext cx="1463040" cy="365760"/>
          </a:xfrm>
          <a:prstGeom prst="rect">
            <a:avLst/>
          </a:prstGeom>
          <a:noFill/>
          <a:ln/>
        </p:spPr>
        <p:txBody>
          <a:bodyPr wrap="square" lIns="0" tIns="0" rIns="0" bIns="0" rtlCol="0" anchor="ctr"/>
          <a:lstStyle/>
          <a:p>
            <a:pPr algn="ctr" indent="0" marL="0">
              <a:buNone/>
            </a:pPr>
            <a:r>
              <a:rPr lang="en-US" sz="1500" b="1" dirty="0">
                <a:solidFill>
                  <a:schemeClr val="tx1"/>
                </a:solidFill>
              </a:rPr>
              <a:t>Keep right</a:t>
            </a:r>
            <a:endParaRPr lang="en-US" sz="1500" dirty="0"/>
          </a:p>
        </p:txBody>
      </p:sp>
      <p:sp>
        <p:nvSpPr>
          <p:cNvPr id="34" name="Text 32"/>
          <p:cNvSpPr txBox="1"/>
          <p:nvPr/>
        </p:nvSpPr>
        <p:spPr>
          <a:xfrm>
            <a:off x="10149840" y="2971800"/>
            <a:ext cx="1463040" cy="548640"/>
          </a:xfrm>
          <a:prstGeom prst="rect">
            <a:avLst/>
          </a:prstGeom>
          <a:noFill/>
          <a:ln/>
        </p:spPr>
        <p:txBody>
          <a:bodyPr wrap="square" lIns="0" tIns="0" rIns="0" bIns="0" rtlCol="0" anchor="t"/>
          <a:lstStyle/>
          <a:p>
            <a:pPr algn="ctr" indent="0" marL="0">
              <a:buNone/>
            </a:pPr>
            <a:r>
              <a:rPr lang="en-US" sz="1200" dirty="0">
                <a:solidFill>
                  <a:schemeClr val="tx2"/>
                </a:solidFill>
              </a:rPr>
              <a:t>Median nose</a:t>
            </a:r>
            <a:endParaRPr lang="en-US" sz="1200" dirty="0"/>
          </a:p>
        </p:txBody>
      </p:sp>
      <p:sp>
        <p:nvSpPr>
          <p:cNvPr id="35" name="Shape 33"/>
          <p:cNvSpPr/>
          <p:nvPr/>
        </p:nvSpPr>
        <p:spPr>
          <a:xfrm>
            <a:off x="548640" y="3886200"/>
            <a:ext cx="11064240" cy="2240280"/>
          </a:xfrm>
          <a:prstGeom prst="roundRect">
            <a:avLst>
              <a:gd name="adj" fmla="val 4082"/>
            </a:avLst>
          </a:prstGeom>
          <a:solidFill>
            <a:schemeClr val="bg2"/>
          </a:solidFill>
          <a:ln w="9525">
            <a:solidFill>
              <a:schemeClr val="accent6"/>
            </a:solidFill>
            <a:prstDash val="solid"/>
          </a:ln>
        </p:spPr>
      </p:sp>
      <p:sp>
        <p:nvSpPr>
          <p:cNvPr id="36" name="Text 3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700" b="1" dirty="0">
                <a:solidFill>
                  <a:schemeClr val="tx1"/>
                </a:solidFill>
              </a:rPr>
              <a:t>How each sign is drawn on the plan</a:t>
            </a:r>
            <a:endParaRPr lang="en-US" sz="1700" dirty="0"/>
          </a:p>
        </p:txBody>
      </p:sp>
      <p:sp>
        <p:nvSpPr>
          <p:cNvPr id="37" name="Shape 35"/>
          <p:cNvSpPr/>
          <p:nvPr/>
        </p:nvSpPr>
        <p:spPr>
          <a:xfrm>
            <a:off x="914400" y="5001768"/>
            <a:ext cx="182880" cy="182880"/>
          </a:xfrm>
          <a:prstGeom prst="ellipse">
            <a:avLst/>
          </a:prstGeom>
          <a:solidFill>
            <a:srgbClr val="000000"/>
          </a:solidFill>
          <a:ln/>
        </p:spPr>
      </p:sp>
      <p:sp>
        <p:nvSpPr>
          <p:cNvPr id="38" name="Shape 36"/>
          <p:cNvSpPr/>
          <p:nvPr/>
        </p:nvSpPr>
        <p:spPr>
          <a:xfrm>
            <a:off x="969264" y="4709160"/>
            <a:ext cx="73152" cy="768096"/>
          </a:xfrm>
          <a:prstGeom prst="rect">
            <a:avLst/>
          </a:prstGeom>
          <a:solidFill>
            <a:srgbClr val="000000"/>
          </a:solidFill>
          <a:ln/>
        </p:spPr>
      </p:sp>
      <p:sp>
        <p:nvSpPr>
          <p:cNvPr id="39" name="Shape 37"/>
          <p:cNvSpPr/>
          <p:nvPr/>
        </p:nvSpPr>
        <p:spPr>
          <a:xfrm>
            <a:off x="1097280" y="5093208"/>
            <a:ext cx="1188720" cy="0"/>
          </a:xfrm>
          <a:prstGeom prst="line">
            <a:avLst/>
          </a:prstGeom>
          <a:noFill/>
          <a:ln w="15875">
            <a:solidFill>
              <a:srgbClr val="000000"/>
            </a:solidFill>
            <a:prstDash val="solid"/>
          </a:ln>
        </p:spPr>
      </p:sp>
      <p:sp>
        <p:nvSpPr>
          <p:cNvPr id="40" name="Shape 38"/>
          <p:cNvSpPr/>
          <p:nvPr/>
        </p:nvSpPr>
        <p:spPr>
          <a:xfrm>
            <a:off x="2286000" y="4727448"/>
            <a:ext cx="731520" cy="731520"/>
          </a:xfrm>
          <a:prstGeom prst="ellipse">
            <a:avLst/>
          </a:prstGeom>
          <a:solidFill>
            <a:schemeClr val="accent1"/>
          </a:solidFill>
          <a:ln w="12700">
            <a:solidFill>
              <a:srgbClr val="000000"/>
            </a:solidFill>
            <a:prstDash val="solid"/>
          </a:ln>
        </p:spPr>
      </p:sp>
      <p:sp>
        <p:nvSpPr>
          <p:cNvPr id="41" name="Shape 39"/>
          <p:cNvSpPr/>
          <p:nvPr/>
        </p:nvSpPr>
        <p:spPr>
          <a:xfrm>
            <a:off x="2366467" y="4807915"/>
            <a:ext cx="570586" cy="570586"/>
          </a:xfrm>
          <a:prstGeom prst="ellipse">
            <a:avLst/>
          </a:prstGeom>
          <a:solidFill>
            <a:schemeClr val="bg1"/>
          </a:solidFill>
          <a:ln/>
        </p:spPr>
      </p:sp>
      <p:sp>
        <p:nvSpPr>
          <p:cNvPr id="42" name="Text 40"/>
          <p:cNvSpPr txBox="1"/>
          <p:nvPr/>
        </p:nvSpPr>
        <p:spPr>
          <a:xfrm>
            <a:off x="2286000" y="4727448"/>
            <a:ext cx="731520" cy="73152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30</a:t>
            </a:r>
            <a:endParaRPr lang="en-US" sz="1800" dirty="0"/>
          </a:p>
        </p:txBody>
      </p:sp>
      <p:sp>
        <p:nvSpPr>
          <p:cNvPr id="43" name="Text 41"/>
          <p:cNvSpPr txBox="1"/>
          <p:nvPr/>
        </p:nvSpPr>
        <p:spPr>
          <a:xfrm>
            <a:off x="2194560" y="5486400"/>
            <a:ext cx="914400" cy="274320"/>
          </a:xfrm>
          <a:prstGeom prst="rect">
            <a:avLst/>
          </a:prstGeom>
          <a:noFill/>
          <a:ln/>
        </p:spPr>
        <p:txBody>
          <a:bodyPr wrap="square" lIns="0" tIns="0" rIns="0" bIns="0" rtlCol="0" anchor="ctr"/>
          <a:lstStyle/>
          <a:p>
            <a:pPr algn="ctr" indent="0" marL="0">
              <a:buNone/>
            </a:pPr>
            <a:r>
              <a:rPr lang="en-US" sz="1200" b="1" dirty="0">
                <a:solidFill>
                  <a:schemeClr val="tx1"/>
                </a:solidFill>
              </a:rPr>
              <a:t>SG-01</a:t>
            </a:r>
            <a:endParaRPr lang="en-US" sz="1200" dirty="0"/>
          </a:p>
        </p:txBody>
      </p:sp>
      <p:sp>
        <p:nvSpPr>
          <p:cNvPr id="44" name="Text 42"/>
          <p:cNvSpPr txBox="1"/>
          <p:nvPr/>
        </p:nvSpPr>
        <p:spPr>
          <a:xfrm>
            <a:off x="3474720" y="4526280"/>
            <a:ext cx="3840480" cy="1463040"/>
          </a:xfrm>
          <a:prstGeom prst="rect">
            <a:avLst/>
          </a:prstGeom>
          <a:noFill/>
          <a:ln/>
        </p:spPr>
        <p:txBody>
          <a:bodyPr wrap="square" lIns="0" tIns="0" rIns="0" bIns="0" rtlCol="0" anchor="t"/>
          <a:lstStyle/>
          <a:p>
            <a:pPr indent="0" marL="0">
              <a:buNone/>
            </a:pPr>
            <a:r>
              <a:rPr lang="en-US" sz="1400" b="1" dirty="0">
                <a:solidFill>
                  <a:schemeClr val="tx2"/>
                </a:solidFill>
              </a:rPr>
              <a:t>Post and plate</a:t>
            </a:r>
            <a:endParaRPr lang="en-US" sz="1400" dirty="0"/>
          </a:p>
          <a:p>
            <a:pPr indent="0" marL="0">
              <a:buNone/>
            </a:pPr>
            <a:r>
              <a:rPr lang="en-US" sz="1400" dirty="0">
                <a:solidFill>
                  <a:schemeClr val="tx2"/>
                </a:solidFill>
              </a:rPr>
              <a:t>Black dot outside the barricade, plate faces the traffic</a:t>
            </a:r>
            <a:endParaRPr lang="en-US" sz="1400" dirty="0"/>
          </a:p>
          <a:p>
            <a:pPr indent="0" marL="0">
              <a:buNone/>
            </a:pPr>
            <a:r>
              <a:rPr lang="en-US" sz="1400" b="1" dirty="0">
                <a:solidFill>
                  <a:schemeClr val="tx2"/>
                </a:solidFill>
              </a:rPr>
              <a:t>Leader, symbol and ID</a:t>
            </a:r>
            <a:endParaRPr lang="en-US" sz="1400" dirty="0"/>
          </a:p>
          <a:p>
            <a:pPr indent="0" marL="0">
              <a:buNone/>
            </a:pPr>
            <a:r>
              <a:rPr lang="en-US" sz="1400" dirty="0">
                <a:solidFill>
                  <a:schemeClr val="tx2"/>
                </a:solidFill>
              </a:rPr>
              <a:t>IDs SG-01, SG-02 ... follow the chainage order</a:t>
            </a:r>
            <a:endParaRPr lang="en-US" sz="1400" dirty="0"/>
          </a:p>
        </p:txBody>
      </p:sp>
      <p:sp>
        <p:nvSpPr>
          <p:cNvPr id="45" name="Text 43"/>
          <p:cNvSpPr txBox="1"/>
          <p:nvPr/>
        </p:nvSpPr>
        <p:spPr>
          <a:xfrm>
            <a:off x="7589520" y="4069080"/>
            <a:ext cx="3840480" cy="1965960"/>
          </a:xfrm>
          <a:prstGeom prst="rect">
            <a:avLst/>
          </a:prstGeom>
          <a:noFill/>
          <a:ln/>
        </p:spPr>
        <p:txBody>
          <a:bodyPr wrap="square" lIns="0" tIns="0" rIns="0" bIns="0" rtlCol="0" anchor="t"/>
          <a:lstStyle/>
          <a:p>
            <a:pPr indent="0" marL="0">
              <a:buNone/>
            </a:pPr>
            <a:r>
              <a:rPr lang="en-US" sz="1400" b="1" dirty="0">
                <a:solidFill>
                  <a:schemeClr val="tx2"/>
                </a:solidFill>
              </a:rPr>
              <a:t>Also drawn</a:t>
            </a:r>
            <a:endParaRPr lang="en-US" sz="1400" dirty="0"/>
          </a:p>
          <a:p>
            <a:pPr marL="342900" indent="-342900">
              <a:buSzPct val="100000"/>
              <a:buChar char="•"/>
            </a:pPr>
            <a:r>
              <a:rPr lang="en-US" sz="1400" dirty="0">
                <a:solidFill>
                  <a:schemeClr val="tx2"/>
                </a:solidFill>
              </a:rPr>
              <a:t>Chevron boards on the outside of bends</a:t>
            </a:r>
            <a:endParaRPr lang="en-US" sz="1400" dirty="0"/>
          </a:p>
          <a:p>
            <a:pPr marL="342900" indent="-342900">
              <a:buSzPct val="100000"/>
              <a:buChar char="•"/>
            </a:pPr>
            <a:r>
              <a:rPr lang="en-US" sz="1400" dirty="0">
                <a:solidFill>
                  <a:schemeClr val="tx2"/>
                </a:solidFill>
              </a:rPr>
              <a:t>ROAD CLOSED boards at closed ends</a:t>
            </a:r>
            <a:endParaRPr lang="en-US" sz="1400" dirty="0"/>
          </a:p>
          <a:p>
            <a:pPr marL="342900" indent="-342900">
              <a:buSzPct val="100000"/>
              <a:buChar char="•"/>
            </a:pPr>
            <a:r>
              <a:rPr lang="en-US" sz="1400" dirty="0">
                <a:solidFill>
                  <a:schemeClr val="tx2"/>
                </a:solidFill>
              </a:rPr>
              <a:t>White lane arrows on straights</a:t>
            </a:r>
            <a:endParaRPr lang="en-US" sz="1400" dirty="0"/>
          </a:p>
          <a:p>
            <a:pPr marL="342900" indent="-342900">
              <a:buSzPct val="100000"/>
              <a:buChar char="•"/>
            </a:pPr>
            <a:r>
              <a:rPr lang="en-US" sz="1400" dirty="0">
                <a:solidFill>
                  <a:schemeClr val="tx2"/>
                </a:solidFill>
              </a:rPr>
              <a:t>Sign schedule with E / N of every post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Radius and road sections on the plan</a:t>
            </a:r>
            <a:endParaRPr lang="en-US" sz="3200" dirty="0"/>
          </a:p>
        </p:txBody>
      </p:sp>
      <p:sp>
        <p:nvSpPr>
          <p:cNvPr id="3" name="Shape 1"/>
          <p:cNvSpPr/>
          <p:nvPr/>
        </p:nvSpPr>
        <p:spPr>
          <a:xfrm>
            <a:off x="548640" y="1325880"/>
            <a:ext cx="5394960" cy="4800600"/>
          </a:xfrm>
          <a:prstGeom prst="roundRect">
            <a:avLst>
              <a:gd name="adj" fmla="val 1905"/>
            </a:avLst>
          </a:prstGeom>
          <a:solidFill>
            <a:schemeClr val="bg2"/>
          </a:solidFill>
          <a:ln w="9525">
            <a:solidFill>
              <a:schemeClr val="accent6"/>
            </a:solidFill>
            <a:prstDash val="solid"/>
          </a:ln>
        </p:spPr>
      </p:sp>
      <p:sp>
        <p:nvSpPr>
          <p:cNvPr id="4" name="Text 2"/>
          <p:cNvSpPr txBox="1"/>
          <p:nvPr/>
        </p:nvSpPr>
        <p:spPr>
          <a:xfrm>
            <a:off x="822960" y="1508760"/>
            <a:ext cx="3291840" cy="411480"/>
          </a:xfrm>
          <a:prstGeom prst="rect">
            <a:avLst/>
          </a:prstGeom>
          <a:noFill/>
          <a:ln/>
        </p:spPr>
        <p:txBody>
          <a:bodyPr wrap="square" lIns="0" tIns="0" rIns="0" bIns="0" rtlCol="0" anchor="ctr"/>
          <a:lstStyle/>
          <a:p>
            <a:pPr indent="0" marL="0">
              <a:buNone/>
            </a:pPr>
            <a:r>
              <a:rPr lang="en-US" sz="1900" b="1" dirty="0">
                <a:solidFill>
                  <a:schemeClr val="tx1"/>
                </a:solidFill>
              </a:rPr>
              <a:t>Every curve</a:t>
            </a:r>
            <a:endParaRPr lang="en-US" sz="1900" dirty="0"/>
          </a:p>
        </p:txBody>
      </p:sp>
      <p:sp>
        <p:nvSpPr>
          <p:cNvPr id="5" name="keycap RDRAD"/>
          <p:cNvSpPr/>
          <p:nvPr/>
        </p:nvSpPr>
        <p:spPr>
          <a:xfrm>
            <a:off x="4434840" y="1481328"/>
            <a:ext cx="1234440" cy="457200"/>
          </a:xfrm>
          <a:prstGeom prst="roundRect">
            <a:avLst>
              <a:gd name="adj" fmla="val 16000"/>
            </a:avLst>
          </a:prstGeom>
          <a:solidFill>
            <a:srgbClr val="0033CC"/>
          </a:solidFill>
          <a:ln w="12700">
            <a:solidFill>
              <a:srgbClr val="0033CC"/>
            </a:solidFill>
            <a:prstDash val="solid"/>
          </a:ln>
          <a:effectLst>
            <a:outerShdw sx="100000" sy="100000" kx="0" ky="0" algn="bl" rotWithShape="0" blurRad="38100" dist="25400" dir="5400000">
              <a:srgbClr val="000000">
                <a:alpha val="25000"/>
              </a:srgbClr>
            </a:outerShdw>
          </a:effectLst>
        </p:spPr>
      </p:sp>
      <p:sp>
        <p:nvSpPr>
          <p:cNvPr id="6" name="Text 4"/>
          <p:cNvSpPr txBox="1"/>
          <p:nvPr/>
        </p:nvSpPr>
        <p:spPr>
          <a:xfrm>
            <a:off x="4434840" y="1481328"/>
            <a:ext cx="123444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RDRAD</a:t>
            </a:r>
            <a:endParaRPr lang="en-US" sz="1600" dirty="0"/>
          </a:p>
        </p:txBody>
      </p:sp>
      <p:sp>
        <p:nvSpPr>
          <p:cNvPr id="7" name="Shape 5"/>
          <p:cNvSpPr/>
          <p:nvPr/>
        </p:nvSpPr>
        <p:spPr>
          <a:xfrm>
            <a:off x="822960" y="2148840"/>
            <a:ext cx="4846320" cy="2331720"/>
          </a:xfrm>
          <a:prstGeom prst="rect">
            <a:avLst/>
          </a:prstGeom>
          <a:solidFill>
            <a:schemeClr val="bg1"/>
          </a:solidFill>
          <a:ln w="19050">
            <a:solidFill>
              <a:srgbClr val="0033CC"/>
            </a:solidFill>
            <a:prstDash val="solid"/>
          </a:ln>
        </p:spPr>
      </p:sp>
      <p:sp>
        <p:nvSpPr>
          <p:cNvPr id="8" name="Text 6"/>
          <p:cNvSpPr txBox="1"/>
          <p:nvPr/>
        </p:nvSpPr>
        <p:spPr>
          <a:xfrm>
            <a:off x="1051560" y="2240280"/>
            <a:ext cx="4480560" cy="2148840"/>
          </a:xfrm>
          <a:prstGeom prst="rect">
            <a:avLst/>
          </a:prstGeom>
          <a:noFill/>
          <a:ln/>
        </p:spPr>
        <p:txBody>
          <a:bodyPr wrap="square" lIns="0" tIns="0" rIns="0" bIns="0" rtlCol="0" anchor="ctr"/>
          <a:lstStyle/>
          <a:p>
            <a:pPr indent="0" marL="0">
              <a:buNone/>
            </a:pPr>
            <a:r>
              <a:rPr lang="en-US" sz="1500" b="1" dirty="0">
                <a:solidFill>
                  <a:srgbClr val="0033CC"/>
                </a:solidFill>
                <a:latin typeface="Courier New" pitchFamily="34" charset="0"/>
                <a:ea typeface="Courier New" pitchFamily="34" charset="-122"/>
                <a:cs typeface="Courier New" pitchFamily="34" charset="-120"/>
              </a:rPr>
              <a:t>C1</a:t>
            </a:r>
            <a:endParaRPr lang="en-US" sz="1500" dirty="0"/>
          </a:p>
          <a:p>
            <a:pPr indent="0" marL="0">
              <a:buNone/>
            </a:pPr>
            <a:r>
              <a:rPr lang="en-US" sz="1500" dirty="0">
                <a:solidFill>
                  <a:srgbClr val="0033CC"/>
                </a:solidFill>
                <a:latin typeface="Courier New" pitchFamily="34" charset="0"/>
                <a:ea typeface="Courier New" pitchFamily="34" charset="-122"/>
                <a:cs typeface="Courier New" pitchFamily="34" charset="-120"/>
              </a:rPr>
              <a:t>R inner = 10.000 m</a:t>
            </a:r>
            <a:endParaRPr lang="en-US" sz="1500" dirty="0"/>
          </a:p>
          <a:p>
            <a:pPr indent="0" marL="0">
              <a:buNone/>
            </a:pPr>
            <a:r>
              <a:rPr lang="en-US" sz="1500" dirty="0">
                <a:solidFill>
                  <a:srgbClr val="0033CC"/>
                </a:solidFill>
                <a:latin typeface="Courier New" pitchFamily="34" charset="0"/>
                <a:ea typeface="Courier New" pitchFamily="34" charset="-122"/>
                <a:cs typeface="Courier New" pitchFamily="34" charset="-120"/>
              </a:rPr>
              <a:t>R CL    = 13.650 m</a:t>
            </a:r>
            <a:endParaRPr lang="en-US" sz="1500" dirty="0"/>
          </a:p>
          <a:p>
            <a:pPr indent="0" marL="0">
              <a:buNone/>
            </a:pPr>
            <a:r>
              <a:rPr lang="en-US" sz="1500" dirty="0">
                <a:solidFill>
                  <a:srgbClr val="0033CC"/>
                </a:solidFill>
                <a:latin typeface="Courier New" pitchFamily="34" charset="0"/>
                <a:ea typeface="Courier New" pitchFamily="34" charset="-122"/>
                <a:cs typeface="Courier New" pitchFamily="34" charset="-120"/>
              </a:rPr>
              <a:t>R outer = 17.300 m</a:t>
            </a:r>
            <a:endParaRPr lang="en-US" sz="1500" dirty="0"/>
          </a:p>
          <a:p>
            <a:pPr indent="0" marL="0">
              <a:buNone/>
            </a:pPr>
            <a:r>
              <a:rPr lang="en-US" sz="1500" dirty="0">
                <a:solidFill>
                  <a:srgbClr val="0033CC"/>
                </a:solidFill>
                <a:latin typeface="Courier New" pitchFamily="34" charset="0"/>
                <a:ea typeface="Courier New" pitchFamily="34" charset="-122"/>
                <a:cs typeface="Courier New" pitchFamily="34" charset="-120"/>
              </a:rPr>
              <a:t>L (CL)  = 21.441 m</a:t>
            </a:r>
            <a:endParaRPr lang="en-US" sz="1500" dirty="0"/>
          </a:p>
          <a:p>
            <a:pPr indent="0" marL="0">
              <a:buNone/>
            </a:pPr>
            <a:r>
              <a:rPr lang="en-US" sz="1500" dirty="0">
                <a:solidFill>
                  <a:srgbClr val="0033CC"/>
                </a:solidFill>
                <a:latin typeface="Courier New" pitchFamily="34" charset="0"/>
                <a:ea typeface="Courier New" pitchFamily="34" charset="-122"/>
                <a:cs typeface="Courier New" pitchFamily="34" charset="-120"/>
              </a:rPr>
              <a:t>A       = 156.52 m²</a:t>
            </a:r>
            <a:endParaRPr lang="en-US" sz="1500" dirty="0"/>
          </a:p>
          <a:p>
            <a:pPr indent="0" marL="0">
              <a:buNone/>
            </a:pPr>
            <a:r>
              <a:rPr lang="en-US" sz="1500" dirty="0">
                <a:solidFill>
                  <a:srgbClr val="0033CC"/>
                </a:solidFill>
                <a:latin typeface="Courier New" pitchFamily="34" charset="0"/>
                <a:ea typeface="Courier New" pitchFamily="34" charset="-122"/>
                <a:cs typeface="Courier New" pitchFamily="34" charset="-120"/>
              </a:rPr>
              <a:t>Δ       = 90°00'00"</a:t>
            </a:r>
            <a:endParaRPr lang="en-US" sz="1500" dirty="0"/>
          </a:p>
        </p:txBody>
      </p:sp>
      <p:sp>
        <p:nvSpPr>
          <p:cNvPr id="9" name="Text 7"/>
          <p:cNvSpPr txBox="1"/>
          <p:nvPr/>
        </p:nvSpPr>
        <p:spPr>
          <a:xfrm>
            <a:off x="822960" y="4663440"/>
            <a:ext cx="4846320" cy="1325880"/>
          </a:xfrm>
          <a:prstGeom prst="rect">
            <a:avLst/>
          </a:prstGeom>
          <a:noFill/>
          <a:ln/>
        </p:spPr>
        <p:txBody>
          <a:bodyPr wrap="square" lIns="0" tIns="0" rIns="0" bIns="0" rtlCol="0" anchor="t"/>
          <a:lstStyle/>
          <a:p>
            <a:pPr indent="0" marL="0">
              <a:buNone/>
            </a:pPr>
            <a:r>
              <a:rPr lang="en-US" sz="1400" dirty="0">
                <a:solidFill>
                  <a:schemeClr val="tx2"/>
                </a:solidFill>
              </a:rPr>
              <a:t>Radius line with arrow from the centre point, R value on the line, TC and CT ticks across the road with chainage.</a:t>
            </a:r>
            <a:endParaRPr lang="en-US" sz="1400" dirty="0"/>
          </a:p>
        </p:txBody>
      </p:sp>
      <p:sp>
        <p:nvSpPr>
          <p:cNvPr id="10" name="Shape 8"/>
          <p:cNvSpPr/>
          <p:nvPr/>
        </p:nvSpPr>
        <p:spPr>
          <a:xfrm>
            <a:off x="6217920" y="1325880"/>
            <a:ext cx="5394960" cy="4800600"/>
          </a:xfrm>
          <a:prstGeom prst="roundRect">
            <a:avLst>
              <a:gd name="adj" fmla="val 1905"/>
            </a:avLst>
          </a:prstGeom>
          <a:solidFill>
            <a:schemeClr val="bg2"/>
          </a:solidFill>
          <a:ln w="9525">
            <a:solidFill>
              <a:schemeClr val="accent6"/>
            </a:solidFill>
            <a:prstDash val="solid"/>
          </a:ln>
        </p:spPr>
      </p:sp>
      <p:sp>
        <p:nvSpPr>
          <p:cNvPr id="11" name="Text 9"/>
          <p:cNvSpPr txBox="1"/>
          <p:nvPr/>
        </p:nvSpPr>
        <p:spPr>
          <a:xfrm>
            <a:off x="6492240" y="1508760"/>
            <a:ext cx="3291840" cy="411480"/>
          </a:xfrm>
          <a:prstGeom prst="rect">
            <a:avLst/>
          </a:prstGeom>
          <a:noFill/>
          <a:ln/>
        </p:spPr>
        <p:txBody>
          <a:bodyPr wrap="square" lIns="0" tIns="0" rIns="0" bIns="0" rtlCol="0" anchor="ctr"/>
          <a:lstStyle/>
          <a:p>
            <a:pPr indent="0" marL="0">
              <a:buNone/>
            </a:pPr>
            <a:r>
              <a:rPr lang="en-US" sz="1900" b="1" dirty="0">
                <a:solidFill>
                  <a:schemeClr val="tx1"/>
                </a:solidFill>
              </a:rPr>
              <a:t>Every straight</a:t>
            </a:r>
            <a:endParaRPr lang="en-US" sz="1900" dirty="0"/>
          </a:p>
        </p:txBody>
      </p:sp>
      <p:sp>
        <p:nvSpPr>
          <p:cNvPr id="12" name="keycap RDSEC"/>
          <p:cNvSpPr/>
          <p:nvPr/>
        </p:nvSpPr>
        <p:spPr>
          <a:xfrm>
            <a:off x="10104120" y="1481328"/>
            <a:ext cx="1234440" cy="457200"/>
          </a:xfrm>
          <a:prstGeom prst="roundRect">
            <a:avLst>
              <a:gd name="adj" fmla="val 16000"/>
            </a:avLst>
          </a:prstGeom>
          <a:solidFill>
            <a:srgbClr val="C0661A"/>
          </a:solidFill>
          <a:ln w="12700">
            <a:solidFill>
              <a:srgbClr val="C0661A"/>
            </a:solidFill>
            <a:prstDash val="solid"/>
          </a:ln>
          <a:effectLst>
            <a:outerShdw sx="100000" sy="100000" kx="0" ky="0" algn="bl" rotWithShape="0" blurRad="38100" dist="25400" dir="5400000">
              <a:srgbClr val="000000">
                <a:alpha val="25000"/>
              </a:srgbClr>
            </a:outerShdw>
          </a:effectLst>
        </p:spPr>
      </p:sp>
      <p:sp>
        <p:nvSpPr>
          <p:cNvPr id="13" name="Text 11"/>
          <p:cNvSpPr txBox="1"/>
          <p:nvPr/>
        </p:nvSpPr>
        <p:spPr>
          <a:xfrm>
            <a:off x="10104120" y="1481328"/>
            <a:ext cx="123444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RDSEC</a:t>
            </a:r>
            <a:endParaRPr lang="en-US" sz="1600" dirty="0"/>
          </a:p>
        </p:txBody>
      </p:sp>
      <p:sp>
        <p:nvSpPr>
          <p:cNvPr id="14" name="Shape 12"/>
          <p:cNvSpPr/>
          <p:nvPr/>
        </p:nvSpPr>
        <p:spPr>
          <a:xfrm>
            <a:off x="6492240" y="2148840"/>
            <a:ext cx="4846320" cy="2331720"/>
          </a:xfrm>
          <a:prstGeom prst="rect">
            <a:avLst/>
          </a:prstGeom>
          <a:solidFill>
            <a:schemeClr val="bg1"/>
          </a:solidFill>
          <a:ln w="19050">
            <a:solidFill>
              <a:srgbClr val="C0661A"/>
            </a:solidFill>
            <a:prstDash val="solid"/>
          </a:ln>
        </p:spPr>
      </p:sp>
      <p:sp>
        <p:nvSpPr>
          <p:cNvPr id="15" name="Text 13"/>
          <p:cNvSpPr txBox="1"/>
          <p:nvPr/>
        </p:nvSpPr>
        <p:spPr>
          <a:xfrm>
            <a:off x="6720840" y="2240280"/>
            <a:ext cx="4480560" cy="2148840"/>
          </a:xfrm>
          <a:prstGeom prst="rect">
            <a:avLst/>
          </a:prstGeom>
          <a:noFill/>
          <a:ln/>
        </p:spPr>
        <p:txBody>
          <a:bodyPr wrap="square" lIns="0" tIns="0" rIns="0" bIns="0" rtlCol="0" anchor="ctr"/>
          <a:lstStyle/>
          <a:p>
            <a:pPr indent="0" marL="0">
              <a:buNone/>
            </a:pPr>
            <a:r>
              <a:rPr lang="en-US" sz="1500" b="1" dirty="0">
                <a:solidFill>
                  <a:srgbClr val="C0661A"/>
                </a:solidFill>
                <a:latin typeface="Courier New" pitchFamily="34" charset="0"/>
                <a:ea typeface="Courier New" pitchFamily="34" charset="-122"/>
                <a:cs typeface="Courier New" pitchFamily="34" charset="-120"/>
              </a:rPr>
              <a:t>S1  STRAIGHT</a:t>
            </a:r>
            <a:endParaRPr lang="en-US" sz="1500" dirty="0"/>
          </a:p>
          <a:p>
            <a:pPr indent="0" marL="0">
              <a:buNone/>
            </a:pPr>
            <a:r>
              <a:rPr lang="en-US" sz="1500" dirty="0">
                <a:solidFill>
                  <a:srgbClr val="C0661A"/>
                </a:solidFill>
                <a:latin typeface="Courier New" pitchFamily="34" charset="0"/>
                <a:ea typeface="Courier New" pitchFamily="34" charset="-122"/>
                <a:cs typeface="Courier New" pitchFamily="34" charset="-120"/>
              </a:rPr>
              <a:t>L = 45.230 m</a:t>
            </a:r>
            <a:endParaRPr lang="en-US" sz="1500" dirty="0"/>
          </a:p>
          <a:p>
            <a:pPr indent="0" marL="0">
              <a:buNone/>
            </a:pPr>
            <a:r>
              <a:rPr lang="en-US" sz="1500" dirty="0">
                <a:solidFill>
                  <a:srgbClr val="C0661A"/>
                </a:solidFill>
                <a:latin typeface="Courier New" pitchFamily="34" charset="0"/>
                <a:ea typeface="Courier New" pitchFamily="34" charset="-122"/>
                <a:cs typeface="Courier New" pitchFamily="34" charset="-120"/>
              </a:rPr>
              <a:t>A = 330.18 m²</a:t>
            </a:r>
            <a:endParaRPr lang="en-US" sz="1500" dirty="0"/>
          </a:p>
          <a:p>
            <a:pPr indent="0" marL="0">
              <a:buNone/>
            </a:pPr>
            <a:r>
              <a:rPr lang="en-US" sz="1500" dirty="0">
                <a:solidFill>
                  <a:srgbClr val="C0661A"/>
                </a:solidFill>
                <a:latin typeface="Courier New" pitchFamily="34" charset="0"/>
                <a:ea typeface="Courier New" pitchFamily="34" charset="-122"/>
                <a:cs typeface="Courier New" pitchFamily="34" charset="-120"/>
              </a:rPr>
              <a:t>CH 0+012.000 - 0+057.230</a:t>
            </a:r>
            <a:endParaRPr lang="en-US" sz="1500" dirty="0"/>
          </a:p>
          <a:p>
            <a:pPr indent="0" marL="0">
              <a:buNone/>
            </a:pPr>
            <a:r>
              <a:rPr lang="en-US" sz="1500" dirty="0">
                <a:solidFill>
                  <a:srgbClr val="C0661A"/>
                </a:solidFill>
                <a:latin typeface="Courier New" pitchFamily="34" charset="0"/>
                <a:ea typeface="Courier New" pitchFamily="34" charset="-122"/>
                <a:cs typeface="Courier New" pitchFamily="34" charset="-120"/>
              </a:rPr>
              <a:t>BRG 45°12'30"</a:t>
            </a:r>
            <a:endParaRPr lang="en-US" sz="1500" dirty="0"/>
          </a:p>
        </p:txBody>
      </p:sp>
      <p:sp>
        <p:nvSpPr>
          <p:cNvPr id="16" name="Text 14"/>
          <p:cNvSpPr txBox="1"/>
          <p:nvPr/>
        </p:nvSpPr>
        <p:spPr>
          <a:xfrm>
            <a:off x="6492240" y="4663440"/>
            <a:ext cx="4846320" cy="1325880"/>
          </a:xfrm>
          <a:prstGeom prst="rect">
            <a:avLst/>
          </a:prstGeom>
          <a:noFill/>
          <a:ln/>
        </p:spPr>
        <p:txBody>
          <a:bodyPr wrap="square" lIns="0" tIns="0" rIns="0" bIns="0" rtlCol="0" anchor="t"/>
          <a:lstStyle/>
          <a:p>
            <a:pPr indent="0" marL="0">
              <a:buNone/>
            </a:pPr>
            <a:r>
              <a:rPr lang="en-US" sz="1400" dirty="0">
                <a:solidFill>
                  <a:schemeClr val="tx2"/>
                </a:solidFill>
              </a:rPr>
              <a:t>Extent bar with end ticks on the right side, label parallel to the road. Bearing is whole-circle from North.</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Cross sections with widths and heights</a:t>
            </a:r>
            <a:endParaRPr lang="en-US" sz="3200" dirty="0"/>
          </a:p>
        </p:txBody>
      </p:sp>
      <p:sp>
        <p:nvSpPr>
          <p:cNvPr id="3" name="Shape 1"/>
          <p:cNvSpPr/>
          <p:nvPr/>
        </p:nvSpPr>
        <p:spPr>
          <a:xfrm>
            <a:off x="548640" y="1325880"/>
            <a:ext cx="6675120" cy="4800600"/>
          </a:xfrm>
          <a:prstGeom prst="roundRect">
            <a:avLst>
              <a:gd name="adj" fmla="val 1905"/>
            </a:avLst>
          </a:prstGeom>
          <a:solidFill>
            <a:schemeClr val="bg2"/>
          </a:solidFill>
          <a:ln w="9525">
            <a:solidFill>
              <a:schemeClr val="accent6"/>
            </a:solidFill>
            <a:prstDash val="solid"/>
          </a:ln>
        </p:spPr>
      </p:sp>
      <p:sp>
        <p:nvSpPr>
          <p:cNvPr id="4" name="Shape 2"/>
          <p:cNvSpPr/>
          <p:nvPr/>
        </p:nvSpPr>
        <p:spPr>
          <a:xfrm>
            <a:off x="914400" y="4023360"/>
            <a:ext cx="5943600" cy="585216"/>
          </a:xfrm>
          <a:prstGeom prst="rect">
            <a:avLst/>
          </a:prstGeom>
          <a:solidFill>
            <a:srgbClr val="E4DAC4"/>
          </a:solidFill>
          <a:ln w="9525">
            <a:solidFill>
              <a:srgbClr val="000000"/>
            </a:solidFill>
            <a:prstDash val="solid"/>
          </a:ln>
        </p:spPr>
      </p:sp>
      <p:sp>
        <p:nvSpPr>
          <p:cNvPr id="5" name="Shape 3"/>
          <p:cNvSpPr/>
          <p:nvPr/>
        </p:nvSpPr>
        <p:spPr>
          <a:xfrm>
            <a:off x="1920240" y="4023360"/>
            <a:ext cx="3931920" cy="91440"/>
          </a:xfrm>
          <a:prstGeom prst="rect">
            <a:avLst/>
          </a:prstGeom>
          <a:solidFill>
            <a:srgbClr val="404040"/>
          </a:solidFill>
          <a:ln w="9525">
            <a:solidFill>
              <a:srgbClr val="000000"/>
            </a:solidFill>
            <a:prstDash val="solid"/>
          </a:ln>
        </p:spPr>
      </p:sp>
      <p:sp>
        <p:nvSpPr>
          <p:cNvPr id="6" name="Shape 4"/>
          <p:cNvSpPr/>
          <p:nvPr/>
        </p:nvSpPr>
        <p:spPr>
          <a:xfrm>
            <a:off x="1920240" y="4114800"/>
            <a:ext cx="3931920" cy="201168"/>
          </a:xfrm>
          <a:prstGeom prst="rect">
            <a:avLst/>
          </a:prstGeom>
          <a:solidFill>
            <a:srgbClr val="B58C5A"/>
          </a:solidFill>
          <a:ln w="9525">
            <a:solidFill>
              <a:srgbClr val="000000"/>
            </a:solidFill>
            <a:prstDash val="solid"/>
          </a:ln>
        </p:spPr>
      </p:sp>
      <p:sp>
        <p:nvSpPr>
          <p:cNvPr id="7" name="Shape 5"/>
          <p:cNvSpPr/>
          <p:nvPr/>
        </p:nvSpPr>
        <p:spPr>
          <a:xfrm>
            <a:off x="1920240" y="4315968"/>
            <a:ext cx="3931920" cy="164592"/>
          </a:xfrm>
          <a:prstGeom prst="rect">
            <a:avLst/>
          </a:prstGeom>
          <a:solidFill>
            <a:srgbClr val="D6C496"/>
          </a:solidFill>
          <a:ln w="9525">
            <a:solidFill>
              <a:srgbClr val="000000"/>
            </a:solidFill>
            <a:prstDash val="solid"/>
          </a:ln>
        </p:spPr>
      </p:sp>
      <p:sp>
        <p:nvSpPr>
          <p:cNvPr id="8" name="Shape 6"/>
          <p:cNvSpPr/>
          <p:nvPr/>
        </p:nvSpPr>
        <p:spPr>
          <a:xfrm>
            <a:off x="1325880" y="3337560"/>
            <a:ext cx="411480" cy="685800"/>
          </a:xfrm>
          <a:prstGeom prst="trapezoid">
            <a:avLst/>
          </a:prstGeom>
          <a:solidFill>
            <a:schemeClr val="accent1"/>
          </a:solidFill>
          <a:ln w="12700">
            <a:solidFill>
              <a:srgbClr val="000000"/>
            </a:solidFill>
            <a:prstDash val="solid"/>
          </a:ln>
        </p:spPr>
      </p:sp>
      <p:sp>
        <p:nvSpPr>
          <p:cNvPr id="9" name="Shape 7"/>
          <p:cNvSpPr/>
          <p:nvPr/>
        </p:nvSpPr>
        <p:spPr>
          <a:xfrm>
            <a:off x="6035040" y="3337560"/>
            <a:ext cx="411480" cy="685800"/>
          </a:xfrm>
          <a:prstGeom prst="trapezoid">
            <a:avLst/>
          </a:prstGeom>
          <a:solidFill>
            <a:schemeClr val="bg1"/>
          </a:solidFill>
          <a:ln w="12700">
            <a:solidFill>
              <a:srgbClr val="000000"/>
            </a:solidFill>
            <a:prstDash val="solid"/>
          </a:ln>
        </p:spPr>
      </p:sp>
      <p:sp>
        <p:nvSpPr>
          <p:cNvPr id="10" name="Shape 8"/>
          <p:cNvSpPr/>
          <p:nvPr/>
        </p:nvSpPr>
        <p:spPr>
          <a:xfrm>
            <a:off x="3886200" y="2651760"/>
            <a:ext cx="0" cy="2103120"/>
          </a:xfrm>
          <a:prstGeom prst="line">
            <a:avLst/>
          </a:prstGeom>
          <a:noFill/>
          <a:ln w="12700">
            <a:solidFill>
              <a:schemeClr val="accent1"/>
            </a:solidFill>
            <a:prstDash val="lgDashDot"/>
          </a:ln>
        </p:spPr>
      </p:sp>
      <p:sp>
        <p:nvSpPr>
          <p:cNvPr id="11" name="Text 9"/>
          <p:cNvSpPr txBox="1"/>
          <p:nvPr/>
        </p:nvSpPr>
        <p:spPr>
          <a:xfrm>
            <a:off x="3703320" y="2331720"/>
            <a:ext cx="365760" cy="274320"/>
          </a:xfrm>
          <a:prstGeom prst="rect">
            <a:avLst/>
          </a:prstGeom>
          <a:noFill/>
          <a:ln/>
        </p:spPr>
        <p:txBody>
          <a:bodyPr wrap="square" lIns="0" tIns="0" rIns="0" bIns="0" rtlCol="0" anchor="ctr"/>
          <a:lstStyle/>
          <a:p>
            <a:pPr algn="ctr" indent="0" marL="0">
              <a:buNone/>
            </a:pPr>
            <a:r>
              <a:rPr lang="en-US" sz="1300" b="1" dirty="0">
                <a:solidFill>
                  <a:schemeClr val="accent1"/>
                </a:solidFill>
              </a:rPr>
              <a:t>CL</a:t>
            </a:r>
            <a:endParaRPr lang="en-US" sz="1300" dirty="0"/>
          </a:p>
        </p:txBody>
      </p:sp>
      <p:sp>
        <p:nvSpPr>
          <p:cNvPr id="12" name="Shape 10"/>
          <p:cNvSpPr/>
          <p:nvPr/>
        </p:nvSpPr>
        <p:spPr>
          <a:xfrm>
            <a:off x="6675120" y="2514600"/>
            <a:ext cx="0" cy="1508760"/>
          </a:xfrm>
          <a:prstGeom prst="line">
            <a:avLst/>
          </a:prstGeom>
          <a:noFill/>
          <a:ln w="38100">
            <a:solidFill>
              <a:srgbClr val="000000"/>
            </a:solidFill>
            <a:prstDash val="solid"/>
          </a:ln>
        </p:spPr>
      </p:sp>
      <p:sp>
        <p:nvSpPr>
          <p:cNvPr id="13" name="Shape 11"/>
          <p:cNvSpPr/>
          <p:nvPr/>
        </p:nvSpPr>
        <p:spPr>
          <a:xfrm>
            <a:off x="6419088" y="2011680"/>
            <a:ext cx="512064" cy="512064"/>
          </a:xfrm>
          <a:prstGeom prst="ellipse">
            <a:avLst/>
          </a:prstGeom>
          <a:solidFill>
            <a:schemeClr val="accent1"/>
          </a:solidFill>
          <a:ln w="12700">
            <a:solidFill>
              <a:srgbClr val="000000"/>
            </a:solidFill>
            <a:prstDash val="solid"/>
          </a:ln>
        </p:spPr>
      </p:sp>
      <p:sp>
        <p:nvSpPr>
          <p:cNvPr id="14" name="Shape 12"/>
          <p:cNvSpPr/>
          <p:nvPr/>
        </p:nvSpPr>
        <p:spPr>
          <a:xfrm>
            <a:off x="6475415" y="2068007"/>
            <a:ext cx="399410" cy="399410"/>
          </a:xfrm>
          <a:prstGeom prst="ellipse">
            <a:avLst/>
          </a:prstGeom>
          <a:solidFill>
            <a:schemeClr val="bg1"/>
          </a:solidFill>
          <a:ln/>
        </p:spPr>
      </p:sp>
      <p:sp>
        <p:nvSpPr>
          <p:cNvPr id="15" name="Text 13"/>
          <p:cNvSpPr txBox="1"/>
          <p:nvPr/>
        </p:nvSpPr>
        <p:spPr>
          <a:xfrm>
            <a:off x="6419088" y="2011680"/>
            <a:ext cx="512064" cy="512064"/>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30</a:t>
            </a:r>
            <a:endParaRPr lang="en-US" sz="1200" dirty="0"/>
          </a:p>
        </p:txBody>
      </p:sp>
      <p:sp>
        <p:nvSpPr>
          <p:cNvPr id="16" name="Shape 14"/>
          <p:cNvSpPr/>
          <p:nvPr/>
        </p:nvSpPr>
        <p:spPr>
          <a:xfrm>
            <a:off x="1920240" y="4892040"/>
            <a:ext cx="3931920" cy="0"/>
          </a:xfrm>
          <a:prstGeom prst="line">
            <a:avLst/>
          </a:prstGeom>
          <a:noFill/>
          <a:ln w="12700">
            <a:solidFill>
              <a:srgbClr val="2E8B57"/>
            </a:solidFill>
            <a:prstDash val="solid"/>
            <a:headEnd type="triangle"/>
            <a:tailEnd type="triangle"/>
          </a:ln>
        </p:spPr>
      </p:sp>
      <p:sp>
        <p:nvSpPr>
          <p:cNvPr id="17" name="Text 15"/>
          <p:cNvSpPr txBox="1"/>
          <p:nvPr/>
        </p:nvSpPr>
        <p:spPr>
          <a:xfrm>
            <a:off x="2743200" y="4937760"/>
            <a:ext cx="2286000" cy="274320"/>
          </a:xfrm>
          <a:prstGeom prst="rect">
            <a:avLst/>
          </a:prstGeom>
          <a:noFill/>
          <a:ln/>
        </p:spPr>
        <p:txBody>
          <a:bodyPr wrap="square" lIns="0" tIns="0" rIns="0" bIns="0" rtlCol="0" anchor="ctr"/>
          <a:lstStyle/>
          <a:p>
            <a:pPr algn="ctr" indent="0" marL="0">
              <a:buNone/>
            </a:pPr>
            <a:r>
              <a:rPr lang="en-US" sz="1200" dirty="0">
                <a:solidFill>
                  <a:srgbClr val="2E8B57"/>
                </a:solidFill>
              </a:rPr>
              <a:t>Carriageway 7.30 m</a:t>
            </a:r>
            <a:endParaRPr lang="en-US" sz="1200" dirty="0"/>
          </a:p>
        </p:txBody>
      </p:sp>
      <p:sp>
        <p:nvSpPr>
          <p:cNvPr id="18" name="Shape 16"/>
          <p:cNvSpPr/>
          <p:nvPr/>
        </p:nvSpPr>
        <p:spPr>
          <a:xfrm>
            <a:off x="1143000" y="3337560"/>
            <a:ext cx="0" cy="685800"/>
          </a:xfrm>
          <a:prstGeom prst="line">
            <a:avLst/>
          </a:prstGeom>
          <a:noFill/>
          <a:ln w="12700">
            <a:solidFill>
              <a:srgbClr val="2E8B57"/>
            </a:solidFill>
            <a:prstDash val="solid"/>
            <a:headEnd type="triangle"/>
            <a:tailEnd type="triangle"/>
          </a:ln>
        </p:spPr>
      </p:sp>
      <p:sp>
        <p:nvSpPr>
          <p:cNvPr id="19" name="Text 17"/>
          <p:cNvSpPr txBox="1"/>
          <p:nvPr/>
        </p:nvSpPr>
        <p:spPr>
          <a:xfrm>
            <a:off x="594360" y="3063240"/>
            <a:ext cx="822960" cy="274320"/>
          </a:xfrm>
          <a:prstGeom prst="rect">
            <a:avLst/>
          </a:prstGeom>
          <a:noFill/>
          <a:ln/>
        </p:spPr>
        <p:txBody>
          <a:bodyPr wrap="square" lIns="0" tIns="0" rIns="0" bIns="0" rtlCol="0" anchor="ctr"/>
          <a:lstStyle/>
          <a:p>
            <a:pPr indent="0" marL="0">
              <a:buNone/>
            </a:pPr>
            <a:r>
              <a:rPr lang="en-US" sz="1200" dirty="0">
                <a:solidFill>
                  <a:srgbClr val="2E8B57"/>
                </a:solidFill>
              </a:rPr>
              <a:t>H 1.00</a:t>
            </a:r>
            <a:endParaRPr lang="en-US" sz="1200" dirty="0"/>
          </a:p>
        </p:txBody>
      </p:sp>
      <p:sp>
        <p:nvSpPr>
          <p:cNvPr id="20" name="Text 18"/>
          <p:cNvSpPr txBox="1"/>
          <p:nvPr/>
        </p:nvSpPr>
        <p:spPr>
          <a:xfrm>
            <a:off x="2468880" y="3657600"/>
            <a:ext cx="731520" cy="274320"/>
          </a:xfrm>
          <a:prstGeom prst="rect">
            <a:avLst/>
          </a:prstGeom>
          <a:noFill/>
          <a:ln/>
        </p:spPr>
        <p:txBody>
          <a:bodyPr wrap="square" lIns="0" tIns="0" rIns="0" bIns="0" rtlCol="0" anchor="ctr"/>
          <a:lstStyle/>
          <a:p>
            <a:pPr indent="0" marL="0">
              <a:buNone/>
            </a:pPr>
            <a:r>
              <a:rPr lang="en-US" sz="1200" b="1" dirty="0">
                <a:solidFill>
                  <a:schemeClr val="tx1"/>
                </a:solidFill>
              </a:rPr>
              <a:t>2.5%</a:t>
            </a:r>
            <a:endParaRPr lang="en-US" sz="1200" dirty="0"/>
          </a:p>
        </p:txBody>
      </p:sp>
      <p:sp>
        <p:nvSpPr>
          <p:cNvPr id="21" name="Text 19"/>
          <p:cNvSpPr txBox="1"/>
          <p:nvPr/>
        </p:nvSpPr>
        <p:spPr>
          <a:xfrm>
            <a:off x="4480560" y="3657600"/>
            <a:ext cx="731520" cy="274320"/>
          </a:xfrm>
          <a:prstGeom prst="rect">
            <a:avLst/>
          </a:prstGeom>
          <a:noFill/>
          <a:ln/>
        </p:spPr>
        <p:txBody>
          <a:bodyPr wrap="square" lIns="0" tIns="0" rIns="0" bIns="0" rtlCol="0" anchor="ctr"/>
          <a:lstStyle/>
          <a:p>
            <a:pPr indent="0" marL="0">
              <a:buNone/>
            </a:pPr>
            <a:r>
              <a:rPr lang="en-US" sz="1200" b="1" dirty="0">
                <a:solidFill>
                  <a:schemeClr val="tx1"/>
                </a:solidFill>
              </a:rPr>
              <a:t>2.5%</a:t>
            </a:r>
            <a:endParaRPr lang="en-US" sz="1200" dirty="0"/>
          </a:p>
        </p:txBody>
      </p:sp>
      <p:sp>
        <p:nvSpPr>
          <p:cNvPr id="22" name="Shape 20"/>
          <p:cNvSpPr/>
          <p:nvPr/>
        </p:nvSpPr>
        <p:spPr>
          <a:xfrm>
            <a:off x="6446520" y="2514600"/>
            <a:ext cx="0" cy="1508760"/>
          </a:xfrm>
          <a:prstGeom prst="line">
            <a:avLst/>
          </a:prstGeom>
          <a:noFill/>
          <a:ln w="12700">
            <a:solidFill>
              <a:srgbClr val="2E8B57"/>
            </a:solidFill>
            <a:prstDash val="solid"/>
            <a:headEnd type="triangle"/>
            <a:tailEnd type="triangle"/>
          </a:ln>
        </p:spPr>
      </p:sp>
      <p:sp>
        <p:nvSpPr>
          <p:cNvPr id="23" name="Text 21"/>
          <p:cNvSpPr txBox="1"/>
          <p:nvPr/>
        </p:nvSpPr>
        <p:spPr>
          <a:xfrm>
            <a:off x="4663440" y="3063240"/>
            <a:ext cx="1737360" cy="274320"/>
          </a:xfrm>
          <a:prstGeom prst="rect">
            <a:avLst/>
          </a:prstGeom>
          <a:noFill/>
          <a:ln/>
        </p:spPr>
        <p:txBody>
          <a:bodyPr wrap="square" lIns="0" tIns="0" rIns="0" bIns="0" rtlCol="0" anchor="ctr"/>
          <a:lstStyle/>
          <a:p>
            <a:pPr indent="0" marL="0">
              <a:buNone/>
            </a:pPr>
            <a:r>
              <a:rPr lang="en-US" sz="1200" dirty="0">
                <a:solidFill>
                  <a:srgbClr val="2E8B57"/>
                </a:solidFill>
              </a:rPr>
              <a:t>Sign 2.10 m clear</a:t>
            </a:r>
            <a:endParaRPr lang="en-US" sz="1200" dirty="0"/>
          </a:p>
        </p:txBody>
      </p:sp>
      <p:sp>
        <p:nvSpPr>
          <p:cNvPr id="24" name="Text 22"/>
          <p:cNvSpPr txBox="1"/>
          <p:nvPr/>
        </p:nvSpPr>
        <p:spPr>
          <a:xfrm>
            <a:off x="822960" y="146304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Typical section (simplified)</a:t>
            </a:r>
            <a:endParaRPr lang="en-US" sz="1600" dirty="0"/>
          </a:p>
        </p:txBody>
      </p:sp>
      <p:sp>
        <p:nvSpPr>
          <p:cNvPr id="25" name="keycap RDX"/>
          <p:cNvSpPr/>
          <p:nvPr/>
        </p:nvSpPr>
        <p:spPr>
          <a:xfrm>
            <a:off x="7498080" y="1325880"/>
            <a:ext cx="1188720" cy="502920"/>
          </a:xfrm>
          <a:prstGeom prst="roundRect">
            <a:avLst>
              <a:gd name="adj" fmla="val 1454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26" name="Text 24"/>
          <p:cNvSpPr txBox="1"/>
          <p:nvPr/>
        </p:nvSpPr>
        <p:spPr>
          <a:xfrm>
            <a:off x="7498080" y="1325880"/>
            <a:ext cx="11887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RDX</a:t>
            </a:r>
            <a:endParaRPr lang="en-US" sz="1800" dirty="0"/>
          </a:p>
        </p:txBody>
      </p:sp>
      <p:sp>
        <p:nvSpPr>
          <p:cNvPr id="27" name="Text 25"/>
          <p:cNvSpPr txBox="1"/>
          <p:nvPr/>
        </p:nvSpPr>
        <p:spPr>
          <a:xfrm>
            <a:off x="8869680" y="1325880"/>
            <a:ext cx="2743200" cy="502920"/>
          </a:xfrm>
          <a:prstGeom prst="rect">
            <a:avLst/>
          </a:prstGeom>
          <a:noFill/>
          <a:ln/>
        </p:spPr>
        <p:txBody>
          <a:bodyPr wrap="square" lIns="0" tIns="0" rIns="0" bIns="0" rtlCol="0" anchor="ctr"/>
          <a:lstStyle/>
          <a:p>
            <a:pPr indent="0" marL="0">
              <a:buNone/>
            </a:pPr>
            <a:r>
              <a:rPr lang="en-US" sz="1700" b="1" dirty="0">
                <a:solidFill>
                  <a:schemeClr val="tx1"/>
                </a:solidFill>
              </a:rPr>
              <a:t>Three ways to draw</a:t>
            </a:r>
            <a:endParaRPr lang="en-US" sz="1700" dirty="0"/>
          </a:p>
        </p:txBody>
      </p:sp>
      <p:sp>
        <p:nvSpPr>
          <p:cNvPr id="28" name="Shape 26"/>
          <p:cNvSpPr/>
          <p:nvPr/>
        </p:nvSpPr>
        <p:spPr>
          <a:xfrm>
            <a:off x="7498080" y="2130552"/>
            <a:ext cx="411480" cy="411480"/>
          </a:xfrm>
          <a:prstGeom prst="ellipse">
            <a:avLst/>
          </a:prstGeom>
          <a:solidFill>
            <a:schemeClr val="tx1"/>
          </a:solidFill>
          <a:ln/>
        </p:spPr>
      </p:sp>
      <p:sp>
        <p:nvSpPr>
          <p:cNvPr id="29" name="Text 27"/>
          <p:cNvSpPr txBox="1"/>
          <p:nvPr/>
        </p:nvSpPr>
        <p:spPr>
          <a:xfrm>
            <a:off x="7498080" y="213055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0" name="Text 28"/>
          <p:cNvSpPr txBox="1"/>
          <p:nvPr/>
        </p:nvSpPr>
        <p:spPr>
          <a:xfrm>
            <a:off x="8092440" y="2057400"/>
            <a:ext cx="3520440" cy="777240"/>
          </a:xfrm>
          <a:prstGeom prst="rect">
            <a:avLst/>
          </a:prstGeom>
          <a:noFill/>
          <a:ln/>
        </p:spPr>
        <p:txBody>
          <a:bodyPr wrap="square" lIns="0" tIns="0" rIns="0" bIns="0" rtlCol="0" anchor="t"/>
          <a:lstStyle/>
          <a:p>
            <a:pPr indent="0" marL="0">
              <a:buNone/>
            </a:pPr>
            <a:r>
              <a:rPr lang="en-US" sz="1400" b="1" dirty="0">
                <a:solidFill>
                  <a:schemeClr val="tx2"/>
                </a:solidFill>
              </a:rPr>
              <a:t>Typical</a:t>
            </a:r>
            <a:endParaRPr lang="en-US" sz="1400" dirty="0"/>
          </a:p>
          <a:p>
            <a:pPr indent="0" marL="0">
              <a:buNone/>
            </a:pPr>
            <a:r>
              <a:rPr lang="en-US" sz="1400" dirty="0">
                <a:solidFill>
                  <a:schemeClr val="tx2"/>
                </a:solidFill>
              </a:rPr>
              <a:t>One generic section for the whole road</a:t>
            </a:r>
            <a:endParaRPr lang="en-US" sz="1400" dirty="0"/>
          </a:p>
        </p:txBody>
      </p:sp>
      <p:sp>
        <p:nvSpPr>
          <p:cNvPr id="31" name="Shape 29"/>
          <p:cNvSpPr/>
          <p:nvPr/>
        </p:nvSpPr>
        <p:spPr>
          <a:xfrm>
            <a:off x="7498080" y="2999232"/>
            <a:ext cx="411480" cy="411480"/>
          </a:xfrm>
          <a:prstGeom prst="ellipse">
            <a:avLst/>
          </a:prstGeom>
          <a:solidFill>
            <a:schemeClr val="tx1"/>
          </a:solidFill>
          <a:ln/>
        </p:spPr>
      </p:sp>
      <p:sp>
        <p:nvSpPr>
          <p:cNvPr id="32" name="Text 30"/>
          <p:cNvSpPr txBox="1"/>
          <p:nvPr/>
        </p:nvSpPr>
        <p:spPr>
          <a:xfrm>
            <a:off x="7498080" y="29992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3" name="Text 31"/>
          <p:cNvSpPr txBox="1"/>
          <p:nvPr/>
        </p:nvSpPr>
        <p:spPr>
          <a:xfrm>
            <a:off x="8092440" y="2926080"/>
            <a:ext cx="3520440" cy="777240"/>
          </a:xfrm>
          <a:prstGeom prst="rect">
            <a:avLst/>
          </a:prstGeom>
          <a:noFill/>
          <a:ln/>
        </p:spPr>
        <p:txBody>
          <a:bodyPr wrap="square" lIns="0" tIns="0" rIns="0" bIns="0" rtlCol="0" anchor="t"/>
          <a:lstStyle/>
          <a:p>
            <a:pPr indent="0" marL="0">
              <a:buNone/>
            </a:pPr>
            <a:r>
              <a:rPr lang="en-US" sz="1400" b="1" dirty="0">
                <a:solidFill>
                  <a:schemeClr val="tx2"/>
                </a:solidFill>
              </a:rPr>
              <a:t>One chainage</a:t>
            </a:r>
            <a:endParaRPr lang="en-US" sz="1400" dirty="0"/>
          </a:p>
          <a:p>
            <a:pPr indent="0" marL="0">
              <a:buNone/>
            </a:pPr>
            <a:r>
              <a:rPr lang="en-US" sz="1400" dirty="0">
                <a:solidFill>
                  <a:schemeClr val="tx2"/>
                </a:solidFill>
              </a:rPr>
              <a:t>Type the chainage, note shows curve or straight</a:t>
            </a:r>
            <a:endParaRPr lang="en-US" sz="1400" dirty="0"/>
          </a:p>
        </p:txBody>
      </p:sp>
      <p:sp>
        <p:nvSpPr>
          <p:cNvPr id="34" name="Shape 32"/>
          <p:cNvSpPr/>
          <p:nvPr/>
        </p:nvSpPr>
        <p:spPr>
          <a:xfrm>
            <a:off x="7498080" y="3867912"/>
            <a:ext cx="411480" cy="411480"/>
          </a:xfrm>
          <a:prstGeom prst="ellipse">
            <a:avLst/>
          </a:prstGeom>
          <a:solidFill>
            <a:schemeClr val="tx1"/>
          </a:solidFill>
          <a:ln/>
        </p:spPr>
      </p:sp>
      <p:sp>
        <p:nvSpPr>
          <p:cNvPr id="35" name="Text 33"/>
          <p:cNvSpPr txBox="1"/>
          <p:nvPr/>
        </p:nvSpPr>
        <p:spPr>
          <a:xfrm>
            <a:off x="7498080" y="386791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6" name="Text 34"/>
          <p:cNvSpPr txBox="1"/>
          <p:nvPr/>
        </p:nvSpPr>
        <p:spPr>
          <a:xfrm>
            <a:off x="8092440" y="3794760"/>
            <a:ext cx="3520440" cy="777240"/>
          </a:xfrm>
          <a:prstGeom prst="rect">
            <a:avLst/>
          </a:prstGeom>
          <a:noFill/>
          <a:ln/>
        </p:spPr>
        <p:txBody>
          <a:bodyPr wrap="square" lIns="0" tIns="0" rIns="0" bIns="0" rtlCol="0" anchor="t"/>
          <a:lstStyle/>
          <a:p>
            <a:pPr indent="0" marL="0">
              <a:buNone/>
            </a:pPr>
            <a:r>
              <a:rPr lang="en-US" sz="1400" b="1" dirty="0">
                <a:solidFill>
                  <a:schemeClr val="tx2"/>
                </a:solidFill>
              </a:rPr>
              <a:t>Every interval</a:t>
            </a:r>
            <a:endParaRPr lang="en-US" sz="1400" dirty="0"/>
          </a:p>
          <a:p>
            <a:pPr indent="0" marL="0">
              <a:buNone/>
            </a:pPr>
            <a:r>
              <a:rPr lang="en-US" sz="1400" dirty="0">
                <a:solidFill>
                  <a:schemeClr val="tx2"/>
                </a:solidFill>
              </a:rPr>
              <a:t>A sheet of sections, 3 per row, up to 60</a:t>
            </a:r>
            <a:endParaRPr lang="en-US" sz="1400" dirty="0"/>
          </a:p>
        </p:txBody>
      </p:sp>
      <p:sp>
        <p:nvSpPr>
          <p:cNvPr id="37" name="Shape 35"/>
          <p:cNvSpPr/>
          <p:nvPr/>
        </p:nvSpPr>
        <p:spPr>
          <a:xfrm>
            <a:off x="7498080" y="4754880"/>
            <a:ext cx="4114800" cy="1371600"/>
          </a:xfrm>
          <a:prstGeom prst="roundRect">
            <a:avLst>
              <a:gd name="adj" fmla="val 6667"/>
            </a:avLst>
          </a:prstGeom>
          <a:solidFill>
            <a:schemeClr val="bg2"/>
          </a:solidFill>
          <a:ln w="9525">
            <a:solidFill>
              <a:schemeClr val="accent6"/>
            </a:solidFill>
            <a:prstDash val="solid"/>
          </a:ln>
        </p:spPr>
      </p:sp>
      <p:sp>
        <p:nvSpPr>
          <p:cNvPr id="38" name="Text 36"/>
          <p:cNvSpPr txBox="1"/>
          <p:nvPr/>
        </p:nvSpPr>
        <p:spPr>
          <a:xfrm>
            <a:off x="7726680" y="4846320"/>
            <a:ext cx="3703320" cy="1188720"/>
          </a:xfrm>
          <a:prstGeom prst="rect">
            <a:avLst/>
          </a:prstGeom>
          <a:noFill/>
          <a:ln/>
        </p:spPr>
        <p:txBody>
          <a:bodyPr wrap="square" lIns="0" tIns="0" rIns="0" bIns="0" rtlCol="0" anchor="ctr"/>
          <a:lstStyle/>
          <a:p>
            <a:pPr indent="0" marL="0">
              <a:buNone/>
            </a:pPr>
            <a:r>
              <a:rPr lang="en-US" sz="1400" b="1" dirty="0">
                <a:solidFill>
                  <a:schemeClr val="tx1"/>
                </a:solidFill>
              </a:rPr>
              <a:t>Defaults: </a:t>
            </a:r>
            <a:pPr indent="0" marL="0">
              <a:buNone/>
            </a:pPr>
            <a:r>
              <a:rPr lang="en-US" sz="1400" dirty="0">
                <a:solidFill>
                  <a:schemeClr val="tx2"/>
                </a:solidFill>
              </a:rPr>
              <a:t>crossfall 2.5%, layers 50 / 200 / 150 mm, barricade 1.00 m high, sign clearance 2.10 m. Replace with your project values.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Lane widening with tapers and match points</a:t>
            </a:r>
            <a:endParaRPr lang="en-US" sz="3200" dirty="0"/>
          </a:p>
        </p:txBody>
      </p:sp>
      <p:sp>
        <p:nvSpPr>
          <p:cNvPr id="3" name="Shape 1"/>
          <p:cNvSpPr/>
          <p:nvPr/>
        </p:nvSpPr>
        <p:spPr>
          <a:xfrm>
            <a:off x="548640" y="1325880"/>
            <a:ext cx="6675120" cy="2926080"/>
          </a:xfrm>
          <a:prstGeom prst="roundRect">
            <a:avLst>
              <a:gd name="adj" fmla="val 3125"/>
            </a:avLst>
          </a:prstGeom>
          <a:solidFill>
            <a:schemeClr val="bg2"/>
          </a:solidFill>
          <a:ln w="9525">
            <a:solidFill>
              <a:schemeClr val="accent6"/>
            </a:solidFill>
            <a:prstDash val="solid"/>
          </a:ln>
        </p:spPr>
      </p:sp>
      <p:sp>
        <p:nvSpPr>
          <p:cNvPr id="4" name="Text 2"/>
          <p:cNvSpPr txBox="1"/>
          <p:nvPr/>
        </p:nvSpPr>
        <p:spPr>
          <a:xfrm>
            <a:off x="822960" y="146304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Plan view (right side widening)</a:t>
            </a:r>
            <a:endParaRPr lang="en-US" sz="1600" dirty="0"/>
          </a:p>
        </p:txBody>
      </p:sp>
      <p:sp>
        <p:nvSpPr>
          <p:cNvPr id="5" name="Shape 3"/>
          <p:cNvSpPr/>
          <p:nvPr/>
        </p:nvSpPr>
        <p:spPr>
          <a:xfrm>
            <a:off x="822960" y="2057400"/>
            <a:ext cx="6126480" cy="868680"/>
          </a:xfrm>
          <a:prstGeom prst="rect">
            <a:avLst/>
          </a:prstGeom>
          <a:solidFill>
            <a:srgbClr val="5A6066"/>
          </a:solidFill>
          <a:ln/>
        </p:spPr>
      </p:sp>
      <p:sp>
        <p:nvSpPr>
          <p:cNvPr id="6" name="Shape 4"/>
          <p:cNvSpPr/>
          <p:nvPr/>
        </p:nvSpPr>
        <p:spPr>
          <a:xfrm>
            <a:off x="914400" y="2459736"/>
            <a:ext cx="457200" cy="54864"/>
          </a:xfrm>
          <a:prstGeom prst="rect">
            <a:avLst/>
          </a:prstGeom>
          <a:solidFill>
            <a:srgbClr val="F2B705"/>
          </a:solidFill>
          <a:ln/>
        </p:spPr>
      </p:sp>
      <p:sp>
        <p:nvSpPr>
          <p:cNvPr id="7" name="Shape 5"/>
          <p:cNvSpPr/>
          <p:nvPr/>
        </p:nvSpPr>
        <p:spPr>
          <a:xfrm>
            <a:off x="1664208" y="2459736"/>
            <a:ext cx="457200" cy="54864"/>
          </a:xfrm>
          <a:prstGeom prst="rect">
            <a:avLst/>
          </a:prstGeom>
          <a:solidFill>
            <a:srgbClr val="F2B705"/>
          </a:solidFill>
          <a:ln/>
        </p:spPr>
      </p:sp>
      <p:sp>
        <p:nvSpPr>
          <p:cNvPr id="8" name="Shape 6"/>
          <p:cNvSpPr/>
          <p:nvPr/>
        </p:nvSpPr>
        <p:spPr>
          <a:xfrm>
            <a:off x="2414016" y="2459736"/>
            <a:ext cx="457200" cy="54864"/>
          </a:xfrm>
          <a:prstGeom prst="rect">
            <a:avLst/>
          </a:prstGeom>
          <a:solidFill>
            <a:srgbClr val="F2B705"/>
          </a:solidFill>
          <a:ln/>
        </p:spPr>
      </p:sp>
      <p:sp>
        <p:nvSpPr>
          <p:cNvPr id="9" name="Shape 7"/>
          <p:cNvSpPr/>
          <p:nvPr/>
        </p:nvSpPr>
        <p:spPr>
          <a:xfrm>
            <a:off x="3163824" y="2459736"/>
            <a:ext cx="457200" cy="54864"/>
          </a:xfrm>
          <a:prstGeom prst="rect">
            <a:avLst/>
          </a:prstGeom>
          <a:solidFill>
            <a:srgbClr val="F2B705"/>
          </a:solidFill>
          <a:ln/>
        </p:spPr>
      </p:sp>
      <p:sp>
        <p:nvSpPr>
          <p:cNvPr id="10" name="Shape 8"/>
          <p:cNvSpPr/>
          <p:nvPr/>
        </p:nvSpPr>
        <p:spPr>
          <a:xfrm>
            <a:off x="3913632" y="2459736"/>
            <a:ext cx="457200" cy="54864"/>
          </a:xfrm>
          <a:prstGeom prst="rect">
            <a:avLst/>
          </a:prstGeom>
          <a:solidFill>
            <a:srgbClr val="F2B705"/>
          </a:solidFill>
          <a:ln/>
        </p:spPr>
      </p:sp>
      <p:sp>
        <p:nvSpPr>
          <p:cNvPr id="11" name="Shape 9"/>
          <p:cNvSpPr/>
          <p:nvPr/>
        </p:nvSpPr>
        <p:spPr>
          <a:xfrm>
            <a:off x="4663440" y="2459736"/>
            <a:ext cx="457200" cy="54864"/>
          </a:xfrm>
          <a:prstGeom prst="rect">
            <a:avLst/>
          </a:prstGeom>
          <a:solidFill>
            <a:srgbClr val="F2B705"/>
          </a:solidFill>
          <a:ln/>
        </p:spPr>
      </p:sp>
      <p:sp>
        <p:nvSpPr>
          <p:cNvPr id="12" name="Shape 10"/>
          <p:cNvSpPr/>
          <p:nvPr/>
        </p:nvSpPr>
        <p:spPr>
          <a:xfrm>
            <a:off x="5413248" y="2459736"/>
            <a:ext cx="457200" cy="54864"/>
          </a:xfrm>
          <a:prstGeom prst="rect">
            <a:avLst/>
          </a:prstGeom>
          <a:solidFill>
            <a:srgbClr val="F2B705"/>
          </a:solidFill>
          <a:ln/>
        </p:spPr>
      </p:sp>
      <p:sp>
        <p:nvSpPr>
          <p:cNvPr id="13" name="Shape 11"/>
          <p:cNvSpPr/>
          <p:nvPr/>
        </p:nvSpPr>
        <p:spPr>
          <a:xfrm>
            <a:off x="6163056" y="2459736"/>
            <a:ext cx="457200" cy="54864"/>
          </a:xfrm>
          <a:prstGeom prst="rect">
            <a:avLst/>
          </a:prstGeom>
          <a:solidFill>
            <a:srgbClr val="F2B705"/>
          </a:solidFill>
          <a:ln/>
        </p:spPr>
      </p:sp>
      <p:sp>
        <p:nvSpPr>
          <p:cNvPr id="14" name="Shape 12"/>
          <p:cNvSpPr/>
          <p:nvPr/>
        </p:nvSpPr>
        <p:spPr>
          <a:xfrm flipV="1">
            <a:off x="1737360" y="2926080"/>
            <a:ext cx="4297680" cy="502920"/>
          </a:xfrm>
          <a:prstGeom prst="trapezoid">
            <a:avLst/>
          </a:prstGeom>
          <a:solidFill>
            <a:srgbClr val="8C9196"/>
          </a:solidFill>
          <a:ln w="19050">
            <a:solidFill>
              <a:srgbClr val="FFFFFF"/>
            </a:solidFill>
            <a:prstDash val="solid"/>
          </a:ln>
        </p:spPr>
      </p:sp>
      <p:sp>
        <p:nvSpPr>
          <p:cNvPr id="15" name="Shape 13"/>
          <p:cNvSpPr/>
          <p:nvPr/>
        </p:nvSpPr>
        <p:spPr>
          <a:xfrm>
            <a:off x="2423160" y="3493008"/>
            <a:ext cx="365760" cy="128016"/>
          </a:xfrm>
          <a:prstGeom prst="rect">
            <a:avLst/>
          </a:prstGeom>
          <a:solidFill>
            <a:schemeClr val="accent1"/>
          </a:solidFill>
          <a:ln w="12700">
            <a:solidFill>
              <a:srgbClr val="000000"/>
            </a:solidFill>
            <a:prstDash val="solid"/>
          </a:ln>
        </p:spPr>
      </p:sp>
      <p:sp>
        <p:nvSpPr>
          <p:cNvPr id="16" name="Shape 14"/>
          <p:cNvSpPr/>
          <p:nvPr/>
        </p:nvSpPr>
        <p:spPr>
          <a:xfrm>
            <a:off x="2788920" y="3493008"/>
            <a:ext cx="365760" cy="128016"/>
          </a:xfrm>
          <a:prstGeom prst="rect">
            <a:avLst/>
          </a:prstGeom>
          <a:solidFill>
            <a:schemeClr val="bg1"/>
          </a:solidFill>
          <a:ln w="12700">
            <a:solidFill>
              <a:srgbClr val="000000"/>
            </a:solidFill>
            <a:prstDash val="solid"/>
          </a:ln>
        </p:spPr>
      </p:sp>
      <p:sp>
        <p:nvSpPr>
          <p:cNvPr id="17" name="Shape 15"/>
          <p:cNvSpPr/>
          <p:nvPr/>
        </p:nvSpPr>
        <p:spPr>
          <a:xfrm>
            <a:off x="3154680" y="3493008"/>
            <a:ext cx="365760" cy="128016"/>
          </a:xfrm>
          <a:prstGeom prst="rect">
            <a:avLst/>
          </a:prstGeom>
          <a:solidFill>
            <a:schemeClr val="accent1"/>
          </a:solidFill>
          <a:ln w="12700">
            <a:solidFill>
              <a:srgbClr val="000000"/>
            </a:solidFill>
            <a:prstDash val="solid"/>
          </a:ln>
        </p:spPr>
      </p:sp>
      <p:sp>
        <p:nvSpPr>
          <p:cNvPr id="18" name="Shape 16"/>
          <p:cNvSpPr/>
          <p:nvPr/>
        </p:nvSpPr>
        <p:spPr>
          <a:xfrm>
            <a:off x="3520440" y="3493008"/>
            <a:ext cx="365760" cy="128016"/>
          </a:xfrm>
          <a:prstGeom prst="rect">
            <a:avLst/>
          </a:prstGeom>
          <a:solidFill>
            <a:schemeClr val="bg1"/>
          </a:solidFill>
          <a:ln w="12700">
            <a:solidFill>
              <a:srgbClr val="000000"/>
            </a:solidFill>
            <a:prstDash val="solid"/>
          </a:ln>
        </p:spPr>
      </p:sp>
      <p:sp>
        <p:nvSpPr>
          <p:cNvPr id="19" name="Shape 17"/>
          <p:cNvSpPr/>
          <p:nvPr/>
        </p:nvSpPr>
        <p:spPr>
          <a:xfrm>
            <a:off x="3886200" y="3493008"/>
            <a:ext cx="365760" cy="128016"/>
          </a:xfrm>
          <a:prstGeom prst="rect">
            <a:avLst/>
          </a:prstGeom>
          <a:solidFill>
            <a:schemeClr val="accent1"/>
          </a:solidFill>
          <a:ln w="12700">
            <a:solidFill>
              <a:srgbClr val="000000"/>
            </a:solidFill>
            <a:prstDash val="solid"/>
          </a:ln>
        </p:spPr>
      </p:sp>
      <p:sp>
        <p:nvSpPr>
          <p:cNvPr id="20" name="Shape 18"/>
          <p:cNvSpPr/>
          <p:nvPr/>
        </p:nvSpPr>
        <p:spPr>
          <a:xfrm>
            <a:off x="4251960" y="3493008"/>
            <a:ext cx="365760" cy="128016"/>
          </a:xfrm>
          <a:prstGeom prst="rect">
            <a:avLst/>
          </a:prstGeom>
          <a:solidFill>
            <a:schemeClr val="bg1"/>
          </a:solidFill>
          <a:ln w="12700">
            <a:solidFill>
              <a:srgbClr val="000000"/>
            </a:solidFill>
            <a:prstDash val="solid"/>
          </a:ln>
        </p:spPr>
      </p:sp>
      <p:sp>
        <p:nvSpPr>
          <p:cNvPr id="21" name="Shape 19"/>
          <p:cNvSpPr/>
          <p:nvPr/>
        </p:nvSpPr>
        <p:spPr>
          <a:xfrm>
            <a:off x="4617720" y="3493008"/>
            <a:ext cx="365760" cy="128016"/>
          </a:xfrm>
          <a:prstGeom prst="rect">
            <a:avLst/>
          </a:prstGeom>
          <a:solidFill>
            <a:schemeClr val="accent1"/>
          </a:solidFill>
          <a:ln w="12700">
            <a:solidFill>
              <a:srgbClr val="000000"/>
            </a:solidFill>
            <a:prstDash val="solid"/>
          </a:ln>
        </p:spPr>
      </p:sp>
      <p:sp>
        <p:nvSpPr>
          <p:cNvPr id="22" name="Shape 20"/>
          <p:cNvSpPr/>
          <p:nvPr/>
        </p:nvSpPr>
        <p:spPr>
          <a:xfrm>
            <a:off x="4983480" y="3493008"/>
            <a:ext cx="365760" cy="128016"/>
          </a:xfrm>
          <a:prstGeom prst="rect">
            <a:avLst/>
          </a:prstGeom>
          <a:solidFill>
            <a:schemeClr val="bg1"/>
          </a:solidFill>
          <a:ln w="12700">
            <a:solidFill>
              <a:srgbClr val="000000"/>
            </a:solidFill>
            <a:prstDash val="solid"/>
          </a:ln>
        </p:spPr>
      </p:sp>
      <p:sp>
        <p:nvSpPr>
          <p:cNvPr id="23" name="Shape 21"/>
          <p:cNvSpPr/>
          <p:nvPr/>
        </p:nvSpPr>
        <p:spPr>
          <a:xfrm>
            <a:off x="822960" y="2990088"/>
            <a:ext cx="365760" cy="128016"/>
          </a:xfrm>
          <a:prstGeom prst="rect">
            <a:avLst/>
          </a:prstGeom>
          <a:solidFill>
            <a:schemeClr val="accent1"/>
          </a:solidFill>
          <a:ln w="12700">
            <a:solidFill>
              <a:srgbClr val="000000"/>
            </a:solidFill>
            <a:prstDash val="solid"/>
          </a:ln>
        </p:spPr>
      </p:sp>
      <p:sp>
        <p:nvSpPr>
          <p:cNvPr id="24" name="Shape 22"/>
          <p:cNvSpPr/>
          <p:nvPr/>
        </p:nvSpPr>
        <p:spPr>
          <a:xfrm>
            <a:off x="1188720" y="2990088"/>
            <a:ext cx="365760" cy="128016"/>
          </a:xfrm>
          <a:prstGeom prst="rect">
            <a:avLst/>
          </a:prstGeom>
          <a:solidFill>
            <a:schemeClr val="bg1"/>
          </a:solidFill>
          <a:ln w="12700">
            <a:solidFill>
              <a:srgbClr val="000000"/>
            </a:solidFill>
            <a:prstDash val="solid"/>
          </a:ln>
        </p:spPr>
      </p:sp>
      <p:sp>
        <p:nvSpPr>
          <p:cNvPr id="25" name="Shape 23"/>
          <p:cNvSpPr/>
          <p:nvPr/>
        </p:nvSpPr>
        <p:spPr>
          <a:xfrm>
            <a:off x="6217920" y="2990088"/>
            <a:ext cx="365760" cy="128016"/>
          </a:xfrm>
          <a:prstGeom prst="rect">
            <a:avLst/>
          </a:prstGeom>
          <a:solidFill>
            <a:schemeClr val="accent1"/>
          </a:solidFill>
          <a:ln w="12700">
            <a:solidFill>
              <a:srgbClr val="000000"/>
            </a:solidFill>
            <a:prstDash val="solid"/>
          </a:ln>
        </p:spPr>
      </p:sp>
      <p:sp>
        <p:nvSpPr>
          <p:cNvPr id="26" name="Shape 24"/>
          <p:cNvSpPr/>
          <p:nvPr/>
        </p:nvSpPr>
        <p:spPr>
          <a:xfrm>
            <a:off x="6583680" y="2990088"/>
            <a:ext cx="365760" cy="128016"/>
          </a:xfrm>
          <a:prstGeom prst="rect">
            <a:avLst/>
          </a:prstGeom>
          <a:solidFill>
            <a:schemeClr val="bg1"/>
          </a:solidFill>
          <a:ln w="12700">
            <a:solidFill>
              <a:srgbClr val="000000"/>
            </a:solidFill>
            <a:prstDash val="solid"/>
          </a:ln>
        </p:spPr>
      </p:sp>
      <p:sp>
        <p:nvSpPr>
          <p:cNvPr id="27" name="Shape 25"/>
          <p:cNvSpPr/>
          <p:nvPr/>
        </p:nvSpPr>
        <p:spPr>
          <a:xfrm>
            <a:off x="1664208" y="2852928"/>
            <a:ext cx="146304" cy="146304"/>
          </a:xfrm>
          <a:prstGeom prst="ellipse">
            <a:avLst/>
          </a:prstGeom>
          <a:solidFill>
            <a:srgbClr val="FF7F00"/>
          </a:solidFill>
          <a:ln w="9525">
            <a:solidFill>
              <a:srgbClr val="000000"/>
            </a:solidFill>
            <a:prstDash val="solid"/>
          </a:ln>
        </p:spPr>
      </p:sp>
      <p:sp>
        <p:nvSpPr>
          <p:cNvPr id="28" name="Text 26"/>
          <p:cNvSpPr txBox="1"/>
          <p:nvPr/>
        </p:nvSpPr>
        <p:spPr>
          <a:xfrm>
            <a:off x="1188720" y="3154680"/>
            <a:ext cx="548640" cy="274320"/>
          </a:xfrm>
          <a:prstGeom prst="rect">
            <a:avLst/>
          </a:prstGeom>
          <a:noFill/>
          <a:ln/>
        </p:spPr>
        <p:txBody>
          <a:bodyPr wrap="square" lIns="0" tIns="0" rIns="0" bIns="0" rtlCol="0" anchor="ctr"/>
          <a:lstStyle/>
          <a:p>
            <a:pPr algn="ctr" indent="0" marL="0">
              <a:buNone/>
            </a:pPr>
            <a:r>
              <a:rPr lang="en-US" sz="1200" b="1" dirty="0">
                <a:solidFill>
                  <a:srgbClr val="C0661A"/>
                </a:solidFill>
              </a:rPr>
              <a:t>TS</a:t>
            </a:r>
            <a:endParaRPr lang="en-US" sz="1200" dirty="0"/>
          </a:p>
        </p:txBody>
      </p:sp>
      <p:sp>
        <p:nvSpPr>
          <p:cNvPr id="29" name="Shape 27"/>
          <p:cNvSpPr/>
          <p:nvPr/>
        </p:nvSpPr>
        <p:spPr>
          <a:xfrm>
            <a:off x="2350008" y="3355848"/>
            <a:ext cx="146304" cy="146304"/>
          </a:xfrm>
          <a:prstGeom prst="ellipse">
            <a:avLst/>
          </a:prstGeom>
          <a:solidFill>
            <a:srgbClr val="FF7F00"/>
          </a:solidFill>
          <a:ln w="9525">
            <a:solidFill>
              <a:srgbClr val="000000"/>
            </a:solidFill>
            <a:prstDash val="solid"/>
          </a:ln>
        </p:spPr>
      </p:sp>
      <p:sp>
        <p:nvSpPr>
          <p:cNvPr id="30" name="Text 28"/>
          <p:cNvSpPr txBox="1"/>
          <p:nvPr/>
        </p:nvSpPr>
        <p:spPr>
          <a:xfrm>
            <a:off x="2148840" y="3611880"/>
            <a:ext cx="548640" cy="274320"/>
          </a:xfrm>
          <a:prstGeom prst="rect">
            <a:avLst/>
          </a:prstGeom>
          <a:noFill/>
          <a:ln/>
        </p:spPr>
        <p:txBody>
          <a:bodyPr wrap="square" lIns="0" tIns="0" rIns="0" bIns="0" rtlCol="0" anchor="ctr"/>
          <a:lstStyle/>
          <a:p>
            <a:pPr algn="ctr" indent="0" marL="0">
              <a:buNone/>
            </a:pPr>
            <a:r>
              <a:rPr lang="en-US" sz="1200" b="1" dirty="0">
                <a:solidFill>
                  <a:srgbClr val="C0661A"/>
                </a:solidFill>
              </a:rPr>
              <a:t>FS</a:t>
            </a:r>
            <a:endParaRPr lang="en-US" sz="1200" dirty="0"/>
          </a:p>
        </p:txBody>
      </p:sp>
      <p:sp>
        <p:nvSpPr>
          <p:cNvPr id="31" name="Shape 29"/>
          <p:cNvSpPr/>
          <p:nvPr/>
        </p:nvSpPr>
        <p:spPr>
          <a:xfrm>
            <a:off x="5276088" y="3355848"/>
            <a:ext cx="146304" cy="146304"/>
          </a:xfrm>
          <a:prstGeom prst="ellipse">
            <a:avLst/>
          </a:prstGeom>
          <a:solidFill>
            <a:srgbClr val="FF7F00"/>
          </a:solidFill>
          <a:ln w="9525">
            <a:solidFill>
              <a:srgbClr val="000000"/>
            </a:solidFill>
            <a:prstDash val="solid"/>
          </a:ln>
        </p:spPr>
      </p:sp>
      <p:sp>
        <p:nvSpPr>
          <p:cNvPr id="32" name="Text 30"/>
          <p:cNvSpPr txBox="1"/>
          <p:nvPr/>
        </p:nvSpPr>
        <p:spPr>
          <a:xfrm>
            <a:off x="5074920" y="3611880"/>
            <a:ext cx="548640" cy="274320"/>
          </a:xfrm>
          <a:prstGeom prst="rect">
            <a:avLst/>
          </a:prstGeom>
          <a:noFill/>
          <a:ln/>
        </p:spPr>
        <p:txBody>
          <a:bodyPr wrap="square" lIns="0" tIns="0" rIns="0" bIns="0" rtlCol="0" anchor="ctr"/>
          <a:lstStyle/>
          <a:p>
            <a:pPr algn="ctr" indent="0" marL="0">
              <a:buNone/>
            </a:pPr>
            <a:r>
              <a:rPr lang="en-US" sz="1200" b="1" dirty="0">
                <a:solidFill>
                  <a:srgbClr val="C0661A"/>
                </a:solidFill>
              </a:rPr>
              <a:t>FE</a:t>
            </a:r>
            <a:endParaRPr lang="en-US" sz="1200" dirty="0"/>
          </a:p>
        </p:txBody>
      </p:sp>
      <p:sp>
        <p:nvSpPr>
          <p:cNvPr id="33" name="Shape 31"/>
          <p:cNvSpPr/>
          <p:nvPr/>
        </p:nvSpPr>
        <p:spPr>
          <a:xfrm>
            <a:off x="5961888" y="2852928"/>
            <a:ext cx="146304" cy="146304"/>
          </a:xfrm>
          <a:prstGeom prst="ellipse">
            <a:avLst/>
          </a:prstGeom>
          <a:solidFill>
            <a:srgbClr val="FF7F00"/>
          </a:solidFill>
          <a:ln w="9525">
            <a:solidFill>
              <a:srgbClr val="000000"/>
            </a:solidFill>
            <a:prstDash val="solid"/>
          </a:ln>
        </p:spPr>
      </p:sp>
      <p:sp>
        <p:nvSpPr>
          <p:cNvPr id="34" name="Text 32"/>
          <p:cNvSpPr txBox="1"/>
          <p:nvPr/>
        </p:nvSpPr>
        <p:spPr>
          <a:xfrm>
            <a:off x="6080760" y="3154680"/>
            <a:ext cx="548640" cy="274320"/>
          </a:xfrm>
          <a:prstGeom prst="rect">
            <a:avLst/>
          </a:prstGeom>
          <a:noFill/>
          <a:ln/>
        </p:spPr>
        <p:txBody>
          <a:bodyPr wrap="square" lIns="0" tIns="0" rIns="0" bIns="0" rtlCol="0" anchor="ctr"/>
          <a:lstStyle/>
          <a:p>
            <a:pPr algn="ctr" indent="0" marL="0">
              <a:buNone/>
            </a:pPr>
            <a:r>
              <a:rPr lang="en-US" sz="1200" b="1" dirty="0">
                <a:solidFill>
                  <a:srgbClr val="C0661A"/>
                </a:solidFill>
              </a:rPr>
              <a:t>TE</a:t>
            </a:r>
            <a:endParaRPr lang="en-US" sz="1200" dirty="0"/>
          </a:p>
        </p:txBody>
      </p:sp>
      <p:sp>
        <p:nvSpPr>
          <p:cNvPr id="35" name="Text 33"/>
          <p:cNvSpPr txBox="1"/>
          <p:nvPr/>
        </p:nvSpPr>
        <p:spPr>
          <a:xfrm>
            <a:off x="1600200" y="3840480"/>
            <a:ext cx="1005840" cy="274320"/>
          </a:xfrm>
          <a:prstGeom prst="rect">
            <a:avLst/>
          </a:prstGeom>
          <a:noFill/>
          <a:ln/>
        </p:spPr>
        <p:txBody>
          <a:bodyPr wrap="square" lIns="0" tIns="0" rIns="0" bIns="0" rtlCol="0" anchor="ctr"/>
          <a:lstStyle/>
          <a:p>
            <a:pPr algn="ctr" indent="0" marL="0">
              <a:buNone/>
            </a:pPr>
            <a:r>
              <a:rPr lang="en-US" sz="1200" dirty="0">
                <a:solidFill>
                  <a:schemeClr val="tx2"/>
                </a:solidFill>
              </a:rPr>
              <a:t>Taper in</a:t>
            </a:r>
            <a:endParaRPr lang="en-US" sz="1200" dirty="0"/>
          </a:p>
        </p:txBody>
      </p:sp>
      <p:sp>
        <p:nvSpPr>
          <p:cNvPr id="36" name="Text 34"/>
          <p:cNvSpPr txBox="1"/>
          <p:nvPr/>
        </p:nvSpPr>
        <p:spPr>
          <a:xfrm>
            <a:off x="2606040" y="3840480"/>
            <a:ext cx="2560320" cy="274320"/>
          </a:xfrm>
          <a:prstGeom prst="rect">
            <a:avLst/>
          </a:prstGeom>
          <a:noFill/>
          <a:ln/>
        </p:spPr>
        <p:txBody>
          <a:bodyPr wrap="square" lIns="0" tIns="0" rIns="0" bIns="0" rtlCol="0" anchor="ctr"/>
          <a:lstStyle/>
          <a:p>
            <a:pPr algn="ctr" indent="0" marL="0">
              <a:buNone/>
            </a:pPr>
            <a:r>
              <a:rPr lang="en-US" sz="1200" dirty="0">
                <a:solidFill>
                  <a:schemeClr val="tx2"/>
                </a:solidFill>
              </a:rPr>
              <a:t>Full extra width (start to end chainage)</a:t>
            </a:r>
            <a:endParaRPr lang="en-US" sz="1200" dirty="0"/>
          </a:p>
        </p:txBody>
      </p:sp>
      <p:sp>
        <p:nvSpPr>
          <p:cNvPr id="37" name="Text 35"/>
          <p:cNvSpPr txBox="1"/>
          <p:nvPr/>
        </p:nvSpPr>
        <p:spPr>
          <a:xfrm>
            <a:off x="5212080" y="3840480"/>
            <a:ext cx="1005840" cy="274320"/>
          </a:xfrm>
          <a:prstGeom prst="rect">
            <a:avLst/>
          </a:prstGeom>
          <a:noFill/>
          <a:ln/>
        </p:spPr>
        <p:txBody>
          <a:bodyPr wrap="square" lIns="0" tIns="0" rIns="0" bIns="0" rtlCol="0" anchor="ctr"/>
          <a:lstStyle/>
          <a:p>
            <a:pPr algn="ctr" indent="0" marL="0">
              <a:buNone/>
            </a:pPr>
            <a:r>
              <a:rPr lang="en-US" sz="1200" dirty="0">
                <a:solidFill>
                  <a:schemeClr val="tx2"/>
                </a:solidFill>
              </a:rPr>
              <a:t>Taper out</a:t>
            </a:r>
            <a:endParaRPr lang="en-US" sz="1200" dirty="0"/>
          </a:p>
        </p:txBody>
      </p:sp>
      <p:sp>
        <p:nvSpPr>
          <p:cNvPr id="38" name="Shape 36"/>
          <p:cNvSpPr/>
          <p:nvPr/>
        </p:nvSpPr>
        <p:spPr>
          <a:xfrm>
            <a:off x="6903720" y="2926080"/>
            <a:ext cx="0" cy="502920"/>
          </a:xfrm>
          <a:prstGeom prst="line">
            <a:avLst/>
          </a:prstGeom>
          <a:noFill/>
          <a:ln w="12700">
            <a:solidFill>
              <a:srgbClr val="2E8B57"/>
            </a:solidFill>
            <a:prstDash val="solid"/>
            <a:headEnd type="triangle"/>
            <a:tailEnd type="triangle"/>
          </a:ln>
        </p:spPr>
      </p:sp>
      <p:sp>
        <p:nvSpPr>
          <p:cNvPr id="39" name="Text 37"/>
          <p:cNvSpPr txBox="1"/>
          <p:nvPr/>
        </p:nvSpPr>
        <p:spPr>
          <a:xfrm>
            <a:off x="6583680" y="3474720"/>
            <a:ext cx="548640" cy="274320"/>
          </a:xfrm>
          <a:prstGeom prst="rect">
            <a:avLst/>
          </a:prstGeom>
          <a:noFill/>
          <a:ln/>
        </p:spPr>
        <p:txBody>
          <a:bodyPr wrap="square" lIns="0" tIns="0" rIns="0" bIns="0" rtlCol="0" anchor="ctr"/>
          <a:lstStyle/>
          <a:p>
            <a:pPr indent="0" marL="0">
              <a:buNone/>
            </a:pPr>
            <a:r>
              <a:rPr lang="en-US" sz="1100" dirty="0">
                <a:solidFill>
                  <a:srgbClr val="2E8B57"/>
                </a:solidFill>
              </a:rPr>
              <a:t>+3.65</a:t>
            </a:r>
            <a:endParaRPr lang="en-US" sz="1100" dirty="0"/>
          </a:p>
        </p:txBody>
      </p:sp>
      <p:sp>
        <p:nvSpPr>
          <p:cNvPr id="40" name="Shape 38"/>
          <p:cNvSpPr/>
          <p:nvPr/>
        </p:nvSpPr>
        <p:spPr>
          <a:xfrm>
            <a:off x="548640" y="4434840"/>
            <a:ext cx="2103120" cy="1691640"/>
          </a:xfrm>
          <a:prstGeom prst="roundRect">
            <a:avLst>
              <a:gd name="adj" fmla="val 5405"/>
            </a:avLst>
          </a:prstGeom>
          <a:solidFill>
            <a:schemeClr val="bg2"/>
          </a:solidFill>
          <a:ln w="9525">
            <a:solidFill>
              <a:schemeClr val="accent6"/>
            </a:solidFill>
            <a:prstDash val="solid"/>
          </a:ln>
        </p:spPr>
      </p:sp>
      <p:sp>
        <p:nvSpPr>
          <p:cNvPr id="41" name="Text 39"/>
          <p:cNvSpPr txBox="1"/>
          <p:nvPr/>
        </p:nvSpPr>
        <p:spPr>
          <a:xfrm>
            <a:off x="713232" y="4526280"/>
            <a:ext cx="1828800" cy="365760"/>
          </a:xfrm>
          <a:prstGeom prst="rect">
            <a:avLst/>
          </a:prstGeom>
          <a:noFill/>
          <a:ln/>
        </p:spPr>
        <p:txBody>
          <a:bodyPr wrap="square" lIns="0" tIns="0" rIns="0" bIns="0" rtlCol="0" anchor="ctr"/>
          <a:lstStyle/>
          <a:p>
            <a:pPr indent="0" marL="0">
              <a:buNone/>
            </a:pPr>
            <a:r>
              <a:rPr lang="en-US" sz="1500" b="1" dirty="0">
                <a:solidFill>
                  <a:schemeClr val="accent1"/>
                </a:solidFill>
              </a:rPr>
              <a:t>Straight + fillet</a:t>
            </a:r>
            <a:endParaRPr lang="en-US" sz="1500" dirty="0"/>
          </a:p>
        </p:txBody>
      </p:sp>
      <p:sp>
        <p:nvSpPr>
          <p:cNvPr id="42" name="Text 40"/>
          <p:cNvSpPr txBox="1"/>
          <p:nvPr/>
        </p:nvSpPr>
        <p:spPr>
          <a:xfrm>
            <a:off x="713232" y="4892040"/>
            <a:ext cx="1828800" cy="1188720"/>
          </a:xfrm>
          <a:prstGeom prst="rect">
            <a:avLst/>
          </a:prstGeom>
          <a:noFill/>
          <a:ln/>
        </p:spPr>
        <p:txBody>
          <a:bodyPr wrap="square" lIns="0" tIns="0" rIns="0" bIns="0" rtlCol="0" anchor="t"/>
          <a:lstStyle/>
          <a:p>
            <a:pPr indent="0" marL="0">
              <a:buNone/>
            </a:pPr>
            <a:r>
              <a:rPr lang="en-US" sz="1200" dirty="0">
                <a:solidFill>
                  <a:schemeClr val="tx2"/>
                </a:solidFill>
              </a:rPr>
              <a:t>Arc with radius R at all 4 match points (TS, FS, FE, TE). Too big? RoadPro reduces R to fit.</a:t>
            </a:r>
            <a:endParaRPr lang="en-US" sz="1200" dirty="0"/>
          </a:p>
        </p:txBody>
      </p:sp>
      <p:sp>
        <p:nvSpPr>
          <p:cNvPr id="43" name="Shape 41"/>
          <p:cNvSpPr/>
          <p:nvPr/>
        </p:nvSpPr>
        <p:spPr>
          <a:xfrm>
            <a:off x="2807208" y="4434840"/>
            <a:ext cx="2103120" cy="1691640"/>
          </a:xfrm>
          <a:prstGeom prst="roundRect">
            <a:avLst>
              <a:gd name="adj" fmla="val 5405"/>
            </a:avLst>
          </a:prstGeom>
          <a:solidFill>
            <a:schemeClr val="bg2"/>
          </a:solidFill>
          <a:ln w="9525">
            <a:solidFill>
              <a:schemeClr val="accent6"/>
            </a:solidFill>
            <a:prstDash val="solid"/>
          </a:ln>
        </p:spPr>
      </p:sp>
      <p:sp>
        <p:nvSpPr>
          <p:cNvPr id="44" name="Text 42"/>
          <p:cNvSpPr txBox="1"/>
          <p:nvPr/>
        </p:nvSpPr>
        <p:spPr>
          <a:xfrm>
            <a:off x="2971800" y="4526280"/>
            <a:ext cx="1828800" cy="365760"/>
          </a:xfrm>
          <a:prstGeom prst="rect">
            <a:avLst/>
          </a:prstGeom>
          <a:noFill/>
          <a:ln/>
        </p:spPr>
        <p:txBody>
          <a:bodyPr wrap="square" lIns="0" tIns="0" rIns="0" bIns="0" rtlCol="0" anchor="ctr"/>
          <a:lstStyle/>
          <a:p>
            <a:pPr indent="0" marL="0">
              <a:buNone/>
            </a:pPr>
            <a:r>
              <a:rPr lang="en-US" sz="1500" b="1" dirty="0">
                <a:solidFill>
                  <a:schemeClr val="accent1"/>
                </a:solidFill>
              </a:rPr>
              <a:t>Straight + direct link</a:t>
            </a:r>
            <a:endParaRPr lang="en-US" sz="1500" dirty="0"/>
          </a:p>
        </p:txBody>
      </p:sp>
      <p:sp>
        <p:nvSpPr>
          <p:cNvPr id="45" name="Text 43"/>
          <p:cNvSpPr txBox="1"/>
          <p:nvPr/>
        </p:nvSpPr>
        <p:spPr>
          <a:xfrm>
            <a:off x="2971800" y="4892040"/>
            <a:ext cx="1828800" cy="1188720"/>
          </a:xfrm>
          <a:prstGeom prst="rect">
            <a:avLst/>
          </a:prstGeom>
          <a:noFill/>
          <a:ln/>
        </p:spPr>
        <p:txBody>
          <a:bodyPr wrap="square" lIns="0" tIns="0" rIns="0" bIns="0" rtlCol="0" anchor="t"/>
          <a:lstStyle/>
          <a:p>
            <a:pPr indent="0" marL="0">
              <a:buNone/>
            </a:pPr>
            <a:r>
              <a:rPr lang="en-US" sz="1200" dirty="0">
                <a:solidFill>
                  <a:schemeClr val="tx2"/>
                </a:solidFill>
              </a:rPr>
              <a:t>Sharp joints. The straight taper meets the edge directly at the match points.</a:t>
            </a:r>
            <a:endParaRPr lang="en-US" sz="1200" dirty="0"/>
          </a:p>
        </p:txBody>
      </p:sp>
      <p:sp>
        <p:nvSpPr>
          <p:cNvPr id="46" name="Shape 44"/>
          <p:cNvSpPr/>
          <p:nvPr/>
        </p:nvSpPr>
        <p:spPr>
          <a:xfrm>
            <a:off x="5065776" y="4434840"/>
            <a:ext cx="2103120" cy="1691640"/>
          </a:xfrm>
          <a:prstGeom prst="roundRect">
            <a:avLst>
              <a:gd name="adj" fmla="val 5405"/>
            </a:avLst>
          </a:prstGeom>
          <a:solidFill>
            <a:schemeClr val="bg2"/>
          </a:solidFill>
          <a:ln w="9525">
            <a:solidFill>
              <a:schemeClr val="accent6"/>
            </a:solidFill>
            <a:prstDash val="solid"/>
          </a:ln>
        </p:spPr>
      </p:sp>
      <p:sp>
        <p:nvSpPr>
          <p:cNvPr id="47" name="Text 45"/>
          <p:cNvSpPr txBox="1"/>
          <p:nvPr/>
        </p:nvSpPr>
        <p:spPr>
          <a:xfrm>
            <a:off x="5230368" y="4526280"/>
            <a:ext cx="1828800" cy="365760"/>
          </a:xfrm>
          <a:prstGeom prst="rect">
            <a:avLst/>
          </a:prstGeom>
          <a:noFill/>
          <a:ln/>
        </p:spPr>
        <p:txBody>
          <a:bodyPr wrap="square" lIns="0" tIns="0" rIns="0" bIns="0" rtlCol="0" anchor="ctr"/>
          <a:lstStyle/>
          <a:p>
            <a:pPr indent="0" marL="0">
              <a:buNone/>
            </a:pPr>
            <a:r>
              <a:rPr lang="en-US" sz="1500" b="1" dirty="0">
                <a:solidFill>
                  <a:schemeClr val="accent3"/>
                </a:solidFill>
              </a:rPr>
              <a:t>Curve taper</a:t>
            </a:r>
            <a:endParaRPr lang="en-US" sz="1500" dirty="0"/>
          </a:p>
        </p:txBody>
      </p:sp>
      <p:sp>
        <p:nvSpPr>
          <p:cNvPr id="48" name="Text 46"/>
          <p:cNvSpPr txBox="1"/>
          <p:nvPr/>
        </p:nvSpPr>
        <p:spPr>
          <a:xfrm>
            <a:off x="5230368" y="4892040"/>
            <a:ext cx="1828800" cy="1188720"/>
          </a:xfrm>
          <a:prstGeom prst="rect">
            <a:avLst/>
          </a:prstGeom>
          <a:noFill/>
          <a:ln/>
        </p:spPr>
        <p:txBody>
          <a:bodyPr wrap="square" lIns="0" tIns="0" rIns="0" bIns="0" rtlCol="0" anchor="t"/>
          <a:lstStyle/>
          <a:p>
            <a:pPr indent="0" marL="0">
              <a:buNone/>
            </a:pPr>
            <a:r>
              <a:rPr lang="en-US" sz="1200" dirty="0">
                <a:solidFill>
                  <a:schemeClr val="tx2"/>
                </a:solidFill>
              </a:rPr>
              <a:t>Two reverse curves per taper, tangent at the match points, so no fillet is needed.</a:t>
            </a:r>
            <a:endParaRPr lang="en-US" sz="1200" dirty="0"/>
          </a:p>
        </p:txBody>
      </p:sp>
      <p:sp>
        <p:nvSpPr>
          <p:cNvPr id="49" name="keycap RDW"/>
          <p:cNvSpPr/>
          <p:nvPr/>
        </p:nvSpPr>
        <p:spPr>
          <a:xfrm>
            <a:off x="7498080" y="1325880"/>
            <a:ext cx="1188720" cy="502920"/>
          </a:xfrm>
          <a:prstGeom prst="roundRect">
            <a:avLst>
              <a:gd name="adj" fmla="val 1454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50" name="Text 48"/>
          <p:cNvSpPr txBox="1"/>
          <p:nvPr/>
        </p:nvSpPr>
        <p:spPr>
          <a:xfrm>
            <a:off x="7498080" y="1325880"/>
            <a:ext cx="11887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RDW</a:t>
            </a:r>
            <a:endParaRPr lang="en-US" sz="1800" dirty="0"/>
          </a:p>
        </p:txBody>
      </p:sp>
      <p:sp>
        <p:nvSpPr>
          <p:cNvPr id="51" name="Text 49"/>
          <p:cNvSpPr txBox="1"/>
          <p:nvPr/>
        </p:nvSpPr>
        <p:spPr>
          <a:xfrm>
            <a:off x="8869680" y="1325880"/>
            <a:ext cx="2743200" cy="502920"/>
          </a:xfrm>
          <a:prstGeom prst="rect">
            <a:avLst/>
          </a:prstGeom>
          <a:noFill/>
          <a:ln/>
        </p:spPr>
        <p:txBody>
          <a:bodyPr wrap="square" lIns="0" tIns="0" rIns="0" bIns="0" rtlCol="0" anchor="ctr"/>
          <a:lstStyle/>
          <a:p>
            <a:pPr indent="0" marL="0">
              <a:buNone/>
            </a:pPr>
            <a:r>
              <a:rPr lang="en-US" sz="1600" b="1" dirty="0">
                <a:solidFill>
                  <a:schemeClr val="tx1"/>
                </a:solidFill>
              </a:rPr>
              <a:t>Select the centre line</a:t>
            </a:r>
            <a:endParaRPr lang="en-US" sz="1600" dirty="0"/>
          </a:p>
        </p:txBody>
      </p:sp>
      <p:sp>
        <p:nvSpPr>
          <p:cNvPr id="52" name="Shape 50"/>
          <p:cNvSpPr/>
          <p:nvPr/>
        </p:nvSpPr>
        <p:spPr>
          <a:xfrm>
            <a:off x="7498080" y="2020824"/>
            <a:ext cx="4114800" cy="411480"/>
          </a:xfrm>
          <a:prstGeom prst="rect">
            <a:avLst/>
          </a:prstGeom>
          <a:solidFill>
            <a:schemeClr val="bg2"/>
          </a:solidFill>
          <a:ln/>
        </p:spPr>
      </p:sp>
      <p:sp>
        <p:nvSpPr>
          <p:cNvPr id="53" name="Text 51"/>
          <p:cNvSpPr txBox="1"/>
          <p:nvPr/>
        </p:nvSpPr>
        <p:spPr>
          <a:xfrm>
            <a:off x="7635240" y="2057400"/>
            <a:ext cx="1920240" cy="347472"/>
          </a:xfrm>
          <a:prstGeom prst="rect">
            <a:avLst/>
          </a:prstGeom>
          <a:noFill/>
          <a:ln/>
        </p:spPr>
        <p:txBody>
          <a:bodyPr wrap="square" lIns="0" tIns="0" rIns="0" bIns="0" rtlCol="0" anchor="ctr"/>
          <a:lstStyle/>
          <a:p>
            <a:pPr indent="0" marL="0">
              <a:buNone/>
            </a:pPr>
            <a:r>
              <a:rPr lang="en-US" sz="1400" dirty="0">
                <a:solidFill>
                  <a:schemeClr val="tx2"/>
                </a:solidFill>
              </a:rPr>
              <a:t>Side</a:t>
            </a:r>
            <a:endParaRPr lang="en-US" sz="1400" dirty="0"/>
          </a:p>
        </p:txBody>
      </p:sp>
      <p:sp>
        <p:nvSpPr>
          <p:cNvPr id="54" name="Text 52"/>
          <p:cNvSpPr txBox="1"/>
          <p:nvPr/>
        </p:nvSpPr>
        <p:spPr>
          <a:xfrm>
            <a:off x="9509760" y="2057400"/>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Left / Right / Both</a:t>
            </a:r>
            <a:endParaRPr lang="en-US" sz="1400" dirty="0"/>
          </a:p>
        </p:txBody>
      </p:sp>
      <p:sp>
        <p:nvSpPr>
          <p:cNvPr id="55" name="Text 53"/>
          <p:cNvSpPr txBox="1"/>
          <p:nvPr/>
        </p:nvSpPr>
        <p:spPr>
          <a:xfrm>
            <a:off x="7635240" y="2487168"/>
            <a:ext cx="1920240" cy="347472"/>
          </a:xfrm>
          <a:prstGeom prst="rect">
            <a:avLst/>
          </a:prstGeom>
          <a:noFill/>
          <a:ln/>
        </p:spPr>
        <p:txBody>
          <a:bodyPr wrap="square" lIns="0" tIns="0" rIns="0" bIns="0" rtlCol="0" anchor="ctr"/>
          <a:lstStyle/>
          <a:p>
            <a:pPr indent="0" marL="0">
              <a:buNone/>
            </a:pPr>
            <a:r>
              <a:rPr lang="en-US" sz="1400" dirty="0">
                <a:solidFill>
                  <a:schemeClr val="tx2"/>
                </a:solidFill>
              </a:rPr>
              <a:t>Extra width</a:t>
            </a:r>
            <a:endParaRPr lang="en-US" sz="1400" dirty="0"/>
          </a:p>
        </p:txBody>
      </p:sp>
      <p:sp>
        <p:nvSpPr>
          <p:cNvPr id="56" name="Text 54"/>
          <p:cNvSpPr txBox="1"/>
          <p:nvPr/>
        </p:nvSpPr>
        <p:spPr>
          <a:xfrm>
            <a:off x="9509760" y="2487168"/>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3.65 m</a:t>
            </a:r>
            <a:endParaRPr lang="en-US" sz="1400" dirty="0"/>
          </a:p>
        </p:txBody>
      </p:sp>
      <p:sp>
        <p:nvSpPr>
          <p:cNvPr id="57" name="Shape 55"/>
          <p:cNvSpPr/>
          <p:nvPr/>
        </p:nvSpPr>
        <p:spPr>
          <a:xfrm>
            <a:off x="7498080" y="2880360"/>
            <a:ext cx="4114800" cy="411480"/>
          </a:xfrm>
          <a:prstGeom prst="rect">
            <a:avLst/>
          </a:prstGeom>
          <a:solidFill>
            <a:schemeClr val="bg2"/>
          </a:solidFill>
          <a:ln/>
        </p:spPr>
      </p:sp>
      <p:sp>
        <p:nvSpPr>
          <p:cNvPr id="58" name="Text 56"/>
          <p:cNvSpPr txBox="1"/>
          <p:nvPr/>
        </p:nvSpPr>
        <p:spPr>
          <a:xfrm>
            <a:off x="7635240" y="2916936"/>
            <a:ext cx="1920240" cy="347472"/>
          </a:xfrm>
          <a:prstGeom prst="rect">
            <a:avLst/>
          </a:prstGeom>
          <a:noFill/>
          <a:ln/>
        </p:spPr>
        <p:txBody>
          <a:bodyPr wrap="square" lIns="0" tIns="0" rIns="0" bIns="0" rtlCol="0" anchor="ctr"/>
          <a:lstStyle/>
          <a:p>
            <a:pPr indent="0" marL="0">
              <a:buNone/>
            </a:pPr>
            <a:r>
              <a:rPr lang="en-US" sz="1400" dirty="0">
                <a:solidFill>
                  <a:schemeClr val="tx2"/>
                </a:solidFill>
              </a:rPr>
              <a:t>Start / end chainage</a:t>
            </a:r>
            <a:endParaRPr lang="en-US" sz="1400" dirty="0"/>
          </a:p>
        </p:txBody>
      </p:sp>
      <p:sp>
        <p:nvSpPr>
          <p:cNvPr id="59" name="Text 57"/>
          <p:cNvSpPr txBox="1"/>
          <p:nvPr/>
        </p:nvSpPr>
        <p:spPr>
          <a:xfrm>
            <a:off x="9509760" y="2916936"/>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your input</a:t>
            </a:r>
            <a:endParaRPr lang="en-US" sz="1400" dirty="0"/>
          </a:p>
        </p:txBody>
      </p:sp>
      <p:sp>
        <p:nvSpPr>
          <p:cNvPr id="60" name="Text 58"/>
          <p:cNvSpPr txBox="1"/>
          <p:nvPr/>
        </p:nvSpPr>
        <p:spPr>
          <a:xfrm>
            <a:off x="7635240" y="3346704"/>
            <a:ext cx="1920240" cy="347472"/>
          </a:xfrm>
          <a:prstGeom prst="rect">
            <a:avLst/>
          </a:prstGeom>
          <a:noFill/>
          <a:ln/>
        </p:spPr>
        <p:txBody>
          <a:bodyPr wrap="square" lIns="0" tIns="0" rIns="0" bIns="0" rtlCol="0" anchor="ctr"/>
          <a:lstStyle/>
          <a:p>
            <a:pPr indent="0" marL="0">
              <a:buNone/>
            </a:pPr>
            <a:r>
              <a:rPr lang="en-US" sz="1400" dirty="0">
                <a:solidFill>
                  <a:schemeClr val="tx2"/>
                </a:solidFill>
              </a:rPr>
              <a:t>Taper in / out</a:t>
            </a:r>
            <a:endParaRPr lang="en-US" sz="1400" dirty="0"/>
          </a:p>
        </p:txBody>
      </p:sp>
      <p:sp>
        <p:nvSpPr>
          <p:cNvPr id="61" name="Text 59"/>
          <p:cNvSpPr txBox="1"/>
          <p:nvPr/>
        </p:nvSpPr>
        <p:spPr>
          <a:xfrm>
            <a:off x="9509760" y="3346704"/>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30 m / 30 m</a:t>
            </a:r>
            <a:endParaRPr lang="en-US" sz="1400" dirty="0"/>
          </a:p>
        </p:txBody>
      </p:sp>
      <p:sp>
        <p:nvSpPr>
          <p:cNvPr id="62" name="Shape 60"/>
          <p:cNvSpPr/>
          <p:nvPr/>
        </p:nvSpPr>
        <p:spPr>
          <a:xfrm>
            <a:off x="7498080" y="3739896"/>
            <a:ext cx="4114800" cy="411480"/>
          </a:xfrm>
          <a:prstGeom prst="rect">
            <a:avLst/>
          </a:prstGeom>
          <a:solidFill>
            <a:schemeClr val="bg2"/>
          </a:solidFill>
          <a:ln/>
        </p:spPr>
      </p:sp>
      <p:sp>
        <p:nvSpPr>
          <p:cNvPr id="63" name="Text 61"/>
          <p:cNvSpPr txBox="1"/>
          <p:nvPr/>
        </p:nvSpPr>
        <p:spPr>
          <a:xfrm>
            <a:off x="7635240" y="3776472"/>
            <a:ext cx="1920240" cy="347472"/>
          </a:xfrm>
          <a:prstGeom prst="rect">
            <a:avLst/>
          </a:prstGeom>
          <a:noFill/>
          <a:ln/>
        </p:spPr>
        <p:txBody>
          <a:bodyPr wrap="square" lIns="0" tIns="0" rIns="0" bIns="0" rtlCol="0" anchor="ctr"/>
          <a:lstStyle/>
          <a:p>
            <a:pPr indent="0" marL="0">
              <a:buNone/>
            </a:pPr>
            <a:r>
              <a:rPr lang="en-US" sz="1400" dirty="0">
                <a:solidFill>
                  <a:schemeClr val="tx2"/>
                </a:solidFill>
              </a:rPr>
              <a:t>Taper type</a:t>
            </a:r>
            <a:endParaRPr lang="en-US" sz="1400" dirty="0"/>
          </a:p>
        </p:txBody>
      </p:sp>
      <p:sp>
        <p:nvSpPr>
          <p:cNvPr id="64" name="Text 62"/>
          <p:cNvSpPr txBox="1"/>
          <p:nvPr/>
        </p:nvSpPr>
        <p:spPr>
          <a:xfrm>
            <a:off x="9509760" y="3776472"/>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Straight or Curve</a:t>
            </a:r>
            <a:endParaRPr lang="en-US" sz="1400" dirty="0"/>
          </a:p>
        </p:txBody>
      </p:sp>
      <p:sp>
        <p:nvSpPr>
          <p:cNvPr id="65" name="Text 63"/>
          <p:cNvSpPr txBox="1"/>
          <p:nvPr/>
        </p:nvSpPr>
        <p:spPr>
          <a:xfrm>
            <a:off x="7635240" y="4206240"/>
            <a:ext cx="1920240" cy="347472"/>
          </a:xfrm>
          <a:prstGeom prst="rect">
            <a:avLst/>
          </a:prstGeom>
          <a:noFill/>
          <a:ln/>
        </p:spPr>
        <p:txBody>
          <a:bodyPr wrap="square" lIns="0" tIns="0" rIns="0" bIns="0" rtlCol="0" anchor="ctr"/>
          <a:lstStyle/>
          <a:p>
            <a:pPr indent="0" marL="0">
              <a:buNone/>
            </a:pPr>
            <a:r>
              <a:rPr lang="en-US" sz="1400" dirty="0">
                <a:solidFill>
                  <a:schemeClr val="tx2"/>
                </a:solidFill>
              </a:rPr>
              <a:t>Match point</a:t>
            </a:r>
            <a:endParaRPr lang="en-US" sz="1400" dirty="0"/>
          </a:p>
        </p:txBody>
      </p:sp>
      <p:sp>
        <p:nvSpPr>
          <p:cNvPr id="66" name="Text 64"/>
          <p:cNvSpPr txBox="1"/>
          <p:nvPr/>
        </p:nvSpPr>
        <p:spPr>
          <a:xfrm>
            <a:off x="9509760" y="4206240"/>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Fillet R or Direct link</a:t>
            </a:r>
            <a:endParaRPr lang="en-US" sz="1400" dirty="0"/>
          </a:p>
        </p:txBody>
      </p:sp>
      <p:sp>
        <p:nvSpPr>
          <p:cNvPr id="67" name="Shape 65"/>
          <p:cNvSpPr/>
          <p:nvPr/>
        </p:nvSpPr>
        <p:spPr>
          <a:xfrm>
            <a:off x="7498080" y="4599432"/>
            <a:ext cx="4114800" cy="411480"/>
          </a:xfrm>
          <a:prstGeom prst="rect">
            <a:avLst/>
          </a:prstGeom>
          <a:solidFill>
            <a:schemeClr val="bg2"/>
          </a:solidFill>
          <a:ln/>
        </p:spPr>
      </p:sp>
      <p:sp>
        <p:nvSpPr>
          <p:cNvPr id="68" name="Text 66"/>
          <p:cNvSpPr txBox="1"/>
          <p:nvPr/>
        </p:nvSpPr>
        <p:spPr>
          <a:xfrm>
            <a:off x="7635240" y="4636008"/>
            <a:ext cx="1920240" cy="347472"/>
          </a:xfrm>
          <a:prstGeom prst="rect">
            <a:avLst/>
          </a:prstGeom>
          <a:noFill/>
          <a:ln/>
        </p:spPr>
        <p:txBody>
          <a:bodyPr wrap="square" lIns="0" tIns="0" rIns="0" bIns="0" rtlCol="0" anchor="ctr"/>
          <a:lstStyle/>
          <a:p>
            <a:pPr indent="0" marL="0">
              <a:buNone/>
            </a:pPr>
            <a:r>
              <a:rPr lang="en-US" sz="1400" dirty="0">
                <a:solidFill>
                  <a:schemeClr val="tx2"/>
                </a:solidFill>
              </a:rPr>
              <a:t>Fillet radius</a:t>
            </a:r>
            <a:endParaRPr lang="en-US" sz="1400" dirty="0"/>
          </a:p>
        </p:txBody>
      </p:sp>
      <p:sp>
        <p:nvSpPr>
          <p:cNvPr id="69" name="Text 67"/>
          <p:cNvSpPr txBox="1"/>
          <p:nvPr/>
        </p:nvSpPr>
        <p:spPr>
          <a:xfrm>
            <a:off x="9509760" y="4636008"/>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30 m</a:t>
            </a:r>
            <a:endParaRPr lang="en-US" sz="1400" dirty="0"/>
          </a:p>
        </p:txBody>
      </p:sp>
      <p:sp>
        <p:nvSpPr>
          <p:cNvPr id="70" name="Text 68"/>
          <p:cNvSpPr txBox="1"/>
          <p:nvPr/>
        </p:nvSpPr>
        <p:spPr>
          <a:xfrm>
            <a:off x="7635240" y="5065776"/>
            <a:ext cx="1920240" cy="347472"/>
          </a:xfrm>
          <a:prstGeom prst="rect">
            <a:avLst/>
          </a:prstGeom>
          <a:noFill/>
          <a:ln/>
        </p:spPr>
        <p:txBody>
          <a:bodyPr wrap="square" lIns="0" tIns="0" rIns="0" bIns="0" rtlCol="0" anchor="ctr"/>
          <a:lstStyle/>
          <a:p>
            <a:pPr indent="0" marL="0">
              <a:buNone/>
            </a:pPr>
            <a:r>
              <a:rPr lang="en-US" sz="1400" dirty="0">
                <a:solidFill>
                  <a:schemeClr val="tx2"/>
                </a:solidFill>
              </a:rPr>
              <a:t>Barricades</a:t>
            </a:r>
            <a:endParaRPr lang="en-US" sz="1400" dirty="0"/>
          </a:p>
        </p:txBody>
      </p:sp>
      <p:sp>
        <p:nvSpPr>
          <p:cNvPr id="71" name="Text 69"/>
          <p:cNvSpPr txBox="1"/>
          <p:nvPr/>
        </p:nvSpPr>
        <p:spPr>
          <a:xfrm>
            <a:off x="9509760" y="5065776"/>
            <a:ext cx="2011680" cy="347472"/>
          </a:xfrm>
          <a:prstGeom prst="rect">
            <a:avLst/>
          </a:prstGeom>
          <a:noFill/>
          <a:ln/>
        </p:spPr>
        <p:txBody>
          <a:bodyPr wrap="square" lIns="0" tIns="0" rIns="0" bIns="0" rtlCol="0" anchor="ctr"/>
          <a:lstStyle/>
          <a:p>
            <a:pPr algn="r" indent="0" marL="0">
              <a:buNone/>
            </a:pPr>
            <a:r>
              <a:rPr lang="en-US" sz="1400" b="1" dirty="0">
                <a:solidFill>
                  <a:schemeClr val="tx1"/>
                </a:solidFill>
              </a:rPr>
              <a:t>moved to new edge</a:t>
            </a:r>
            <a:endParaRPr lang="en-US" sz="1400" dirty="0"/>
          </a:p>
        </p:txBody>
      </p:sp>
      <p:sp>
        <p:nvSpPr>
          <p:cNvPr id="72" name="Text 70"/>
          <p:cNvSpPr txBox="1"/>
          <p:nvPr/>
        </p:nvSpPr>
        <p:spPr>
          <a:xfrm>
            <a:off x="7498080" y="5532120"/>
            <a:ext cx="4114800" cy="685800"/>
          </a:xfrm>
          <a:prstGeom prst="rect">
            <a:avLst/>
          </a:prstGeom>
          <a:noFill/>
          <a:ln/>
        </p:spPr>
        <p:txBody>
          <a:bodyPr wrap="square" lIns="0" tIns="0" rIns="0" bIns="0" rtlCol="0" anchor="t"/>
          <a:lstStyle/>
          <a:p>
            <a:pPr indent="0" marL="0">
              <a:buNone/>
            </a:pPr>
            <a:r>
              <a:rPr lang="en-US" sz="1200" i="1" dirty="0">
                <a:solidFill>
                  <a:schemeClr val="accent4"/>
                </a:solidFill>
              </a:rPr>
              <a:t>Also drawn: new edge, lane surface, lane arrow, width dimension, match point chainages and a label. Run RDW again for more sections (W1, W2 ...).</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Road taper anywhere: wider or narrower</a:t>
            </a:r>
            <a:endParaRPr lang="en-US" sz="3200" dirty="0"/>
          </a:p>
        </p:txBody>
      </p:sp>
      <p:sp>
        <p:nvSpPr>
          <p:cNvPr id="3" name="Shape 1"/>
          <p:cNvSpPr/>
          <p:nvPr/>
        </p:nvSpPr>
        <p:spPr>
          <a:xfrm>
            <a:off x="548640" y="1325880"/>
            <a:ext cx="6675120" cy="2926080"/>
          </a:xfrm>
          <a:prstGeom prst="roundRect">
            <a:avLst>
              <a:gd name="adj" fmla="val 3125"/>
            </a:avLst>
          </a:prstGeom>
          <a:solidFill>
            <a:schemeClr val="bg2"/>
          </a:solidFill>
          <a:ln w="9525">
            <a:solidFill>
              <a:schemeClr val="accent6"/>
            </a:solidFill>
            <a:prstDash val="solid"/>
          </a:ln>
        </p:spPr>
      </p:sp>
      <p:sp>
        <p:nvSpPr>
          <p:cNvPr id="4" name="Text 2"/>
          <p:cNvSpPr txBox="1"/>
          <p:nvPr/>
        </p:nvSpPr>
        <p:spPr>
          <a:xfrm>
            <a:off x="822960" y="1463040"/>
            <a:ext cx="5029200" cy="365760"/>
          </a:xfrm>
          <a:prstGeom prst="rect">
            <a:avLst/>
          </a:prstGeom>
          <a:noFill/>
          <a:ln/>
        </p:spPr>
        <p:txBody>
          <a:bodyPr wrap="square" lIns="0" tIns="0" rIns="0" bIns="0" rtlCol="0" anchor="ctr"/>
          <a:lstStyle/>
          <a:p>
            <a:pPr indent="0" marL="0">
              <a:buNone/>
            </a:pPr>
            <a:r>
              <a:rPr lang="en-US" sz="1600" b="1" dirty="0">
                <a:solidFill>
                  <a:schemeClr val="tx1"/>
                </a:solidFill>
              </a:rPr>
              <a:t>Plan view (both sides, edge +1.00 m)</a:t>
            </a:r>
            <a:endParaRPr lang="en-US" sz="1600" dirty="0"/>
          </a:p>
        </p:txBody>
      </p:sp>
      <p:sp>
        <p:nvSpPr>
          <p:cNvPr id="5" name="Shape 3"/>
          <p:cNvSpPr/>
          <p:nvPr/>
        </p:nvSpPr>
        <p:spPr>
          <a:xfrm>
            <a:off x="822960" y="2130552"/>
            <a:ext cx="6126480" cy="1316736"/>
          </a:xfrm>
          <a:custGeom>
            <a:avLst/>
            <a:gdLst/>
            <a:ahLst/>
            <a:cxnLst/>
            <a:rect l="l" t="t" r="r" b="b"/>
            <a:pathLst>
              <a:path w="6126480" h="1316736">
                <a:moveTo>
                  <a:pt x="0" y="274320"/>
                </a:moveTo>
                <a:lnTo>
                  <a:pt x="2103120" y="274320"/>
                </a:lnTo>
                <a:lnTo>
                  <a:pt x="3383280" y="0"/>
                </a:lnTo>
                <a:lnTo>
                  <a:pt x="6126480" y="0"/>
                </a:lnTo>
                <a:lnTo>
                  <a:pt x="6126480" y="1316736"/>
                </a:lnTo>
                <a:lnTo>
                  <a:pt x="3383280" y="1316736"/>
                </a:lnTo>
                <a:lnTo>
                  <a:pt x="2103120" y="1042416"/>
                </a:lnTo>
                <a:lnTo>
                  <a:pt x="0" y="1042416"/>
                </a:lnTo>
                <a:close/>
              </a:path>
            </a:pathLst>
          </a:custGeom>
          <a:solidFill>
            <a:srgbClr val="5A6066"/>
          </a:solidFill>
          <a:ln w="19050">
            <a:solidFill>
              <a:srgbClr val="FFFFFF"/>
            </a:solidFill>
            <a:prstDash val="solid"/>
          </a:ln>
        </p:spPr>
      </p:sp>
      <p:sp>
        <p:nvSpPr>
          <p:cNvPr id="6" name="Shape 4"/>
          <p:cNvSpPr/>
          <p:nvPr/>
        </p:nvSpPr>
        <p:spPr>
          <a:xfrm>
            <a:off x="914400" y="2761488"/>
            <a:ext cx="457200" cy="54864"/>
          </a:xfrm>
          <a:prstGeom prst="rect">
            <a:avLst/>
          </a:prstGeom>
          <a:solidFill>
            <a:srgbClr val="F2B705"/>
          </a:solidFill>
          <a:ln/>
        </p:spPr>
      </p:sp>
      <p:sp>
        <p:nvSpPr>
          <p:cNvPr id="7" name="Shape 5"/>
          <p:cNvSpPr/>
          <p:nvPr/>
        </p:nvSpPr>
        <p:spPr>
          <a:xfrm>
            <a:off x="1664208" y="2761488"/>
            <a:ext cx="457200" cy="54864"/>
          </a:xfrm>
          <a:prstGeom prst="rect">
            <a:avLst/>
          </a:prstGeom>
          <a:solidFill>
            <a:srgbClr val="F2B705"/>
          </a:solidFill>
          <a:ln/>
        </p:spPr>
      </p:sp>
      <p:sp>
        <p:nvSpPr>
          <p:cNvPr id="8" name="Shape 6"/>
          <p:cNvSpPr/>
          <p:nvPr/>
        </p:nvSpPr>
        <p:spPr>
          <a:xfrm>
            <a:off x="2414016" y="2761488"/>
            <a:ext cx="457200" cy="54864"/>
          </a:xfrm>
          <a:prstGeom prst="rect">
            <a:avLst/>
          </a:prstGeom>
          <a:solidFill>
            <a:srgbClr val="F2B705"/>
          </a:solidFill>
          <a:ln/>
        </p:spPr>
      </p:sp>
      <p:sp>
        <p:nvSpPr>
          <p:cNvPr id="9" name="Shape 7"/>
          <p:cNvSpPr/>
          <p:nvPr/>
        </p:nvSpPr>
        <p:spPr>
          <a:xfrm>
            <a:off x="3163824" y="2761488"/>
            <a:ext cx="457200" cy="54864"/>
          </a:xfrm>
          <a:prstGeom prst="rect">
            <a:avLst/>
          </a:prstGeom>
          <a:solidFill>
            <a:srgbClr val="F2B705"/>
          </a:solidFill>
          <a:ln/>
        </p:spPr>
      </p:sp>
      <p:sp>
        <p:nvSpPr>
          <p:cNvPr id="10" name="Shape 8"/>
          <p:cNvSpPr/>
          <p:nvPr/>
        </p:nvSpPr>
        <p:spPr>
          <a:xfrm>
            <a:off x="3913632" y="2761488"/>
            <a:ext cx="457200" cy="54864"/>
          </a:xfrm>
          <a:prstGeom prst="rect">
            <a:avLst/>
          </a:prstGeom>
          <a:solidFill>
            <a:srgbClr val="F2B705"/>
          </a:solidFill>
          <a:ln/>
        </p:spPr>
      </p:sp>
      <p:sp>
        <p:nvSpPr>
          <p:cNvPr id="11" name="Shape 9"/>
          <p:cNvSpPr/>
          <p:nvPr/>
        </p:nvSpPr>
        <p:spPr>
          <a:xfrm>
            <a:off x="4663440" y="2761488"/>
            <a:ext cx="457200" cy="54864"/>
          </a:xfrm>
          <a:prstGeom prst="rect">
            <a:avLst/>
          </a:prstGeom>
          <a:solidFill>
            <a:srgbClr val="F2B705"/>
          </a:solidFill>
          <a:ln/>
        </p:spPr>
      </p:sp>
      <p:sp>
        <p:nvSpPr>
          <p:cNvPr id="12" name="Shape 10"/>
          <p:cNvSpPr/>
          <p:nvPr/>
        </p:nvSpPr>
        <p:spPr>
          <a:xfrm>
            <a:off x="5413248" y="2761488"/>
            <a:ext cx="457200" cy="54864"/>
          </a:xfrm>
          <a:prstGeom prst="rect">
            <a:avLst/>
          </a:prstGeom>
          <a:solidFill>
            <a:srgbClr val="F2B705"/>
          </a:solidFill>
          <a:ln/>
        </p:spPr>
      </p:sp>
      <p:sp>
        <p:nvSpPr>
          <p:cNvPr id="13" name="Shape 11"/>
          <p:cNvSpPr/>
          <p:nvPr/>
        </p:nvSpPr>
        <p:spPr>
          <a:xfrm>
            <a:off x="6163056" y="2761488"/>
            <a:ext cx="457200" cy="54864"/>
          </a:xfrm>
          <a:prstGeom prst="rect">
            <a:avLst/>
          </a:prstGeom>
          <a:solidFill>
            <a:srgbClr val="F2B705"/>
          </a:solidFill>
          <a:ln/>
        </p:spPr>
      </p:sp>
      <p:sp>
        <p:nvSpPr>
          <p:cNvPr id="14" name="Shape 12"/>
          <p:cNvSpPr/>
          <p:nvPr/>
        </p:nvSpPr>
        <p:spPr>
          <a:xfrm>
            <a:off x="822960" y="2185416"/>
            <a:ext cx="365760" cy="128016"/>
          </a:xfrm>
          <a:prstGeom prst="rect">
            <a:avLst/>
          </a:prstGeom>
          <a:solidFill>
            <a:schemeClr val="accent1"/>
          </a:solidFill>
          <a:ln w="12700">
            <a:solidFill>
              <a:srgbClr val="000000"/>
            </a:solidFill>
            <a:prstDash val="solid"/>
          </a:ln>
        </p:spPr>
      </p:sp>
      <p:sp>
        <p:nvSpPr>
          <p:cNvPr id="15" name="Shape 13"/>
          <p:cNvSpPr/>
          <p:nvPr/>
        </p:nvSpPr>
        <p:spPr>
          <a:xfrm>
            <a:off x="1188720" y="2185416"/>
            <a:ext cx="365760" cy="128016"/>
          </a:xfrm>
          <a:prstGeom prst="rect">
            <a:avLst/>
          </a:prstGeom>
          <a:solidFill>
            <a:schemeClr val="bg1"/>
          </a:solidFill>
          <a:ln w="12700">
            <a:solidFill>
              <a:srgbClr val="000000"/>
            </a:solidFill>
            <a:prstDash val="solid"/>
          </a:ln>
        </p:spPr>
      </p:sp>
      <p:sp>
        <p:nvSpPr>
          <p:cNvPr id="16" name="Shape 14"/>
          <p:cNvSpPr/>
          <p:nvPr/>
        </p:nvSpPr>
        <p:spPr>
          <a:xfrm>
            <a:off x="1554480" y="2185416"/>
            <a:ext cx="365760" cy="128016"/>
          </a:xfrm>
          <a:prstGeom prst="rect">
            <a:avLst/>
          </a:prstGeom>
          <a:solidFill>
            <a:schemeClr val="accent1"/>
          </a:solidFill>
          <a:ln w="12700">
            <a:solidFill>
              <a:srgbClr val="000000"/>
            </a:solidFill>
            <a:prstDash val="solid"/>
          </a:ln>
        </p:spPr>
      </p:sp>
      <p:sp>
        <p:nvSpPr>
          <p:cNvPr id="17" name="Shape 15"/>
          <p:cNvSpPr/>
          <p:nvPr/>
        </p:nvSpPr>
        <p:spPr>
          <a:xfrm>
            <a:off x="4206240" y="1911096"/>
            <a:ext cx="365760" cy="128016"/>
          </a:xfrm>
          <a:prstGeom prst="rect">
            <a:avLst/>
          </a:prstGeom>
          <a:solidFill>
            <a:schemeClr val="accent1"/>
          </a:solidFill>
          <a:ln w="12700">
            <a:solidFill>
              <a:srgbClr val="000000"/>
            </a:solidFill>
            <a:prstDash val="solid"/>
          </a:ln>
        </p:spPr>
      </p:sp>
      <p:sp>
        <p:nvSpPr>
          <p:cNvPr id="18" name="Shape 16"/>
          <p:cNvSpPr/>
          <p:nvPr/>
        </p:nvSpPr>
        <p:spPr>
          <a:xfrm>
            <a:off x="4572000" y="1911096"/>
            <a:ext cx="365760" cy="128016"/>
          </a:xfrm>
          <a:prstGeom prst="rect">
            <a:avLst/>
          </a:prstGeom>
          <a:solidFill>
            <a:schemeClr val="bg1"/>
          </a:solidFill>
          <a:ln w="12700">
            <a:solidFill>
              <a:srgbClr val="000000"/>
            </a:solidFill>
            <a:prstDash val="solid"/>
          </a:ln>
        </p:spPr>
      </p:sp>
      <p:sp>
        <p:nvSpPr>
          <p:cNvPr id="19" name="Shape 17"/>
          <p:cNvSpPr/>
          <p:nvPr/>
        </p:nvSpPr>
        <p:spPr>
          <a:xfrm>
            <a:off x="4937760" y="1911096"/>
            <a:ext cx="365760" cy="128016"/>
          </a:xfrm>
          <a:prstGeom prst="rect">
            <a:avLst/>
          </a:prstGeom>
          <a:solidFill>
            <a:schemeClr val="accent1"/>
          </a:solidFill>
          <a:ln w="12700">
            <a:solidFill>
              <a:srgbClr val="000000"/>
            </a:solidFill>
            <a:prstDash val="solid"/>
          </a:ln>
        </p:spPr>
      </p:sp>
      <p:sp>
        <p:nvSpPr>
          <p:cNvPr id="20" name="Shape 18"/>
          <p:cNvSpPr/>
          <p:nvPr/>
        </p:nvSpPr>
        <p:spPr>
          <a:xfrm>
            <a:off x="5303520" y="1911096"/>
            <a:ext cx="365760" cy="128016"/>
          </a:xfrm>
          <a:prstGeom prst="rect">
            <a:avLst/>
          </a:prstGeom>
          <a:solidFill>
            <a:schemeClr val="bg1"/>
          </a:solidFill>
          <a:ln w="12700">
            <a:solidFill>
              <a:srgbClr val="000000"/>
            </a:solidFill>
            <a:prstDash val="solid"/>
          </a:ln>
        </p:spPr>
      </p:sp>
      <p:sp>
        <p:nvSpPr>
          <p:cNvPr id="21" name="Shape 19"/>
          <p:cNvSpPr/>
          <p:nvPr/>
        </p:nvSpPr>
        <p:spPr>
          <a:xfrm>
            <a:off x="5669280" y="1911096"/>
            <a:ext cx="365760" cy="128016"/>
          </a:xfrm>
          <a:prstGeom prst="rect">
            <a:avLst/>
          </a:prstGeom>
          <a:solidFill>
            <a:schemeClr val="accent1"/>
          </a:solidFill>
          <a:ln w="12700">
            <a:solidFill>
              <a:srgbClr val="000000"/>
            </a:solidFill>
            <a:prstDash val="solid"/>
          </a:ln>
        </p:spPr>
      </p:sp>
      <p:sp>
        <p:nvSpPr>
          <p:cNvPr id="22" name="Shape 20"/>
          <p:cNvSpPr/>
          <p:nvPr/>
        </p:nvSpPr>
        <p:spPr>
          <a:xfrm>
            <a:off x="6035040" y="1911096"/>
            <a:ext cx="365760" cy="128016"/>
          </a:xfrm>
          <a:prstGeom prst="rect">
            <a:avLst/>
          </a:prstGeom>
          <a:solidFill>
            <a:schemeClr val="bg1"/>
          </a:solidFill>
          <a:ln w="12700">
            <a:solidFill>
              <a:srgbClr val="000000"/>
            </a:solidFill>
            <a:prstDash val="solid"/>
          </a:ln>
        </p:spPr>
      </p:sp>
      <p:sp>
        <p:nvSpPr>
          <p:cNvPr id="23" name="Shape 21"/>
          <p:cNvSpPr/>
          <p:nvPr/>
        </p:nvSpPr>
        <p:spPr>
          <a:xfrm>
            <a:off x="6400800" y="1911096"/>
            <a:ext cx="365760" cy="128016"/>
          </a:xfrm>
          <a:prstGeom prst="rect">
            <a:avLst/>
          </a:prstGeom>
          <a:solidFill>
            <a:schemeClr val="accent1"/>
          </a:solidFill>
          <a:ln w="12700">
            <a:solidFill>
              <a:srgbClr val="000000"/>
            </a:solidFill>
            <a:prstDash val="solid"/>
          </a:ln>
        </p:spPr>
      </p:sp>
      <p:sp>
        <p:nvSpPr>
          <p:cNvPr id="24" name="Shape 22"/>
          <p:cNvSpPr/>
          <p:nvPr/>
        </p:nvSpPr>
        <p:spPr>
          <a:xfrm>
            <a:off x="822960" y="3264408"/>
            <a:ext cx="365760" cy="128016"/>
          </a:xfrm>
          <a:prstGeom prst="rect">
            <a:avLst/>
          </a:prstGeom>
          <a:solidFill>
            <a:schemeClr val="accent1"/>
          </a:solidFill>
          <a:ln w="12700">
            <a:solidFill>
              <a:srgbClr val="000000"/>
            </a:solidFill>
            <a:prstDash val="solid"/>
          </a:ln>
        </p:spPr>
      </p:sp>
      <p:sp>
        <p:nvSpPr>
          <p:cNvPr id="25" name="Shape 23"/>
          <p:cNvSpPr/>
          <p:nvPr/>
        </p:nvSpPr>
        <p:spPr>
          <a:xfrm>
            <a:off x="1188720" y="3264408"/>
            <a:ext cx="365760" cy="128016"/>
          </a:xfrm>
          <a:prstGeom prst="rect">
            <a:avLst/>
          </a:prstGeom>
          <a:solidFill>
            <a:schemeClr val="bg1"/>
          </a:solidFill>
          <a:ln w="12700">
            <a:solidFill>
              <a:srgbClr val="000000"/>
            </a:solidFill>
            <a:prstDash val="solid"/>
          </a:ln>
        </p:spPr>
      </p:sp>
      <p:sp>
        <p:nvSpPr>
          <p:cNvPr id="26" name="Shape 24"/>
          <p:cNvSpPr/>
          <p:nvPr/>
        </p:nvSpPr>
        <p:spPr>
          <a:xfrm>
            <a:off x="1554480" y="3264408"/>
            <a:ext cx="365760" cy="128016"/>
          </a:xfrm>
          <a:prstGeom prst="rect">
            <a:avLst/>
          </a:prstGeom>
          <a:solidFill>
            <a:schemeClr val="accent1"/>
          </a:solidFill>
          <a:ln w="12700">
            <a:solidFill>
              <a:srgbClr val="000000"/>
            </a:solidFill>
            <a:prstDash val="solid"/>
          </a:ln>
        </p:spPr>
      </p:sp>
      <p:sp>
        <p:nvSpPr>
          <p:cNvPr id="27" name="Shape 25"/>
          <p:cNvSpPr/>
          <p:nvPr/>
        </p:nvSpPr>
        <p:spPr>
          <a:xfrm>
            <a:off x="4206240" y="3538728"/>
            <a:ext cx="365760" cy="128016"/>
          </a:xfrm>
          <a:prstGeom prst="rect">
            <a:avLst/>
          </a:prstGeom>
          <a:solidFill>
            <a:schemeClr val="accent1"/>
          </a:solidFill>
          <a:ln w="12700">
            <a:solidFill>
              <a:srgbClr val="000000"/>
            </a:solidFill>
            <a:prstDash val="solid"/>
          </a:ln>
        </p:spPr>
      </p:sp>
      <p:sp>
        <p:nvSpPr>
          <p:cNvPr id="28" name="Shape 26"/>
          <p:cNvSpPr/>
          <p:nvPr/>
        </p:nvSpPr>
        <p:spPr>
          <a:xfrm>
            <a:off x="4572000" y="3538728"/>
            <a:ext cx="365760" cy="128016"/>
          </a:xfrm>
          <a:prstGeom prst="rect">
            <a:avLst/>
          </a:prstGeom>
          <a:solidFill>
            <a:schemeClr val="bg1"/>
          </a:solidFill>
          <a:ln w="12700">
            <a:solidFill>
              <a:srgbClr val="000000"/>
            </a:solidFill>
            <a:prstDash val="solid"/>
          </a:ln>
        </p:spPr>
      </p:sp>
      <p:sp>
        <p:nvSpPr>
          <p:cNvPr id="29" name="Shape 27"/>
          <p:cNvSpPr/>
          <p:nvPr/>
        </p:nvSpPr>
        <p:spPr>
          <a:xfrm>
            <a:off x="4937760" y="3538728"/>
            <a:ext cx="365760" cy="128016"/>
          </a:xfrm>
          <a:prstGeom prst="rect">
            <a:avLst/>
          </a:prstGeom>
          <a:solidFill>
            <a:schemeClr val="accent1"/>
          </a:solidFill>
          <a:ln w="12700">
            <a:solidFill>
              <a:srgbClr val="000000"/>
            </a:solidFill>
            <a:prstDash val="solid"/>
          </a:ln>
        </p:spPr>
      </p:sp>
      <p:sp>
        <p:nvSpPr>
          <p:cNvPr id="30" name="Shape 28"/>
          <p:cNvSpPr/>
          <p:nvPr/>
        </p:nvSpPr>
        <p:spPr>
          <a:xfrm>
            <a:off x="5303520" y="3538728"/>
            <a:ext cx="365760" cy="128016"/>
          </a:xfrm>
          <a:prstGeom prst="rect">
            <a:avLst/>
          </a:prstGeom>
          <a:solidFill>
            <a:schemeClr val="bg1"/>
          </a:solidFill>
          <a:ln w="12700">
            <a:solidFill>
              <a:srgbClr val="000000"/>
            </a:solidFill>
            <a:prstDash val="solid"/>
          </a:ln>
        </p:spPr>
      </p:sp>
      <p:sp>
        <p:nvSpPr>
          <p:cNvPr id="31" name="Shape 29"/>
          <p:cNvSpPr/>
          <p:nvPr/>
        </p:nvSpPr>
        <p:spPr>
          <a:xfrm>
            <a:off x="5669280" y="3538728"/>
            <a:ext cx="365760" cy="128016"/>
          </a:xfrm>
          <a:prstGeom prst="rect">
            <a:avLst/>
          </a:prstGeom>
          <a:solidFill>
            <a:schemeClr val="accent1"/>
          </a:solidFill>
          <a:ln w="12700">
            <a:solidFill>
              <a:srgbClr val="000000"/>
            </a:solidFill>
            <a:prstDash val="solid"/>
          </a:ln>
        </p:spPr>
      </p:sp>
      <p:sp>
        <p:nvSpPr>
          <p:cNvPr id="32" name="Shape 30"/>
          <p:cNvSpPr/>
          <p:nvPr/>
        </p:nvSpPr>
        <p:spPr>
          <a:xfrm>
            <a:off x="6035040" y="3538728"/>
            <a:ext cx="365760" cy="128016"/>
          </a:xfrm>
          <a:prstGeom prst="rect">
            <a:avLst/>
          </a:prstGeom>
          <a:solidFill>
            <a:schemeClr val="bg1"/>
          </a:solidFill>
          <a:ln w="12700">
            <a:solidFill>
              <a:srgbClr val="000000"/>
            </a:solidFill>
            <a:prstDash val="solid"/>
          </a:ln>
        </p:spPr>
      </p:sp>
      <p:sp>
        <p:nvSpPr>
          <p:cNvPr id="33" name="Shape 31"/>
          <p:cNvSpPr/>
          <p:nvPr/>
        </p:nvSpPr>
        <p:spPr>
          <a:xfrm>
            <a:off x="6400800" y="3538728"/>
            <a:ext cx="365760" cy="128016"/>
          </a:xfrm>
          <a:prstGeom prst="rect">
            <a:avLst/>
          </a:prstGeom>
          <a:solidFill>
            <a:schemeClr val="accent1"/>
          </a:solidFill>
          <a:ln w="12700">
            <a:solidFill>
              <a:srgbClr val="000000"/>
            </a:solidFill>
            <a:prstDash val="solid"/>
          </a:ln>
        </p:spPr>
      </p:sp>
      <p:sp>
        <p:nvSpPr>
          <p:cNvPr id="34" name="Shape 32"/>
          <p:cNvSpPr/>
          <p:nvPr/>
        </p:nvSpPr>
        <p:spPr>
          <a:xfrm>
            <a:off x="2852928" y="2331720"/>
            <a:ext cx="146304" cy="146304"/>
          </a:xfrm>
          <a:prstGeom prst="ellipse">
            <a:avLst/>
          </a:prstGeom>
          <a:solidFill>
            <a:srgbClr val="FF7F00"/>
          </a:solidFill>
          <a:ln w="9525">
            <a:solidFill>
              <a:srgbClr val="000000"/>
            </a:solidFill>
            <a:prstDash val="solid"/>
          </a:ln>
        </p:spPr>
      </p:sp>
      <p:sp>
        <p:nvSpPr>
          <p:cNvPr id="35" name="Shape 33"/>
          <p:cNvSpPr/>
          <p:nvPr/>
        </p:nvSpPr>
        <p:spPr>
          <a:xfrm>
            <a:off x="4133088" y="2057400"/>
            <a:ext cx="146304" cy="146304"/>
          </a:xfrm>
          <a:prstGeom prst="ellipse">
            <a:avLst/>
          </a:prstGeom>
          <a:solidFill>
            <a:srgbClr val="FF7F00"/>
          </a:solidFill>
          <a:ln w="9525">
            <a:solidFill>
              <a:srgbClr val="000000"/>
            </a:solidFill>
            <a:prstDash val="solid"/>
          </a:ln>
        </p:spPr>
      </p:sp>
      <p:sp>
        <p:nvSpPr>
          <p:cNvPr id="36" name="Shape 34"/>
          <p:cNvSpPr/>
          <p:nvPr/>
        </p:nvSpPr>
        <p:spPr>
          <a:xfrm>
            <a:off x="2852928" y="3099816"/>
            <a:ext cx="146304" cy="146304"/>
          </a:xfrm>
          <a:prstGeom prst="ellipse">
            <a:avLst/>
          </a:prstGeom>
          <a:solidFill>
            <a:srgbClr val="FF7F00"/>
          </a:solidFill>
          <a:ln w="9525">
            <a:solidFill>
              <a:srgbClr val="000000"/>
            </a:solidFill>
            <a:prstDash val="solid"/>
          </a:ln>
        </p:spPr>
      </p:sp>
      <p:sp>
        <p:nvSpPr>
          <p:cNvPr id="37" name="Shape 35"/>
          <p:cNvSpPr/>
          <p:nvPr/>
        </p:nvSpPr>
        <p:spPr>
          <a:xfrm>
            <a:off x="4133088" y="3374136"/>
            <a:ext cx="146304" cy="146304"/>
          </a:xfrm>
          <a:prstGeom prst="ellipse">
            <a:avLst/>
          </a:prstGeom>
          <a:solidFill>
            <a:srgbClr val="FF7F00"/>
          </a:solidFill>
          <a:ln w="9525">
            <a:solidFill>
              <a:srgbClr val="000000"/>
            </a:solidFill>
            <a:prstDash val="solid"/>
          </a:ln>
        </p:spPr>
      </p:sp>
      <p:sp>
        <p:nvSpPr>
          <p:cNvPr id="38" name="Text 36"/>
          <p:cNvSpPr txBox="1"/>
          <p:nvPr/>
        </p:nvSpPr>
        <p:spPr>
          <a:xfrm>
            <a:off x="2651760" y="1837944"/>
            <a:ext cx="548640" cy="274320"/>
          </a:xfrm>
          <a:prstGeom prst="rect">
            <a:avLst/>
          </a:prstGeom>
          <a:noFill/>
          <a:ln/>
        </p:spPr>
        <p:txBody>
          <a:bodyPr wrap="square" lIns="0" tIns="0" rIns="0" bIns="0" rtlCol="0" anchor="ctr"/>
          <a:lstStyle/>
          <a:p>
            <a:pPr algn="ctr" indent="0" marL="0">
              <a:buNone/>
            </a:pPr>
            <a:r>
              <a:rPr lang="en-US" sz="1200" b="1" dirty="0">
                <a:solidFill>
                  <a:srgbClr val="C0661A"/>
                </a:solidFill>
              </a:rPr>
              <a:t>TS</a:t>
            </a:r>
            <a:endParaRPr lang="en-US" sz="1200" dirty="0"/>
          </a:p>
        </p:txBody>
      </p:sp>
      <p:sp>
        <p:nvSpPr>
          <p:cNvPr id="39" name="Text 37"/>
          <p:cNvSpPr txBox="1"/>
          <p:nvPr/>
        </p:nvSpPr>
        <p:spPr>
          <a:xfrm>
            <a:off x="3931920" y="1563624"/>
            <a:ext cx="548640" cy="274320"/>
          </a:xfrm>
          <a:prstGeom prst="rect">
            <a:avLst/>
          </a:prstGeom>
          <a:noFill/>
          <a:ln/>
        </p:spPr>
        <p:txBody>
          <a:bodyPr wrap="square" lIns="0" tIns="0" rIns="0" bIns="0" rtlCol="0" anchor="ctr"/>
          <a:lstStyle/>
          <a:p>
            <a:pPr algn="ctr" indent="0" marL="0">
              <a:buNone/>
            </a:pPr>
            <a:r>
              <a:rPr lang="en-US" sz="1200" b="1" dirty="0">
                <a:solidFill>
                  <a:srgbClr val="C0661A"/>
                </a:solidFill>
              </a:rPr>
              <a:t>TE</a:t>
            </a:r>
            <a:endParaRPr lang="en-US" sz="1200" dirty="0"/>
          </a:p>
        </p:txBody>
      </p:sp>
      <p:sp>
        <p:nvSpPr>
          <p:cNvPr id="40" name="Text 38"/>
          <p:cNvSpPr txBox="1"/>
          <p:nvPr/>
        </p:nvSpPr>
        <p:spPr>
          <a:xfrm>
            <a:off x="1005840" y="2862072"/>
            <a:ext cx="914400" cy="274320"/>
          </a:xfrm>
          <a:prstGeom prst="rect">
            <a:avLst/>
          </a:prstGeom>
          <a:noFill/>
          <a:ln/>
        </p:spPr>
        <p:txBody>
          <a:bodyPr wrap="square" lIns="0" tIns="0" rIns="0" bIns="0" rtlCol="0" anchor="ctr"/>
          <a:lstStyle/>
          <a:p>
            <a:pPr indent="0" marL="0">
              <a:buNone/>
            </a:pPr>
            <a:r>
              <a:rPr lang="en-US" sz="1200" b="1" dirty="0">
                <a:solidFill>
                  <a:srgbClr val="FFFFFF"/>
                </a:solidFill>
              </a:rPr>
              <a:t>7.30 m</a:t>
            </a:r>
            <a:endParaRPr lang="en-US" sz="1200" dirty="0"/>
          </a:p>
        </p:txBody>
      </p:sp>
      <p:sp>
        <p:nvSpPr>
          <p:cNvPr id="41" name="Text 39"/>
          <p:cNvSpPr txBox="1"/>
          <p:nvPr/>
        </p:nvSpPr>
        <p:spPr>
          <a:xfrm>
            <a:off x="4480560" y="2862072"/>
            <a:ext cx="2377440" cy="274320"/>
          </a:xfrm>
          <a:prstGeom prst="rect">
            <a:avLst/>
          </a:prstGeom>
          <a:noFill/>
          <a:ln/>
        </p:spPr>
        <p:txBody>
          <a:bodyPr wrap="square" lIns="0" tIns="0" rIns="0" bIns="0" rtlCol="0" anchor="ctr"/>
          <a:lstStyle/>
          <a:p>
            <a:pPr indent="0" marL="0">
              <a:buNone/>
            </a:pPr>
            <a:r>
              <a:rPr lang="en-US" sz="1200" b="1" dirty="0">
                <a:solidFill>
                  <a:srgbClr val="FFFFFF"/>
                </a:solidFill>
              </a:rPr>
              <a:t>9.30 m  to the road end  &gt;</a:t>
            </a:r>
            <a:endParaRPr lang="en-US" sz="1200" dirty="0"/>
          </a:p>
        </p:txBody>
      </p:sp>
      <p:sp>
        <p:nvSpPr>
          <p:cNvPr id="42" name="Text 40"/>
          <p:cNvSpPr txBox="1"/>
          <p:nvPr/>
        </p:nvSpPr>
        <p:spPr>
          <a:xfrm>
            <a:off x="2377440" y="3840480"/>
            <a:ext cx="1097280" cy="274320"/>
          </a:xfrm>
          <a:prstGeom prst="rect">
            <a:avLst/>
          </a:prstGeom>
          <a:noFill/>
          <a:ln/>
        </p:spPr>
        <p:txBody>
          <a:bodyPr wrap="square" lIns="0" tIns="0" rIns="0" bIns="0" rtlCol="0" anchor="ctr"/>
          <a:lstStyle/>
          <a:p>
            <a:pPr algn="ctr" indent="0" marL="0">
              <a:buNone/>
            </a:pPr>
            <a:r>
              <a:rPr lang="en-US" sz="1200" dirty="0">
                <a:solidFill>
                  <a:schemeClr val="tx2"/>
                </a:solidFill>
              </a:rPr>
              <a:t>Start CH</a:t>
            </a:r>
            <a:endParaRPr lang="en-US" sz="1200" dirty="0"/>
          </a:p>
        </p:txBody>
      </p:sp>
      <p:sp>
        <p:nvSpPr>
          <p:cNvPr id="43" name="Text 41"/>
          <p:cNvSpPr txBox="1"/>
          <p:nvPr/>
        </p:nvSpPr>
        <p:spPr>
          <a:xfrm>
            <a:off x="3657600" y="3840480"/>
            <a:ext cx="1097280" cy="274320"/>
          </a:xfrm>
          <a:prstGeom prst="rect">
            <a:avLst/>
          </a:prstGeom>
          <a:noFill/>
          <a:ln/>
        </p:spPr>
        <p:txBody>
          <a:bodyPr wrap="square" lIns="0" tIns="0" rIns="0" bIns="0" rtlCol="0" anchor="ctr"/>
          <a:lstStyle/>
          <a:p>
            <a:pPr algn="ctr" indent="0" marL="0">
              <a:buNone/>
            </a:pPr>
            <a:r>
              <a:rPr lang="en-US" sz="1200" dirty="0">
                <a:solidFill>
                  <a:schemeClr val="tx2"/>
                </a:solidFill>
              </a:rPr>
              <a:t>End CH</a:t>
            </a:r>
            <a:endParaRPr lang="en-US" sz="1200" dirty="0"/>
          </a:p>
        </p:txBody>
      </p:sp>
      <p:sp>
        <p:nvSpPr>
          <p:cNvPr id="44" name="Shape 42"/>
          <p:cNvSpPr/>
          <p:nvPr/>
        </p:nvSpPr>
        <p:spPr>
          <a:xfrm>
            <a:off x="548640" y="4434840"/>
            <a:ext cx="2103120" cy="1691640"/>
          </a:xfrm>
          <a:prstGeom prst="roundRect">
            <a:avLst>
              <a:gd name="adj" fmla="val 5405"/>
            </a:avLst>
          </a:prstGeom>
          <a:solidFill>
            <a:schemeClr val="bg2"/>
          </a:solidFill>
          <a:ln w="9525">
            <a:solidFill>
              <a:schemeClr val="accent6"/>
            </a:solidFill>
            <a:prstDash val="solid"/>
          </a:ln>
        </p:spPr>
      </p:sp>
      <p:sp>
        <p:nvSpPr>
          <p:cNvPr id="45" name="Text 43"/>
          <p:cNvSpPr txBox="1"/>
          <p:nvPr/>
        </p:nvSpPr>
        <p:spPr>
          <a:xfrm>
            <a:off x="713232" y="4526280"/>
            <a:ext cx="1828800" cy="365760"/>
          </a:xfrm>
          <a:prstGeom prst="rect">
            <a:avLst/>
          </a:prstGeom>
          <a:noFill/>
          <a:ln/>
        </p:spPr>
        <p:txBody>
          <a:bodyPr wrap="square" lIns="0" tIns="0" rIns="0" bIns="0" rtlCol="0" anchor="ctr"/>
          <a:lstStyle/>
          <a:p>
            <a:pPr indent="0" marL="0">
              <a:buNone/>
            </a:pPr>
            <a:r>
              <a:rPr lang="en-US" sz="1500" b="1" dirty="0">
                <a:solidFill>
                  <a:schemeClr val="accent1"/>
                </a:solidFill>
              </a:rPr>
              <a:t>Any start and end</a:t>
            </a:r>
            <a:endParaRPr lang="en-US" sz="1500" dirty="0"/>
          </a:p>
        </p:txBody>
      </p:sp>
      <p:sp>
        <p:nvSpPr>
          <p:cNvPr id="46" name="Text 44"/>
          <p:cNvSpPr txBox="1"/>
          <p:nvPr/>
        </p:nvSpPr>
        <p:spPr>
          <a:xfrm>
            <a:off x="713232" y="4892040"/>
            <a:ext cx="1828800" cy="1188720"/>
          </a:xfrm>
          <a:prstGeom prst="rect">
            <a:avLst/>
          </a:prstGeom>
          <a:noFill/>
          <a:ln/>
        </p:spPr>
        <p:txBody>
          <a:bodyPr wrap="square" lIns="0" tIns="0" rIns="0" bIns="0" rtlCol="0" anchor="t"/>
          <a:lstStyle/>
          <a:p>
            <a:pPr indent="0" marL="0">
              <a:buNone/>
            </a:pPr>
            <a:r>
              <a:rPr lang="en-US" sz="1200" dirty="0">
                <a:solidFill>
                  <a:schemeClr val="tx2"/>
                </a:solidFill>
              </a:rPr>
              <a:t>Put the taper at any chainage: start, middle or end of the road.</a:t>
            </a:r>
            <a:endParaRPr lang="en-US" sz="1200" dirty="0"/>
          </a:p>
        </p:txBody>
      </p:sp>
      <p:sp>
        <p:nvSpPr>
          <p:cNvPr id="47" name="Shape 45"/>
          <p:cNvSpPr/>
          <p:nvPr/>
        </p:nvSpPr>
        <p:spPr>
          <a:xfrm>
            <a:off x="2807208" y="4434840"/>
            <a:ext cx="2103120" cy="1691640"/>
          </a:xfrm>
          <a:prstGeom prst="roundRect">
            <a:avLst>
              <a:gd name="adj" fmla="val 5405"/>
            </a:avLst>
          </a:prstGeom>
          <a:solidFill>
            <a:schemeClr val="bg2"/>
          </a:solidFill>
          <a:ln w="9525">
            <a:solidFill>
              <a:schemeClr val="accent6"/>
            </a:solidFill>
            <a:prstDash val="solid"/>
          </a:ln>
        </p:spPr>
      </p:sp>
      <p:sp>
        <p:nvSpPr>
          <p:cNvPr id="48" name="Text 46"/>
          <p:cNvSpPr txBox="1"/>
          <p:nvPr/>
        </p:nvSpPr>
        <p:spPr>
          <a:xfrm>
            <a:off x="2971800" y="4526280"/>
            <a:ext cx="1828800" cy="365760"/>
          </a:xfrm>
          <a:prstGeom prst="rect">
            <a:avLst/>
          </a:prstGeom>
          <a:noFill/>
          <a:ln/>
        </p:spPr>
        <p:txBody>
          <a:bodyPr wrap="square" lIns="0" tIns="0" rIns="0" bIns="0" rtlCol="0" anchor="ctr"/>
          <a:lstStyle/>
          <a:p>
            <a:pPr indent="0" marL="0">
              <a:buNone/>
            </a:pPr>
            <a:r>
              <a:rPr lang="en-US" sz="1500" b="1" dirty="0">
                <a:solidFill>
                  <a:schemeClr val="accent1"/>
                </a:solidFill>
              </a:rPr>
              <a:t>Tapers add up</a:t>
            </a:r>
            <a:endParaRPr lang="en-US" sz="1500" dirty="0"/>
          </a:p>
        </p:txBody>
      </p:sp>
      <p:sp>
        <p:nvSpPr>
          <p:cNvPr id="49" name="Text 47"/>
          <p:cNvSpPr txBox="1"/>
          <p:nvPr/>
        </p:nvSpPr>
        <p:spPr>
          <a:xfrm>
            <a:off x="2971800" y="4892040"/>
            <a:ext cx="1828800" cy="1188720"/>
          </a:xfrm>
          <a:prstGeom prst="rect">
            <a:avLst/>
          </a:prstGeom>
          <a:noFill/>
          <a:ln/>
        </p:spPr>
        <p:txBody>
          <a:bodyPr wrap="square" lIns="0" tIns="0" rIns="0" bIns="0" rtlCol="0" anchor="t"/>
          <a:lstStyle/>
          <a:p>
            <a:pPr indent="0" marL="0">
              <a:buNone/>
            </a:pPr>
            <a:r>
              <a:rPr lang="en-US" sz="1200" dirty="0">
                <a:solidFill>
                  <a:schemeClr val="tx2"/>
                </a:solidFill>
              </a:rPr>
              <a:t>Run RDT again anywhere. 7.30 &gt; 9.30 m, later 9.30 &gt; 7.30 m.</a:t>
            </a:r>
            <a:endParaRPr lang="en-US" sz="1200" dirty="0"/>
          </a:p>
        </p:txBody>
      </p:sp>
      <p:sp>
        <p:nvSpPr>
          <p:cNvPr id="50" name="Shape 48"/>
          <p:cNvSpPr/>
          <p:nvPr/>
        </p:nvSpPr>
        <p:spPr>
          <a:xfrm>
            <a:off x="5065776" y="4434840"/>
            <a:ext cx="2103120" cy="1691640"/>
          </a:xfrm>
          <a:prstGeom prst="roundRect">
            <a:avLst>
              <a:gd name="adj" fmla="val 5405"/>
            </a:avLst>
          </a:prstGeom>
          <a:solidFill>
            <a:schemeClr val="bg2"/>
          </a:solidFill>
          <a:ln w="9525">
            <a:solidFill>
              <a:schemeClr val="accent6"/>
            </a:solidFill>
            <a:prstDash val="solid"/>
          </a:ln>
        </p:spPr>
      </p:sp>
      <p:sp>
        <p:nvSpPr>
          <p:cNvPr id="51" name="Text 49"/>
          <p:cNvSpPr txBox="1"/>
          <p:nvPr/>
        </p:nvSpPr>
        <p:spPr>
          <a:xfrm>
            <a:off x="5230368" y="4526280"/>
            <a:ext cx="1828800" cy="365760"/>
          </a:xfrm>
          <a:prstGeom prst="rect">
            <a:avLst/>
          </a:prstGeom>
          <a:noFill/>
          <a:ln/>
        </p:spPr>
        <p:txBody>
          <a:bodyPr wrap="square" lIns="0" tIns="0" rIns="0" bIns="0" rtlCol="0" anchor="ctr"/>
          <a:lstStyle/>
          <a:p>
            <a:pPr indent="0" marL="0">
              <a:buNone/>
            </a:pPr>
            <a:r>
              <a:rPr lang="en-US" sz="1500" b="1" dirty="0">
                <a:solidFill>
                  <a:schemeClr val="accent1"/>
                </a:solidFill>
              </a:rPr>
              <a:t>Wider or narrower</a:t>
            </a:r>
            <a:endParaRPr lang="en-US" sz="1500" dirty="0"/>
          </a:p>
        </p:txBody>
      </p:sp>
      <p:sp>
        <p:nvSpPr>
          <p:cNvPr id="52" name="Text 50"/>
          <p:cNvSpPr txBox="1"/>
          <p:nvPr/>
        </p:nvSpPr>
        <p:spPr>
          <a:xfrm>
            <a:off x="5230368" y="4892040"/>
            <a:ext cx="1828800" cy="1188720"/>
          </a:xfrm>
          <a:prstGeom prst="rect">
            <a:avLst/>
          </a:prstGeom>
          <a:noFill/>
          <a:ln/>
        </p:spPr>
        <p:txBody>
          <a:bodyPr wrap="square" lIns="0" tIns="0" rIns="0" bIns="0" rtlCol="0" anchor="t"/>
          <a:lstStyle/>
          <a:p>
            <a:pPr indent="0" marL="0">
              <a:buNone/>
            </a:pPr>
            <a:r>
              <a:rPr lang="en-US" sz="1200" dirty="0">
                <a:solidFill>
                  <a:schemeClr val="tx2"/>
                </a:solidFill>
              </a:rPr>
              <a:t>+ shift adds hatched surface, - shift wipes the old surface out.</a:t>
            </a:r>
            <a:endParaRPr lang="en-US" sz="1200" dirty="0"/>
          </a:p>
        </p:txBody>
      </p:sp>
      <p:sp>
        <p:nvSpPr>
          <p:cNvPr id="53" name="keycap RDT"/>
          <p:cNvSpPr/>
          <p:nvPr/>
        </p:nvSpPr>
        <p:spPr>
          <a:xfrm>
            <a:off x="7498080" y="1325880"/>
            <a:ext cx="1188720" cy="502920"/>
          </a:xfrm>
          <a:prstGeom prst="roundRect">
            <a:avLst>
              <a:gd name="adj" fmla="val 1454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54" name="Text 52"/>
          <p:cNvSpPr txBox="1"/>
          <p:nvPr/>
        </p:nvSpPr>
        <p:spPr>
          <a:xfrm>
            <a:off x="7498080" y="1325880"/>
            <a:ext cx="11887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RDT</a:t>
            </a:r>
            <a:endParaRPr lang="en-US" sz="1800" dirty="0"/>
          </a:p>
        </p:txBody>
      </p:sp>
      <p:sp>
        <p:nvSpPr>
          <p:cNvPr id="55" name="Text 53"/>
          <p:cNvSpPr txBox="1"/>
          <p:nvPr/>
        </p:nvSpPr>
        <p:spPr>
          <a:xfrm>
            <a:off x="8869680" y="1325880"/>
            <a:ext cx="2743200" cy="502920"/>
          </a:xfrm>
          <a:prstGeom prst="rect">
            <a:avLst/>
          </a:prstGeom>
          <a:noFill/>
          <a:ln/>
        </p:spPr>
        <p:txBody>
          <a:bodyPr wrap="square" lIns="0" tIns="0" rIns="0" bIns="0" rtlCol="0" anchor="ctr"/>
          <a:lstStyle/>
          <a:p>
            <a:pPr indent="0" marL="0">
              <a:buNone/>
            </a:pPr>
            <a:r>
              <a:rPr lang="en-US" sz="1600" b="1" dirty="0">
                <a:solidFill>
                  <a:schemeClr val="tx1"/>
                </a:solidFill>
              </a:rPr>
              <a:t>Select the centre line</a:t>
            </a:r>
            <a:endParaRPr lang="en-US" sz="1600" dirty="0"/>
          </a:p>
        </p:txBody>
      </p:sp>
      <p:sp>
        <p:nvSpPr>
          <p:cNvPr id="56" name="Shape 54"/>
          <p:cNvSpPr/>
          <p:nvPr/>
        </p:nvSpPr>
        <p:spPr>
          <a:xfrm>
            <a:off x="7498080" y="2020824"/>
            <a:ext cx="4114800" cy="411480"/>
          </a:xfrm>
          <a:prstGeom prst="rect">
            <a:avLst/>
          </a:prstGeom>
          <a:solidFill>
            <a:schemeClr val="bg2"/>
          </a:solidFill>
          <a:ln/>
        </p:spPr>
      </p:sp>
      <p:sp>
        <p:nvSpPr>
          <p:cNvPr id="57" name="Text 55"/>
          <p:cNvSpPr txBox="1"/>
          <p:nvPr/>
        </p:nvSpPr>
        <p:spPr>
          <a:xfrm>
            <a:off x="7635240" y="2057400"/>
            <a:ext cx="2011680" cy="347472"/>
          </a:xfrm>
          <a:prstGeom prst="rect">
            <a:avLst/>
          </a:prstGeom>
          <a:noFill/>
          <a:ln/>
        </p:spPr>
        <p:txBody>
          <a:bodyPr wrap="square" lIns="0" tIns="0" rIns="0" bIns="0" rtlCol="0" anchor="ctr"/>
          <a:lstStyle/>
          <a:p>
            <a:pPr indent="0" marL="0">
              <a:buNone/>
            </a:pPr>
            <a:r>
              <a:rPr lang="en-US" sz="1400" dirty="0">
                <a:solidFill>
                  <a:schemeClr val="tx2"/>
                </a:solidFill>
              </a:rPr>
              <a:t>Side</a:t>
            </a:r>
            <a:endParaRPr lang="en-US" sz="1400" dirty="0"/>
          </a:p>
        </p:txBody>
      </p:sp>
      <p:sp>
        <p:nvSpPr>
          <p:cNvPr id="58" name="Text 56"/>
          <p:cNvSpPr txBox="1"/>
          <p:nvPr/>
        </p:nvSpPr>
        <p:spPr>
          <a:xfrm>
            <a:off x="9555480" y="2057400"/>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Left / Right / Both</a:t>
            </a:r>
            <a:endParaRPr lang="en-US" sz="1400" dirty="0"/>
          </a:p>
        </p:txBody>
      </p:sp>
      <p:sp>
        <p:nvSpPr>
          <p:cNvPr id="59" name="Text 57"/>
          <p:cNvSpPr txBox="1"/>
          <p:nvPr/>
        </p:nvSpPr>
        <p:spPr>
          <a:xfrm>
            <a:off x="7635240" y="2487168"/>
            <a:ext cx="2011680" cy="347472"/>
          </a:xfrm>
          <a:prstGeom prst="rect">
            <a:avLst/>
          </a:prstGeom>
          <a:noFill/>
          <a:ln/>
        </p:spPr>
        <p:txBody>
          <a:bodyPr wrap="square" lIns="0" tIns="0" rIns="0" bIns="0" rtlCol="0" anchor="ctr"/>
          <a:lstStyle/>
          <a:p>
            <a:pPr indent="0" marL="0">
              <a:buNone/>
            </a:pPr>
            <a:r>
              <a:rPr lang="en-US" sz="1400" dirty="0">
                <a:solidFill>
                  <a:schemeClr val="tx2"/>
                </a:solidFill>
              </a:rPr>
              <a:t>Taper start chainage</a:t>
            </a:r>
            <a:endParaRPr lang="en-US" sz="1400" dirty="0"/>
          </a:p>
        </p:txBody>
      </p:sp>
      <p:sp>
        <p:nvSpPr>
          <p:cNvPr id="60" name="Text 58"/>
          <p:cNvSpPr txBox="1"/>
          <p:nvPr/>
        </p:nvSpPr>
        <p:spPr>
          <a:xfrm>
            <a:off x="9555480" y="2487168"/>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your input</a:t>
            </a:r>
            <a:endParaRPr lang="en-US" sz="1400" dirty="0"/>
          </a:p>
        </p:txBody>
      </p:sp>
      <p:sp>
        <p:nvSpPr>
          <p:cNvPr id="61" name="Shape 59"/>
          <p:cNvSpPr/>
          <p:nvPr/>
        </p:nvSpPr>
        <p:spPr>
          <a:xfrm>
            <a:off x="7498080" y="2880360"/>
            <a:ext cx="4114800" cy="411480"/>
          </a:xfrm>
          <a:prstGeom prst="rect">
            <a:avLst/>
          </a:prstGeom>
          <a:solidFill>
            <a:schemeClr val="bg2"/>
          </a:solidFill>
          <a:ln/>
        </p:spPr>
      </p:sp>
      <p:sp>
        <p:nvSpPr>
          <p:cNvPr id="62" name="Text 60"/>
          <p:cNvSpPr txBox="1"/>
          <p:nvPr/>
        </p:nvSpPr>
        <p:spPr>
          <a:xfrm>
            <a:off x="7635240" y="2916936"/>
            <a:ext cx="2011680" cy="347472"/>
          </a:xfrm>
          <a:prstGeom prst="rect">
            <a:avLst/>
          </a:prstGeom>
          <a:noFill/>
          <a:ln/>
        </p:spPr>
        <p:txBody>
          <a:bodyPr wrap="square" lIns="0" tIns="0" rIns="0" bIns="0" rtlCol="0" anchor="ctr"/>
          <a:lstStyle/>
          <a:p>
            <a:pPr indent="0" marL="0">
              <a:buNone/>
            </a:pPr>
            <a:r>
              <a:rPr lang="en-US" sz="1400" dirty="0">
                <a:solidFill>
                  <a:schemeClr val="tx2"/>
                </a:solidFill>
              </a:rPr>
              <a:t>Taper end chainage</a:t>
            </a:r>
            <a:endParaRPr lang="en-US" sz="1400" dirty="0"/>
          </a:p>
        </p:txBody>
      </p:sp>
      <p:sp>
        <p:nvSpPr>
          <p:cNvPr id="63" name="Text 61"/>
          <p:cNvSpPr txBox="1"/>
          <p:nvPr/>
        </p:nvSpPr>
        <p:spPr>
          <a:xfrm>
            <a:off x="9555480" y="2916936"/>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your input</a:t>
            </a:r>
            <a:endParaRPr lang="en-US" sz="1400" dirty="0"/>
          </a:p>
        </p:txBody>
      </p:sp>
      <p:sp>
        <p:nvSpPr>
          <p:cNvPr id="64" name="Text 62"/>
          <p:cNvSpPr txBox="1"/>
          <p:nvPr/>
        </p:nvSpPr>
        <p:spPr>
          <a:xfrm>
            <a:off x="7635240" y="3346704"/>
            <a:ext cx="2011680" cy="347472"/>
          </a:xfrm>
          <a:prstGeom prst="rect">
            <a:avLst/>
          </a:prstGeom>
          <a:noFill/>
          <a:ln/>
        </p:spPr>
        <p:txBody>
          <a:bodyPr wrap="square" lIns="0" tIns="0" rIns="0" bIns="0" rtlCol="0" anchor="ctr"/>
          <a:lstStyle/>
          <a:p>
            <a:pPr indent="0" marL="0">
              <a:buNone/>
            </a:pPr>
            <a:r>
              <a:rPr lang="en-US" sz="1400" dirty="0">
                <a:solidFill>
                  <a:schemeClr val="tx2"/>
                </a:solidFill>
              </a:rPr>
              <a:t>Edge shift per side</a:t>
            </a:r>
            <a:endParaRPr lang="en-US" sz="1400" dirty="0"/>
          </a:p>
        </p:txBody>
      </p:sp>
      <p:sp>
        <p:nvSpPr>
          <p:cNvPr id="65" name="Text 63"/>
          <p:cNvSpPr txBox="1"/>
          <p:nvPr/>
        </p:nvSpPr>
        <p:spPr>
          <a:xfrm>
            <a:off x="9555480" y="3346704"/>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 wider / - narrower</a:t>
            </a:r>
            <a:endParaRPr lang="en-US" sz="1400" dirty="0"/>
          </a:p>
        </p:txBody>
      </p:sp>
      <p:sp>
        <p:nvSpPr>
          <p:cNvPr id="66" name="Shape 64"/>
          <p:cNvSpPr/>
          <p:nvPr/>
        </p:nvSpPr>
        <p:spPr>
          <a:xfrm>
            <a:off x="7498080" y="3739896"/>
            <a:ext cx="4114800" cy="411480"/>
          </a:xfrm>
          <a:prstGeom prst="rect">
            <a:avLst/>
          </a:prstGeom>
          <a:solidFill>
            <a:schemeClr val="bg2"/>
          </a:solidFill>
          <a:ln/>
        </p:spPr>
      </p:sp>
      <p:sp>
        <p:nvSpPr>
          <p:cNvPr id="67" name="Text 65"/>
          <p:cNvSpPr txBox="1"/>
          <p:nvPr/>
        </p:nvSpPr>
        <p:spPr>
          <a:xfrm>
            <a:off x="7635240" y="3776472"/>
            <a:ext cx="2011680" cy="347472"/>
          </a:xfrm>
          <a:prstGeom prst="rect">
            <a:avLst/>
          </a:prstGeom>
          <a:noFill/>
          <a:ln/>
        </p:spPr>
        <p:txBody>
          <a:bodyPr wrap="square" lIns="0" tIns="0" rIns="0" bIns="0" rtlCol="0" anchor="ctr"/>
          <a:lstStyle/>
          <a:p>
            <a:pPr indent="0" marL="0">
              <a:buNone/>
            </a:pPr>
            <a:r>
              <a:rPr lang="en-US" sz="1400" dirty="0">
                <a:solidFill>
                  <a:schemeClr val="tx2"/>
                </a:solidFill>
              </a:rPr>
              <a:t>Taper type</a:t>
            </a:r>
            <a:endParaRPr lang="en-US" sz="1400" dirty="0"/>
          </a:p>
        </p:txBody>
      </p:sp>
      <p:sp>
        <p:nvSpPr>
          <p:cNvPr id="68" name="Text 66"/>
          <p:cNvSpPr txBox="1"/>
          <p:nvPr/>
        </p:nvSpPr>
        <p:spPr>
          <a:xfrm>
            <a:off x="9555480" y="3776472"/>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Straight or Curve</a:t>
            </a:r>
            <a:endParaRPr lang="en-US" sz="1400" dirty="0"/>
          </a:p>
        </p:txBody>
      </p:sp>
      <p:sp>
        <p:nvSpPr>
          <p:cNvPr id="69" name="Text 67"/>
          <p:cNvSpPr txBox="1"/>
          <p:nvPr/>
        </p:nvSpPr>
        <p:spPr>
          <a:xfrm>
            <a:off x="7635240" y="4206240"/>
            <a:ext cx="2011680" cy="347472"/>
          </a:xfrm>
          <a:prstGeom prst="rect">
            <a:avLst/>
          </a:prstGeom>
          <a:noFill/>
          <a:ln/>
        </p:spPr>
        <p:txBody>
          <a:bodyPr wrap="square" lIns="0" tIns="0" rIns="0" bIns="0" rtlCol="0" anchor="ctr"/>
          <a:lstStyle/>
          <a:p>
            <a:pPr indent="0" marL="0">
              <a:buNone/>
            </a:pPr>
            <a:r>
              <a:rPr lang="en-US" sz="1400" dirty="0">
                <a:solidFill>
                  <a:schemeClr val="tx2"/>
                </a:solidFill>
              </a:rPr>
              <a:t>Match point</a:t>
            </a:r>
            <a:endParaRPr lang="en-US" sz="1400" dirty="0"/>
          </a:p>
        </p:txBody>
      </p:sp>
      <p:sp>
        <p:nvSpPr>
          <p:cNvPr id="70" name="Text 68"/>
          <p:cNvSpPr txBox="1"/>
          <p:nvPr/>
        </p:nvSpPr>
        <p:spPr>
          <a:xfrm>
            <a:off x="9555480" y="4206240"/>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Fillet R or Direct link</a:t>
            </a:r>
            <a:endParaRPr lang="en-US" sz="1400" dirty="0"/>
          </a:p>
        </p:txBody>
      </p:sp>
      <p:sp>
        <p:nvSpPr>
          <p:cNvPr id="71" name="Shape 69"/>
          <p:cNvSpPr/>
          <p:nvPr/>
        </p:nvSpPr>
        <p:spPr>
          <a:xfrm>
            <a:off x="7498080" y="4599432"/>
            <a:ext cx="4114800" cy="411480"/>
          </a:xfrm>
          <a:prstGeom prst="rect">
            <a:avLst/>
          </a:prstGeom>
          <a:solidFill>
            <a:schemeClr val="bg2"/>
          </a:solidFill>
          <a:ln/>
        </p:spPr>
      </p:sp>
      <p:sp>
        <p:nvSpPr>
          <p:cNvPr id="72" name="Text 70"/>
          <p:cNvSpPr txBox="1"/>
          <p:nvPr/>
        </p:nvSpPr>
        <p:spPr>
          <a:xfrm>
            <a:off x="7635240" y="4636008"/>
            <a:ext cx="2011680" cy="347472"/>
          </a:xfrm>
          <a:prstGeom prst="rect">
            <a:avLst/>
          </a:prstGeom>
          <a:noFill/>
          <a:ln/>
        </p:spPr>
        <p:txBody>
          <a:bodyPr wrap="square" lIns="0" tIns="0" rIns="0" bIns="0" rtlCol="0" anchor="ctr"/>
          <a:lstStyle/>
          <a:p>
            <a:pPr indent="0" marL="0">
              <a:buNone/>
            </a:pPr>
            <a:r>
              <a:rPr lang="en-US" sz="1400" dirty="0">
                <a:solidFill>
                  <a:schemeClr val="tx2"/>
                </a:solidFill>
              </a:rPr>
              <a:t>Fillet radius</a:t>
            </a:r>
            <a:endParaRPr lang="en-US" sz="1400" dirty="0"/>
          </a:p>
        </p:txBody>
      </p:sp>
      <p:sp>
        <p:nvSpPr>
          <p:cNvPr id="73" name="Text 71"/>
          <p:cNvSpPr txBox="1"/>
          <p:nvPr/>
        </p:nvSpPr>
        <p:spPr>
          <a:xfrm>
            <a:off x="9555480" y="4636008"/>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30 m</a:t>
            </a:r>
            <a:endParaRPr lang="en-US" sz="1400" dirty="0"/>
          </a:p>
        </p:txBody>
      </p:sp>
      <p:sp>
        <p:nvSpPr>
          <p:cNvPr id="74" name="Text 72"/>
          <p:cNvSpPr txBox="1"/>
          <p:nvPr/>
        </p:nvSpPr>
        <p:spPr>
          <a:xfrm>
            <a:off x="7635240" y="5065776"/>
            <a:ext cx="2011680" cy="347472"/>
          </a:xfrm>
          <a:prstGeom prst="rect">
            <a:avLst/>
          </a:prstGeom>
          <a:noFill/>
          <a:ln/>
        </p:spPr>
        <p:txBody>
          <a:bodyPr wrap="square" lIns="0" tIns="0" rIns="0" bIns="0" rtlCol="0" anchor="ctr"/>
          <a:lstStyle/>
          <a:p>
            <a:pPr indent="0" marL="0">
              <a:buNone/>
            </a:pPr>
            <a:r>
              <a:rPr lang="en-US" sz="1400" dirty="0">
                <a:solidFill>
                  <a:schemeClr val="tx2"/>
                </a:solidFill>
              </a:rPr>
              <a:t>Barricades</a:t>
            </a:r>
            <a:endParaRPr lang="en-US" sz="1400" dirty="0"/>
          </a:p>
        </p:txBody>
      </p:sp>
      <p:sp>
        <p:nvSpPr>
          <p:cNvPr id="75" name="Text 73"/>
          <p:cNvSpPr txBox="1"/>
          <p:nvPr/>
        </p:nvSpPr>
        <p:spPr>
          <a:xfrm>
            <a:off x="9555480" y="5065776"/>
            <a:ext cx="1965960" cy="347472"/>
          </a:xfrm>
          <a:prstGeom prst="rect">
            <a:avLst/>
          </a:prstGeom>
          <a:noFill/>
          <a:ln/>
        </p:spPr>
        <p:txBody>
          <a:bodyPr wrap="square" lIns="0" tIns="0" rIns="0" bIns="0" rtlCol="0" anchor="ctr"/>
          <a:lstStyle/>
          <a:p>
            <a:pPr algn="r" indent="0" marL="0">
              <a:buNone/>
            </a:pPr>
            <a:r>
              <a:rPr lang="en-US" sz="1400" b="1" dirty="0">
                <a:solidFill>
                  <a:schemeClr val="tx1"/>
                </a:solidFill>
              </a:rPr>
              <a:t>follow new edge</a:t>
            </a:r>
            <a:endParaRPr lang="en-US" sz="1400" dirty="0"/>
          </a:p>
        </p:txBody>
      </p:sp>
      <p:sp>
        <p:nvSpPr>
          <p:cNvPr id="76" name="Text 74"/>
          <p:cNvSpPr txBox="1"/>
          <p:nvPr/>
        </p:nvSpPr>
        <p:spPr>
          <a:xfrm>
            <a:off x="7498080" y="5532120"/>
            <a:ext cx="4114800" cy="685800"/>
          </a:xfrm>
          <a:prstGeom prst="rect">
            <a:avLst/>
          </a:prstGeom>
          <a:noFill/>
          <a:ln/>
        </p:spPr>
        <p:txBody>
          <a:bodyPr wrap="square" lIns="0" tIns="0" rIns="0" bIns="0" rtlCol="0" anchor="t"/>
          <a:lstStyle/>
          <a:p>
            <a:pPr indent="0" marL="0">
              <a:buNone/>
            </a:pPr>
            <a:r>
              <a:rPr lang="en-US" sz="1200" i="1" dirty="0">
                <a:solidFill>
                  <a:schemeClr val="accent4"/>
                </a:solidFill>
              </a:rPr>
              <a:t>RDW = extra lane that comes back.  RDT = width change that continues. Keep them on different chainage ranges of the same side.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Report and Excel file</a:t>
            </a:r>
            <a:endParaRPr lang="en-US" sz="3200" dirty="0"/>
          </a:p>
        </p:txBody>
      </p:sp>
      <p:sp>
        <p:nvSpPr>
          <p:cNvPr id="3" name="Shape 1"/>
          <p:cNvSpPr/>
          <p:nvPr/>
        </p:nvSpPr>
        <p:spPr>
          <a:xfrm>
            <a:off x="548640" y="1325880"/>
            <a:ext cx="640080" cy="640080"/>
          </a:xfrm>
          <a:prstGeom prst="ellipse">
            <a:avLst/>
          </a:prstGeom>
          <a:solidFill>
            <a:schemeClr val="accent5"/>
          </a:solidFill>
          <a:ln/>
        </p:spPr>
      </p:sp>
      <p:pic>
        <p:nvPicPr>
          <p:cNvPr id="4" name="Image 0" descr="preencoded.png">    </p:cNvPr>
          <p:cNvPicPr>
            <a:picLocks noChangeAspect="1"/>
          </p:cNvPicPr>
          <p:nvPr/>
        </p:nvPicPr>
        <p:blipFill>
          <a:blip r:embed="rId1"/>
          <a:stretch>
            <a:fillRect/>
          </a:stretch>
        </p:blipFill>
        <p:spPr>
          <a:xfrm>
            <a:off x="702259" y="1479499"/>
            <a:ext cx="332842" cy="332842"/>
          </a:xfrm>
          <a:prstGeom prst="rect">
            <a:avLst/>
          </a:prstGeom>
        </p:spPr>
      </p:pic>
      <p:sp>
        <p:nvSpPr>
          <p:cNvPr id="5" name="Text 2"/>
          <p:cNvSpPr txBox="1"/>
          <p:nvPr/>
        </p:nvSpPr>
        <p:spPr>
          <a:xfrm>
            <a:off x="1417320" y="1280160"/>
            <a:ext cx="5120640" cy="365760"/>
          </a:xfrm>
          <a:prstGeom prst="rect">
            <a:avLst/>
          </a:prstGeom>
          <a:noFill/>
          <a:ln/>
        </p:spPr>
        <p:txBody>
          <a:bodyPr wrap="square" lIns="0" tIns="0" rIns="0" bIns="0" rtlCol="0" anchor="ctr"/>
          <a:lstStyle/>
          <a:p>
            <a:pPr indent="0" marL="0">
              <a:buNone/>
            </a:pPr>
            <a:r>
              <a:rPr lang="en-US" sz="1700" b="1" dirty="0">
                <a:solidFill>
                  <a:schemeClr val="tx1"/>
                </a:solidFill>
              </a:rPr>
              <a:t>Summary</a:t>
            </a:r>
            <a:endParaRPr lang="en-US" sz="1700" dirty="0"/>
          </a:p>
        </p:txBody>
      </p:sp>
      <p:sp>
        <p:nvSpPr>
          <p:cNvPr id="6" name="Text 3"/>
          <p:cNvSpPr txBox="1"/>
          <p:nvPr/>
        </p:nvSpPr>
        <p:spPr>
          <a:xfrm>
            <a:off x="1417320" y="1645920"/>
            <a:ext cx="5120640" cy="365760"/>
          </a:xfrm>
          <a:prstGeom prst="rect">
            <a:avLst/>
          </a:prstGeom>
          <a:noFill/>
          <a:ln/>
        </p:spPr>
        <p:txBody>
          <a:bodyPr wrap="square" lIns="0" tIns="0" rIns="0" bIns="0" rtlCol="0" anchor="ctr"/>
          <a:lstStyle/>
          <a:p>
            <a:pPr indent="0" marL="0">
              <a:buNone/>
            </a:pPr>
            <a:r>
              <a:rPr lang="en-US" sz="1400" dirty="0">
                <a:solidFill>
                  <a:schemeClr val="tx2"/>
                </a:solidFill>
              </a:rPr>
              <a:t>General, geometry, barricades, signs, road ends, chainage</a:t>
            </a:r>
            <a:endParaRPr lang="en-US" sz="1400" dirty="0"/>
          </a:p>
        </p:txBody>
      </p:sp>
      <p:sp>
        <p:nvSpPr>
          <p:cNvPr id="7" name="Shape 4"/>
          <p:cNvSpPr/>
          <p:nvPr/>
        </p:nvSpPr>
        <p:spPr>
          <a:xfrm>
            <a:off x="548640" y="2139696"/>
            <a:ext cx="640080" cy="640080"/>
          </a:xfrm>
          <a:prstGeom prst="ellipse">
            <a:avLst/>
          </a:prstGeom>
          <a:solidFill>
            <a:schemeClr val="accent5"/>
          </a:solidFill>
          <a:ln/>
        </p:spPr>
      </p:sp>
      <p:pic>
        <p:nvPicPr>
          <p:cNvPr id="8" name="Image 1" descr="preencoded.png">    </p:cNvPr>
          <p:cNvPicPr>
            <a:picLocks noChangeAspect="1"/>
          </p:cNvPicPr>
          <p:nvPr/>
        </p:nvPicPr>
        <p:blipFill>
          <a:blip r:embed="rId2"/>
          <a:stretch>
            <a:fillRect/>
          </a:stretch>
        </p:blipFill>
        <p:spPr>
          <a:xfrm>
            <a:off x="702259" y="2293315"/>
            <a:ext cx="332842" cy="332842"/>
          </a:xfrm>
          <a:prstGeom prst="rect">
            <a:avLst/>
          </a:prstGeom>
        </p:spPr>
      </p:pic>
      <p:sp>
        <p:nvSpPr>
          <p:cNvPr id="9" name="Text 5"/>
          <p:cNvSpPr txBox="1"/>
          <p:nvPr/>
        </p:nvSpPr>
        <p:spPr>
          <a:xfrm>
            <a:off x="1417320" y="2093976"/>
            <a:ext cx="5120640" cy="365760"/>
          </a:xfrm>
          <a:prstGeom prst="rect">
            <a:avLst/>
          </a:prstGeom>
          <a:noFill/>
          <a:ln/>
        </p:spPr>
        <p:txBody>
          <a:bodyPr wrap="square" lIns="0" tIns="0" rIns="0" bIns="0" rtlCol="0" anchor="ctr"/>
          <a:lstStyle/>
          <a:p>
            <a:pPr indent="0" marL="0">
              <a:buNone/>
            </a:pPr>
            <a:r>
              <a:rPr lang="en-US" sz="1700" b="1" dirty="0">
                <a:solidFill>
                  <a:schemeClr val="tx1"/>
                </a:solidFill>
              </a:rPr>
              <a:t>Curve data</a:t>
            </a:r>
            <a:endParaRPr lang="en-US" sz="1700" dirty="0"/>
          </a:p>
        </p:txBody>
      </p:sp>
      <p:sp>
        <p:nvSpPr>
          <p:cNvPr id="10" name="Text 6"/>
          <p:cNvSpPr txBox="1"/>
          <p:nvPr/>
        </p:nvSpPr>
        <p:spPr>
          <a:xfrm>
            <a:off x="1417320" y="2459736"/>
            <a:ext cx="5120640" cy="365760"/>
          </a:xfrm>
          <a:prstGeom prst="rect">
            <a:avLst/>
          </a:prstGeom>
          <a:noFill/>
          <a:ln/>
        </p:spPr>
        <p:txBody>
          <a:bodyPr wrap="square" lIns="0" tIns="0" rIns="0" bIns="0" rtlCol="0" anchor="ctr"/>
          <a:lstStyle/>
          <a:p>
            <a:pPr indent="0" marL="0">
              <a:buNone/>
            </a:pPr>
            <a:r>
              <a:rPr lang="en-US" sz="1400" dirty="0">
                <a:solidFill>
                  <a:schemeClr val="tx2"/>
                </a:solidFill>
              </a:rPr>
              <a:t>TC / CT chainage, radius, arc, deflection, E / N</a:t>
            </a:r>
            <a:endParaRPr lang="en-US" sz="1400" dirty="0"/>
          </a:p>
        </p:txBody>
      </p:sp>
      <p:sp>
        <p:nvSpPr>
          <p:cNvPr id="11" name="Shape 7"/>
          <p:cNvSpPr/>
          <p:nvPr/>
        </p:nvSpPr>
        <p:spPr>
          <a:xfrm>
            <a:off x="548640" y="2953512"/>
            <a:ext cx="640080" cy="640080"/>
          </a:xfrm>
          <a:prstGeom prst="ellipse">
            <a:avLst/>
          </a:prstGeom>
          <a:solidFill>
            <a:schemeClr val="accent5"/>
          </a:solidFill>
          <a:ln/>
        </p:spPr>
      </p:sp>
      <p:pic>
        <p:nvPicPr>
          <p:cNvPr id="12" name="Image 2" descr="preencoded.png">    </p:cNvPr>
          <p:cNvPicPr>
            <a:picLocks noChangeAspect="1"/>
          </p:cNvPicPr>
          <p:nvPr/>
        </p:nvPicPr>
        <p:blipFill>
          <a:blip r:embed="rId3"/>
          <a:stretch>
            <a:fillRect/>
          </a:stretch>
        </p:blipFill>
        <p:spPr>
          <a:xfrm>
            <a:off x="702259" y="3107131"/>
            <a:ext cx="332842" cy="332842"/>
          </a:xfrm>
          <a:prstGeom prst="rect">
            <a:avLst/>
          </a:prstGeom>
        </p:spPr>
      </p:pic>
      <p:sp>
        <p:nvSpPr>
          <p:cNvPr id="13" name="Text 8"/>
          <p:cNvSpPr txBox="1"/>
          <p:nvPr/>
        </p:nvSpPr>
        <p:spPr>
          <a:xfrm>
            <a:off x="1417320" y="2907792"/>
            <a:ext cx="5120640" cy="365760"/>
          </a:xfrm>
          <a:prstGeom prst="rect">
            <a:avLst/>
          </a:prstGeom>
          <a:noFill/>
          <a:ln/>
        </p:spPr>
        <p:txBody>
          <a:bodyPr wrap="square" lIns="0" tIns="0" rIns="0" bIns="0" rtlCol="0" anchor="ctr"/>
          <a:lstStyle/>
          <a:p>
            <a:pPr indent="0" marL="0">
              <a:buNone/>
            </a:pPr>
            <a:r>
              <a:rPr lang="en-US" sz="1700" b="1" dirty="0">
                <a:solidFill>
                  <a:schemeClr val="tx1"/>
                </a:solidFill>
              </a:rPr>
              <a:t>Road sections</a:t>
            </a:r>
            <a:endParaRPr lang="en-US" sz="1700" dirty="0"/>
          </a:p>
        </p:txBody>
      </p:sp>
      <p:sp>
        <p:nvSpPr>
          <p:cNvPr id="14" name="Text 9"/>
          <p:cNvSpPr txBox="1"/>
          <p:nvPr/>
        </p:nvSpPr>
        <p:spPr>
          <a:xfrm>
            <a:off x="1417320" y="3273552"/>
            <a:ext cx="5120640" cy="365760"/>
          </a:xfrm>
          <a:prstGeom prst="rect">
            <a:avLst/>
          </a:prstGeom>
          <a:noFill/>
          <a:ln/>
        </p:spPr>
        <p:txBody>
          <a:bodyPr wrap="square" lIns="0" tIns="0" rIns="0" bIns="0" rtlCol="0" anchor="ctr"/>
          <a:lstStyle/>
          <a:p>
            <a:pPr indent="0" marL="0">
              <a:buNone/>
            </a:pPr>
            <a:r>
              <a:rPr lang="en-US" sz="1400" dirty="0">
                <a:solidFill>
                  <a:schemeClr val="tx2"/>
                </a:solidFill>
              </a:rPr>
              <a:t>Every straight and curve: length, edges, area</a:t>
            </a:r>
            <a:endParaRPr lang="en-US" sz="1400" dirty="0"/>
          </a:p>
        </p:txBody>
      </p:sp>
      <p:sp>
        <p:nvSpPr>
          <p:cNvPr id="15" name="Shape 10"/>
          <p:cNvSpPr/>
          <p:nvPr/>
        </p:nvSpPr>
        <p:spPr>
          <a:xfrm>
            <a:off x="548640" y="3767328"/>
            <a:ext cx="640080" cy="640080"/>
          </a:xfrm>
          <a:prstGeom prst="ellipse">
            <a:avLst/>
          </a:prstGeom>
          <a:solidFill>
            <a:schemeClr val="accent5"/>
          </a:solidFill>
          <a:ln/>
        </p:spPr>
      </p:sp>
      <p:pic>
        <p:nvPicPr>
          <p:cNvPr id="16" name="Image 3" descr="preencoded.png">    </p:cNvPr>
          <p:cNvPicPr>
            <a:picLocks noChangeAspect="1"/>
          </p:cNvPicPr>
          <p:nvPr/>
        </p:nvPicPr>
        <p:blipFill>
          <a:blip r:embed="rId4"/>
          <a:stretch>
            <a:fillRect/>
          </a:stretch>
        </p:blipFill>
        <p:spPr>
          <a:xfrm>
            <a:off x="702259" y="3920947"/>
            <a:ext cx="332842" cy="332842"/>
          </a:xfrm>
          <a:prstGeom prst="rect">
            <a:avLst/>
          </a:prstGeom>
        </p:spPr>
      </p:pic>
      <p:sp>
        <p:nvSpPr>
          <p:cNvPr id="17" name="Text 11"/>
          <p:cNvSpPr txBox="1"/>
          <p:nvPr/>
        </p:nvSpPr>
        <p:spPr>
          <a:xfrm>
            <a:off x="1417320" y="3721608"/>
            <a:ext cx="5120640" cy="365760"/>
          </a:xfrm>
          <a:prstGeom prst="rect">
            <a:avLst/>
          </a:prstGeom>
          <a:noFill/>
          <a:ln/>
        </p:spPr>
        <p:txBody>
          <a:bodyPr wrap="square" lIns="0" tIns="0" rIns="0" bIns="0" rtlCol="0" anchor="ctr"/>
          <a:lstStyle/>
          <a:p>
            <a:pPr indent="0" marL="0">
              <a:buNone/>
            </a:pPr>
            <a:r>
              <a:rPr lang="en-US" sz="1700" b="1" dirty="0">
                <a:solidFill>
                  <a:schemeClr val="tx1"/>
                </a:solidFill>
              </a:rPr>
              <a:t>Setting-out</a:t>
            </a:r>
            <a:endParaRPr lang="en-US" sz="1700" dirty="0"/>
          </a:p>
        </p:txBody>
      </p:sp>
      <p:sp>
        <p:nvSpPr>
          <p:cNvPr id="18" name="Text 12"/>
          <p:cNvSpPr txBox="1"/>
          <p:nvPr/>
        </p:nvSpPr>
        <p:spPr>
          <a:xfrm>
            <a:off x="1417320" y="4087368"/>
            <a:ext cx="5120640" cy="365760"/>
          </a:xfrm>
          <a:prstGeom prst="rect">
            <a:avLst/>
          </a:prstGeom>
          <a:noFill/>
          <a:ln/>
        </p:spPr>
        <p:txBody>
          <a:bodyPr wrap="square" lIns="0" tIns="0" rIns="0" bIns="0" rtlCol="0" anchor="ctr"/>
          <a:lstStyle/>
          <a:p>
            <a:pPr indent="0" marL="0">
              <a:buNone/>
            </a:pPr>
            <a:r>
              <a:rPr lang="en-US" sz="1400" dirty="0">
                <a:solidFill>
                  <a:schemeClr val="tx2"/>
                </a:solidFill>
              </a:rPr>
              <a:t>E / N of CL, left and right edge at every chainage</a:t>
            </a:r>
            <a:endParaRPr lang="en-US" sz="1400" dirty="0"/>
          </a:p>
        </p:txBody>
      </p:sp>
      <p:sp>
        <p:nvSpPr>
          <p:cNvPr id="19" name="Shape 13"/>
          <p:cNvSpPr/>
          <p:nvPr/>
        </p:nvSpPr>
        <p:spPr>
          <a:xfrm>
            <a:off x="548640" y="4581144"/>
            <a:ext cx="640080" cy="640080"/>
          </a:xfrm>
          <a:prstGeom prst="ellipse">
            <a:avLst/>
          </a:prstGeom>
          <a:solidFill>
            <a:schemeClr val="accent5"/>
          </a:solidFill>
          <a:ln/>
        </p:spPr>
      </p:sp>
      <p:pic>
        <p:nvPicPr>
          <p:cNvPr id="20" name="Image 4" descr="preencoded.png">    </p:cNvPr>
          <p:cNvPicPr>
            <a:picLocks noChangeAspect="1"/>
          </p:cNvPicPr>
          <p:nvPr/>
        </p:nvPicPr>
        <p:blipFill>
          <a:blip r:embed="rId5"/>
          <a:stretch>
            <a:fillRect/>
          </a:stretch>
        </p:blipFill>
        <p:spPr>
          <a:xfrm>
            <a:off x="702259" y="4734763"/>
            <a:ext cx="332842" cy="332842"/>
          </a:xfrm>
          <a:prstGeom prst="rect">
            <a:avLst/>
          </a:prstGeom>
        </p:spPr>
      </p:pic>
      <p:sp>
        <p:nvSpPr>
          <p:cNvPr id="21" name="Text 14"/>
          <p:cNvSpPr txBox="1"/>
          <p:nvPr/>
        </p:nvSpPr>
        <p:spPr>
          <a:xfrm>
            <a:off x="1417320" y="4535424"/>
            <a:ext cx="5120640" cy="365760"/>
          </a:xfrm>
          <a:prstGeom prst="rect">
            <a:avLst/>
          </a:prstGeom>
          <a:noFill/>
          <a:ln/>
        </p:spPr>
        <p:txBody>
          <a:bodyPr wrap="square" lIns="0" tIns="0" rIns="0" bIns="0" rtlCol="0" anchor="ctr"/>
          <a:lstStyle/>
          <a:p>
            <a:pPr indent="0" marL="0">
              <a:buNone/>
            </a:pPr>
            <a:r>
              <a:rPr lang="en-US" sz="1700" b="1" dirty="0">
                <a:solidFill>
                  <a:schemeClr val="tx1"/>
                </a:solidFill>
              </a:rPr>
              <a:t>Sign schedule</a:t>
            </a:r>
            <a:endParaRPr lang="en-US" sz="1700" dirty="0"/>
          </a:p>
        </p:txBody>
      </p:sp>
      <p:sp>
        <p:nvSpPr>
          <p:cNvPr id="22" name="Text 15"/>
          <p:cNvSpPr txBox="1"/>
          <p:nvPr/>
        </p:nvSpPr>
        <p:spPr>
          <a:xfrm>
            <a:off x="1417320" y="4901184"/>
            <a:ext cx="5120640" cy="365760"/>
          </a:xfrm>
          <a:prstGeom prst="rect">
            <a:avLst/>
          </a:prstGeom>
          <a:noFill/>
          <a:ln/>
        </p:spPr>
        <p:txBody>
          <a:bodyPr wrap="square" lIns="0" tIns="0" rIns="0" bIns="0" rtlCol="0" anchor="ctr"/>
          <a:lstStyle/>
          <a:p>
            <a:pPr indent="0" marL="0">
              <a:buNone/>
            </a:pPr>
            <a:r>
              <a:rPr lang="en-US" sz="1400" dirty="0">
                <a:solidFill>
                  <a:schemeClr val="tx2"/>
                </a:solidFill>
              </a:rPr>
              <a:t>ID, sign, chainage, side, facing, post E / N</a:t>
            </a:r>
            <a:endParaRPr lang="en-US" sz="1400" dirty="0"/>
          </a:p>
        </p:txBody>
      </p:sp>
      <p:sp>
        <p:nvSpPr>
          <p:cNvPr id="23" name="Shape 16"/>
          <p:cNvSpPr/>
          <p:nvPr/>
        </p:nvSpPr>
        <p:spPr>
          <a:xfrm>
            <a:off x="548640" y="5394960"/>
            <a:ext cx="640080" cy="640080"/>
          </a:xfrm>
          <a:prstGeom prst="ellipse">
            <a:avLst/>
          </a:prstGeom>
          <a:solidFill>
            <a:schemeClr val="accent5"/>
          </a:solidFill>
          <a:ln/>
        </p:spPr>
      </p:sp>
      <p:pic>
        <p:nvPicPr>
          <p:cNvPr id="24" name="Image 5" descr="preencoded.png">    </p:cNvPr>
          <p:cNvPicPr>
            <a:picLocks noChangeAspect="1"/>
          </p:cNvPicPr>
          <p:nvPr/>
        </p:nvPicPr>
        <p:blipFill>
          <a:blip r:embed="rId6"/>
          <a:stretch>
            <a:fillRect/>
          </a:stretch>
        </p:blipFill>
        <p:spPr>
          <a:xfrm>
            <a:off x="702259" y="5548579"/>
            <a:ext cx="332842" cy="332842"/>
          </a:xfrm>
          <a:prstGeom prst="rect">
            <a:avLst/>
          </a:prstGeom>
        </p:spPr>
      </p:pic>
      <p:sp>
        <p:nvSpPr>
          <p:cNvPr id="25" name="Text 17"/>
          <p:cNvSpPr txBox="1"/>
          <p:nvPr/>
        </p:nvSpPr>
        <p:spPr>
          <a:xfrm>
            <a:off x="1417320" y="5349240"/>
            <a:ext cx="5120640" cy="365760"/>
          </a:xfrm>
          <a:prstGeom prst="rect">
            <a:avLst/>
          </a:prstGeom>
          <a:noFill/>
          <a:ln/>
        </p:spPr>
        <p:txBody>
          <a:bodyPr wrap="square" lIns="0" tIns="0" rIns="0" bIns="0" rtlCol="0" anchor="ctr"/>
          <a:lstStyle/>
          <a:p>
            <a:pPr indent="0" marL="0">
              <a:buNone/>
            </a:pPr>
            <a:r>
              <a:rPr lang="en-US" sz="1700" b="1" dirty="0">
                <a:solidFill>
                  <a:schemeClr val="tx1"/>
                </a:solidFill>
              </a:rPr>
              <a:t>Widening and taper setting-out</a:t>
            </a:r>
            <a:endParaRPr lang="en-US" sz="1700" dirty="0"/>
          </a:p>
        </p:txBody>
      </p:sp>
      <p:sp>
        <p:nvSpPr>
          <p:cNvPr id="26" name="Text 18"/>
          <p:cNvSpPr txBox="1"/>
          <p:nvPr/>
        </p:nvSpPr>
        <p:spPr>
          <a:xfrm>
            <a:off x="1417320" y="5715000"/>
            <a:ext cx="5120640" cy="365760"/>
          </a:xfrm>
          <a:prstGeom prst="rect">
            <a:avLst/>
          </a:prstGeom>
          <a:noFill/>
          <a:ln/>
        </p:spPr>
        <p:txBody>
          <a:bodyPr wrap="square" lIns="0" tIns="0" rIns="0" bIns="0" rtlCol="0" anchor="ctr"/>
          <a:lstStyle/>
          <a:p>
            <a:pPr indent="0" marL="0">
              <a:buNone/>
            </a:pPr>
            <a:r>
              <a:rPr lang="en-US" sz="1400" dirty="0">
                <a:solidFill>
                  <a:schemeClr val="tx2"/>
                </a:solidFill>
              </a:rPr>
              <a:t>New edge offset and E / N at match points and stations</a:t>
            </a:r>
            <a:endParaRPr lang="en-US" sz="1400" dirty="0"/>
          </a:p>
        </p:txBody>
      </p:sp>
      <p:sp>
        <p:nvSpPr>
          <p:cNvPr id="27" name="Shape 19"/>
          <p:cNvSpPr/>
          <p:nvPr/>
        </p:nvSpPr>
        <p:spPr>
          <a:xfrm>
            <a:off x="6858000" y="1325880"/>
            <a:ext cx="4754880" cy="4800600"/>
          </a:xfrm>
          <a:prstGeom prst="roundRect">
            <a:avLst>
              <a:gd name="adj" fmla="val 1923"/>
            </a:avLst>
          </a:prstGeom>
          <a:solidFill>
            <a:schemeClr val="tx1"/>
          </a:solidFill>
          <a:ln w="9525">
            <a:solidFill>
              <a:schemeClr val="accent6"/>
            </a:solidFill>
            <a:prstDash val="solid"/>
          </a:ln>
        </p:spPr>
      </p:sp>
      <p:pic>
        <p:nvPicPr>
          <p:cNvPr id="28" name="Image 6" descr="preencoded.png">    </p:cNvPr>
          <p:cNvPicPr>
            <a:picLocks noChangeAspect="1"/>
          </p:cNvPicPr>
          <p:nvPr/>
        </p:nvPicPr>
        <p:blipFill>
          <a:blip r:embed="rId7"/>
          <a:stretch>
            <a:fillRect/>
          </a:stretch>
        </p:blipFill>
        <p:spPr>
          <a:xfrm>
            <a:off x="7132320" y="1554480"/>
            <a:ext cx="548640" cy="548640"/>
          </a:xfrm>
          <a:prstGeom prst="rect">
            <a:avLst/>
          </a:prstGeom>
        </p:spPr>
      </p:pic>
      <p:sp>
        <p:nvSpPr>
          <p:cNvPr id="29" name="Text 20"/>
          <p:cNvSpPr txBox="1"/>
          <p:nvPr/>
        </p:nvSpPr>
        <p:spPr>
          <a:xfrm>
            <a:off x="7818120" y="1554480"/>
            <a:ext cx="3657600" cy="548640"/>
          </a:xfrm>
          <a:prstGeom prst="rect">
            <a:avLst/>
          </a:prstGeom>
          <a:noFill/>
          <a:ln/>
        </p:spPr>
        <p:txBody>
          <a:bodyPr wrap="square" lIns="0" tIns="0" rIns="0" bIns="0" rtlCol="0" anchor="ctr"/>
          <a:lstStyle/>
          <a:p>
            <a:pPr indent="0" marL="0">
              <a:buNone/>
            </a:pPr>
            <a:r>
              <a:rPr lang="en-US" sz="1800" b="1" dirty="0">
                <a:solidFill>
                  <a:schemeClr val="bg1"/>
                </a:solidFill>
              </a:rPr>
              <a:t>Where is the Excel file?</a:t>
            </a:r>
            <a:endParaRPr lang="en-US" sz="1800" dirty="0"/>
          </a:p>
        </p:txBody>
      </p:sp>
      <p:sp>
        <p:nvSpPr>
          <p:cNvPr id="30" name="Text 21"/>
          <p:cNvSpPr txBox="1"/>
          <p:nvPr/>
        </p:nvSpPr>
        <p:spPr>
          <a:xfrm>
            <a:off x="7132320" y="2286000"/>
            <a:ext cx="4297680" cy="411480"/>
          </a:xfrm>
          <a:prstGeom prst="rect">
            <a:avLst/>
          </a:prstGeom>
          <a:noFill/>
          <a:ln/>
        </p:spPr>
        <p:txBody>
          <a:bodyPr wrap="square" lIns="0" tIns="0" rIns="0" bIns="0" rtlCol="0" anchor="ctr"/>
          <a:lstStyle/>
          <a:p>
            <a:pPr indent="0" marL="0">
              <a:buNone/>
            </a:pPr>
            <a:r>
              <a:rPr lang="en-US" sz="1500" b="1" dirty="0">
                <a:solidFill>
                  <a:schemeClr val="accent2"/>
                </a:solidFill>
                <a:latin typeface="Courier New" pitchFamily="34" charset="0"/>
                <a:ea typeface="Courier New" pitchFamily="34" charset="-122"/>
                <a:cs typeface="Courier New" pitchFamily="34" charset="-120"/>
              </a:rPr>
              <a:t>ROAD-01_RoadPro_Report.csv</a:t>
            </a:r>
            <a:endParaRPr lang="en-US" sz="1500" dirty="0"/>
          </a:p>
        </p:txBody>
      </p:sp>
      <p:sp>
        <p:nvSpPr>
          <p:cNvPr id="31" name="Text 22"/>
          <p:cNvSpPr txBox="1"/>
          <p:nvPr/>
        </p:nvSpPr>
        <p:spPr>
          <a:xfrm>
            <a:off x="7132320" y="2834640"/>
            <a:ext cx="429768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accent6"/>
                </a:solidFill>
              </a:rPr>
              <a:t>Saved in the same folder as the DWG</a:t>
            </a:r>
            <a:endParaRPr lang="en-US" sz="1500" dirty="0"/>
          </a:p>
          <a:p>
            <a:pPr marL="342900" indent="-342900">
              <a:spcAft>
                <a:spcPts val="600"/>
              </a:spcAft>
              <a:buSzPct val="100000"/>
              <a:buChar char="•"/>
            </a:pPr>
            <a:r>
              <a:rPr lang="en-US" sz="1500" dirty="0">
                <a:solidFill>
                  <a:schemeClr val="accent6"/>
                </a:solidFill>
              </a:rPr>
              <a:t>Enter only skips the drawing tables, never the Excel file</a:t>
            </a:r>
            <a:endParaRPr lang="en-US" sz="1500" dirty="0"/>
          </a:p>
          <a:p>
            <a:pPr marL="342900" indent="-342900">
              <a:spcAft>
                <a:spcPts val="600"/>
              </a:spcAft>
              <a:buSzPct val="100000"/>
              <a:buChar char="•"/>
            </a:pPr>
            <a:r>
              <a:rPr lang="en-US" sz="1500" dirty="0">
                <a:solidFill>
                  <a:schemeClr val="accent6"/>
                </a:solidFill>
              </a:rPr>
              <a:t>Close the old CSV in Excel before running again</a:t>
            </a:r>
            <a:endParaRPr lang="en-US" sz="1500" dirty="0"/>
          </a:p>
          <a:p>
            <a:pPr marL="342900" indent="-342900">
              <a:spcAft>
                <a:spcPts val="600"/>
              </a:spcAft>
              <a:buSzPct val="100000"/>
              <a:buChar char="•"/>
            </a:pPr>
            <a:r>
              <a:rPr lang="en-US" sz="1500" dirty="0">
                <a:solidFill>
                  <a:schemeClr val="accent6"/>
                </a:solidFill>
              </a:rPr>
              <a:t>Press F2 to see the full path</a:t>
            </a:r>
            <a:endParaRPr lang="en-US" sz="1500" dirty="0"/>
          </a:p>
        </p:txBody>
      </p:sp>
      <p:sp>
        <p:nvSpPr>
          <p:cNvPr id="32" name="Text 23"/>
          <p:cNvSpPr txBox="1"/>
          <p:nvPr/>
        </p:nvSpPr>
        <p:spPr>
          <a:xfrm>
            <a:off x="7132320" y="5257800"/>
            <a:ext cx="2194560" cy="502920"/>
          </a:xfrm>
          <a:prstGeom prst="rect">
            <a:avLst/>
          </a:prstGeom>
          <a:noFill/>
          <a:ln/>
        </p:spPr>
        <p:txBody>
          <a:bodyPr wrap="square" lIns="0" tIns="0" rIns="0" bIns="0" rtlCol="0" anchor="ctr"/>
          <a:lstStyle/>
          <a:p>
            <a:pPr indent="0" marL="0">
              <a:buNone/>
            </a:pPr>
            <a:r>
              <a:rPr lang="en-US" sz="1500" dirty="0">
                <a:solidFill>
                  <a:schemeClr val="bg1"/>
                </a:solidFill>
              </a:rPr>
              <a:t>Run again any time:</a:t>
            </a:r>
            <a:endParaRPr lang="en-US" sz="1500" dirty="0"/>
          </a:p>
        </p:txBody>
      </p:sp>
      <p:sp>
        <p:nvSpPr>
          <p:cNvPr id="33" name="keycap RDR"/>
          <p:cNvSpPr/>
          <p:nvPr/>
        </p:nvSpPr>
        <p:spPr>
          <a:xfrm>
            <a:off x="9418320" y="5257800"/>
            <a:ext cx="1188720" cy="502920"/>
          </a:xfrm>
          <a:prstGeom prst="roundRect">
            <a:avLst>
              <a:gd name="adj" fmla="val 1454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34" name="Text 25"/>
          <p:cNvSpPr txBox="1"/>
          <p:nvPr/>
        </p:nvSpPr>
        <p:spPr>
          <a:xfrm>
            <a:off x="9418320" y="5257800"/>
            <a:ext cx="11887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ourier New" pitchFamily="34" charset="0"/>
                <a:ea typeface="Courier New" pitchFamily="34" charset="-122"/>
                <a:cs typeface="Courier New" pitchFamily="34" charset="-120"/>
              </a:rPr>
              <a:t>RDR</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Arial" pitchFamily="34" charset="0"/>
                <a:ea typeface="Arial" pitchFamily="34" charset="-122"/>
                <a:cs typeface="Arial" pitchFamily="34" charset="-120"/>
              </a:rPr>
              <a:t>Quick fixes for common questions</a:t>
            </a:r>
            <a:endParaRPr lang="en-US" sz="3200" dirty="0"/>
          </a:p>
        </p:txBody>
      </p:sp>
      <p:sp>
        <p:nvSpPr>
          <p:cNvPr id="3" name="Shape 1"/>
          <p:cNvSpPr/>
          <p:nvPr/>
        </p:nvSpPr>
        <p:spPr>
          <a:xfrm>
            <a:off x="548640" y="1325880"/>
            <a:ext cx="5394960" cy="1444752"/>
          </a:xfrm>
          <a:prstGeom prst="roundRect">
            <a:avLst>
              <a:gd name="adj" fmla="val 6329"/>
            </a:avLst>
          </a:prstGeom>
          <a:solidFill>
            <a:schemeClr val="bg2"/>
          </a:solidFill>
          <a:ln w="9525">
            <a:solidFill>
              <a:schemeClr val="accent6"/>
            </a:solidFill>
            <a:prstDash val="solid"/>
          </a:ln>
        </p:spPr>
      </p:sp>
      <p:sp>
        <p:nvSpPr>
          <p:cNvPr id="4" name="Shape 2"/>
          <p:cNvSpPr/>
          <p:nvPr/>
        </p:nvSpPr>
        <p:spPr>
          <a:xfrm>
            <a:off x="777240" y="1709928"/>
            <a:ext cx="640080" cy="64008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30859" y="1863547"/>
            <a:ext cx="332842" cy="332842"/>
          </a:xfrm>
          <a:prstGeom prst="rect">
            <a:avLst/>
          </a:prstGeom>
        </p:spPr>
      </p:pic>
      <p:sp>
        <p:nvSpPr>
          <p:cNvPr id="6" name="Text 3"/>
          <p:cNvSpPr txBox="1"/>
          <p:nvPr/>
        </p:nvSpPr>
        <p:spPr>
          <a:xfrm>
            <a:off x="1645920" y="1490472"/>
            <a:ext cx="4114800" cy="411480"/>
          </a:xfrm>
          <a:prstGeom prst="rect">
            <a:avLst/>
          </a:prstGeom>
          <a:noFill/>
          <a:ln/>
        </p:spPr>
        <p:txBody>
          <a:bodyPr wrap="square" lIns="0" tIns="0" rIns="0" bIns="0" rtlCol="0" anchor="ctr"/>
          <a:lstStyle/>
          <a:p>
            <a:pPr indent="0" marL="0">
              <a:buNone/>
            </a:pPr>
            <a:r>
              <a:rPr lang="en-US" sz="1600" b="1" dirty="0">
                <a:solidFill>
                  <a:schemeClr val="tx1"/>
                </a:solidFill>
              </a:rPr>
              <a:t>Unknown command RDP</a:t>
            </a:r>
            <a:endParaRPr lang="en-US" sz="1600" dirty="0"/>
          </a:p>
        </p:txBody>
      </p:sp>
      <p:sp>
        <p:nvSpPr>
          <p:cNvPr id="7" name="Text 4"/>
          <p:cNvSpPr txBox="1"/>
          <p:nvPr/>
        </p:nvSpPr>
        <p:spPr>
          <a:xfrm>
            <a:off x="1645920" y="1920240"/>
            <a:ext cx="4114800" cy="685800"/>
          </a:xfrm>
          <a:prstGeom prst="rect">
            <a:avLst/>
          </a:prstGeom>
          <a:noFill/>
          <a:ln/>
        </p:spPr>
        <p:txBody>
          <a:bodyPr wrap="square" lIns="0" tIns="0" rIns="0" bIns="0" rtlCol="0" anchor="t"/>
          <a:lstStyle/>
          <a:p>
            <a:pPr indent="0" marL="0">
              <a:buNone/>
            </a:pPr>
            <a:r>
              <a:rPr lang="en-US" sz="1400" dirty="0">
                <a:solidFill>
                  <a:schemeClr val="tx2"/>
                </a:solidFill>
              </a:rPr>
              <a:t>Load RoadPro.lsp with APPLOAD. Full AutoCAD only, not LT</a:t>
            </a:r>
            <a:endParaRPr lang="en-US" sz="1400" dirty="0"/>
          </a:p>
        </p:txBody>
      </p:sp>
      <p:sp>
        <p:nvSpPr>
          <p:cNvPr id="8" name="Shape 5"/>
          <p:cNvSpPr/>
          <p:nvPr/>
        </p:nvSpPr>
        <p:spPr>
          <a:xfrm>
            <a:off x="6126480" y="1325880"/>
            <a:ext cx="5394960" cy="1444752"/>
          </a:xfrm>
          <a:prstGeom prst="roundRect">
            <a:avLst>
              <a:gd name="adj" fmla="val 6329"/>
            </a:avLst>
          </a:prstGeom>
          <a:solidFill>
            <a:schemeClr val="bg2"/>
          </a:solidFill>
          <a:ln w="9525">
            <a:solidFill>
              <a:schemeClr val="accent6"/>
            </a:solidFill>
            <a:prstDash val="solid"/>
          </a:ln>
        </p:spPr>
      </p:sp>
      <p:sp>
        <p:nvSpPr>
          <p:cNvPr id="9" name="Shape 6"/>
          <p:cNvSpPr/>
          <p:nvPr/>
        </p:nvSpPr>
        <p:spPr>
          <a:xfrm>
            <a:off x="6355080" y="1709928"/>
            <a:ext cx="640080" cy="640080"/>
          </a:xfrm>
          <a:prstGeom prst="ellipse">
            <a:avLst/>
          </a:prstGeom>
          <a:solidFill>
            <a:schemeClr val="tx1"/>
          </a:solidFill>
          <a:ln/>
        </p:spPr>
      </p:sp>
      <p:pic>
        <p:nvPicPr>
          <p:cNvPr id="10" name="Image 1" descr="preencoded.png">    </p:cNvPr>
          <p:cNvPicPr>
            <a:picLocks noChangeAspect="1"/>
          </p:cNvPicPr>
          <p:nvPr/>
        </p:nvPicPr>
        <p:blipFill>
          <a:blip r:embed="rId2"/>
          <a:stretch>
            <a:fillRect/>
          </a:stretch>
        </p:blipFill>
        <p:spPr>
          <a:xfrm>
            <a:off x="6508699" y="1863547"/>
            <a:ext cx="332842" cy="332842"/>
          </a:xfrm>
          <a:prstGeom prst="rect">
            <a:avLst/>
          </a:prstGeom>
        </p:spPr>
      </p:pic>
      <p:sp>
        <p:nvSpPr>
          <p:cNvPr id="11" name="Text 7"/>
          <p:cNvSpPr txBox="1"/>
          <p:nvPr/>
        </p:nvSpPr>
        <p:spPr>
          <a:xfrm>
            <a:off x="7223760" y="1490472"/>
            <a:ext cx="4114800" cy="411480"/>
          </a:xfrm>
          <a:prstGeom prst="rect">
            <a:avLst/>
          </a:prstGeom>
          <a:noFill/>
          <a:ln/>
        </p:spPr>
        <p:txBody>
          <a:bodyPr wrap="square" lIns="0" tIns="0" rIns="0" bIns="0" rtlCol="0" anchor="ctr"/>
          <a:lstStyle/>
          <a:p>
            <a:pPr indent="0" marL="0">
              <a:buNone/>
            </a:pPr>
            <a:r>
              <a:rPr lang="en-US" sz="1600" b="1" dirty="0">
                <a:solidFill>
                  <a:schemeClr val="tx1"/>
                </a:solidFill>
              </a:rPr>
              <a:t>Road is 1000 times too small or big</a:t>
            </a:r>
            <a:endParaRPr lang="en-US" sz="1600" dirty="0"/>
          </a:p>
        </p:txBody>
      </p:sp>
      <p:sp>
        <p:nvSpPr>
          <p:cNvPr id="12" name="Text 8"/>
          <p:cNvSpPr txBox="1"/>
          <p:nvPr/>
        </p:nvSpPr>
        <p:spPr>
          <a:xfrm>
            <a:off x="7223760" y="1920240"/>
            <a:ext cx="4114800" cy="685800"/>
          </a:xfrm>
          <a:prstGeom prst="rect">
            <a:avLst/>
          </a:prstGeom>
          <a:noFill/>
          <a:ln/>
        </p:spPr>
        <p:txBody>
          <a:bodyPr wrap="square" lIns="0" tIns="0" rIns="0" bIns="0" rtlCol="0" anchor="t"/>
          <a:lstStyle/>
          <a:p>
            <a:pPr indent="0" marL="0">
              <a:buNone/>
            </a:pPr>
            <a:r>
              <a:rPr lang="en-US" sz="1400" dirty="0">
                <a:solidFill>
                  <a:schemeClr val="tx2"/>
                </a:solidFill>
              </a:rPr>
              <a:t>Choose Millimeters in Drawing units for mm drawings</a:t>
            </a:r>
            <a:endParaRPr lang="en-US" sz="1400" dirty="0"/>
          </a:p>
        </p:txBody>
      </p:sp>
      <p:sp>
        <p:nvSpPr>
          <p:cNvPr id="13" name="Shape 9"/>
          <p:cNvSpPr/>
          <p:nvPr/>
        </p:nvSpPr>
        <p:spPr>
          <a:xfrm>
            <a:off x="548640" y="2953512"/>
            <a:ext cx="5394960" cy="1444752"/>
          </a:xfrm>
          <a:prstGeom prst="roundRect">
            <a:avLst>
              <a:gd name="adj" fmla="val 6329"/>
            </a:avLst>
          </a:prstGeom>
          <a:solidFill>
            <a:schemeClr val="bg2"/>
          </a:solidFill>
          <a:ln w="9525">
            <a:solidFill>
              <a:schemeClr val="accent6"/>
            </a:solidFill>
            <a:prstDash val="solid"/>
          </a:ln>
        </p:spPr>
      </p:sp>
      <p:sp>
        <p:nvSpPr>
          <p:cNvPr id="14" name="Shape 10"/>
          <p:cNvSpPr/>
          <p:nvPr/>
        </p:nvSpPr>
        <p:spPr>
          <a:xfrm>
            <a:off x="777240" y="3337560"/>
            <a:ext cx="640080" cy="64008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930859" y="3491179"/>
            <a:ext cx="332842" cy="332842"/>
          </a:xfrm>
          <a:prstGeom prst="rect">
            <a:avLst/>
          </a:prstGeom>
        </p:spPr>
      </p:pic>
      <p:sp>
        <p:nvSpPr>
          <p:cNvPr id="16" name="Text 11"/>
          <p:cNvSpPr txBox="1"/>
          <p:nvPr/>
        </p:nvSpPr>
        <p:spPr>
          <a:xfrm>
            <a:off x="1645920" y="3118104"/>
            <a:ext cx="4114800" cy="411480"/>
          </a:xfrm>
          <a:prstGeom prst="rect">
            <a:avLst/>
          </a:prstGeom>
          <a:noFill/>
          <a:ln/>
        </p:spPr>
        <p:txBody>
          <a:bodyPr wrap="square" lIns="0" tIns="0" rIns="0" bIns="0" rtlCol="0" anchor="ctr"/>
          <a:lstStyle/>
          <a:p>
            <a:pPr indent="0" marL="0">
              <a:buNone/>
            </a:pPr>
            <a:r>
              <a:rPr lang="en-US" sz="1600" b="1" dirty="0">
                <a:solidFill>
                  <a:schemeClr val="tx1"/>
                </a:solidFill>
              </a:rPr>
              <a:t>Turning radius is too small</a:t>
            </a:r>
            <a:endParaRPr lang="en-US" sz="1600" dirty="0"/>
          </a:p>
        </p:txBody>
      </p:sp>
      <p:sp>
        <p:nvSpPr>
          <p:cNvPr id="17" name="Text 12"/>
          <p:cNvSpPr txBox="1"/>
          <p:nvPr/>
        </p:nvSpPr>
        <p:spPr>
          <a:xfrm>
            <a:off x="1645920" y="3547872"/>
            <a:ext cx="4114800" cy="685800"/>
          </a:xfrm>
          <a:prstGeom prst="rect">
            <a:avLst/>
          </a:prstGeom>
          <a:noFill/>
          <a:ln/>
        </p:spPr>
        <p:txBody>
          <a:bodyPr wrap="square" lIns="0" tIns="0" rIns="0" bIns="0" rtlCol="0" anchor="t"/>
          <a:lstStyle/>
          <a:p>
            <a:pPr indent="0" marL="0">
              <a:buNone/>
            </a:pPr>
            <a:r>
              <a:rPr lang="en-US" sz="1400" dirty="0">
                <a:solidFill>
                  <a:schemeClr val="tx2"/>
                </a:solidFill>
              </a:rPr>
              <a:t>At the centre line, R must be more than half the road width</a:t>
            </a:r>
            <a:endParaRPr lang="en-US" sz="1400" dirty="0"/>
          </a:p>
        </p:txBody>
      </p:sp>
      <p:sp>
        <p:nvSpPr>
          <p:cNvPr id="18" name="Shape 13"/>
          <p:cNvSpPr/>
          <p:nvPr/>
        </p:nvSpPr>
        <p:spPr>
          <a:xfrm>
            <a:off x="6126480" y="2953512"/>
            <a:ext cx="5394960" cy="1444752"/>
          </a:xfrm>
          <a:prstGeom prst="roundRect">
            <a:avLst>
              <a:gd name="adj" fmla="val 6329"/>
            </a:avLst>
          </a:prstGeom>
          <a:solidFill>
            <a:schemeClr val="bg2"/>
          </a:solidFill>
          <a:ln w="9525">
            <a:solidFill>
              <a:schemeClr val="accent6"/>
            </a:solidFill>
            <a:prstDash val="solid"/>
          </a:ln>
        </p:spPr>
      </p:sp>
      <p:sp>
        <p:nvSpPr>
          <p:cNvPr id="19" name="Shape 14"/>
          <p:cNvSpPr/>
          <p:nvPr/>
        </p:nvSpPr>
        <p:spPr>
          <a:xfrm>
            <a:off x="6355080" y="3337560"/>
            <a:ext cx="640080" cy="640080"/>
          </a:xfrm>
          <a:prstGeom prst="ellipse">
            <a:avLst/>
          </a:prstGeom>
          <a:solidFill>
            <a:schemeClr val="tx1"/>
          </a:solidFill>
          <a:ln/>
        </p:spPr>
      </p:sp>
      <p:pic>
        <p:nvPicPr>
          <p:cNvPr id="20" name="Image 3" descr="preencoded.png">    </p:cNvPr>
          <p:cNvPicPr>
            <a:picLocks noChangeAspect="1"/>
          </p:cNvPicPr>
          <p:nvPr/>
        </p:nvPicPr>
        <p:blipFill>
          <a:blip r:embed="rId4"/>
          <a:stretch>
            <a:fillRect/>
          </a:stretch>
        </p:blipFill>
        <p:spPr>
          <a:xfrm>
            <a:off x="6508699" y="3491179"/>
            <a:ext cx="332842" cy="332842"/>
          </a:xfrm>
          <a:prstGeom prst="rect">
            <a:avLst/>
          </a:prstGeom>
        </p:spPr>
      </p:pic>
      <p:sp>
        <p:nvSpPr>
          <p:cNvPr id="21" name="Text 15"/>
          <p:cNvSpPr txBox="1"/>
          <p:nvPr/>
        </p:nvSpPr>
        <p:spPr>
          <a:xfrm>
            <a:off x="7223760" y="3118104"/>
            <a:ext cx="4114800" cy="411480"/>
          </a:xfrm>
          <a:prstGeom prst="rect">
            <a:avLst/>
          </a:prstGeom>
          <a:noFill/>
          <a:ln/>
        </p:spPr>
        <p:txBody>
          <a:bodyPr wrap="square" lIns="0" tIns="0" rIns="0" bIns="0" rtlCol="0" anchor="ctr"/>
          <a:lstStyle/>
          <a:p>
            <a:pPr indent="0" marL="0">
              <a:buNone/>
            </a:pPr>
            <a:r>
              <a:rPr lang="en-US" sz="1600" b="1" dirty="0">
                <a:solidFill>
                  <a:schemeClr val="tx1"/>
                </a:solidFill>
              </a:rPr>
              <a:t>Black outline not visible</a:t>
            </a:r>
            <a:endParaRPr lang="en-US" sz="1600" dirty="0"/>
          </a:p>
        </p:txBody>
      </p:sp>
      <p:sp>
        <p:nvSpPr>
          <p:cNvPr id="22" name="Text 16"/>
          <p:cNvSpPr txBox="1"/>
          <p:nvPr/>
        </p:nvSpPr>
        <p:spPr>
          <a:xfrm>
            <a:off x="7223760" y="3547872"/>
            <a:ext cx="4114800" cy="685800"/>
          </a:xfrm>
          <a:prstGeom prst="rect">
            <a:avLst/>
          </a:prstGeom>
          <a:noFill/>
          <a:ln/>
        </p:spPr>
        <p:txBody>
          <a:bodyPr wrap="square" lIns="0" tIns="0" rIns="0" bIns="0" rtlCol="0" anchor="t"/>
          <a:lstStyle/>
          <a:p>
            <a:pPr indent="0" marL="0">
              <a:buNone/>
            </a:pPr>
            <a:r>
              <a:rPr lang="en-US" sz="1400" dirty="0">
                <a:solidFill>
                  <a:schemeClr val="tx2"/>
                </a:solidFill>
              </a:rPr>
              <a:t>Dark background on screen. It still plots black</a:t>
            </a:r>
            <a:endParaRPr lang="en-US" sz="1400" dirty="0"/>
          </a:p>
        </p:txBody>
      </p:sp>
      <p:sp>
        <p:nvSpPr>
          <p:cNvPr id="23" name="Shape 17"/>
          <p:cNvSpPr/>
          <p:nvPr/>
        </p:nvSpPr>
        <p:spPr>
          <a:xfrm>
            <a:off x="548640" y="4581144"/>
            <a:ext cx="5394960" cy="1444752"/>
          </a:xfrm>
          <a:prstGeom prst="roundRect">
            <a:avLst>
              <a:gd name="adj" fmla="val 6329"/>
            </a:avLst>
          </a:prstGeom>
          <a:solidFill>
            <a:schemeClr val="bg2"/>
          </a:solidFill>
          <a:ln w="9525">
            <a:solidFill>
              <a:schemeClr val="accent6"/>
            </a:solidFill>
            <a:prstDash val="solid"/>
          </a:ln>
        </p:spPr>
      </p:sp>
      <p:sp>
        <p:nvSpPr>
          <p:cNvPr id="24" name="Shape 18"/>
          <p:cNvSpPr/>
          <p:nvPr/>
        </p:nvSpPr>
        <p:spPr>
          <a:xfrm>
            <a:off x="777240" y="4965192"/>
            <a:ext cx="640080" cy="640080"/>
          </a:xfrm>
          <a:prstGeom prst="ellipse">
            <a:avLst/>
          </a:prstGeom>
          <a:solidFill>
            <a:schemeClr val="accent1"/>
          </a:solidFill>
          <a:ln/>
        </p:spPr>
      </p:sp>
      <p:pic>
        <p:nvPicPr>
          <p:cNvPr id="25" name="Image 4" descr="preencoded.png">    </p:cNvPr>
          <p:cNvPicPr>
            <a:picLocks noChangeAspect="1"/>
          </p:cNvPicPr>
          <p:nvPr/>
        </p:nvPicPr>
        <p:blipFill>
          <a:blip r:embed="rId5"/>
          <a:stretch>
            <a:fillRect/>
          </a:stretch>
        </p:blipFill>
        <p:spPr>
          <a:xfrm>
            <a:off x="930859" y="5118811"/>
            <a:ext cx="332842" cy="332842"/>
          </a:xfrm>
          <a:prstGeom prst="rect">
            <a:avLst/>
          </a:prstGeom>
        </p:spPr>
      </p:pic>
      <p:sp>
        <p:nvSpPr>
          <p:cNvPr id="26" name="Text 19"/>
          <p:cNvSpPr txBox="1"/>
          <p:nvPr/>
        </p:nvSpPr>
        <p:spPr>
          <a:xfrm>
            <a:off x="1645920" y="4745736"/>
            <a:ext cx="4114800" cy="411480"/>
          </a:xfrm>
          <a:prstGeom prst="rect">
            <a:avLst/>
          </a:prstGeom>
          <a:noFill/>
          <a:ln/>
        </p:spPr>
        <p:txBody>
          <a:bodyPr wrap="square" lIns="0" tIns="0" rIns="0" bIns="0" rtlCol="0" anchor="ctr"/>
          <a:lstStyle/>
          <a:p>
            <a:pPr indent="0" marL="0">
              <a:buNone/>
            </a:pPr>
            <a:r>
              <a:rPr lang="en-US" sz="1600" b="1" dirty="0">
                <a:solidFill>
                  <a:schemeClr val="tx1"/>
                </a:solidFill>
              </a:rPr>
              <a:t>Excel file could not be saved</a:t>
            </a:r>
            <a:endParaRPr lang="en-US" sz="1600" dirty="0"/>
          </a:p>
        </p:txBody>
      </p:sp>
      <p:sp>
        <p:nvSpPr>
          <p:cNvPr id="27" name="Text 20"/>
          <p:cNvSpPr txBox="1"/>
          <p:nvPr/>
        </p:nvSpPr>
        <p:spPr>
          <a:xfrm>
            <a:off x="1645920" y="5175504"/>
            <a:ext cx="4114800" cy="685800"/>
          </a:xfrm>
          <a:prstGeom prst="rect">
            <a:avLst/>
          </a:prstGeom>
          <a:noFill/>
          <a:ln/>
        </p:spPr>
        <p:txBody>
          <a:bodyPr wrap="square" lIns="0" tIns="0" rIns="0" bIns="0" rtlCol="0" anchor="t"/>
          <a:lstStyle/>
          <a:p>
            <a:pPr indent="0" marL="0">
              <a:buNone/>
            </a:pPr>
            <a:r>
              <a:rPr lang="en-US" sz="1400" dirty="0">
                <a:solidFill>
                  <a:schemeClr val="tx2"/>
                </a:solidFill>
              </a:rPr>
              <a:t>Close the old CSV in Excel, then run RDR again</a:t>
            </a:r>
            <a:endParaRPr lang="en-US" sz="1400" dirty="0"/>
          </a:p>
        </p:txBody>
      </p:sp>
      <p:sp>
        <p:nvSpPr>
          <p:cNvPr id="28" name="Shape 21"/>
          <p:cNvSpPr/>
          <p:nvPr/>
        </p:nvSpPr>
        <p:spPr>
          <a:xfrm>
            <a:off x="6126480" y="4581144"/>
            <a:ext cx="5394960" cy="1444752"/>
          </a:xfrm>
          <a:prstGeom prst="roundRect">
            <a:avLst>
              <a:gd name="adj" fmla="val 6329"/>
            </a:avLst>
          </a:prstGeom>
          <a:solidFill>
            <a:schemeClr val="bg2"/>
          </a:solidFill>
          <a:ln w="9525">
            <a:solidFill>
              <a:schemeClr val="accent6"/>
            </a:solidFill>
            <a:prstDash val="solid"/>
          </a:ln>
        </p:spPr>
      </p:sp>
      <p:sp>
        <p:nvSpPr>
          <p:cNvPr id="29" name="Shape 22"/>
          <p:cNvSpPr/>
          <p:nvPr/>
        </p:nvSpPr>
        <p:spPr>
          <a:xfrm>
            <a:off x="6355080" y="4965192"/>
            <a:ext cx="640080" cy="640080"/>
          </a:xfrm>
          <a:prstGeom prst="ellipse">
            <a:avLst/>
          </a:prstGeom>
          <a:solidFill>
            <a:schemeClr val="tx1"/>
          </a:solidFill>
          <a:ln/>
        </p:spPr>
      </p:sp>
      <p:pic>
        <p:nvPicPr>
          <p:cNvPr id="30" name="Image 5" descr="preencoded.png">    </p:cNvPr>
          <p:cNvPicPr>
            <a:picLocks noChangeAspect="1"/>
          </p:cNvPicPr>
          <p:nvPr/>
        </p:nvPicPr>
        <p:blipFill>
          <a:blip r:embed="rId6"/>
          <a:stretch>
            <a:fillRect/>
          </a:stretch>
        </p:blipFill>
        <p:spPr>
          <a:xfrm>
            <a:off x="6508699" y="5118811"/>
            <a:ext cx="332842" cy="332842"/>
          </a:xfrm>
          <a:prstGeom prst="rect">
            <a:avLst/>
          </a:prstGeom>
        </p:spPr>
      </p:pic>
      <p:sp>
        <p:nvSpPr>
          <p:cNvPr id="31" name="Text 23"/>
          <p:cNvSpPr txBox="1"/>
          <p:nvPr/>
        </p:nvSpPr>
        <p:spPr>
          <a:xfrm>
            <a:off x="7223760" y="4745736"/>
            <a:ext cx="4114800" cy="411480"/>
          </a:xfrm>
          <a:prstGeom prst="rect">
            <a:avLst/>
          </a:prstGeom>
          <a:noFill/>
          <a:ln/>
        </p:spPr>
        <p:txBody>
          <a:bodyPr wrap="square" lIns="0" tIns="0" rIns="0" bIns="0" rtlCol="0" anchor="ctr"/>
          <a:lstStyle/>
          <a:p>
            <a:pPr indent="0" marL="0">
              <a:buNone/>
            </a:pPr>
            <a:r>
              <a:rPr lang="en-US" sz="1600" b="1" dirty="0">
                <a:solidFill>
                  <a:schemeClr val="tx1"/>
                </a:solidFill>
              </a:rPr>
              <a:t>Dimension text wrong size</a:t>
            </a:r>
            <a:endParaRPr lang="en-US" sz="1600" dirty="0"/>
          </a:p>
        </p:txBody>
      </p:sp>
      <p:sp>
        <p:nvSpPr>
          <p:cNvPr id="32" name="Text 24"/>
          <p:cNvSpPr txBox="1"/>
          <p:nvPr/>
        </p:nvSpPr>
        <p:spPr>
          <a:xfrm>
            <a:off x="7223760" y="5175504"/>
            <a:ext cx="4114800" cy="685800"/>
          </a:xfrm>
          <a:prstGeom prst="rect">
            <a:avLst/>
          </a:prstGeom>
          <a:noFill/>
          <a:ln/>
        </p:spPr>
        <p:txBody>
          <a:bodyPr wrap="square" lIns="0" tIns="0" rIns="0" bIns="0" rtlCol="0" anchor="t"/>
          <a:lstStyle/>
          <a:p>
            <a:pPr indent="0" marL="0">
              <a:buNone/>
            </a:pPr>
            <a:r>
              <a:rPr lang="en-US" sz="1400" dirty="0">
                <a:solidFill>
                  <a:schemeClr val="tx2"/>
                </a:solidFill>
              </a:rPr>
              <a:t>Set the dimension style text height to 0</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37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Quick reference card</a:t>
            </a:r>
            <a:endParaRPr lang="en-US" sz="3200" dirty="0"/>
          </a:p>
        </p:txBody>
      </p:sp>
      <p:sp>
        <p:nvSpPr>
          <p:cNvPr id="3" name="keycap RDP"/>
          <p:cNvSpPr/>
          <p:nvPr/>
        </p:nvSpPr>
        <p:spPr>
          <a:xfrm>
            <a:off x="548640" y="1325880"/>
            <a:ext cx="1600200" cy="621792"/>
          </a:xfrm>
          <a:prstGeom prst="roundRect">
            <a:avLst>
              <a:gd name="adj" fmla="val 1176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4" name="Text 2"/>
          <p:cNvSpPr txBox="1"/>
          <p:nvPr/>
        </p:nvSpPr>
        <p:spPr>
          <a:xfrm>
            <a:off x="548640" y="1325880"/>
            <a:ext cx="1600200" cy="621792"/>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RDP</a:t>
            </a:r>
            <a:endParaRPr lang="en-US" sz="2000" dirty="0"/>
          </a:p>
        </p:txBody>
      </p:sp>
      <p:sp>
        <p:nvSpPr>
          <p:cNvPr id="5" name="Text 3"/>
          <p:cNvSpPr txBox="1"/>
          <p:nvPr/>
        </p:nvSpPr>
        <p:spPr>
          <a:xfrm>
            <a:off x="548640" y="200253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Build road</a:t>
            </a:r>
            <a:endParaRPr lang="en-US" sz="1400" dirty="0"/>
          </a:p>
        </p:txBody>
      </p:sp>
      <p:sp>
        <p:nvSpPr>
          <p:cNvPr id="6" name="keycap RDR"/>
          <p:cNvSpPr/>
          <p:nvPr/>
        </p:nvSpPr>
        <p:spPr>
          <a:xfrm>
            <a:off x="2331720" y="1325880"/>
            <a:ext cx="1600200" cy="621792"/>
          </a:xfrm>
          <a:prstGeom prst="roundRect">
            <a:avLst>
              <a:gd name="adj" fmla="val 1176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7" name="Text 5"/>
          <p:cNvSpPr txBox="1"/>
          <p:nvPr/>
        </p:nvSpPr>
        <p:spPr>
          <a:xfrm>
            <a:off x="2331720" y="1325880"/>
            <a:ext cx="1600200" cy="621792"/>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RDR</a:t>
            </a:r>
            <a:endParaRPr lang="en-US" sz="2000" dirty="0"/>
          </a:p>
        </p:txBody>
      </p:sp>
      <p:sp>
        <p:nvSpPr>
          <p:cNvPr id="8" name="Text 6"/>
          <p:cNvSpPr txBox="1"/>
          <p:nvPr/>
        </p:nvSpPr>
        <p:spPr>
          <a:xfrm>
            <a:off x="2331720" y="200253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Report + Excel</a:t>
            </a:r>
            <a:endParaRPr lang="en-US" sz="1400" dirty="0"/>
          </a:p>
        </p:txBody>
      </p:sp>
      <p:sp>
        <p:nvSpPr>
          <p:cNvPr id="9" name="keycap RDRAD"/>
          <p:cNvSpPr/>
          <p:nvPr/>
        </p:nvSpPr>
        <p:spPr>
          <a:xfrm>
            <a:off x="4114800" y="1325880"/>
            <a:ext cx="1600200" cy="621792"/>
          </a:xfrm>
          <a:prstGeom prst="roundRect">
            <a:avLst>
              <a:gd name="adj" fmla="val 1176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10" name="Text 8"/>
          <p:cNvSpPr txBox="1"/>
          <p:nvPr/>
        </p:nvSpPr>
        <p:spPr>
          <a:xfrm>
            <a:off x="4114800" y="1325880"/>
            <a:ext cx="1600200" cy="621792"/>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RDRAD</a:t>
            </a:r>
            <a:endParaRPr lang="en-US" sz="2000" dirty="0"/>
          </a:p>
        </p:txBody>
      </p:sp>
      <p:sp>
        <p:nvSpPr>
          <p:cNvPr id="11" name="Text 9"/>
          <p:cNvSpPr txBox="1"/>
          <p:nvPr/>
        </p:nvSpPr>
        <p:spPr>
          <a:xfrm>
            <a:off x="4114800" y="200253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Radius labels</a:t>
            </a:r>
            <a:endParaRPr lang="en-US" sz="1400" dirty="0"/>
          </a:p>
        </p:txBody>
      </p:sp>
      <p:sp>
        <p:nvSpPr>
          <p:cNvPr id="12" name="keycap RDSEC"/>
          <p:cNvSpPr/>
          <p:nvPr/>
        </p:nvSpPr>
        <p:spPr>
          <a:xfrm>
            <a:off x="5897880" y="1325880"/>
            <a:ext cx="1600200" cy="621792"/>
          </a:xfrm>
          <a:prstGeom prst="roundRect">
            <a:avLst>
              <a:gd name="adj" fmla="val 1176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13" name="Text 11"/>
          <p:cNvSpPr txBox="1"/>
          <p:nvPr/>
        </p:nvSpPr>
        <p:spPr>
          <a:xfrm>
            <a:off x="5897880" y="1325880"/>
            <a:ext cx="1600200" cy="621792"/>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RDSEC</a:t>
            </a:r>
            <a:endParaRPr lang="en-US" sz="2000" dirty="0"/>
          </a:p>
        </p:txBody>
      </p:sp>
      <p:sp>
        <p:nvSpPr>
          <p:cNvPr id="14" name="Text 12"/>
          <p:cNvSpPr txBox="1"/>
          <p:nvPr/>
        </p:nvSpPr>
        <p:spPr>
          <a:xfrm>
            <a:off x="5897880" y="200253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Straight labels</a:t>
            </a:r>
            <a:endParaRPr lang="en-US" sz="1400" dirty="0"/>
          </a:p>
        </p:txBody>
      </p:sp>
      <p:sp>
        <p:nvSpPr>
          <p:cNvPr id="15" name="keycap RDX"/>
          <p:cNvSpPr/>
          <p:nvPr/>
        </p:nvSpPr>
        <p:spPr>
          <a:xfrm>
            <a:off x="548640" y="2514600"/>
            <a:ext cx="1600200" cy="621792"/>
          </a:xfrm>
          <a:prstGeom prst="roundRect">
            <a:avLst>
              <a:gd name="adj" fmla="val 1176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16" name="Text 14"/>
          <p:cNvSpPr txBox="1"/>
          <p:nvPr/>
        </p:nvSpPr>
        <p:spPr>
          <a:xfrm>
            <a:off x="548640" y="2514600"/>
            <a:ext cx="1600200" cy="621792"/>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RDX</a:t>
            </a:r>
            <a:endParaRPr lang="en-US" sz="2000" dirty="0"/>
          </a:p>
        </p:txBody>
      </p:sp>
      <p:sp>
        <p:nvSpPr>
          <p:cNvPr id="17" name="Text 15"/>
          <p:cNvSpPr txBox="1"/>
          <p:nvPr/>
        </p:nvSpPr>
        <p:spPr>
          <a:xfrm>
            <a:off x="548640" y="319125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Cross sections</a:t>
            </a:r>
            <a:endParaRPr lang="en-US" sz="1400" dirty="0"/>
          </a:p>
        </p:txBody>
      </p:sp>
      <p:sp>
        <p:nvSpPr>
          <p:cNvPr id="18" name="keycap RDW"/>
          <p:cNvSpPr/>
          <p:nvPr/>
        </p:nvSpPr>
        <p:spPr>
          <a:xfrm>
            <a:off x="2331720" y="2514600"/>
            <a:ext cx="1600200" cy="621792"/>
          </a:xfrm>
          <a:prstGeom prst="roundRect">
            <a:avLst>
              <a:gd name="adj" fmla="val 1176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19" name="Text 17"/>
          <p:cNvSpPr txBox="1"/>
          <p:nvPr/>
        </p:nvSpPr>
        <p:spPr>
          <a:xfrm>
            <a:off x="2331720" y="2514600"/>
            <a:ext cx="1600200" cy="621792"/>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RDW</a:t>
            </a:r>
            <a:endParaRPr lang="en-US" sz="2000" dirty="0"/>
          </a:p>
        </p:txBody>
      </p:sp>
      <p:sp>
        <p:nvSpPr>
          <p:cNvPr id="20" name="Text 18"/>
          <p:cNvSpPr txBox="1"/>
          <p:nvPr/>
        </p:nvSpPr>
        <p:spPr>
          <a:xfrm>
            <a:off x="2331720" y="319125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Lane widening</a:t>
            </a:r>
            <a:endParaRPr lang="en-US" sz="1400" dirty="0"/>
          </a:p>
        </p:txBody>
      </p:sp>
      <p:sp>
        <p:nvSpPr>
          <p:cNvPr id="21" name="keycap RDT"/>
          <p:cNvSpPr/>
          <p:nvPr/>
        </p:nvSpPr>
        <p:spPr>
          <a:xfrm>
            <a:off x="4114800" y="2514600"/>
            <a:ext cx="1600200" cy="621792"/>
          </a:xfrm>
          <a:prstGeom prst="roundRect">
            <a:avLst>
              <a:gd name="adj" fmla="val 11765"/>
            </a:avLst>
          </a:prstGeom>
          <a:solidFill>
            <a:schemeClr val="accent1"/>
          </a:solidFill>
          <a:ln w="12700">
            <a:solidFill>
              <a:schemeClr val="accent1"/>
            </a:solidFill>
            <a:prstDash val="solid"/>
          </a:ln>
          <a:effectLst>
            <a:outerShdw sx="100000" sy="100000" kx="0" ky="0" algn="bl" rotWithShape="0" blurRad="38100" dist="25400" dir="5400000">
              <a:srgbClr val="000000">
                <a:alpha val="25000"/>
              </a:srgbClr>
            </a:outerShdw>
          </a:effectLst>
        </p:spPr>
      </p:sp>
      <p:sp>
        <p:nvSpPr>
          <p:cNvPr id="22" name="Text 20"/>
          <p:cNvSpPr txBox="1"/>
          <p:nvPr/>
        </p:nvSpPr>
        <p:spPr>
          <a:xfrm>
            <a:off x="4114800" y="2514600"/>
            <a:ext cx="1600200" cy="621792"/>
          </a:xfrm>
          <a:prstGeom prst="rect">
            <a:avLst/>
          </a:prstGeom>
          <a:noFill/>
          <a:ln/>
        </p:spPr>
        <p:txBody>
          <a:bodyPr wrap="square" lIns="0" tIns="0" rIns="0" bIns="0" rtlCol="0" anchor="ctr"/>
          <a:lstStyle/>
          <a:p>
            <a:pPr algn="ctr" indent="0" marL="0">
              <a:buNone/>
            </a:pPr>
            <a:r>
              <a:rPr lang="en-US" sz="2000" b="1" dirty="0">
                <a:solidFill>
                  <a:schemeClr val="bg1"/>
                </a:solidFill>
                <a:latin typeface="Courier New" pitchFamily="34" charset="0"/>
                <a:ea typeface="Courier New" pitchFamily="34" charset="-122"/>
                <a:cs typeface="Courier New" pitchFamily="34" charset="-120"/>
              </a:rPr>
              <a:t>RDT</a:t>
            </a:r>
            <a:endParaRPr lang="en-US" sz="2000" dirty="0"/>
          </a:p>
        </p:txBody>
      </p:sp>
      <p:sp>
        <p:nvSpPr>
          <p:cNvPr id="23" name="Text 21"/>
          <p:cNvSpPr txBox="1"/>
          <p:nvPr/>
        </p:nvSpPr>
        <p:spPr>
          <a:xfrm>
            <a:off x="4114800" y="319125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Road taper</a:t>
            </a:r>
            <a:endParaRPr lang="en-US" sz="1400" dirty="0"/>
          </a:p>
        </p:txBody>
      </p:sp>
      <p:sp>
        <p:nvSpPr>
          <p:cNvPr id="24" name="keycap U"/>
          <p:cNvSpPr/>
          <p:nvPr/>
        </p:nvSpPr>
        <p:spPr>
          <a:xfrm>
            <a:off x="5897880" y="2514600"/>
            <a:ext cx="1600200" cy="621792"/>
          </a:xfrm>
          <a:prstGeom prst="roundRect">
            <a:avLst>
              <a:gd name="adj" fmla="val 11765"/>
            </a:avLst>
          </a:prstGeom>
          <a:solidFill>
            <a:schemeClr val="bg1"/>
          </a:solidFill>
          <a:ln w="12700">
            <a:solidFill>
              <a:schemeClr val="accent6"/>
            </a:solidFill>
            <a:prstDash val="solid"/>
          </a:ln>
          <a:effectLst>
            <a:outerShdw sx="100000" sy="100000" kx="0" ky="0" algn="bl" rotWithShape="0" blurRad="38100" dist="25400" dir="5400000">
              <a:srgbClr val="000000">
                <a:alpha val="25000"/>
              </a:srgbClr>
            </a:outerShdw>
          </a:effectLst>
        </p:spPr>
      </p:sp>
      <p:sp>
        <p:nvSpPr>
          <p:cNvPr id="25" name="Text 23"/>
          <p:cNvSpPr txBox="1"/>
          <p:nvPr/>
        </p:nvSpPr>
        <p:spPr>
          <a:xfrm>
            <a:off x="5897880" y="2514600"/>
            <a:ext cx="1600200" cy="621792"/>
          </a:xfrm>
          <a:prstGeom prst="rect">
            <a:avLst/>
          </a:prstGeom>
          <a:noFill/>
          <a:ln/>
        </p:spPr>
        <p:txBody>
          <a:bodyPr wrap="square" lIns="0" tIns="0" rIns="0" bIns="0" rtlCol="0" anchor="ctr"/>
          <a:lstStyle/>
          <a:p>
            <a:pPr algn="ctr" indent="0" marL="0">
              <a:buNone/>
            </a:pPr>
            <a:r>
              <a:rPr lang="en-US" sz="2000" b="1" dirty="0">
                <a:solidFill>
                  <a:schemeClr val="tx1"/>
                </a:solidFill>
                <a:latin typeface="Courier New" pitchFamily="34" charset="0"/>
                <a:ea typeface="Courier New" pitchFamily="34" charset="-122"/>
                <a:cs typeface="Courier New" pitchFamily="34" charset="-120"/>
              </a:rPr>
              <a:t>U</a:t>
            </a:r>
            <a:endParaRPr lang="en-US" sz="2000" dirty="0"/>
          </a:p>
        </p:txBody>
      </p:sp>
      <p:sp>
        <p:nvSpPr>
          <p:cNvPr id="26" name="Text 24"/>
          <p:cNvSpPr txBox="1"/>
          <p:nvPr/>
        </p:nvSpPr>
        <p:spPr>
          <a:xfrm>
            <a:off x="5897880" y="319125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Undo whole road</a:t>
            </a:r>
            <a:endParaRPr lang="en-US" sz="1400" dirty="0"/>
          </a:p>
        </p:txBody>
      </p:sp>
      <p:sp>
        <p:nvSpPr>
          <p:cNvPr id="27" name="keycap F2"/>
          <p:cNvSpPr/>
          <p:nvPr/>
        </p:nvSpPr>
        <p:spPr>
          <a:xfrm>
            <a:off x="548640" y="3703320"/>
            <a:ext cx="1600200" cy="621792"/>
          </a:xfrm>
          <a:prstGeom prst="roundRect">
            <a:avLst>
              <a:gd name="adj" fmla="val 11765"/>
            </a:avLst>
          </a:prstGeom>
          <a:solidFill>
            <a:schemeClr val="bg1"/>
          </a:solidFill>
          <a:ln w="12700">
            <a:solidFill>
              <a:schemeClr val="accent6"/>
            </a:solidFill>
            <a:prstDash val="solid"/>
          </a:ln>
          <a:effectLst>
            <a:outerShdw sx="100000" sy="100000" kx="0" ky="0" algn="bl" rotWithShape="0" blurRad="38100" dist="25400" dir="5400000">
              <a:srgbClr val="000000">
                <a:alpha val="25000"/>
              </a:srgbClr>
            </a:outerShdw>
          </a:effectLst>
        </p:spPr>
      </p:sp>
      <p:sp>
        <p:nvSpPr>
          <p:cNvPr id="28" name="Text 26"/>
          <p:cNvSpPr txBox="1"/>
          <p:nvPr/>
        </p:nvSpPr>
        <p:spPr>
          <a:xfrm>
            <a:off x="548640" y="3703320"/>
            <a:ext cx="1600200" cy="621792"/>
          </a:xfrm>
          <a:prstGeom prst="rect">
            <a:avLst/>
          </a:prstGeom>
          <a:noFill/>
          <a:ln/>
        </p:spPr>
        <p:txBody>
          <a:bodyPr wrap="square" lIns="0" tIns="0" rIns="0" bIns="0" rtlCol="0" anchor="ctr"/>
          <a:lstStyle/>
          <a:p>
            <a:pPr algn="ctr" indent="0" marL="0">
              <a:buNone/>
            </a:pPr>
            <a:r>
              <a:rPr lang="en-US" sz="2000" b="1" dirty="0">
                <a:solidFill>
                  <a:schemeClr val="tx1"/>
                </a:solidFill>
                <a:latin typeface="Courier New" pitchFamily="34" charset="0"/>
                <a:ea typeface="Courier New" pitchFamily="34" charset="-122"/>
                <a:cs typeface="Courier New" pitchFamily="34" charset="-120"/>
              </a:rPr>
              <a:t>F2</a:t>
            </a:r>
            <a:endParaRPr lang="en-US" sz="2000" dirty="0"/>
          </a:p>
        </p:txBody>
      </p:sp>
      <p:sp>
        <p:nvSpPr>
          <p:cNvPr id="29" name="Text 27"/>
          <p:cNvSpPr txBox="1"/>
          <p:nvPr/>
        </p:nvSpPr>
        <p:spPr>
          <a:xfrm>
            <a:off x="548640" y="4379976"/>
            <a:ext cx="1600200" cy="365760"/>
          </a:xfrm>
          <a:prstGeom prst="rect">
            <a:avLst/>
          </a:prstGeom>
          <a:noFill/>
          <a:ln/>
        </p:spPr>
        <p:txBody>
          <a:bodyPr wrap="square" lIns="0" tIns="0" rIns="0" bIns="0" rtlCol="0" anchor="ctr"/>
          <a:lstStyle/>
          <a:p>
            <a:pPr algn="ctr" indent="0" marL="0">
              <a:buNone/>
            </a:pPr>
            <a:r>
              <a:rPr lang="en-US" sz="1400" dirty="0">
                <a:solidFill>
                  <a:schemeClr val="accent6"/>
                </a:solidFill>
              </a:rPr>
              <a:t>Summary + path</a:t>
            </a:r>
            <a:endParaRPr lang="en-US" sz="1400" dirty="0"/>
          </a:p>
        </p:txBody>
      </p:sp>
      <p:sp>
        <p:nvSpPr>
          <p:cNvPr id="30" name="Text 28"/>
          <p:cNvSpPr txBox="1"/>
          <p:nvPr/>
        </p:nvSpPr>
        <p:spPr>
          <a:xfrm>
            <a:off x="7863840" y="1371600"/>
            <a:ext cx="3749040" cy="411480"/>
          </a:xfrm>
          <a:prstGeom prst="rect">
            <a:avLst/>
          </a:prstGeom>
          <a:noFill/>
          <a:ln/>
        </p:spPr>
        <p:txBody>
          <a:bodyPr wrap="square" lIns="0" tIns="0" rIns="0" bIns="0" rtlCol="0" anchor="ctr"/>
          <a:lstStyle/>
          <a:p>
            <a:pPr indent="0" marL="0">
              <a:buNone/>
            </a:pPr>
            <a:r>
              <a:rPr lang="en-US" sz="1800" b="1" dirty="0">
                <a:solidFill>
                  <a:schemeClr val="accent2"/>
                </a:solidFill>
              </a:rPr>
              <a:t>Default values</a:t>
            </a:r>
            <a:endParaRPr lang="en-US" sz="1800" dirty="0"/>
          </a:p>
        </p:txBody>
      </p:sp>
      <p:sp>
        <p:nvSpPr>
          <p:cNvPr id="31" name="Text 29"/>
          <p:cNvSpPr txBox="1"/>
          <p:nvPr/>
        </p:nvSpPr>
        <p:spPr>
          <a:xfrm>
            <a:off x="7863840" y="1828800"/>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Road width</a:t>
            </a:r>
            <a:endParaRPr lang="en-US" sz="1500" dirty="0"/>
          </a:p>
        </p:txBody>
      </p:sp>
      <p:sp>
        <p:nvSpPr>
          <p:cNvPr id="32" name="Text 30"/>
          <p:cNvSpPr txBox="1"/>
          <p:nvPr/>
        </p:nvSpPr>
        <p:spPr>
          <a:xfrm>
            <a:off x="9601200" y="1828800"/>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7.30 m</a:t>
            </a:r>
            <a:endParaRPr lang="en-US" sz="1500" dirty="0"/>
          </a:p>
        </p:txBody>
      </p:sp>
      <p:sp>
        <p:nvSpPr>
          <p:cNvPr id="33" name="Text 31"/>
          <p:cNvSpPr txBox="1"/>
          <p:nvPr/>
        </p:nvSpPr>
        <p:spPr>
          <a:xfrm>
            <a:off x="7863840" y="2231136"/>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Turning radius</a:t>
            </a:r>
            <a:endParaRPr lang="en-US" sz="1500" dirty="0"/>
          </a:p>
        </p:txBody>
      </p:sp>
      <p:sp>
        <p:nvSpPr>
          <p:cNvPr id="34" name="Text 32"/>
          <p:cNvSpPr txBox="1"/>
          <p:nvPr/>
        </p:nvSpPr>
        <p:spPr>
          <a:xfrm>
            <a:off x="9601200" y="2231136"/>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10 m at CL</a:t>
            </a:r>
            <a:endParaRPr lang="en-US" sz="1500" dirty="0"/>
          </a:p>
        </p:txBody>
      </p:sp>
      <p:sp>
        <p:nvSpPr>
          <p:cNvPr id="35" name="Text 33"/>
          <p:cNvSpPr txBox="1"/>
          <p:nvPr/>
        </p:nvSpPr>
        <p:spPr>
          <a:xfrm>
            <a:off x="7863840" y="2633472"/>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Barricade unit</a:t>
            </a:r>
            <a:endParaRPr lang="en-US" sz="1500" dirty="0"/>
          </a:p>
        </p:txBody>
      </p:sp>
      <p:sp>
        <p:nvSpPr>
          <p:cNvPr id="36" name="Text 34"/>
          <p:cNvSpPr txBox="1"/>
          <p:nvPr/>
        </p:nvSpPr>
        <p:spPr>
          <a:xfrm>
            <a:off x="9601200" y="2633472"/>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2.0 x 0.5 m</a:t>
            </a:r>
            <a:endParaRPr lang="en-US" sz="1500" dirty="0"/>
          </a:p>
        </p:txBody>
      </p:sp>
      <p:sp>
        <p:nvSpPr>
          <p:cNvPr id="37" name="Text 35"/>
          <p:cNvSpPr txBox="1"/>
          <p:nvPr/>
        </p:nvSpPr>
        <p:spPr>
          <a:xfrm>
            <a:off x="7863840" y="3035808"/>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Chainage</a:t>
            </a:r>
            <a:endParaRPr lang="en-US" sz="1500" dirty="0"/>
          </a:p>
        </p:txBody>
      </p:sp>
      <p:sp>
        <p:nvSpPr>
          <p:cNvPr id="38" name="Text 36"/>
          <p:cNvSpPr txBox="1"/>
          <p:nvPr/>
        </p:nvSpPr>
        <p:spPr>
          <a:xfrm>
            <a:off x="9601200" y="3035808"/>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every 20 m</a:t>
            </a:r>
            <a:endParaRPr lang="en-US" sz="1500" dirty="0"/>
          </a:p>
        </p:txBody>
      </p:sp>
      <p:sp>
        <p:nvSpPr>
          <p:cNvPr id="39" name="Text 37"/>
          <p:cNvSpPr txBox="1"/>
          <p:nvPr/>
        </p:nvSpPr>
        <p:spPr>
          <a:xfrm>
            <a:off x="7863840" y="3438144"/>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Speed limit</a:t>
            </a:r>
            <a:endParaRPr lang="en-US" sz="1500" dirty="0"/>
          </a:p>
        </p:txBody>
      </p:sp>
      <p:sp>
        <p:nvSpPr>
          <p:cNvPr id="40" name="Text 38"/>
          <p:cNvSpPr txBox="1"/>
          <p:nvPr/>
        </p:nvSpPr>
        <p:spPr>
          <a:xfrm>
            <a:off x="9601200" y="3438144"/>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30 km/h</a:t>
            </a:r>
            <a:endParaRPr lang="en-US" sz="1500" dirty="0"/>
          </a:p>
        </p:txBody>
      </p:sp>
      <p:sp>
        <p:nvSpPr>
          <p:cNvPr id="41" name="Text 39"/>
          <p:cNvSpPr txBox="1"/>
          <p:nvPr/>
        </p:nvSpPr>
        <p:spPr>
          <a:xfrm>
            <a:off x="7863840" y="3840480"/>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Crossfall</a:t>
            </a:r>
            <a:endParaRPr lang="en-US" sz="1500" dirty="0"/>
          </a:p>
        </p:txBody>
      </p:sp>
      <p:sp>
        <p:nvSpPr>
          <p:cNvPr id="42" name="Text 40"/>
          <p:cNvSpPr txBox="1"/>
          <p:nvPr/>
        </p:nvSpPr>
        <p:spPr>
          <a:xfrm>
            <a:off x="9601200" y="3840480"/>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2.5%</a:t>
            </a:r>
            <a:endParaRPr lang="en-US" sz="1500" dirty="0"/>
          </a:p>
        </p:txBody>
      </p:sp>
      <p:sp>
        <p:nvSpPr>
          <p:cNvPr id="43" name="Text 41"/>
          <p:cNvSpPr txBox="1"/>
          <p:nvPr/>
        </p:nvSpPr>
        <p:spPr>
          <a:xfrm>
            <a:off x="7863840" y="4242816"/>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Widening / taper</a:t>
            </a:r>
            <a:endParaRPr lang="en-US" sz="1500" dirty="0"/>
          </a:p>
        </p:txBody>
      </p:sp>
      <p:sp>
        <p:nvSpPr>
          <p:cNvPr id="44" name="Text 42"/>
          <p:cNvSpPr txBox="1"/>
          <p:nvPr/>
        </p:nvSpPr>
        <p:spPr>
          <a:xfrm>
            <a:off x="9601200" y="4242816"/>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3.65 m / 30 m</a:t>
            </a:r>
            <a:endParaRPr lang="en-US" sz="1500" dirty="0"/>
          </a:p>
        </p:txBody>
      </p:sp>
      <p:sp>
        <p:nvSpPr>
          <p:cNvPr id="45" name="Text 43"/>
          <p:cNvSpPr txBox="1"/>
          <p:nvPr/>
        </p:nvSpPr>
        <p:spPr>
          <a:xfrm>
            <a:off x="7863840" y="4645152"/>
            <a:ext cx="1828800" cy="411480"/>
          </a:xfrm>
          <a:prstGeom prst="rect">
            <a:avLst/>
          </a:prstGeom>
          <a:noFill/>
          <a:ln/>
        </p:spPr>
        <p:txBody>
          <a:bodyPr wrap="square" lIns="0" tIns="0" rIns="0" bIns="0" rtlCol="0" anchor="ctr"/>
          <a:lstStyle/>
          <a:p>
            <a:pPr indent="0" marL="0">
              <a:buNone/>
            </a:pPr>
            <a:r>
              <a:rPr lang="en-US" sz="1500" dirty="0">
                <a:solidFill>
                  <a:schemeClr val="accent6"/>
                </a:solidFill>
              </a:rPr>
              <a:t>Reset all</a:t>
            </a:r>
            <a:endParaRPr lang="en-US" sz="1500" dirty="0"/>
          </a:p>
        </p:txBody>
      </p:sp>
      <p:sp>
        <p:nvSpPr>
          <p:cNvPr id="46" name="Text 44"/>
          <p:cNvSpPr txBox="1"/>
          <p:nvPr/>
        </p:nvSpPr>
        <p:spPr>
          <a:xfrm>
            <a:off x="9601200" y="4645152"/>
            <a:ext cx="2011680" cy="411480"/>
          </a:xfrm>
          <a:prstGeom prst="rect">
            <a:avLst/>
          </a:prstGeom>
          <a:noFill/>
          <a:ln/>
        </p:spPr>
        <p:txBody>
          <a:bodyPr wrap="square" lIns="0" tIns="0" rIns="0" bIns="0" rtlCol="0" anchor="ctr"/>
          <a:lstStyle/>
          <a:p>
            <a:pPr algn="r" indent="0" marL="0">
              <a:buNone/>
            </a:pPr>
            <a:r>
              <a:rPr lang="en-US" sz="1500" b="1" dirty="0">
                <a:solidFill>
                  <a:schemeClr val="bg1"/>
                </a:solidFill>
              </a:rPr>
              <a:t>ROADPRORESET</a:t>
            </a:r>
            <a:endParaRPr lang="en-US" sz="1500" dirty="0"/>
          </a:p>
        </p:txBody>
      </p:sp>
      <p:sp>
        <p:nvSpPr>
          <p:cNvPr id="47" name="Shape 45"/>
          <p:cNvSpPr/>
          <p:nvPr/>
        </p:nvSpPr>
        <p:spPr>
          <a:xfrm>
            <a:off x="548640" y="5074920"/>
            <a:ext cx="594360" cy="256032"/>
          </a:xfrm>
          <a:prstGeom prst="rect">
            <a:avLst/>
          </a:prstGeom>
          <a:solidFill>
            <a:schemeClr val="accent1"/>
          </a:solidFill>
          <a:ln w="12700">
            <a:solidFill>
              <a:srgbClr val="000000"/>
            </a:solidFill>
            <a:prstDash val="solid"/>
          </a:ln>
        </p:spPr>
      </p:sp>
      <p:sp>
        <p:nvSpPr>
          <p:cNvPr id="48" name="Shape 46"/>
          <p:cNvSpPr/>
          <p:nvPr/>
        </p:nvSpPr>
        <p:spPr>
          <a:xfrm>
            <a:off x="1143000" y="5074920"/>
            <a:ext cx="594360" cy="256032"/>
          </a:xfrm>
          <a:prstGeom prst="rect">
            <a:avLst/>
          </a:prstGeom>
          <a:solidFill>
            <a:schemeClr val="bg1"/>
          </a:solidFill>
          <a:ln w="12700">
            <a:solidFill>
              <a:srgbClr val="000000"/>
            </a:solidFill>
            <a:prstDash val="solid"/>
          </a:ln>
        </p:spPr>
      </p:sp>
      <p:sp>
        <p:nvSpPr>
          <p:cNvPr id="49" name="Shape 47"/>
          <p:cNvSpPr/>
          <p:nvPr/>
        </p:nvSpPr>
        <p:spPr>
          <a:xfrm>
            <a:off x="1737360" y="5074920"/>
            <a:ext cx="594360" cy="256032"/>
          </a:xfrm>
          <a:prstGeom prst="rect">
            <a:avLst/>
          </a:prstGeom>
          <a:solidFill>
            <a:schemeClr val="accent1"/>
          </a:solidFill>
          <a:ln w="12700">
            <a:solidFill>
              <a:srgbClr val="000000"/>
            </a:solidFill>
            <a:prstDash val="solid"/>
          </a:ln>
        </p:spPr>
      </p:sp>
      <p:sp>
        <p:nvSpPr>
          <p:cNvPr id="50" name="Shape 48"/>
          <p:cNvSpPr/>
          <p:nvPr/>
        </p:nvSpPr>
        <p:spPr>
          <a:xfrm>
            <a:off x="2331720" y="5074920"/>
            <a:ext cx="594360" cy="256032"/>
          </a:xfrm>
          <a:prstGeom prst="rect">
            <a:avLst/>
          </a:prstGeom>
          <a:solidFill>
            <a:schemeClr val="bg1"/>
          </a:solidFill>
          <a:ln w="12700">
            <a:solidFill>
              <a:srgbClr val="000000"/>
            </a:solidFill>
            <a:prstDash val="solid"/>
          </a:ln>
        </p:spPr>
      </p:sp>
      <p:sp>
        <p:nvSpPr>
          <p:cNvPr id="51" name="Shape 49"/>
          <p:cNvSpPr/>
          <p:nvPr/>
        </p:nvSpPr>
        <p:spPr>
          <a:xfrm>
            <a:off x="2926080" y="5074920"/>
            <a:ext cx="594360" cy="256032"/>
          </a:xfrm>
          <a:prstGeom prst="rect">
            <a:avLst/>
          </a:prstGeom>
          <a:solidFill>
            <a:schemeClr val="accent1"/>
          </a:solidFill>
          <a:ln w="12700">
            <a:solidFill>
              <a:srgbClr val="000000"/>
            </a:solidFill>
            <a:prstDash val="solid"/>
          </a:ln>
        </p:spPr>
      </p:sp>
      <p:sp>
        <p:nvSpPr>
          <p:cNvPr id="52" name="Shape 50"/>
          <p:cNvSpPr/>
          <p:nvPr/>
        </p:nvSpPr>
        <p:spPr>
          <a:xfrm>
            <a:off x="3520440" y="5074920"/>
            <a:ext cx="594360" cy="256032"/>
          </a:xfrm>
          <a:prstGeom prst="rect">
            <a:avLst/>
          </a:prstGeom>
          <a:solidFill>
            <a:schemeClr val="bg1"/>
          </a:solidFill>
          <a:ln w="12700">
            <a:solidFill>
              <a:srgbClr val="000000"/>
            </a:solidFill>
            <a:prstDash val="solid"/>
          </a:ln>
        </p:spPr>
      </p:sp>
      <p:sp>
        <p:nvSpPr>
          <p:cNvPr id="53" name="Shape 51"/>
          <p:cNvSpPr/>
          <p:nvPr/>
        </p:nvSpPr>
        <p:spPr>
          <a:xfrm>
            <a:off x="4114800" y="5074920"/>
            <a:ext cx="594360" cy="256032"/>
          </a:xfrm>
          <a:prstGeom prst="rect">
            <a:avLst/>
          </a:prstGeom>
          <a:solidFill>
            <a:schemeClr val="accent1"/>
          </a:solidFill>
          <a:ln w="12700">
            <a:solidFill>
              <a:srgbClr val="000000"/>
            </a:solidFill>
            <a:prstDash val="solid"/>
          </a:ln>
        </p:spPr>
      </p:sp>
      <p:sp>
        <p:nvSpPr>
          <p:cNvPr id="54" name="Shape 52"/>
          <p:cNvSpPr/>
          <p:nvPr/>
        </p:nvSpPr>
        <p:spPr>
          <a:xfrm>
            <a:off x="4709160" y="5074920"/>
            <a:ext cx="594360" cy="256032"/>
          </a:xfrm>
          <a:prstGeom prst="rect">
            <a:avLst/>
          </a:prstGeom>
          <a:solidFill>
            <a:schemeClr val="bg1"/>
          </a:solidFill>
          <a:ln w="12700">
            <a:solidFill>
              <a:srgbClr val="000000"/>
            </a:solidFill>
            <a:prstDash val="solid"/>
          </a:ln>
        </p:spPr>
      </p:sp>
      <p:sp>
        <p:nvSpPr>
          <p:cNvPr id="55" name="Shape 53"/>
          <p:cNvSpPr/>
          <p:nvPr/>
        </p:nvSpPr>
        <p:spPr>
          <a:xfrm>
            <a:off x="5303520" y="5074920"/>
            <a:ext cx="594360" cy="256032"/>
          </a:xfrm>
          <a:prstGeom prst="rect">
            <a:avLst/>
          </a:prstGeom>
          <a:solidFill>
            <a:schemeClr val="accent1"/>
          </a:solidFill>
          <a:ln w="12700">
            <a:solidFill>
              <a:srgbClr val="000000"/>
            </a:solidFill>
            <a:prstDash val="solid"/>
          </a:ln>
        </p:spPr>
      </p:sp>
      <p:sp>
        <p:nvSpPr>
          <p:cNvPr id="56" name="Shape 54"/>
          <p:cNvSpPr/>
          <p:nvPr/>
        </p:nvSpPr>
        <p:spPr>
          <a:xfrm>
            <a:off x="5897880" y="5074920"/>
            <a:ext cx="594360" cy="256032"/>
          </a:xfrm>
          <a:prstGeom prst="rect">
            <a:avLst/>
          </a:prstGeom>
          <a:solidFill>
            <a:schemeClr val="bg1"/>
          </a:solidFill>
          <a:ln w="12700">
            <a:solidFill>
              <a:srgbClr val="000000"/>
            </a:solidFill>
            <a:prstDash val="solid"/>
          </a:ln>
        </p:spPr>
      </p:sp>
      <p:sp>
        <p:nvSpPr>
          <p:cNvPr id="57" name="Shape 55"/>
          <p:cNvSpPr/>
          <p:nvPr/>
        </p:nvSpPr>
        <p:spPr>
          <a:xfrm>
            <a:off x="6492240" y="5074920"/>
            <a:ext cx="594360" cy="256032"/>
          </a:xfrm>
          <a:prstGeom prst="rect">
            <a:avLst/>
          </a:prstGeom>
          <a:solidFill>
            <a:schemeClr val="accent1"/>
          </a:solidFill>
          <a:ln w="12700">
            <a:solidFill>
              <a:srgbClr val="000000"/>
            </a:solidFill>
            <a:prstDash val="solid"/>
          </a:ln>
        </p:spPr>
      </p:sp>
      <p:sp>
        <p:nvSpPr>
          <p:cNvPr id="58" name="Shape 56"/>
          <p:cNvSpPr/>
          <p:nvPr/>
        </p:nvSpPr>
        <p:spPr>
          <a:xfrm>
            <a:off x="7086600" y="5074920"/>
            <a:ext cx="594360" cy="256032"/>
          </a:xfrm>
          <a:prstGeom prst="rect">
            <a:avLst/>
          </a:prstGeom>
          <a:solidFill>
            <a:schemeClr val="bg1"/>
          </a:solidFill>
          <a:ln w="12700">
            <a:solidFill>
              <a:srgbClr val="000000"/>
            </a:solidFill>
            <a:prstDash val="solid"/>
          </a:ln>
        </p:spPr>
      </p:sp>
      <p:sp>
        <p:nvSpPr>
          <p:cNvPr id="59" name="Text 57"/>
          <p:cNvSpPr txBox="1"/>
          <p:nvPr/>
        </p:nvSpPr>
        <p:spPr>
          <a:xfrm>
            <a:off x="548640" y="5532120"/>
            <a:ext cx="11064240" cy="457200"/>
          </a:xfrm>
          <a:prstGeom prst="rect">
            <a:avLst/>
          </a:prstGeom>
          <a:noFill/>
          <a:ln/>
        </p:spPr>
        <p:txBody>
          <a:bodyPr wrap="square" lIns="0" tIns="0" rIns="0" bIns="0" rtlCol="0" anchor="ctr"/>
          <a:lstStyle/>
          <a:p>
            <a:pPr indent="0" marL="0">
              <a:buNone/>
            </a:pPr>
            <a:r>
              <a:rPr lang="en-US" sz="1800" dirty="0">
                <a:solidFill>
                  <a:schemeClr val="bg1"/>
                </a:solidFill>
              </a:rPr>
              <a:t>Type RDP, accept the defaults, draw the centre line. RoadPro does the rest.</a:t>
            </a:r>
            <a:endParaRPr lang="en-US" sz="1800" dirty="0"/>
          </a:p>
        </p:txBody>
      </p:sp>
      <p:sp>
        <p:nvSpPr>
          <p:cNvPr id="60" name="Text 58"/>
          <p:cNvSpPr txBox="1"/>
          <p:nvPr/>
        </p:nvSpPr>
        <p:spPr>
          <a:xfrm>
            <a:off x="6583680" y="6355080"/>
            <a:ext cx="5029200" cy="365760"/>
          </a:xfrm>
          <a:prstGeom prst="rect">
            <a:avLst/>
          </a:prstGeom>
          <a:noFill/>
          <a:ln/>
        </p:spPr>
        <p:txBody>
          <a:bodyPr wrap="square" lIns="0" tIns="0" rIns="0" bIns="0" rtlCol="0" anchor="ctr"/>
          <a:lstStyle/>
          <a:p>
            <a:pPr algn="r" indent="0" marL="0">
              <a:buNone/>
            </a:pPr>
            <a:r>
              <a:rPr lang="en-US" sz="1300" dirty="0">
                <a:solidFill>
                  <a:schemeClr val="accent6"/>
                </a:solidFill>
              </a:rPr>
              <a:t>Developed by  </a:t>
            </a:r>
            <a:pPr algn="r" indent="0" marL="0">
              <a:buNone/>
            </a:pPr>
            <a:r>
              <a:rPr lang="en-US" sz="1300" b="1" u="sng" dirty="0">
                <a:solidFill>
                  <a:schemeClr val="accent2"/>
                </a:solidFill>
                <a:hlinkClick r:id="rId1" invalidUrl="" action="" tgtFrame="" tooltip="exceltokml.com" history="1" highlightClick="0" endSnd="0">
                  <a:extLst>
                    <a:ext uri="{A12FA001-AC4F-418D-AE19-62706E023703}">
                      <ahyp:hlinkClr xmlns:ahyp="http://schemas.microsoft.com/office/drawing/2018/hyperlinkcolor" val="tx"/>
                    </a:ext>
                  </a:extLst>
                </a:hlinkClick>
              </a:rPr>
              <a:t>https://www.exceltokml.com/</a:t>
            </a:r>
            <a:endParaRPr lang="en-US" sz="1300" dirty="0"/>
          </a:p>
        </p:txBody>
      </p:sp>
    </p:spTree>
  </p:cSld>
  <p:clrMapOvr>
    <a:masterClrMapping/>
  </p:clrMapOvr>
</p:sld>
</file>

<file path=ppt/theme/theme1.xml><?xml version="1.0" encoding="utf-8"?>
<a:theme xmlns:a="http://schemas.openxmlformats.org/drawingml/2006/main" name="RoadPro Asphalt">
  <a:themeElements>
    <a:clrScheme name="RoadPro Asphalt">
      <a:dk1>
        <a:srgbClr val="1F2326"/>
      </a:dk1>
      <a:lt1>
        <a:srgbClr val="FFFFFF"/>
      </a:lt1>
      <a:dk2>
        <a:srgbClr val="3A4045"/>
      </a:dk2>
      <a:lt2>
        <a:srgbClr val="F1F2F3"/>
      </a:lt2>
      <a:accent1>
        <a:srgbClr val="D7262E"/>
      </a:accent1>
      <a:accent2>
        <a:srgbClr val="F2B705"/>
      </a:accent2>
      <a:accent3>
        <a:srgbClr val="0052A4"/>
      </a:accent3>
      <a:accent4>
        <a:srgbClr val="6B7378"/>
      </a:accent4>
      <a:accent5>
        <a:srgbClr val="2E8B57"/>
      </a:accent5>
      <a:accent6>
        <a:srgbClr val="C9CDD1"/>
      </a:accent6>
      <a:hlink>
        <a:srgbClr val="0052A4"/>
      </a:hlink>
      <a:folHlink>
        <a:srgbClr val="6B7378"/>
      </a:folHlink>
    </a:clrScheme>
    <a:fontScheme name="RoadPro Asphal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RoadPro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RoadPro v2.6 - User Guide and Shortcuts</dc:title>
  <dc:subject>PptxGenJS Presentation</dc:subject>
  <dc:creator>RoadPro</dc:creator>
  <cp:lastModifiedBy>RoadPro</cp:lastModifiedBy>
  <cp:revision>1</cp:revision>
  <dcterms:created xsi:type="dcterms:W3CDTF">2026-10-05T11:29:51Z</dcterms:created>
  <dcterms:modified xsi:type="dcterms:W3CDTF">2026-10-05T11:29:51Z</dcterms:modified>
</cp:coreProperties>
</file>